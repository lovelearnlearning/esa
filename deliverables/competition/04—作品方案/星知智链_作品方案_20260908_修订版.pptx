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3"/>
  </p:sldMasterIdLst>
  <p:notesMasterIdLst>
    <p:notesMasterId r:id="rId9"/>
  </p:notesMasterIdLst>
  <p:handoutMasterIdLst>
    <p:handoutMasterId r:id="rId52"/>
  </p:handoutMasterIdLst>
  <p:sldIdLst>
    <p:sldId id="256" r:id="rId4"/>
    <p:sldId id="257" r:id="rId5"/>
    <p:sldId id="258" r:id="rId6"/>
    <p:sldId id="293" r:id="rId7"/>
    <p:sldId id="268" r:id="rId8"/>
    <p:sldId id="294" r:id="rId10"/>
    <p:sldId id="270" r:id="rId11"/>
    <p:sldId id="329" r:id="rId12"/>
    <p:sldId id="271" r:id="rId13"/>
    <p:sldId id="330" r:id="rId14"/>
    <p:sldId id="336" r:id="rId15"/>
    <p:sldId id="337" r:id="rId16"/>
    <p:sldId id="338" r:id="rId17"/>
    <p:sldId id="299" r:id="rId18"/>
    <p:sldId id="296" r:id="rId19"/>
    <p:sldId id="301" r:id="rId20"/>
    <p:sldId id="272" r:id="rId21"/>
    <p:sldId id="302" r:id="rId22"/>
    <p:sldId id="303" r:id="rId23"/>
    <p:sldId id="305" r:id="rId24"/>
    <p:sldId id="304" r:id="rId25"/>
    <p:sldId id="306" r:id="rId26"/>
    <p:sldId id="307" r:id="rId27"/>
    <p:sldId id="312" r:id="rId28"/>
    <p:sldId id="309" r:id="rId29"/>
    <p:sldId id="331" r:id="rId30"/>
    <p:sldId id="334" r:id="rId31"/>
    <p:sldId id="332" r:id="rId32"/>
    <p:sldId id="335" r:id="rId33"/>
    <p:sldId id="333" r:id="rId34"/>
    <p:sldId id="311" r:id="rId35"/>
    <p:sldId id="314" r:id="rId36"/>
    <p:sldId id="315" r:id="rId37"/>
    <p:sldId id="313" r:id="rId38"/>
    <p:sldId id="317" r:id="rId39"/>
    <p:sldId id="316" r:id="rId40"/>
    <p:sldId id="318" r:id="rId41"/>
    <p:sldId id="319" r:id="rId42"/>
    <p:sldId id="320" r:id="rId43"/>
    <p:sldId id="324" r:id="rId44"/>
    <p:sldId id="322" r:id="rId45"/>
    <p:sldId id="321" r:id="rId46"/>
    <p:sldId id="323" r:id="rId47"/>
    <p:sldId id="325" r:id="rId48"/>
    <p:sldId id="326" r:id="rId49"/>
    <p:sldId id="327" r:id="rId50"/>
    <p:sldId id="328" r:id="rId51"/>
  </p:sldIdLst>
  <p:sldSz cx="12192000" cy="6858000"/>
  <p:notesSz cx="6858000" cy="9144000"/>
  <p:embeddedFontLst>
    <p:embeddedFont>
      <p:font typeface="微软雅黑" panose="020B0503020204020204" charset="-122"/>
      <p:regular r:id="rId56"/>
      <p:bold r:id="rId57"/>
    </p:embeddedFont>
    <p:embeddedFont>
      <p:font typeface="字魂59号-创粗黑" panose="02010600030101010101" charset="-122"/>
      <p:regular r:id="rId58"/>
    </p:embeddedFont>
    <p:embeddedFont>
      <p:font typeface="印品粗朗体" panose="02010600030101010101" pitchFamily="2" charset="-122"/>
      <p:regular r:id="rId59"/>
    </p:embeddedFont>
    <p:embeddedFont>
      <p:font typeface="Bahnschrift" panose="020B0502040204020203" charset="0"/>
      <p:regular r:id="rId60"/>
      <p:bold r:id="rId61"/>
    </p:embeddedFont>
    <p:embeddedFont>
      <p:font typeface="字魂经典雅黑" panose="00000500000000000000" charset="-122"/>
      <p:regular r:id="rId62"/>
    </p:embeddedFont>
    <p:embeddedFont>
      <p:font typeface="方正楷体_GBK" panose="02000000000000000000" charset="-122"/>
      <p:regular r:id="rId63"/>
    </p:embeddedFont>
    <p:embeddedFont>
      <p:font typeface="短视频字剪大标宋" panose="02010604000000000000" charset="-122"/>
      <p:regular r:id="rId64"/>
    </p:embeddedFont>
    <p:embeddedFont>
      <p:font typeface="超清舒适清雅楷体" panose="02000503000000000000" charset="-122"/>
      <p:regular r:id="rId65"/>
    </p:embeddedFont>
    <p:embeddedFont>
      <p:font typeface="JetBrains Mono" panose="02010600030101010101" charset="-122"/>
      <p:regular r:id="rId66"/>
    </p:embeddedFont>
    <p:embeddedFont>
      <p:font typeface="方正北魏楷书_GBK" panose="02000000000000000000" charset="-122"/>
      <p:regular r:id="rId67"/>
    </p:embeddedFont>
    <p:embeddedFont>
      <p:font typeface="Bahnschrift" panose="020B0502040204020203"/>
      <p:regular r:id="rId68"/>
      <p:bold r:id="rId69"/>
    </p:embeddedFont>
    <p:embeddedFont>
      <p:font typeface="华文新魏" panose="02010800040101010101" charset="-122"/>
      <p:regular r:id="rId70"/>
    </p:embeddedFont>
    <p:embeddedFont>
      <p:font typeface="黑体" panose="02010609060101010101" charset="-122"/>
      <p:regular r:id="rId71"/>
    </p:embeddedFont>
    <p:embeddedFont>
      <p:font typeface="Calibri" panose="020F0502020204030204" charset="0"/>
      <p:regular r:id="rId72"/>
      <p:bold r:id="rId73"/>
      <p:italic r:id="rId74"/>
      <p:boldItalic r:id="rId75"/>
    </p:embeddedFont>
    <p:embeddedFont>
      <p:font typeface="华文楷体" panose="02010600040101010101" charset="-122"/>
      <p:regular r:id="rId76"/>
    </p:embeddedFont>
    <p:embeddedFont>
      <p:font typeface="Bahnschrift SemiBold" panose="020B0502040204020203" charset="0"/>
      <p:bold r:id="rId77"/>
    </p:embeddedFont>
    <p:embeddedFont>
      <p:font typeface="Noto Sans SC" panose="020B0200000000000000" charset="-122"/>
      <p:regular r:id="rId78"/>
      <p:bold r:id="rId79"/>
    </p:embeddedFont>
    <p:embeddedFont>
      <p:font typeface="清雅黑体" panose="00000500000000000000" charset="-122"/>
      <p:regular r:id="rId80"/>
    </p:embeddedFont>
    <p:embeddedFont>
      <p:font typeface="Bahnschrift Condensed" panose="020B0502040204020203" charset="0"/>
      <p:regular r:id="rId81"/>
    </p:embeddedFont>
    <p:embeddedFont>
      <p:font typeface="方正楷体_GB2312" panose="02000000000000000000" charset="-122"/>
      <p:regular r:id="rId82"/>
    </p:embeddedFont>
    <p:embeddedFont>
      <p:font typeface="Hiragino Sans GB W3" panose="02010600030101010101" charset="-122"/>
      <p:regular r:id="rId83"/>
    </p:embeddedFont>
    <p:embeddedFont>
      <p:font typeface="字魂创粗黑" panose="00000500000000000000" charset="-122"/>
      <p:regular r:id="rId8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5" userDrawn="1">
          <p15:clr>
            <a:srgbClr val="A4A3A4"/>
          </p15:clr>
        </p15:guide>
        <p15:guide id="2" pos="39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6A6893"/>
    <a:srgbClr val="8C8BB1"/>
    <a:srgbClr val="FFFFFF"/>
    <a:srgbClr val="72719F"/>
    <a:srgbClr val="474479"/>
    <a:srgbClr val="AFBADD"/>
    <a:srgbClr val="605E8C"/>
    <a:srgbClr val="4B67AF"/>
    <a:srgbClr val="7E7CA2"/>
    <a:srgbClr val="DADA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96314" autoAdjust="0"/>
  </p:normalViewPr>
  <p:slideViewPr>
    <p:cSldViewPr snapToGrid="0" showGuides="1">
      <p:cViewPr varScale="1">
        <p:scale>
          <a:sx n="108" d="100"/>
          <a:sy n="108" d="100"/>
        </p:scale>
        <p:origin x="780" y="114"/>
      </p:cViewPr>
      <p:guideLst>
        <p:guide orient="horz" pos="2295"/>
        <p:guide pos="39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handoutMaster" Target="handoutMasters/handout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ableStyles" Target="tableStyles.xml"/><Relationship Id="rId56" Type="http://schemas.openxmlformats.org/officeDocument/2006/relationships/font" Target="fonts/font1.fntdata"/><Relationship Id="rId57" Type="http://schemas.openxmlformats.org/officeDocument/2006/relationships/font" Target="fonts/font2.fntdata"/><Relationship Id="rId58" Type="http://schemas.openxmlformats.org/officeDocument/2006/relationships/font" Target="fonts/font3.fntdata"/><Relationship Id="rId59" Type="http://schemas.openxmlformats.org/officeDocument/2006/relationships/font" Target="fonts/font4.fntdata"/><Relationship Id="rId60" Type="http://schemas.openxmlformats.org/officeDocument/2006/relationships/font" Target="fonts/font5.fntdata"/><Relationship Id="rId61" Type="http://schemas.openxmlformats.org/officeDocument/2006/relationships/font" Target="fonts/font6.fntdata"/><Relationship Id="rId62" Type="http://schemas.openxmlformats.org/officeDocument/2006/relationships/font" Target="fonts/font7.fntdata"/><Relationship Id="rId63" Type="http://schemas.openxmlformats.org/officeDocument/2006/relationships/font" Target="fonts/font8.fntdata"/><Relationship Id="rId64" Type="http://schemas.openxmlformats.org/officeDocument/2006/relationships/font" Target="fonts/font9.fntdata"/><Relationship Id="rId65" Type="http://schemas.openxmlformats.org/officeDocument/2006/relationships/font" Target="fonts/font10.fntdata"/><Relationship Id="rId66" Type="http://schemas.openxmlformats.org/officeDocument/2006/relationships/font" Target="fonts/font11.fntdata"/><Relationship Id="rId67" Type="http://schemas.openxmlformats.org/officeDocument/2006/relationships/font" Target="fonts/font12.fntdata"/><Relationship Id="rId68" Type="http://schemas.openxmlformats.org/officeDocument/2006/relationships/font" Target="fonts/font13.fntdata"/><Relationship Id="rId69" Type="http://schemas.openxmlformats.org/officeDocument/2006/relationships/font" Target="fonts/font14.fntdata"/><Relationship Id="rId70" Type="http://schemas.openxmlformats.org/officeDocument/2006/relationships/font" Target="fonts/font15.fntdata"/><Relationship Id="rId71" Type="http://schemas.openxmlformats.org/officeDocument/2006/relationships/font" Target="fonts/font16.fntdata"/><Relationship Id="rId72" Type="http://schemas.openxmlformats.org/officeDocument/2006/relationships/font" Target="fonts/font17.fntdata"/><Relationship Id="rId73" Type="http://schemas.openxmlformats.org/officeDocument/2006/relationships/font" Target="fonts/font18.fntdata"/><Relationship Id="rId74" Type="http://schemas.openxmlformats.org/officeDocument/2006/relationships/font" Target="fonts/font19.fntdata"/><Relationship Id="rId75" Type="http://schemas.openxmlformats.org/officeDocument/2006/relationships/font" Target="fonts/font20.fntdata"/><Relationship Id="rId76" Type="http://schemas.openxmlformats.org/officeDocument/2006/relationships/font" Target="fonts/font21.fntdata"/><Relationship Id="rId77" Type="http://schemas.openxmlformats.org/officeDocument/2006/relationships/font" Target="fonts/font22.fntdata"/><Relationship Id="rId78" Type="http://schemas.openxmlformats.org/officeDocument/2006/relationships/font" Target="fonts/font23.fntdata"/><Relationship Id="rId79" Type="http://schemas.openxmlformats.org/officeDocument/2006/relationships/font" Target="fonts/font24.fntdata"/><Relationship Id="rId80" Type="http://schemas.openxmlformats.org/officeDocument/2006/relationships/font" Target="fonts/font25.fntdata"/><Relationship Id="rId81" Type="http://schemas.openxmlformats.org/officeDocument/2006/relationships/font" Target="fonts/font26.fntdata"/><Relationship Id="rId82" Type="http://schemas.openxmlformats.org/officeDocument/2006/relationships/font" Target="fonts/font27.fntdata"/><Relationship Id="rId83" Type="http://schemas.openxmlformats.org/officeDocument/2006/relationships/font" Target="fonts/font28.fntdata"/><Relationship Id="rId84" Type="http://schemas.openxmlformats.org/officeDocument/2006/relationships/font" Target="fonts/font29.fntdata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字魂59号-创粗黑" panose="02010600030101010101" charset="-122"/>
              <a:ea typeface="字魂59号-创粗黑" panose="02010600030101010101" charset="-122"/>
              <a:cs typeface="字魂59号-创粗黑" panose="0201060003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字魂59号-创粗黑" panose="02010600030101010101" charset="-122"/>
              </a:rPr>
            </a:fld>
            <a:endParaRPr lang="zh-CN" altLang="en-US">
              <a:cs typeface="字魂59号-创粗黑" panose="0201060003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字魂59号-创粗黑" panose="02010600030101010101" charset="-122"/>
              <a:ea typeface="字魂59号-创粗黑" panose="02010600030101010101" charset="-122"/>
              <a:cs typeface="字魂59号-创粗黑" panose="0201060003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字魂59号-创粗黑" panose="02010600030101010101" charset="-122"/>
              </a:rPr>
            </a:fld>
            <a:endParaRPr lang="zh-CN" altLang="en-US">
              <a:cs typeface="字魂59号-创粗黑" panose="0201060003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字魂59号-创粗黑" panose="02010600030101010101" charset="-122"/>
                <a:ea typeface="字魂59号-创粗黑" panose="02010600030101010101" charset="-122"/>
                <a:cs typeface="字魂59号-创粗黑" panose="0201060003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字魂59号-创粗黑" panose="02010600030101010101" charset="-122"/>
                <a:ea typeface="字魂59号-创粗黑" panose="02010600030101010101" charset="-122"/>
                <a:cs typeface="字魂59号-创粗黑" panose="02010600030101010101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字魂59号-创粗黑" panose="02010600030101010101" charset="-122"/>
                <a:ea typeface="字魂59号-创粗黑" panose="02010600030101010101" charset="-122"/>
                <a:cs typeface="字魂59号-创粗黑" panose="0201060003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字魂59号-创粗黑" panose="02010600030101010101" charset="-122"/>
                <a:ea typeface="字魂59号-创粗黑" panose="02010600030101010101" charset="-122"/>
                <a:cs typeface="字魂59号-创粗黑" panose="02010600030101010101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字魂59号-创粗黑" panose="02010600030101010101" charset="-122"/>
        <a:ea typeface="字魂59号-创粗黑" panose="02010600030101010101" charset="-122"/>
        <a:cs typeface="字魂59号-创粗黑" panose="02010600030101010101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字魂59号-创粗黑" panose="02010600030101010101" charset="-122"/>
        <a:ea typeface="字魂59号-创粗黑" panose="02010600030101010101" charset="-122"/>
        <a:cs typeface="字魂59号-创粗黑" panose="02010600030101010101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字魂59号-创粗黑" panose="02010600030101010101" charset="-122"/>
        <a:ea typeface="字魂59号-创粗黑" panose="02010600030101010101" charset="-122"/>
        <a:cs typeface="字魂59号-创粗黑" panose="02010600030101010101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字魂59号-创粗黑" panose="02010600030101010101" charset="-122"/>
        <a:ea typeface="字魂59号-创粗黑" panose="02010600030101010101" charset="-122"/>
        <a:cs typeface="字魂59号-创粗黑" panose="02010600030101010101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字魂59号-创粗黑" panose="02010600030101010101" charset="-122"/>
        <a:ea typeface="字魂59号-创粗黑" panose="02010600030101010101" charset="-122"/>
        <a:cs typeface="字魂59号-创粗黑" panose="020106000301010101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https://www.ypppt.com/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Relationship Id="rId6" Type="http://schemas.openxmlformats.org/officeDocument/2006/relationships/tags" Target="../tags/tag34.xml"/><Relationship Id="rId7" Type="http://schemas.openxmlformats.org/officeDocument/2006/relationships/tags" Target="../tags/tag35.xml"/><Relationship Id="rId8" Type="http://schemas.openxmlformats.org/officeDocument/2006/relationships/tags" Target="../tags/tag36.xml"/><Relationship Id="rId9" Type="http://schemas.openxmlformats.org/officeDocument/2006/relationships/tags" Target="../tags/tag37.xml"/><Relationship Id="rId10" Type="http://schemas.openxmlformats.org/officeDocument/2006/relationships/hyperlink" Target="http://www.1ppt.com/moban/" TargetMode="Externa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8.xml"/><Relationship Id="rId3" Type="http://schemas.openxmlformats.org/officeDocument/2006/relationships/tags" Target="../tags/tag39.xml"/><Relationship Id="rId4" Type="http://schemas.openxmlformats.org/officeDocument/2006/relationships/tags" Target="../tags/tag40.xml"/><Relationship Id="rId5" Type="http://schemas.openxmlformats.org/officeDocument/2006/relationships/tags" Target="../tags/tag4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2.xml"/><Relationship Id="rId3" Type="http://schemas.openxmlformats.org/officeDocument/2006/relationships/tags" Target="../tags/tag43.xml"/><Relationship Id="rId4" Type="http://schemas.openxmlformats.org/officeDocument/2006/relationships/tags" Target="../tags/tag44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3" Type="http://schemas.openxmlformats.org/officeDocument/2006/relationships/tags" Target="../tags/tag46.xml"/><Relationship Id="rId4" Type="http://schemas.openxmlformats.org/officeDocument/2006/relationships/tags" Target="../tags/tag47.xml"/><Relationship Id="rId5" Type="http://schemas.openxmlformats.org/officeDocument/2006/relationships/tags" Target="../tags/tag48.xml"/><Relationship Id="rId6" Type="http://schemas.openxmlformats.org/officeDocument/2006/relationships/tags" Target="../tags/tag49.xml"/><Relationship Id="rId7" Type="http://schemas.openxmlformats.org/officeDocument/2006/relationships/tags" Target="../tags/tag50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1.xml"/><Relationship Id="rId3" Type="http://schemas.openxmlformats.org/officeDocument/2006/relationships/tags" Target="../tags/tag52.xml"/><Relationship Id="rId4" Type="http://schemas.openxmlformats.org/officeDocument/2006/relationships/tags" Target="../tags/tag53.xml"/><Relationship Id="rId5" Type="http://schemas.openxmlformats.org/officeDocument/2006/relationships/tags" Target="../tags/tag54.xml"/><Relationship Id="rId6" Type="http://schemas.openxmlformats.org/officeDocument/2006/relationships/tags" Target="../tags/tag55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6.xml"/><Relationship Id="rId3" Type="http://schemas.openxmlformats.org/officeDocument/2006/relationships/tags" Target="../tags/tag57.xml"/><Relationship Id="rId4" Type="http://schemas.openxmlformats.org/officeDocument/2006/relationships/tags" Target="../tags/tag58.xml"/><Relationship Id="rId5" Type="http://schemas.openxmlformats.org/officeDocument/2006/relationships/tags" Target="../tags/tag59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tags" Target="../tags/tag63.xml"/><Relationship Id="rId6" Type="http://schemas.openxmlformats.org/officeDocument/2006/relationships/tags" Target="../tags/tag64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515819" y="6725056"/>
            <a:ext cx="180020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10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10"/>
              </a:rPr>
              <a:t>模板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http://www.1ppt.com/moban/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ags" Target="../tags/tag65.xml"/><Relationship Id="rId14" Type="http://schemas.openxmlformats.org/officeDocument/2006/relationships/tags" Target="../tags/tag66.xml"/><Relationship Id="rId15" Type="http://schemas.openxmlformats.org/officeDocument/2006/relationships/tags" Target="../tags/tag67.xml"/><Relationship Id="rId16" Type="http://schemas.openxmlformats.org/officeDocument/2006/relationships/tags" Target="../tags/tag68.xml"/><Relationship Id="rId17" Type="http://schemas.openxmlformats.org/officeDocument/2006/relationships/tags" Target="../tags/tag69.xml"/><Relationship Id="rId18" Type="http://schemas.openxmlformats.org/officeDocument/2006/relationships/tags" Target="../tags/tag70.xml"/><Relationship Id="rId1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字魂59号-创粗黑" panose="02010600030101010101" charset="-122"/>
                <a:ea typeface="字魂59号-创粗黑" panose="02010600030101010101" charset="-122"/>
                <a:cs typeface="字魂59号-创粗黑" panose="0201060003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字魂59号-创粗黑" panose="02010600030101010101" charset="-122"/>
                <a:ea typeface="字魂59号-创粗黑" panose="02010600030101010101" charset="-122"/>
                <a:cs typeface="字魂59号-创粗黑" panose="0201060003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字魂59号-创粗黑" panose="02010600030101010101" charset="-122"/>
                <a:ea typeface="字魂59号-创粗黑" panose="02010600030101010101" charset="-122"/>
                <a:cs typeface="字魂59号-创粗黑" panose="0201060003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字魂59号-创粗黑" panose="02010600030101010101" charset="-122"/>
          <a:ea typeface="字魂59号-创粗黑" panose="02010600030101010101" charset="-122"/>
          <a:cs typeface="字魂59号-创粗黑" panose="02010600030101010101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字魂59号-创粗黑" panose="02010600030101010101" charset="-122"/>
          <a:ea typeface="字魂59号-创粗黑" panose="02010600030101010101" charset="-122"/>
          <a:cs typeface="字魂59号-创粗黑" panose="02010600030101010101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字魂59号-创粗黑" panose="02010600030101010101" charset="-122"/>
          <a:ea typeface="字魂59号-创粗黑" panose="02010600030101010101" charset="-122"/>
          <a:cs typeface="字魂59号-创粗黑" panose="02010600030101010101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字魂59号-创粗黑" panose="02010600030101010101" charset="-122"/>
          <a:ea typeface="字魂59号-创粗黑" panose="02010600030101010101" charset="-122"/>
          <a:cs typeface="字魂59号-创粗黑" panose="02010600030101010101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字魂59号-创粗黑" panose="02010600030101010101" charset="-122"/>
          <a:ea typeface="字魂59号-创粗黑" panose="02010600030101010101" charset="-122"/>
          <a:cs typeface="字魂59号-创粗黑" panose="02010600030101010101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字魂59号-创粗黑" panose="02010600030101010101" charset="-122"/>
          <a:ea typeface="字魂59号-创粗黑" panose="02010600030101010101" charset="-122"/>
          <a:cs typeface="字魂59号-创粗黑" panose="0201060003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71.xml"/><Relationship Id="rId3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72.xml"/><Relationship Id="rId3" Type="http://schemas.openxmlformats.org/officeDocument/2006/relationships/tags" Target="../tags/tag73.xml"/><Relationship Id="rId4" Type="http://schemas.openxmlformats.org/officeDocument/2006/relationships/tags" Target="../tags/tag74.xml"/><Relationship Id="rId5" Type="http://schemas.openxmlformats.org/officeDocument/2006/relationships/tags" Target="../tags/tag75.xml"/><Relationship Id="rId6" Type="http://schemas.openxmlformats.org/officeDocument/2006/relationships/tags" Target="../tags/tag76.xml"/><Relationship Id="rId7" Type="http://schemas.openxmlformats.org/officeDocument/2006/relationships/tags" Target="../tags/tag77.xml"/><Relationship Id="rId8" Type="http://schemas.openxmlformats.org/officeDocument/2006/relationships/tags" Target="../tags/tag78.xml"/><Relationship Id="rId9" Type="http://schemas.openxmlformats.org/officeDocument/2006/relationships/tags" Target="../tags/tag79.xml"/><Relationship Id="rId10" Type="http://schemas.openxmlformats.org/officeDocument/2006/relationships/tags" Target="../tags/tag80.xml"/><Relationship Id="rId11" Type="http://schemas.openxmlformats.org/officeDocument/2006/relationships/tags" Target="../tags/tag81.xml"/><Relationship Id="rId12" Type="http://schemas.openxmlformats.org/officeDocument/2006/relationships/tags" Target="../tags/tag82.xml"/><Relationship Id="rId13" Type="http://schemas.openxmlformats.org/officeDocument/2006/relationships/tags" Target="../tags/tag83.xml"/><Relationship Id="rId14" Type="http://schemas.openxmlformats.org/officeDocument/2006/relationships/tags" Target="../tags/tag84.xml"/><Relationship Id="rId15" Type="http://schemas.openxmlformats.org/officeDocument/2006/relationships/tags" Target="../tags/tag85.xml"/><Relationship Id="rId16" Type="http://schemas.openxmlformats.org/officeDocument/2006/relationships/tags" Target="../tags/tag86.xml"/><Relationship Id="rId17" Type="http://schemas.openxmlformats.org/officeDocument/2006/relationships/tags" Target="../tags/tag87.xml"/><Relationship Id="rId18" Type="http://schemas.openxmlformats.org/officeDocument/2006/relationships/tags" Target="../tags/tag88.xml"/><Relationship Id="rId19" Type="http://schemas.openxmlformats.org/officeDocument/2006/relationships/tags" Target="../tags/tag89.xml"/><Relationship Id="rId20" Type="http://schemas.openxmlformats.org/officeDocument/2006/relationships/tags" Target="../tags/tag90.xml"/><Relationship Id="rId21" Type="http://schemas.openxmlformats.org/officeDocument/2006/relationships/tags" Target="../tags/tag91.xml"/><Relationship Id="rId22" Type="http://schemas.openxmlformats.org/officeDocument/2006/relationships/tags" Target="../tags/tag92.xml"/><Relationship Id="rId23" Type="http://schemas.openxmlformats.org/officeDocument/2006/relationships/tags" Target="../tags/tag93.xml"/><Relationship Id="rId24" Type="http://schemas.openxmlformats.org/officeDocument/2006/relationships/tags" Target="../tags/tag94.xml"/><Relationship Id="rId25" Type="http://schemas.openxmlformats.org/officeDocument/2006/relationships/tags" Target="../tags/tag95.xml"/><Relationship Id="rId26" Type="http://schemas.openxmlformats.org/officeDocument/2006/relationships/tags" Target="../tags/tag96.xml"/><Relationship Id="rId27" Type="http://schemas.openxmlformats.org/officeDocument/2006/relationships/tags" Target="../tags/tag97.xml"/><Relationship Id="rId28" Type="http://schemas.openxmlformats.org/officeDocument/2006/relationships/tags" Target="../tags/tag98.xml"/><Relationship Id="rId29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99.xml"/><Relationship Id="rId3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00.xml"/><Relationship Id="rId2" Type="http://schemas.openxmlformats.org/officeDocument/2006/relationships/tags" Target="../tags/tag101.xml"/><Relationship Id="rId3" Type="http://schemas.openxmlformats.org/officeDocument/2006/relationships/tags" Target="../tags/tag102.xml"/><Relationship Id="rId4" Type="http://schemas.openxmlformats.org/officeDocument/2006/relationships/tags" Target="../tags/tag103.xml"/><Relationship Id="rId5" Type="http://schemas.openxmlformats.org/officeDocument/2006/relationships/tags" Target="../tags/tag104.xml"/><Relationship Id="rId6" Type="http://schemas.openxmlformats.org/officeDocument/2006/relationships/tags" Target="../tags/tag105.xml"/><Relationship Id="rId7" Type="http://schemas.openxmlformats.org/officeDocument/2006/relationships/tags" Target="../tags/tag106.xml"/><Relationship Id="rId8" Type="http://schemas.openxmlformats.org/officeDocument/2006/relationships/tags" Target="../tags/tag107.xml"/><Relationship Id="rId9" Type="http://schemas.openxmlformats.org/officeDocument/2006/relationships/tags" Target="../tags/tag108.xml"/><Relationship Id="rId10" Type="http://schemas.openxmlformats.org/officeDocument/2006/relationships/tags" Target="../tags/tag109.xml"/><Relationship Id="rId11" Type="http://schemas.openxmlformats.org/officeDocument/2006/relationships/tags" Target="../tags/tag110.xml"/><Relationship Id="rId12" Type="http://schemas.openxmlformats.org/officeDocument/2006/relationships/tags" Target="../tags/tag111.xml"/><Relationship Id="rId13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112.xml"/><Relationship Id="rId2" Type="http://schemas.openxmlformats.org/officeDocument/2006/relationships/tags" Target="../tags/tag113.xml"/><Relationship Id="rId3" Type="http://schemas.openxmlformats.org/officeDocument/2006/relationships/tags" Target="../tags/tag114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tags" Target="../tags/tag115.xml"/><Relationship Id="rId7" Type="http://schemas.openxmlformats.org/officeDocument/2006/relationships/tags" Target="../tags/tag116.xml"/><Relationship Id="rId8" Type="http://schemas.openxmlformats.org/officeDocument/2006/relationships/tags" Target="../tags/tag117.xml"/><Relationship Id="rId9" Type="http://schemas.openxmlformats.org/officeDocument/2006/relationships/tags" Target="../tags/tag118.xml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119.xml"/><Relationship Id="rId2" Type="http://schemas.openxmlformats.org/officeDocument/2006/relationships/tags" Target="../tags/tag120.xml"/><Relationship Id="rId3" Type="http://schemas.openxmlformats.org/officeDocument/2006/relationships/tags" Target="../tags/tag121.xml"/><Relationship Id="rId4" Type="http://schemas.openxmlformats.org/officeDocument/2006/relationships/tags" Target="../tags/tag122.xml"/><Relationship Id="rId5" Type="http://schemas.openxmlformats.org/officeDocument/2006/relationships/tags" Target="../tags/tag123.xml"/><Relationship Id="rId6" Type="http://schemas.openxmlformats.org/officeDocument/2006/relationships/tags" Target="../tags/tag124.xml"/><Relationship Id="rId7" Type="http://schemas.openxmlformats.org/officeDocument/2006/relationships/tags" Target="../tags/tag125.xml"/><Relationship Id="rId8" Type="http://schemas.openxmlformats.org/officeDocument/2006/relationships/tags" Target="../tags/tag126.xml"/><Relationship Id="rId9" Type="http://schemas.openxmlformats.org/officeDocument/2006/relationships/tags" Target="../tags/tag127.xml"/><Relationship Id="rId10" Type="http://schemas.openxmlformats.org/officeDocument/2006/relationships/tags" Target="../tags/tag128.xml"/><Relationship Id="rId11" Type="http://schemas.openxmlformats.org/officeDocument/2006/relationships/tags" Target="../tags/tag129.xml"/><Relationship Id="rId12" Type="http://schemas.openxmlformats.org/officeDocument/2006/relationships/tags" Target="../tags/tag130.xml"/><Relationship Id="rId13" Type="http://schemas.openxmlformats.org/officeDocument/2006/relationships/tags" Target="../tags/tag131.xml"/><Relationship Id="rId14" Type="http://schemas.openxmlformats.org/officeDocument/2006/relationships/tags" Target="../tags/tag132.xml"/><Relationship Id="rId15" Type="http://schemas.openxmlformats.org/officeDocument/2006/relationships/tags" Target="../tags/tag133.xml"/><Relationship Id="rId16" Type="http://schemas.openxmlformats.org/officeDocument/2006/relationships/tags" Target="../tags/tag134.xml"/><Relationship Id="rId17" Type="http://schemas.openxmlformats.org/officeDocument/2006/relationships/tags" Target="../tags/tag135.xml"/><Relationship Id="rId18" Type="http://schemas.openxmlformats.org/officeDocument/2006/relationships/tags" Target="../tags/tag136.xml"/><Relationship Id="rId19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137.xml"/><Relationship Id="rId2" Type="http://schemas.openxmlformats.org/officeDocument/2006/relationships/tags" Target="../tags/tag138.xml"/><Relationship Id="rId3" Type="http://schemas.openxmlformats.org/officeDocument/2006/relationships/tags" Target="../tags/tag139.xml"/><Relationship Id="rId4" Type="http://schemas.openxmlformats.org/officeDocument/2006/relationships/tags" Target="../tags/tag140.xml"/><Relationship Id="rId5" Type="http://schemas.openxmlformats.org/officeDocument/2006/relationships/tags" Target="../tags/tag141.xml"/><Relationship Id="rId6" Type="http://schemas.openxmlformats.org/officeDocument/2006/relationships/tags" Target="../tags/tag142.xml"/><Relationship Id="rId7" Type="http://schemas.openxmlformats.org/officeDocument/2006/relationships/tags" Target="../tags/tag143.xml"/><Relationship Id="rId8" Type="http://schemas.openxmlformats.org/officeDocument/2006/relationships/tags" Target="../tags/tag144.xml"/><Relationship Id="rId9" Type="http://schemas.openxmlformats.org/officeDocument/2006/relationships/tags" Target="../tags/tag145.xml"/><Relationship Id="rId10" Type="http://schemas.openxmlformats.org/officeDocument/2006/relationships/tags" Target="../tags/tag146.xml"/><Relationship Id="rId11" Type="http://schemas.openxmlformats.org/officeDocument/2006/relationships/tags" Target="../tags/tag147.xml"/><Relationship Id="rId12" Type="http://schemas.openxmlformats.org/officeDocument/2006/relationships/tags" Target="../tags/tag148.xml"/><Relationship Id="rId13" Type="http://schemas.openxmlformats.org/officeDocument/2006/relationships/tags" Target="../tags/tag149.xml"/><Relationship Id="rId14" Type="http://schemas.openxmlformats.org/officeDocument/2006/relationships/tags" Target="../tags/tag150.xml"/><Relationship Id="rId15" Type="http://schemas.openxmlformats.org/officeDocument/2006/relationships/tags" Target="../tags/tag151.xml"/><Relationship Id="rId16" Type="http://schemas.openxmlformats.org/officeDocument/2006/relationships/tags" Target="../tags/tag152.xml"/><Relationship Id="rId17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153.xml"/><Relationship Id="rId3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54.xml"/><Relationship Id="rId2" Type="http://schemas.openxmlformats.org/officeDocument/2006/relationships/tags" Target="../tags/tag155.xml"/><Relationship Id="rId3" Type="http://schemas.openxmlformats.org/officeDocument/2006/relationships/tags" Target="../tags/tag156.xml"/><Relationship Id="rId4" Type="http://schemas.openxmlformats.org/officeDocument/2006/relationships/tags" Target="../tags/tag157.xml"/><Relationship Id="rId5" Type="http://schemas.openxmlformats.org/officeDocument/2006/relationships/tags" Target="../tags/tag158.xml"/><Relationship Id="rId6" Type="http://schemas.openxmlformats.org/officeDocument/2006/relationships/tags" Target="../tags/tag159.xml"/><Relationship Id="rId7" Type="http://schemas.openxmlformats.org/officeDocument/2006/relationships/tags" Target="../tags/tag160.xml"/><Relationship Id="rId8" Type="http://schemas.openxmlformats.org/officeDocument/2006/relationships/tags" Target="../tags/tag161.xml"/><Relationship Id="rId9" Type="http://schemas.openxmlformats.org/officeDocument/2006/relationships/tags" Target="../tags/tag162.xml"/><Relationship Id="rId10" Type="http://schemas.openxmlformats.org/officeDocument/2006/relationships/tags" Target="../tags/tag163.xml"/><Relationship Id="rId11" Type="http://schemas.openxmlformats.org/officeDocument/2006/relationships/tags" Target="../tags/tag164.xml"/><Relationship Id="rId12" Type="http://schemas.openxmlformats.org/officeDocument/2006/relationships/tags" Target="../tags/tag165.xml"/><Relationship Id="rId13" Type="http://schemas.openxmlformats.org/officeDocument/2006/relationships/tags" Target="../tags/tag166.xml"/><Relationship Id="rId14" Type="http://schemas.openxmlformats.org/officeDocument/2006/relationships/tags" Target="../tags/tag167.xml"/><Relationship Id="rId15" Type="http://schemas.openxmlformats.org/officeDocument/2006/relationships/tags" Target="../tags/tag168.xml"/><Relationship Id="rId16" Type="http://schemas.openxmlformats.org/officeDocument/2006/relationships/tags" Target="../tags/tag169.xml"/><Relationship Id="rId17" Type="http://schemas.openxmlformats.org/officeDocument/2006/relationships/tags" Target="../tags/tag170.xml"/><Relationship Id="rId18" Type="http://schemas.openxmlformats.org/officeDocument/2006/relationships/tags" Target="../tags/tag171.xml"/><Relationship Id="rId19" Type="http://schemas.openxmlformats.org/officeDocument/2006/relationships/tags" Target="../tags/tag172.xml"/><Relationship Id="rId20" Type="http://schemas.openxmlformats.org/officeDocument/2006/relationships/tags" Target="../tags/tag173.xml"/><Relationship Id="rId21" Type="http://schemas.openxmlformats.org/officeDocument/2006/relationships/tags" Target="../tags/tag174.xml"/><Relationship Id="rId22" Type="http://schemas.openxmlformats.org/officeDocument/2006/relationships/tags" Target="../tags/tag175.xml"/><Relationship Id="rId23" Type="http://schemas.openxmlformats.org/officeDocument/2006/relationships/tags" Target="../tags/tag176.xml"/><Relationship Id="rId24" Type="http://schemas.openxmlformats.org/officeDocument/2006/relationships/tags" Target="../tags/tag177.xml"/><Relationship Id="rId25" Type="http://schemas.openxmlformats.org/officeDocument/2006/relationships/tags" Target="../tags/tag178.xml"/><Relationship Id="rId26" Type="http://schemas.openxmlformats.org/officeDocument/2006/relationships/tags" Target="../tags/tag179.xml"/><Relationship Id="rId27" Type="http://schemas.openxmlformats.org/officeDocument/2006/relationships/tags" Target="../tags/tag180.xml"/><Relationship Id="rId28" Type="http://schemas.openxmlformats.org/officeDocument/2006/relationships/tags" Target="../tags/tag181.xml"/><Relationship Id="rId29" Type="http://schemas.openxmlformats.org/officeDocument/2006/relationships/tags" Target="../tags/tag182.xml"/><Relationship Id="rId30" Type="http://schemas.openxmlformats.org/officeDocument/2006/relationships/tags" Target="../tags/tag183.xml"/><Relationship Id="rId31" Type="http://schemas.openxmlformats.org/officeDocument/2006/relationships/tags" Target="../tags/tag184.xml"/><Relationship Id="rId32" Type="http://schemas.openxmlformats.org/officeDocument/2006/relationships/tags" Target="../tags/tag185.xml"/><Relationship Id="rId33" Type="http://schemas.openxmlformats.org/officeDocument/2006/relationships/tags" Target="../tags/tag186.xml"/><Relationship Id="rId34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187.xml"/><Relationship Id="rId2" Type="http://schemas.openxmlformats.org/officeDocument/2006/relationships/tags" Target="../tags/tag188.xml"/><Relationship Id="rId3" Type="http://schemas.openxmlformats.org/officeDocument/2006/relationships/tags" Target="../tags/tag189.xml"/><Relationship Id="rId4" Type="http://schemas.openxmlformats.org/officeDocument/2006/relationships/tags" Target="../tags/tag190.xml"/><Relationship Id="rId5" Type="http://schemas.openxmlformats.org/officeDocument/2006/relationships/tags" Target="../tags/tag191.xml"/><Relationship Id="rId6" Type="http://schemas.openxmlformats.org/officeDocument/2006/relationships/tags" Target="../tags/tag192.xml"/><Relationship Id="rId7" Type="http://schemas.openxmlformats.org/officeDocument/2006/relationships/tags" Target="../tags/tag193.xml"/><Relationship Id="rId8" Type="http://schemas.openxmlformats.org/officeDocument/2006/relationships/tags" Target="../tags/tag194.xml"/><Relationship Id="rId9" Type="http://schemas.openxmlformats.org/officeDocument/2006/relationships/tags" Target="../tags/tag195.xml"/><Relationship Id="rId10" Type="http://schemas.openxmlformats.org/officeDocument/2006/relationships/tags" Target="../tags/tag196.xml"/><Relationship Id="rId11" Type="http://schemas.openxmlformats.org/officeDocument/2006/relationships/tags" Target="../tags/tag197.xml"/><Relationship Id="rId12" Type="http://schemas.openxmlformats.org/officeDocument/2006/relationships/tags" Target="../tags/tag198.xml"/><Relationship Id="rId13" Type="http://schemas.openxmlformats.org/officeDocument/2006/relationships/tags" Target="../tags/tag199.xml"/><Relationship Id="rId14" Type="http://schemas.openxmlformats.org/officeDocument/2006/relationships/tags" Target="../tags/tag200.xml"/><Relationship Id="rId15" Type="http://schemas.openxmlformats.org/officeDocument/2006/relationships/tags" Target="../tags/tag201.xml"/><Relationship Id="rId16" Type="http://schemas.openxmlformats.org/officeDocument/2006/relationships/tags" Target="../tags/tag202.xml"/><Relationship Id="rId17" Type="http://schemas.openxmlformats.org/officeDocument/2006/relationships/tags" Target="../tags/tag203.xml"/><Relationship Id="rId18" Type="http://schemas.openxmlformats.org/officeDocument/2006/relationships/tags" Target="../tags/tag204.xml"/><Relationship Id="rId19" Type="http://schemas.openxmlformats.org/officeDocument/2006/relationships/tags" Target="../tags/tag205.xml"/><Relationship Id="rId20" Type="http://schemas.openxmlformats.org/officeDocument/2006/relationships/tags" Target="../tags/tag206.xml"/><Relationship Id="rId2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207.xml"/><Relationship Id="rId2" Type="http://schemas.openxmlformats.org/officeDocument/2006/relationships/tags" Target="../tags/tag208.xml"/><Relationship Id="rId3" Type="http://schemas.openxmlformats.org/officeDocument/2006/relationships/tags" Target="../tags/tag209.xml"/><Relationship Id="rId4" Type="http://schemas.openxmlformats.org/officeDocument/2006/relationships/tags" Target="../tags/tag210.xml"/><Relationship Id="rId5" Type="http://schemas.openxmlformats.org/officeDocument/2006/relationships/tags" Target="../tags/tag211.xml"/><Relationship Id="rId6" Type="http://schemas.openxmlformats.org/officeDocument/2006/relationships/tags" Target="../tags/tag212.xml"/><Relationship Id="rId7" Type="http://schemas.openxmlformats.org/officeDocument/2006/relationships/tags" Target="../tags/tag213.xml"/><Relationship Id="rId8" Type="http://schemas.openxmlformats.org/officeDocument/2006/relationships/tags" Target="../tags/tag214.xml"/><Relationship Id="rId9" Type="http://schemas.openxmlformats.org/officeDocument/2006/relationships/tags" Target="../tags/tag215.xml"/><Relationship Id="rId10" Type="http://schemas.openxmlformats.org/officeDocument/2006/relationships/tags" Target="../tags/tag216.xml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tags" Target="../tags/tag217.xml"/><Relationship Id="rId3" Type="http://schemas.openxmlformats.org/officeDocument/2006/relationships/tags" Target="../tags/tag218.xml"/><Relationship Id="rId4" Type="http://schemas.openxmlformats.org/officeDocument/2006/relationships/tags" Target="../tags/tag219.xml"/><Relationship Id="rId5" Type="http://schemas.openxmlformats.org/officeDocument/2006/relationships/tags" Target="../tags/tag220.xml"/><Relationship Id="rId6" Type="http://schemas.openxmlformats.org/officeDocument/2006/relationships/tags" Target="../tags/tag221.xml"/><Relationship Id="rId7" Type="http://schemas.openxmlformats.org/officeDocument/2006/relationships/tags" Target="../tags/tag222.xml"/><Relationship Id="rId8" Type="http://schemas.openxmlformats.org/officeDocument/2006/relationships/tags" Target="../tags/tag223.xml"/><Relationship Id="rId9" Type="http://schemas.openxmlformats.org/officeDocument/2006/relationships/tags" Target="../tags/tag224.xml"/><Relationship Id="rId10" Type="http://schemas.openxmlformats.org/officeDocument/2006/relationships/tags" Target="../tags/tag225.xml"/><Relationship Id="rId11" Type="http://schemas.openxmlformats.org/officeDocument/2006/relationships/tags" Target="../tags/tag226.xml"/><Relationship Id="rId12" Type="http://schemas.openxmlformats.org/officeDocument/2006/relationships/tags" Target="../tags/tag227.xml"/><Relationship Id="rId13" Type="http://schemas.openxmlformats.org/officeDocument/2006/relationships/tags" Target="../tags/tag228.xml"/><Relationship Id="rId14" Type="http://schemas.openxmlformats.org/officeDocument/2006/relationships/tags" Target="../tags/tag229.xml"/><Relationship Id="rId15" Type="http://schemas.openxmlformats.org/officeDocument/2006/relationships/tags" Target="../tags/tag230.xml"/><Relationship Id="rId16" Type="http://schemas.openxmlformats.org/officeDocument/2006/relationships/tags" Target="../tags/tag231.xml"/><Relationship Id="rId17" Type="http://schemas.openxmlformats.org/officeDocument/2006/relationships/tags" Target="../tags/tag232.xml"/><Relationship Id="rId18" Type="http://schemas.openxmlformats.org/officeDocument/2006/relationships/image" Target="../media/image5.png"/><Relationship Id="rId19" Type="http://schemas.openxmlformats.org/officeDocument/2006/relationships/image" Target="../media/image6.png"/><Relationship Id="rId20" Type="http://schemas.openxmlformats.org/officeDocument/2006/relationships/tags" Target="../tags/tag233.xml"/><Relationship Id="rId2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234.xml"/><Relationship Id="rId2" Type="http://schemas.openxmlformats.org/officeDocument/2006/relationships/tags" Target="../tags/tag235.xml"/><Relationship Id="rId3" Type="http://schemas.openxmlformats.org/officeDocument/2006/relationships/tags" Target="../tags/tag236.xml"/><Relationship Id="rId4" Type="http://schemas.openxmlformats.org/officeDocument/2006/relationships/tags" Target="../tags/tag237.xml"/><Relationship Id="rId5" Type="http://schemas.openxmlformats.org/officeDocument/2006/relationships/tags" Target="../tags/tag238.xml"/><Relationship Id="rId6" Type="http://schemas.openxmlformats.org/officeDocument/2006/relationships/tags" Target="../tags/tag239.xml"/><Relationship Id="rId7" Type="http://schemas.openxmlformats.org/officeDocument/2006/relationships/tags" Target="../tags/tag240.xml"/><Relationship Id="rId8" Type="http://schemas.openxmlformats.org/officeDocument/2006/relationships/tags" Target="../tags/tag241.xml"/><Relationship Id="rId9" Type="http://schemas.openxmlformats.org/officeDocument/2006/relationships/tags" Target="../tags/tag242.xml"/><Relationship Id="rId10" Type="http://schemas.openxmlformats.org/officeDocument/2006/relationships/tags" Target="../tags/tag243.xml"/><Relationship Id="rId11" Type="http://schemas.openxmlformats.org/officeDocument/2006/relationships/tags" Target="../tags/tag244.xml"/><Relationship Id="rId12" Type="http://schemas.openxmlformats.org/officeDocument/2006/relationships/tags" Target="../tags/tag245.xml"/><Relationship Id="rId13" Type="http://schemas.openxmlformats.org/officeDocument/2006/relationships/tags" Target="../tags/tag246.xml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247.xml"/><Relationship Id="rId2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248.xml"/><Relationship Id="rId2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249.xml"/><Relationship Id="rId2" Type="http://schemas.openxmlformats.org/officeDocument/2006/relationships/tags" Target="../tags/tag250.xml"/><Relationship Id="rId3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251.xml"/><Relationship Id="rId2" Type="http://schemas.openxmlformats.org/officeDocument/2006/relationships/tags" Target="../tags/tag252.xml"/><Relationship Id="rId3" Type="http://schemas.openxmlformats.org/officeDocument/2006/relationships/tags" Target="../tags/tag253.xml"/><Relationship Id="rId4" Type="http://schemas.openxmlformats.org/officeDocument/2006/relationships/tags" Target="../tags/tag254.xml"/><Relationship Id="rId5" Type="http://schemas.openxmlformats.org/officeDocument/2006/relationships/tags" Target="../tags/tag255.xml"/><Relationship Id="rId6" Type="http://schemas.openxmlformats.org/officeDocument/2006/relationships/tags" Target="../tags/tag256.xml"/><Relationship Id="rId7" Type="http://schemas.openxmlformats.org/officeDocument/2006/relationships/tags" Target="../tags/tag257.xml"/><Relationship Id="rId8" Type="http://schemas.openxmlformats.org/officeDocument/2006/relationships/tags" Target="../tags/tag258.xml"/><Relationship Id="rId9" Type="http://schemas.openxmlformats.org/officeDocument/2006/relationships/tags" Target="../tags/tag259.xml"/><Relationship Id="rId10" Type="http://schemas.openxmlformats.org/officeDocument/2006/relationships/tags" Target="../tags/tag260.xml"/><Relationship Id="rId11" Type="http://schemas.openxmlformats.org/officeDocument/2006/relationships/tags" Target="../tags/tag261.xml"/><Relationship Id="rId12" Type="http://schemas.openxmlformats.org/officeDocument/2006/relationships/tags" Target="../tags/tag262.xml"/><Relationship Id="rId13" Type="http://schemas.openxmlformats.org/officeDocument/2006/relationships/tags" Target="../tags/tag263.xml"/><Relationship Id="rId14" Type="http://schemas.openxmlformats.org/officeDocument/2006/relationships/tags" Target="../tags/tag264.xml"/><Relationship Id="rId15" Type="http://schemas.openxmlformats.org/officeDocument/2006/relationships/tags" Target="../tags/tag265.xml"/><Relationship Id="rId16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266.xml"/><Relationship Id="rId2" Type="http://schemas.openxmlformats.org/officeDocument/2006/relationships/tags" Target="../tags/tag267.xml"/><Relationship Id="rId3" Type="http://schemas.openxmlformats.org/officeDocument/2006/relationships/tags" Target="../tags/tag268.xml"/><Relationship Id="rId4" Type="http://schemas.openxmlformats.org/officeDocument/2006/relationships/tags" Target="../tags/tag269.xml"/><Relationship Id="rId5" Type="http://schemas.openxmlformats.org/officeDocument/2006/relationships/tags" Target="../tags/tag270.xml"/><Relationship Id="rId6" Type="http://schemas.openxmlformats.org/officeDocument/2006/relationships/tags" Target="../tags/tag271.xml"/><Relationship Id="rId7" Type="http://schemas.openxmlformats.org/officeDocument/2006/relationships/tags" Target="../tags/tag272.xml"/><Relationship Id="rId8" Type="http://schemas.openxmlformats.org/officeDocument/2006/relationships/tags" Target="../tags/tag273.xml"/><Relationship Id="rId9" Type="http://schemas.openxmlformats.org/officeDocument/2006/relationships/tags" Target="../tags/tag274.xml"/><Relationship Id="rId10" Type="http://schemas.openxmlformats.org/officeDocument/2006/relationships/tags" Target="../tags/tag275.xml"/><Relationship Id="rId11" Type="http://schemas.openxmlformats.org/officeDocument/2006/relationships/tags" Target="../tags/tag276.xml"/><Relationship Id="rId12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277.xml"/><Relationship Id="rId2" Type="http://schemas.openxmlformats.org/officeDocument/2006/relationships/tags" Target="../tags/tag278.xml"/><Relationship Id="rId3" Type="http://schemas.openxmlformats.org/officeDocument/2006/relationships/tags" Target="../tags/tag279.xml"/><Relationship Id="rId4" Type="http://schemas.openxmlformats.org/officeDocument/2006/relationships/tags" Target="../tags/tag280.xml"/><Relationship Id="rId5" Type="http://schemas.openxmlformats.org/officeDocument/2006/relationships/tags" Target="../tags/tag281.xml"/><Relationship Id="rId6" Type="http://schemas.openxmlformats.org/officeDocument/2006/relationships/tags" Target="../tags/tag282.xml"/><Relationship Id="rId7" Type="http://schemas.openxmlformats.org/officeDocument/2006/relationships/tags" Target="../tags/tag283.xml"/><Relationship Id="rId8" Type="http://schemas.openxmlformats.org/officeDocument/2006/relationships/tags" Target="../tags/tag284.xml"/><Relationship Id="rId9" Type="http://schemas.openxmlformats.org/officeDocument/2006/relationships/tags" Target="../tags/tag285.xml"/><Relationship Id="rId10" Type="http://schemas.openxmlformats.org/officeDocument/2006/relationships/tags" Target="../tags/tag286.xml"/><Relationship Id="rId11" Type="http://schemas.openxmlformats.org/officeDocument/2006/relationships/tags" Target="../tags/tag287.xml"/><Relationship Id="rId12" Type="http://schemas.openxmlformats.org/officeDocument/2006/relationships/tags" Target="../tags/tag288.xml"/><Relationship Id="rId13" Type="http://schemas.openxmlformats.org/officeDocument/2006/relationships/tags" Target="../tags/tag289.xml"/><Relationship Id="rId14" Type="http://schemas.openxmlformats.org/officeDocument/2006/relationships/tags" Target="../tags/tag290.xml"/><Relationship Id="rId15" Type="http://schemas.openxmlformats.org/officeDocument/2006/relationships/tags" Target="../tags/tag291.xml"/><Relationship Id="rId16" Type="http://schemas.openxmlformats.org/officeDocument/2006/relationships/tags" Target="../tags/tag292.xml"/><Relationship Id="rId17" Type="http://schemas.openxmlformats.org/officeDocument/2006/relationships/tags" Target="../tags/tag293.xml"/><Relationship Id="rId18" Type="http://schemas.openxmlformats.org/officeDocument/2006/relationships/tags" Target="../tags/tag294.xml"/><Relationship Id="rId19" Type="http://schemas.openxmlformats.org/officeDocument/2006/relationships/tags" Target="../tags/tag295.xml"/><Relationship Id="rId20" Type="http://schemas.openxmlformats.org/officeDocument/2006/relationships/tags" Target="../tags/tag296.xml"/><Relationship Id="rId21" Type="http://schemas.openxmlformats.org/officeDocument/2006/relationships/tags" Target="../tags/tag297.xml"/><Relationship Id="rId22" Type="http://schemas.openxmlformats.org/officeDocument/2006/relationships/tags" Target="../tags/tag298.xml"/><Relationship Id="rId23" Type="http://schemas.openxmlformats.org/officeDocument/2006/relationships/tags" Target="../tags/tag299.xml"/><Relationship Id="rId24" Type="http://schemas.openxmlformats.org/officeDocument/2006/relationships/tags" Target="../tags/tag300.xml"/><Relationship Id="rId25" Type="http://schemas.openxmlformats.org/officeDocument/2006/relationships/tags" Target="../tags/tag301.xml"/><Relationship Id="rId26" Type="http://schemas.openxmlformats.org/officeDocument/2006/relationships/tags" Target="../tags/tag302.xml"/><Relationship Id="rId27" Type="http://schemas.openxmlformats.org/officeDocument/2006/relationships/tags" Target="../tags/tag303.xml"/><Relationship Id="rId28" Type="http://schemas.openxmlformats.org/officeDocument/2006/relationships/tags" Target="../tags/tag304.xml"/><Relationship Id="rId29" Type="http://schemas.openxmlformats.org/officeDocument/2006/relationships/tags" Target="../tags/tag305.xml"/><Relationship Id="rId30" Type="http://schemas.openxmlformats.org/officeDocument/2006/relationships/tags" Target="../tags/tag306.xml"/><Relationship Id="rId31" Type="http://schemas.openxmlformats.org/officeDocument/2006/relationships/tags" Target="../tags/tag307.xml"/><Relationship Id="rId32" Type="http://schemas.openxmlformats.org/officeDocument/2006/relationships/tags" Target="../tags/tag308.xml"/><Relationship Id="rId33" Type="http://schemas.openxmlformats.org/officeDocument/2006/relationships/tags" Target="../tags/tag309.xml"/><Relationship Id="rId34" Type="http://schemas.openxmlformats.org/officeDocument/2006/relationships/tags" Target="../tags/tag310.xml"/><Relationship Id="rId35" Type="http://schemas.openxmlformats.org/officeDocument/2006/relationships/tags" Target="../tags/tag311.xml"/><Relationship Id="rId36" Type="http://schemas.openxmlformats.org/officeDocument/2006/relationships/tags" Target="../tags/tag312.xml"/><Relationship Id="rId37" Type="http://schemas.openxmlformats.org/officeDocument/2006/relationships/tags" Target="../tags/tag313.xml"/><Relationship Id="rId38" Type="http://schemas.openxmlformats.org/officeDocument/2006/relationships/tags" Target="../tags/tag314.xml"/><Relationship Id="rId39" Type="http://schemas.openxmlformats.org/officeDocument/2006/relationships/tags" Target="../tags/tag315.xml"/><Relationship Id="rId40" Type="http://schemas.openxmlformats.org/officeDocument/2006/relationships/tags" Target="../tags/tag316.xml"/><Relationship Id="rId41" Type="http://schemas.openxmlformats.org/officeDocument/2006/relationships/tags" Target="../tags/tag317.xml"/><Relationship Id="rId42" Type="http://schemas.openxmlformats.org/officeDocument/2006/relationships/tags" Target="../tags/tag318.xml"/><Relationship Id="rId43" Type="http://schemas.openxmlformats.org/officeDocument/2006/relationships/tags" Target="../tags/tag319.xml"/><Relationship Id="rId44" Type="http://schemas.openxmlformats.org/officeDocument/2006/relationships/tags" Target="../tags/tag320.xml"/><Relationship Id="rId45" Type="http://schemas.openxmlformats.org/officeDocument/2006/relationships/tags" Target="../tags/tag321.xml"/><Relationship Id="rId46" Type="http://schemas.openxmlformats.org/officeDocument/2006/relationships/tags" Target="../tags/tag322.xml"/><Relationship Id="rId47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323.xml"/><Relationship Id="rId2" Type="http://schemas.openxmlformats.org/officeDocument/2006/relationships/tags" Target="../tags/tag324.xml"/><Relationship Id="rId3" Type="http://schemas.openxmlformats.org/officeDocument/2006/relationships/tags" Target="../tags/tag325.xml"/><Relationship Id="rId4" Type="http://schemas.openxmlformats.org/officeDocument/2006/relationships/tags" Target="../tags/tag326.xml"/><Relationship Id="rId5" Type="http://schemas.openxmlformats.org/officeDocument/2006/relationships/tags" Target="../tags/tag327.xml"/><Relationship Id="rId6" Type="http://schemas.openxmlformats.org/officeDocument/2006/relationships/tags" Target="../tags/tag328.xml"/><Relationship Id="rId7" Type="http://schemas.openxmlformats.org/officeDocument/2006/relationships/tags" Target="../tags/tag329.xml"/><Relationship Id="rId8" Type="http://schemas.openxmlformats.org/officeDocument/2006/relationships/tags" Target="../tags/tag330.xml"/><Relationship Id="rId9" Type="http://schemas.openxmlformats.org/officeDocument/2006/relationships/tags" Target="../tags/tag331.xml"/><Relationship Id="rId10" Type="http://schemas.openxmlformats.org/officeDocument/2006/relationships/tags" Target="../tags/tag332.xml"/><Relationship Id="rId11" Type="http://schemas.openxmlformats.org/officeDocument/2006/relationships/tags" Target="../tags/tag333.xml"/><Relationship Id="rId12" Type="http://schemas.openxmlformats.org/officeDocument/2006/relationships/tags" Target="../tags/tag334.xml"/><Relationship Id="rId13" Type="http://schemas.openxmlformats.org/officeDocument/2006/relationships/tags" Target="../tags/tag335.xml"/><Relationship Id="rId14" Type="http://schemas.openxmlformats.org/officeDocument/2006/relationships/tags" Target="../tags/tag336.xml"/><Relationship Id="rId15" Type="http://schemas.openxmlformats.org/officeDocument/2006/relationships/tags" Target="../tags/tag337.xml"/><Relationship Id="rId16" Type="http://schemas.openxmlformats.org/officeDocument/2006/relationships/tags" Target="../tags/tag338.xml"/><Relationship Id="rId17" Type="http://schemas.openxmlformats.org/officeDocument/2006/relationships/tags" Target="../tags/tag339.xml"/><Relationship Id="rId18" Type="http://schemas.openxmlformats.org/officeDocument/2006/relationships/tags" Target="../tags/tag340.xml"/><Relationship Id="rId19" Type="http://schemas.openxmlformats.org/officeDocument/2006/relationships/tags" Target="../tags/tag341.xml"/><Relationship Id="rId20" Type="http://schemas.openxmlformats.org/officeDocument/2006/relationships/tags" Target="../tags/tag342.xml"/><Relationship Id="rId21" Type="http://schemas.openxmlformats.org/officeDocument/2006/relationships/tags" Target="../tags/tag343.xml"/><Relationship Id="rId22" Type="http://schemas.openxmlformats.org/officeDocument/2006/relationships/tags" Target="../tags/tag344.xml"/><Relationship Id="rId23" Type="http://schemas.openxmlformats.org/officeDocument/2006/relationships/tags" Target="../tags/tag345.xml"/><Relationship Id="rId24" Type="http://schemas.openxmlformats.org/officeDocument/2006/relationships/tags" Target="../tags/tag346.xml"/><Relationship Id="rId25" Type="http://schemas.openxmlformats.org/officeDocument/2006/relationships/tags" Target="../tags/tag347.xml"/><Relationship Id="rId26" Type="http://schemas.openxmlformats.org/officeDocument/2006/relationships/tags" Target="../tags/tag348.xml"/><Relationship Id="rId27" Type="http://schemas.openxmlformats.org/officeDocument/2006/relationships/tags" Target="../tags/tag349.xml"/><Relationship Id="rId28" Type="http://schemas.openxmlformats.org/officeDocument/2006/relationships/tags" Target="../tags/tag350.xml"/><Relationship Id="rId29" Type="http://schemas.openxmlformats.org/officeDocument/2006/relationships/tags" Target="../tags/tag351.xml"/><Relationship Id="rId30" Type="http://schemas.openxmlformats.org/officeDocument/2006/relationships/tags" Target="../tags/tag352.xml"/><Relationship Id="rId31" Type="http://schemas.openxmlformats.org/officeDocument/2006/relationships/tags" Target="../tags/tag353.xml"/><Relationship Id="rId32" Type="http://schemas.openxmlformats.org/officeDocument/2006/relationships/tags" Target="../tags/tag354.xml"/><Relationship Id="rId33" Type="http://schemas.openxmlformats.org/officeDocument/2006/relationships/tags" Target="../tags/tag355.xml"/><Relationship Id="rId34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356.xml"/><Relationship Id="rId3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tags" Target="../tags/tag357.xml"/><Relationship Id="rId2" Type="http://schemas.openxmlformats.org/officeDocument/2006/relationships/tags" Target="../tags/tag358.xml"/><Relationship Id="rId3" Type="http://schemas.openxmlformats.org/officeDocument/2006/relationships/tags" Target="../tags/tag359.xml"/><Relationship Id="rId4" Type="http://schemas.openxmlformats.org/officeDocument/2006/relationships/tags" Target="../tags/tag360.xml"/><Relationship Id="rId5" Type="http://schemas.openxmlformats.org/officeDocument/2006/relationships/tags" Target="../tags/tag361.xml"/><Relationship Id="rId6" Type="http://schemas.openxmlformats.org/officeDocument/2006/relationships/tags" Target="../tags/tag362.xml"/><Relationship Id="rId7" Type="http://schemas.openxmlformats.org/officeDocument/2006/relationships/tags" Target="../tags/tag363.xml"/><Relationship Id="rId8" Type="http://schemas.openxmlformats.org/officeDocument/2006/relationships/tags" Target="../tags/tag364.xml"/><Relationship Id="rId9" Type="http://schemas.openxmlformats.org/officeDocument/2006/relationships/tags" Target="../tags/tag365.xml"/><Relationship Id="rId10" Type="http://schemas.openxmlformats.org/officeDocument/2006/relationships/tags" Target="../tags/tag366.xml"/><Relationship Id="rId1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tags" Target="../tags/tag367.xml"/><Relationship Id="rId2" Type="http://schemas.openxmlformats.org/officeDocument/2006/relationships/tags" Target="../tags/tag368.xml"/><Relationship Id="rId3" Type="http://schemas.openxmlformats.org/officeDocument/2006/relationships/tags" Target="../tags/tag369.xml"/><Relationship Id="rId4" Type="http://schemas.openxmlformats.org/officeDocument/2006/relationships/tags" Target="../tags/tag370.xml"/><Relationship Id="rId5" Type="http://schemas.openxmlformats.org/officeDocument/2006/relationships/tags" Target="../tags/tag371.xml"/><Relationship Id="rId6" Type="http://schemas.openxmlformats.org/officeDocument/2006/relationships/tags" Target="../tags/tag372.xml"/><Relationship Id="rId7" Type="http://schemas.openxmlformats.org/officeDocument/2006/relationships/tags" Target="../tags/tag373.xml"/><Relationship Id="rId8" Type="http://schemas.openxmlformats.org/officeDocument/2006/relationships/tags" Target="../tags/tag374.xml"/><Relationship Id="rId9" Type="http://schemas.openxmlformats.org/officeDocument/2006/relationships/tags" Target="../tags/tag375.xml"/><Relationship Id="rId10" Type="http://schemas.openxmlformats.org/officeDocument/2006/relationships/tags" Target="../tags/tag376.xml"/><Relationship Id="rId11" Type="http://schemas.openxmlformats.org/officeDocument/2006/relationships/tags" Target="../tags/tag377.xml"/><Relationship Id="rId12" Type="http://schemas.openxmlformats.org/officeDocument/2006/relationships/tags" Target="../tags/tag378.xml"/><Relationship Id="rId13" Type="http://schemas.openxmlformats.org/officeDocument/2006/relationships/tags" Target="../tags/tag379.xml"/><Relationship Id="rId14" Type="http://schemas.openxmlformats.org/officeDocument/2006/relationships/tags" Target="../tags/tag380.xml"/><Relationship Id="rId15" Type="http://schemas.openxmlformats.org/officeDocument/2006/relationships/tags" Target="../tags/tag381.xml"/><Relationship Id="rId16" Type="http://schemas.openxmlformats.org/officeDocument/2006/relationships/tags" Target="../tags/tag382.xml"/><Relationship Id="rId17" Type="http://schemas.openxmlformats.org/officeDocument/2006/relationships/tags" Target="../tags/tag383.xml"/><Relationship Id="rId18" Type="http://schemas.openxmlformats.org/officeDocument/2006/relationships/tags" Target="../tags/tag384.xml"/><Relationship Id="rId19" Type="http://schemas.openxmlformats.org/officeDocument/2006/relationships/tags" Target="../tags/tag385.xml"/><Relationship Id="rId20" Type="http://schemas.openxmlformats.org/officeDocument/2006/relationships/tags" Target="../tags/tag386.xml"/><Relationship Id="rId21" Type="http://schemas.openxmlformats.org/officeDocument/2006/relationships/tags" Target="../tags/tag387.xml"/><Relationship Id="rId22" Type="http://schemas.openxmlformats.org/officeDocument/2006/relationships/tags" Target="../tags/tag388.xml"/><Relationship Id="rId23" Type="http://schemas.openxmlformats.org/officeDocument/2006/relationships/tags" Target="../tags/tag389.xml"/><Relationship Id="rId24" Type="http://schemas.openxmlformats.org/officeDocument/2006/relationships/tags" Target="../tags/tag390.xml"/><Relationship Id="rId25" Type="http://schemas.openxmlformats.org/officeDocument/2006/relationships/tags" Target="../tags/tag391.xml"/><Relationship Id="rId26" Type="http://schemas.openxmlformats.org/officeDocument/2006/relationships/tags" Target="../tags/tag392.xml"/><Relationship Id="rId27" Type="http://schemas.openxmlformats.org/officeDocument/2006/relationships/tags" Target="../tags/tag393.xml"/><Relationship Id="rId28" Type="http://schemas.openxmlformats.org/officeDocument/2006/relationships/tags" Target="../tags/tag394.xml"/><Relationship Id="rId29" Type="http://schemas.openxmlformats.org/officeDocument/2006/relationships/tags" Target="../tags/tag395.xml"/><Relationship Id="rId30" Type="http://schemas.openxmlformats.org/officeDocument/2006/relationships/tags" Target="../tags/tag396.xml"/><Relationship Id="rId31" Type="http://schemas.openxmlformats.org/officeDocument/2006/relationships/tags" Target="../tags/tag397.xml"/><Relationship Id="rId32" Type="http://schemas.openxmlformats.org/officeDocument/2006/relationships/tags" Target="../tags/tag398.xml"/><Relationship Id="rId33" Type="http://schemas.openxmlformats.org/officeDocument/2006/relationships/tags" Target="../tags/tag399.xml"/><Relationship Id="rId34" Type="http://schemas.openxmlformats.org/officeDocument/2006/relationships/tags" Target="../tags/tag400.xml"/><Relationship Id="rId35" Type="http://schemas.openxmlformats.org/officeDocument/2006/relationships/tags" Target="../tags/tag401.xml"/><Relationship Id="rId36" Type="http://schemas.openxmlformats.org/officeDocument/2006/relationships/tags" Target="../tags/tag402.xml"/><Relationship Id="rId37" Type="http://schemas.openxmlformats.org/officeDocument/2006/relationships/tags" Target="../tags/tag403.xml"/><Relationship Id="rId38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tags" Target="../tags/tag404.xml"/><Relationship Id="rId2" Type="http://schemas.openxmlformats.org/officeDocument/2006/relationships/tags" Target="../tags/tag405.xml"/><Relationship Id="rId3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tags" Target="../tags/tag40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tags" Target="../tags/tag407.xml"/><Relationship Id="rId2" Type="http://schemas.openxmlformats.org/officeDocument/2006/relationships/tags" Target="../tags/tag408.xml"/><Relationship Id="rId3" Type="http://schemas.openxmlformats.org/officeDocument/2006/relationships/tags" Target="../tags/tag409.xml"/><Relationship Id="rId4" Type="http://schemas.openxmlformats.org/officeDocument/2006/relationships/tags" Target="../tags/tag410.xml"/><Relationship Id="rId5" Type="http://schemas.openxmlformats.org/officeDocument/2006/relationships/tags" Target="../tags/tag411.xml"/><Relationship Id="rId6" Type="http://schemas.openxmlformats.org/officeDocument/2006/relationships/tags" Target="../tags/tag412.xml"/><Relationship Id="rId7" Type="http://schemas.openxmlformats.org/officeDocument/2006/relationships/tags" Target="../tags/tag413.xml"/><Relationship Id="rId8" Type="http://schemas.openxmlformats.org/officeDocument/2006/relationships/tags" Target="../tags/tag414.xml"/><Relationship Id="rId9" Type="http://schemas.openxmlformats.org/officeDocument/2006/relationships/tags" Target="../tags/tag415.xml"/><Relationship Id="rId10" Type="http://schemas.openxmlformats.org/officeDocument/2006/relationships/tags" Target="../tags/tag416.xml"/><Relationship Id="rId11" Type="http://schemas.openxmlformats.org/officeDocument/2006/relationships/tags" Target="../tags/tag417.xml"/><Relationship Id="rId12" Type="http://schemas.openxmlformats.org/officeDocument/2006/relationships/tags" Target="../tags/tag418.xml"/><Relationship Id="rId13" Type="http://schemas.openxmlformats.org/officeDocument/2006/relationships/tags" Target="../tags/tag419.xml"/><Relationship Id="rId14" Type="http://schemas.openxmlformats.org/officeDocument/2006/relationships/tags" Target="../tags/tag420.xml"/><Relationship Id="rId15" Type="http://schemas.openxmlformats.org/officeDocument/2006/relationships/tags" Target="../tags/tag421.xml"/><Relationship Id="rId16" Type="http://schemas.openxmlformats.org/officeDocument/2006/relationships/tags" Target="../tags/tag422.xml"/><Relationship Id="rId17" Type="http://schemas.openxmlformats.org/officeDocument/2006/relationships/tags" Target="../tags/tag423.xml"/><Relationship Id="rId18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tags" Target="../tags/tag424.xml"/><Relationship Id="rId2" Type="http://schemas.openxmlformats.org/officeDocument/2006/relationships/tags" Target="../tags/tag425.xml"/><Relationship Id="rId3" Type="http://schemas.openxmlformats.org/officeDocument/2006/relationships/tags" Target="../tags/tag426.xml"/><Relationship Id="rId4" Type="http://schemas.openxmlformats.org/officeDocument/2006/relationships/tags" Target="../tags/tag427.xml"/><Relationship Id="rId5" Type="http://schemas.openxmlformats.org/officeDocument/2006/relationships/tags" Target="../tags/tag428.xml"/><Relationship Id="rId6" Type="http://schemas.openxmlformats.org/officeDocument/2006/relationships/tags" Target="../tags/tag429.xml"/><Relationship Id="rId7" Type="http://schemas.openxmlformats.org/officeDocument/2006/relationships/tags" Target="../tags/tag430.xml"/><Relationship Id="rId8" Type="http://schemas.openxmlformats.org/officeDocument/2006/relationships/tags" Target="../tags/tag431.xml"/><Relationship Id="rId9" Type="http://schemas.openxmlformats.org/officeDocument/2006/relationships/tags" Target="../tags/tag432.xml"/><Relationship Id="rId10" Type="http://schemas.openxmlformats.org/officeDocument/2006/relationships/tags" Target="../tags/tag433.xml"/><Relationship Id="rId11" Type="http://schemas.openxmlformats.org/officeDocument/2006/relationships/tags" Target="../tags/tag434.xml"/><Relationship Id="rId12" Type="http://schemas.openxmlformats.org/officeDocument/2006/relationships/tags" Target="../tags/tag435.xml"/><Relationship Id="rId13" Type="http://schemas.openxmlformats.org/officeDocument/2006/relationships/tags" Target="../tags/tag436.xml"/><Relationship Id="rId14" Type="http://schemas.openxmlformats.org/officeDocument/2006/relationships/tags" Target="../tags/tag437.xml"/><Relationship Id="rId15" Type="http://schemas.openxmlformats.org/officeDocument/2006/relationships/tags" Target="../tags/tag438.xml"/><Relationship Id="rId16" Type="http://schemas.openxmlformats.org/officeDocument/2006/relationships/tags" Target="../tags/tag439.xml"/><Relationship Id="rId17" Type="http://schemas.openxmlformats.org/officeDocument/2006/relationships/tags" Target="../tags/tag440.xml"/><Relationship Id="rId18" Type="http://schemas.openxmlformats.org/officeDocument/2006/relationships/tags" Target="../tags/tag441.xml"/><Relationship Id="rId19" Type="http://schemas.openxmlformats.org/officeDocument/2006/relationships/tags" Target="../tags/tag442.xml"/><Relationship Id="rId20" Type="http://schemas.openxmlformats.org/officeDocument/2006/relationships/tags" Target="../tags/tag443.xml"/><Relationship Id="rId21" Type="http://schemas.openxmlformats.org/officeDocument/2006/relationships/tags" Target="../tags/tag444.xml"/><Relationship Id="rId22" Type="http://schemas.openxmlformats.org/officeDocument/2006/relationships/tags" Target="../tags/tag445.xml"/><Relationship Id="rId23" Type="http://schemas.openxmlformats.org/officeDocument/2006/relationships/tags" Target="../tags/tag446.xml"/><Relationship Id="rId24" Type="http://schemas.openxmlformats.org/officeDocument/2006/relationships/tags" Target="../tags/tag447.xml"/><Relationship Id="rId25" Type="http://schemas.openxmlformats.org/officeDocument/2006/relationships/tags" Target="../tags/tag448.xml"/><Relationship Id="rId26" Type="http://schemas.openxmlformats.org/officeDocument/2006/relationships/tags" Target="../tags/tag449.xml"/><Relationship Id="rId27" Type="http://schemas.openxmlformats.org/officeDocument/2006/relationships/tags" Target="../tags/tag450.xml"/><Relationship Id="rId28" Type="http://schemas.openxmlformats.org/officeDocument/2006/relationships/tags" Target="../tags/tag451.xml"/><Relationship Id="rId29" Type="http://schemas.openxmlformats.org/officeDocument/2006/relationships/tags" Target="../tags/tag452.xml"/><Relationship Id="rId30" Type="http://schemas.openxmlformats.org/officeDocument/2006/relationships/tags" Target="../tags/tag453.xml"/><Relationship Id="rId31" Type="http://schemas.openxmlformats.org/officeDocument/2006/relationships/tags" Target="../tags/tag454.xml"/><Relationship Id="rId32" Type="http://schemas.openxmlformats.org/officeDocument/2006/relationships/tags" Target="../tags/tag455.xml"/><Relationship Id="rId33" Type="http://schemas.openxmlformats.org/officeDocument/2006/relationships/tags" Target="../tags/tag456.xml"/><Relationship Id="rId34" Type="http://schemas.openxmlformats.org/officeDocument/2006/relationships/tags" Target="../tags/tag457.xml"/><Relationship Id="rId35" Type="http://schemas.openxmlformats.org/officeDocument/2006/relationships/tags" Target="../tags/tag458.xml"/><Relationship Id="rId36" Type="http://schemas.openxmlformats.org/officeDocument/2006/relationships/tags" Target="../tags/tag459.xml"/><Relationship Id="rId37" Type="http://schemas.openxmlformats.org/officeDocument/2006/relationships/slideLayout" Target="../slideLayouts/slideLayout2.xml"/><Relationship Id="rId38" Type="http://schemas.openxmlformats.org/officeDocument/2006/relationships/notesSlide" Target="../notesSlides/notesSlide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tags" Target="../tags/tag460.xml"/><Relationship Id="rId2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tags" Target="../tags/tag461.xml"/><Relationship Id="rId2" Type="http://schemas.openxmlformats.org/officeDocument/2006/relationships/tags" Target="../tags/tag462.xml"/><Relationship Id="rId3" Type="http://schemas.openxmlformats.org/officeDocument/2006/relationships/tags" Target="../tags/tag463.xml"/><Relationship Id="rId4" Type="http://schemas.openxmlformats.org/officeDocument/2006/relationships/tags" Target="../tags/tag464.xml"/><Relationship Id="rId5" Type="http://schemas.openxmlformats.org/officeDocument/2006/relationships/tags" Target="../tags/tag465.xml"/><Relationship Id="rId6" Type="http://schemas.openxmlformats.org/officeDocument/2006/relationships/tags" Target="../tags/tag466.xml"/><Relationship Id="rId7" Type="http://schemas.openxmlformats.org/officeDocument/2006/relationships/tags" Target="../tags/tag467.xml"/><Relationship Id="rId8" Type="http://schemas.openxmlformats.org/officeDocument/2006/relationships/tags" Target="../tags/tag468.xml"/><Relationship Id="rId9" Type="http://schemas.openxmlformats.org/officeDocument/2006/relationships/tags" Target="../tags/tag469.xml"/><Relationship Id="rId10" Type="http://schemas.openxmlformats.org/officeDocument/2006/relationships/tags" Target="../tags/tag470.xml"/><Relationship Id="rId11" Type="http://schemas.openxmlformats.org/officeDocument/2006/relationships/tags" Target="../tags/tag471.xml"/><Relationship Id="rId12" Type="http://schemas.openxmlformats.org/officeDocument/2006/relationships/tags" Target="../tags/tag472.xml"/><Relationship Id="rId13" Type="http://schemas.openxmlformats.org/officeDocument/2006/relationships/tags" Target="../tags/tag473.xml"/><Relationship Id="rId14" Type="http://schemas.openxmlformats.org/officeDocument/2006/relationships/tags" Target="../tags/tag474.xml"/><Relationship Id="rId15" Type="http://schemas.openxmlformats.org/officeDocument/2006/relationships/tags" Target="../tags/tag475.xml"/><Relationship Id="rId16" Type="http://schemas.openxmlformats.org/officeDocument/2006/relationships/tags" Target="../tags/tag476.xml"/><Relationship Id="rId17" Type="http://schemas.openxmlformats.org/officeDocument/2006/relationships/tags" Target="../tags/tag477.xml"/><Relationship Id="rId18" Type="http://schemas.openxmlformats.org/officeDocument/2006/relationships/tags" Target="../tags/tag478.xml"/><Relationship Id="rId19" Type="http://schemas.openxmlformats.org/officeDocument/2006/relationships/tags" Target="../tags/tag479.xml"/><Relationship Id="rId20" Type="http://schemas.openxmlformats.org/officeDocument/2006/relationships/tags" Target="../tags/tag480.xml"/><Relationship Id="rId21" Type="http://schemas.openxmlformats.org/officeDocument/2006/relationships/tags" Target="../tags/tag481.xml"/><Relationship Id="rId22" Type="http://schemas.openxmlformats.org/officeDocument/2006/relationships/tags" Target="../tags/tag482.xml"/><Relationship Id="rId23" Type="http://schemas.openxmlformats.org/officeDocument/2006/relationships/tags" Target="../tags/tag483.xml"/><Relationship Id="rId24" Type="http://schemas.openxmlformats.org/officeDocument/2006/relationships/tags" Target="../tags/tag484.xml"/><Relationship Id="rId25" Type="http://schemas.openxmlformats.org/officeDocument/2006/relationships/tags" Target="../tags/tag485.xml"/><Relationship Id="rId26" Type="http://schemas.openxmlformats.org/officeDocument/2006/relationships/tags" Target="../tags/tag486.xml"/><Relationship Id="rId27" Type="http://schemas.openxmlformats.org/officeDocument/2006/relationships/tags" Target="../tags/tag487.xml"/><Relationship Id="rId28" Type="http://schemas.openxmlformats.org/officeDocument/2006/relationships/tags" Target="../tags/tag488.xml"/><Relationship Id="rId29" Type="http://schemas.openxmlformats.org/officeDocument/2006/relationships/tags" Target="../tags/tag489.xml"/><Relationship Id="rId30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tags" Target="../tags/tag490.xml"/><Relationship Id="rId2" Type="http://schemas.openxmlformats.org/officeDocument/2006/relationships/tags" Target="../tags/tag491.xml"/><Relationship Id="rId3" Type="http://schemas.openxmlformats.org/officeDocument/2006/relationships/tags" Target="../tags/tag492.xml"/><Relationship Id="rId4" Type="http://schemas.openxmlformats.org/officeDocument/2006/relationships/tags" Target="../tags/tag493.xml"/><Relationship Id="rId5" Type="http://schemas.openxmlformats.org/officeDocument/2006/relationships/tags" Target="../tags/tag494.xml"/><Relationship Id="rId6" Type="http://schemas.openxmlformats.org/officeDocument/2006/relationships/tags" Target="../tags/tag495.xml"/><Relationship Id="rId7" Type="http://schemas.openxmlformats.org/officeDocument/2006/relationships/tags" Target="../tags/tag496.xml"/><Relationship Id="rId8" Type="http://schemas.openxmlformats.org/officeDocument/2006/relationships/tags" Target="../tags/tag497.xml"/><Relationship Id="rId9" Type="http://schemas.openxmlformats.org/officeDocument/2006/relationships/tags" Target="../tags/tag498.xml"/><Relationship Id="rId10" Type="http://schemas.openxmlformats.org/officeDocument/2006/relationships/tags" Target="../tags/tag499.xml"/><Relationship Id="rId11" Type="http://schemas.openxmlformats.org/officeDocument/2006/relationships/tags" Target="../tags/tag500.xml"/><Relationship Id="rId12" Type="http://schemas.openxmlformats.org/officeDocument/2006/relationships/tags" Target="../tags/tag501.xml"/><Relationship Id="rId13" Type="http://schemas.openxmlformats.org/officeDocument/2006/relationships/tags" Target="../tags/tag502.xml"/><Relationship Id="rId14" Type="http://schemas.openxmlformats.org/officeDocument/2006/relationships/tags" Target="../tags/tag503.xml"/><Relationship Id="rId15" Type="http://schemas.openxmlformats.org/officeDocument/2006/relationships/tags" Target="../tags/tag504.xml"/><Relationship Id="rId16" Type="http://schemas.openxmlformats.org/officeDocument/2006/relationships/tags" Target="../tags/tag505.xml"/><Relationship Id="rId17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tags" Target="../tags/tag506.xml"/><Relationship Id="rId2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tags" Target="../tags/tag507.xml"/><Relationship Id="rId2" Type="http://schemas.openxmlformats.org/officeDocument/2006/relationships/tags" Target="../tags/tag508.xml"/><Relationship Id="rId3" Type="http://schemas.openxmlformats.org/officeDocument/2006/relationships/tags" Target="../tags/tag509.xml"/><Relationship Id="rId4" Type="http://schemas.openxmlformats.org/officeDocument/2006/relationships/tags" Target="../tags/tag510.xml"/><Relationship Id="rId5" Type="http://schemas.openxmlformats.org/officeDocument/2006/relationships/tags" Target="../tags/tag511.xml"/><Relationship Id="rId6" Type="http://schemas.openxmlformats.org/officeDocument/2006/relationships/tags" Target="../tags/tag512.xml"/><Relationship Id="rId7" Type="http://schemas.openxmlformats.org/officeDocument/2006/relationships/tags" Target="../tags/tag513.xml"/><Relationship Id="rId8" Type="http://schemas.openxmlformats.org/officeDocument/2006/relationships/tags" Target="../tags/tag514.xml"/><Relationship Id="rId9" Type="http://schemas.openxmlformats.org/officeDocument/2006/relationships/tags" Target="../tags/tag515.xml"/><Relationship Id="rId10" Type="http://schemas.openxmlformats.org/officeDocument/2006/relationships/tags" Target="../tags/tag516.xml"/><Relationship Id="rId11" Type="http://schemas.openxmlformats.org/officeDocument/2006/relationships/tags" Target="../tags/tag517.xml"/><Relationship Id="rId12" Type="http://schemas.openxmlformats.org/officeDocument/2006/relationships/tags" Target="../tags/tag518.xml"/><Relationship Id="rId13" Type="http://schemas.openxmlformats.org/officeDocument/2006/relationships/tags" Target="../tags/tag519.xml"/><Relationship Id="rId14" Type="http://schemas.openxmlformats.org/officeDocument/2006/relationships/tags" Target="../tags/tag520.xml"/><Relationship Id="rId15" Type="http://schemas.openxmlformats.org/officeDocument/2006/relationships/tags" Target="../tags/tag521.xml"/><Relationship Id="rId16" Type="http://schemas.openxmlformats.org/officeDocument/2006/relationships/tags" Target="../tags/tag522.xml"/><Relationship Id="rId17" Type="http://schemas.openxmlformats.org/officeDocument/2006/relationships/tags" Target="../tags/tag523.xml"/><Relationship Id="rId18" Type="http://schemas.openxmlformats.org/officeDocument/2006/relationships/tags" Target="../tags/tag524.xml"/><Relationship Id="rId19" Type="http://schemas.openxmlformats.org/officeDocument/2006/relationships/tags" Target="../tags/tag525.xml"/><Relationship Id="rId20" Type="http://schemas.openxmlformats.org/officeDocument/2006/relationships/tags" Target="../tags/tag526.xml"/><Relationship Id="rId21" Type="http://schemas.openxmlformats.org/officeDocument/2006/relationships/tags" Target="../tags/tag527.xml"/><Relationship Id="rId22" Type="http://schemas.openxmlformats.org/officeDocument/2006/relationships/tags" Target="../tags/tag528.xml"/><Relationship Id="rId23" Type="http://schemas.openxmlformats.org/officeDocument/2006/relationships/tags" Target="../tags/tag529.xml"/><Relationship Id="rId24" Type="http://schemas.openxmlformats.org/officeDocument/2006/relationships/tags" Target="../tags/tag530.xml"/><Relationship Id="rId25" Type="http://schemas.openxmlformats.org/officeDocument/2006/relationships/tags" Target="../tags/tag531.xml"/><Relationship Id="rId26" Type="http://schemas.openxmlformats.org/officeDocument/2006/relationships/slideLayout" Target="../slideLayouts/slideLayout2.xml"/><Relationship Id="rId27" Type="http://schemas.openxmlformats.org/officeDocument/2006/relationships/notesSlide" Target="../notesSlides/notesSlide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tags" Target="../tags/tag532.xml"/><Relationship Id="rId2" Type="http://schemas.openxmlformats.org/officeDocument/2006/relationships/tags" Target="../tags/tag533.xml"/><Relationship Id="rId3" Type="http://schemas.openxmlformats.org/officeDocument/2006/relationships/tags" Target="../tags/tag534.xml"/><Relationship Id="rId4" Type="http://schemas.openxmlformats.org/officeDocument/2006/relationships/tags" Target="../tags/tag535.xml"/><Relationship Id="rId5" Type="http://schemas.openxmlformats.org/officeDocument/2006/relationships/tags" Target="../tags/tag536.xml"/><Relationship Id="rId6" Type="http://schemas.openxmlformats.org/officeDocument/2006/relationships/tags" Target="../tags/tag537.xml"/><Relationship Id="rId7" Type="http://schemas.openxmlformats.org/officeDocument/2006/relationships/tags" Target="../tags/tag538.xml"/><Relationship Id="rId8" Type="http://schemas.openxmlformats.org/officeDocument/2006/relationships/tags" Target="../tags/tag539.xml"/><Relationship Id="rId9" Type="http://schemas.openxmlformats.org/officeDocument/2006/relationships/tags" Target="../tags/tag540.xml"/><Relationship Id="rId10" Type="http://schemas.openxmlformats.org/officeDocument/2006/relationships/tags" Target="../tags/tag541.xml"/><Relationship Id="rId11" Type="http://schemas.openxmlformats.org/officeDocument/2006/relationships/tags" Target="../tags/tag542.xml"/><Relationship Id="rId12" Type="http://schemas.openxmlformats.org/officeDocument/2006/relationships/tags" Target="../tags/tag543.xml"/><Relationship Id="rId13" Type="http://schemas.openxmlformats.org/officeDocument/2006/relationships/tags" Target="../tags/tag544.xml"/><Relationship Id="rId14" Type="http://schemas.openxmlformats.org/officeDocument/2006/relationships/tags" Target="../tags/tag545.xml"/><Relationship Id="rId15" Type="http://schemas.openxmlformats.org/officeDocument/2006/relationships/tags" Target="../tags/tag546.xml"/><Relationship Id="rId16" Type="http://schemas.openxmlformats.org/officeDocument/2006/relationships/tags" Target="../tags/tag547.xml"/><Relationship Id="rId17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tags" Target="../tags/tag548.xml"/><Relationship Id="rId2" Type="http://schemas.openxmlformats.org/officeDocument/2006/relationships/tags" Target="../tags/tag549.xml"/><Relationship Id="rId3" Type="http://schemas.openxmlformats.org/officeDocument/2006/relationships/tags" Target="../tags/tag550.xml"/><Relationship Id="rId4" Type="http://schemas.openxmlformats.org/officeDocument/2006/relationships/tags" Target="../tags/tag551.xml"/><Relationship Id="rId5" Type="http://schemas.openxmlformats.org/officeDocument/2006/relationships/tags" Target="../tags/tag552.xml"/><Relationship Id="rId6" Type="http://schemas.openxmlformats.org/officeDocument/2006/relationships/tags" Target="../tags/tag553.xml"/><Relationship Id="rId7" Type="http://schemas.openxmlformats.org/officeDocument/2006/relationships/tags" Target="../tags/tag554.xml"/><Relationship Id="rId8" Type="http://schemas.openxmlformats.org/officeDocument/2006/relationships/tags" Target="../tags/tag555.xml"/><Relationship Id="rId9" Type="http://schemas.openxmlformats.org/officeDocument/2006/relationships/tags" Target="../tags/tag556.xml"/><Relationship Id="rId10" Type="http://schemas.openxmlformats.org/officeDocument/2006/relationships/tags" Target="../tags/tag557.xml"/><Relationship Id="rId11" Type="http://schemas.openxmlformats.org/officeDocument/2006/relationships/tags" Target="../tags/tag558.xml"/><Relationship Id="rId12" Type="http://schemas.openxmlformats.org/officeDocument/2006/relationships/tags" Target="../tags/tag559.xml"/><Relationship Id="rId13" Type="http://schemas.openxmlformats.org/officeDocument/2006/relationships/tags" Target="../tags/tag560.xml"/><Relationship Id="rId14" Type="http://schemas.openxmlformats.org/officeDocument/2006/relationships/tags" Target="../tags/tag561.xml"/><Relationship Id="rId15" Type="http://schemas.openxmlformats.org/officeDocument/2006/relationships/tags" Target="../tags/tag562.xml"/><Relationship Id="rId16" Type="http://schemas.openxmlformats.org/officeDocument/2006/relationships/tags" Target="../tags/tag563.xml"/><Relationship Id="rId17" Type="http://schemas.openxmlformats.org/officeDocument/2006/relationships/tags" Target="../tags/tag564.xml"/><Relationship Id="rId18" Type="http://schemas.openxmlformats.org/officeDocument/2006/relationships/tags" Target="../tags/tag565.xml"/><Relationship Id="rId19" Type="http://schemas.openxmlformats.org/officeDocument/2006/relationships/tags" Target="../tags/tag566.xml"/><Relationship Id="rId20" Type="http://schemas.openxmlformats.org/officeDocument/2006/relationships/tags" Target="../tags/tag567.xml"/><Relationship Id="rId2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tags" Target="../tags/tag568.xml"/><Relationship Id="rId2" Type="http://schemas.openxmlformats.org/officeDocument/2006/relationships/tags" Target="../tags/tag569.xml"/><Relationship Id="rId3" Type="http://schemas.openxmlformats.org/officeDocument/2006/relationships/tags" Target="../tags/tag570.xml"/><Relationship Id="rId4" Type="http://schemas.openxmlformats.org/officeDocument/2006/relationships/tags" Target="../tags/tag571.xml"/><Relationship Id="rId5" Type="http://schemas.openxmlformats.org/officeDocument/2006/relationships/tags" Target="../tags/tag572.xml"/><Relationship Id="rId6" Type="http://schemas.openxmlformats.org/officeDocument/2006/relationships/tags" Target="../tags/tag573.xml"/><Relationship Id="rId7" Type="http://schemas.openxmlformats.org/officeDocument/2006/relationships/tags" Target="../tags/tag574.xml"/><Relationship Id="rId8" Type="http://schemas.openxmlformats.org/officeDocument/2006/relationships/tags" Target="../tags/tag575.xml"/><Relationship Id="rId9" Type="http://schemas.openxmlformats.org/officeDocument/2006/relationships/tags" Target="../tags/tag576.xml"/><Relationship Id="rId10" Type="http://schemas.openxmlformats.org/officeDocument/2006/relationships/tags" Target="../tags/tag577.xml"/><Relationship Id="rId11" Type="http://schemas.openxmlformats.org/officeDocument/2006/relationships/tags" Target="../tags/tag578.xml"/><Relationship Id="rId12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tags" Target="../tags/tag579.xml"/><Relationship Id="rId2" Type="http://schemas.openxmlformats.org/officeDocument/2006/relationships/tags" Target="../tags/tag580.xml"/><Relationship Id="rId3" Type="http://schemas.openxmlformats.org/officeDocument/2006/relationships/tags" Target="../tags/tag581.xml"/><Relationship Id="rId4" Type="http://schemas.openxmlformats.org/officeDocument/2006/relationships/tags" Target="../tags/tag582.xml"/><Relationship Id="rId5" Type="http://schemas.openxmlformats.org/officeDocument/2006/relationships/tags" Target="../tags/tag583.xml"/><Relationship Id="rId6" Type="http://schemas.openxmlformats.org/officeDocument/2006/relationships/tags" Target="../tags/tag584.xml"/><Relationship Id="rId7" Type="http://schemas.openxmlformats.org/officeDocument/2006/relationships/tags" Target="../tags/tag585.xml"/><Relationship Id="rId8" Type="http://schemas.openxmlformats.org/officeDocument/2006/relationships/tags" Target="../tags/tag586.xml"/><Relationship Id="rId9" Type="http://schemas.openxmlformats.org/officeDocument/2006/relationships/tags" Target="../tags/tag587.xml"/><Relationship Id="rId10" Type="http://schemas.openxmlformats.org/officeDocument/2006/relationships/tags" Target="../tags/tag588.xml"/><Relationship Id="rId11" Type="http://schemas.openxmlformats.org/officeDocument/2006/relationships/tags" Target="../tags/tag589.xml"/><Relationship Id="rId12" Type="http://schemas.openxmlformats.org/officeDocument/2006/relationships/tags" Target="../tags/tag590.xml"/><Relationship Id="rId13" Type="http://schemas.openxmlformats.org/officeDocument/2006/relationships/tags" Target="../tags/tag591.xml"/><Relationship Id="rId14" Type="http://schemas.openxmlformats.org/officeDocument/2006/relationships/tags" Target="../tags/tag592.xml"/><Relationship Id="rId15" Type="http://schemas.openxmlformats.org/officeDocument/2006/relationships/tags" Target="../tags/tag593.xml"/><Relationship Id="rId16" Type="http://schemas.openxmlformats.org/officeDocument/2006/relationships/tags" Target="../tags/tag594.xml"/><Relationship Id="rId17" Type="http://schemas.openxmlformats.org/officeDocument/2006/relationships/tags" Target="../tags/tag595.xml"/><Relationship Id="rId18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596.xml"/><Relationship Id="rId3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tags" Target="../tags/tag597.xml"/><Relationship Id="rId3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tags" Target="../tags/tag598.xml"/><Relationship Id="rId2" Type="http://schemas.openxmlformats.org/officeDocument/2006/relationships/tags" Target="../tags/tag599.xml"/><Relationship Id="rId3" Type="http://schemas.openxmlformats.org/officeDocument/2006/relationships/tags" Target="../tags/tag600.xml"/><Relationship Id="rId4" Type="http://schemas.openxmlformats.org/officeDocument/2006/relationships/tags" Target="../tags/tag601.xml"/><Relationship Id="rId5" Type="http://schemas.openxmlformats.org/officeDocument/2006/relationships/tags" Target="../tags/tag602.xml"/><Relationship Id="rId6" Type="http://schemas.openxmlformats.org/officeDocument/2006/relationships/tags" Target="../tags/tag603.xml"/><Relationship Id="rId7" Type="http://schemas.openxmlformats.org/officeDocument/2006/relationships/tags" Target="../tags/tag604.xml"/><Relationship Id="rId8" Type="http://schemas.openxmlformats.org/officeDocument/2006/relationships/tags" Target="../tags/tag605.xml"/><Relationship Id="rId9" Type="http://schemas.openxmlformats.org/officeDocument/2006/relationships/tags" Target="../tags/tag606.xml"/><Relationship Id="rId10" Type="http://schemas.openxmlformats.org/officeDocument/2006/relationships/tags" Target="../tags/tag607.xml"/><Relationship Id="rId11" Type="http://schemas.openxmlformats.org/officeDocument/2006/relationships/tags" Target="../tags/tag608.xml"/><Relationship Id="rId12" Type="http://schemas.openxmlformats.org/officeDocument/2006/relationships/tags" Target="../tags/tag609.xml"/><Relationship Id="rId13" Type="http://schemas.openxmlformats.org/officeDocument/2006/relationships/tags" Target="../tags/tag610.xml"/><Relationship Id="rId14" Type="http://schemas.openxmlformats.org/officeDocument/2006/relationships/tags" Target="../tags/tag611.xml"/><Relationship Id="rId15" Type="http://schemas.openxmlformats.org/officeDocument/2006/relationships/tags" Target="../tags/tag612.xml"/><Relationship Id="rId16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tags" Target="../tags/tag613.xml"/><Relationship Id="rId3" Type="http://schemas.openxmlformats.org/officeDocument/2006/relationships/tags" Target="../tags/tag614.xml"/><Relationship Id="rId4" Type="http://schemas.openxmlformats.org/officeDocument/2006/relationships/tags" Target="../tags/tag615.xml"/><Relationship Id="rId5" Type="http://schemas.openxmlformats.org/officeDocument/2006/relationships/tags" Target="../tags/tag616.xml"/><Relationship Id="rId6" Type="http://schemas.openxmlformats.org/officeDocument/2006/relationships/tags" Target="../tags/tag617.xml"/><Relationship Id="rId7" Type="http://schemas.openxmlformats.org/officeDocument/2006/relationships/tags" Target="../tags/tag618.xml"/><Relationship Id="rId8" Type="http://schemas.openxmlformats.org/officeDocument/2006/relationships/tags" Target="../tags/tag619.xml"/><Relationship Id="rId9" Type="http://schemas.openxmlformats.org/officeDocument/2006/relationships/tags" Target="../tags/tag620.xml"/><Relationship Id="rId10" Type="http://schemas.openxmlformats.org/officeDocument/2006/relationships/tags" Target="../tags/tag621.xml"/><Relationship Id="rId11" Type="http://schemas.openxmlformats.org/officeDocument/2006/relationships/tags" Target="../tags/tag622.xml"/><Relationship Id="rId12" Type="http://schemas.openxmlformats.org/officeDocument/2006/relationships/tags" Target="../tags/tag623.xml"/><Relationship Id="rId13" Type="http://schemas.openxmlformats.org/officeDocument/2006/relationships/tags" Target="../tags/tag624.xml"/><Relationship Id="rId14" Type="http://schemas.openxmlformats.org/officeDocument/2006/relationships/tags" Target="../tags/tag625.xml"/><Relationship Id="rId15" Type="http://schemas.openxmlformats.org/officeDocument/2006/relationships/tags" Target="../tags/tag626.xml"/><Relationship Id="rId16" Type="http://schemas.openxmlformats.org/officeDocument/2006/relationships/tags" Target="../tags/tag627.xml"/><Relationship Id="rId17" Type="http://schemas.openxmlformats.org/officeDocument/2006/relationships/tags" Target="../tags/tag628.xml"/><Relationship Id="rId18" Type="http://schemas.openxmlformats.org/officeDocument/2006/relationships/image" Target="../media/image8.png"/><Relationship Id="rId19" Type="http://schemas.openxmlformats.org/officeDocument/2006/relationships/tags" Target="../tags/tag629.xml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tags" Target="../tags/tag630.xml"/><Relationship Id="rId3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631.xml"/><Relationship Id="rId3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tags" Target="../tags/tag632.xml"/><Relationship Id="rId2" Type="http://schemas.openxmlformats.org/officeDocument/2006/relationships/tags" Target="../tags/tag633.xml"/><Relationship Id="rId3" Type="http://schemas.openxmlformats.org/officeDocument/2006/relationships/tags" Target="../tags/tag634.xml"/><Relationship Id="rId4" Type="http://schemas.openxmlformats.org/officeDocument/2006/relationships/tags" Target="../tags/tag635.xml"/><Relationship Id="rId5" Type="http://schemas.openxmlformats.org/officeDocument/2006/relationships/tags" Target="../tags/tag636.xml"/><Relationship Id="rId6" Type="http://schemas.openxmlformats.org/officeDocument/2006/relationships/tags" Target="../tags/tag637.xml"/><Relationship Id="rId7" Type="http://schemas.openxmlformats.org/officeDocument/2006/relationships/tags" Target="../tags/tag638.xml"/><Relationship Id="rId8" Type="http://schemas.openxmlformats.org/officeDocument/2006/relationships/tags" Target="../tags/tag639.xml"/><Relationship Id="rId9" Type="http://schemas.openxmlformats.org/officeDocument/2006/relationships/tags" Target="../tags/tag640.xml"/><Relationship Id="rId10" Type="http://schemas.openxmlformats.org/officeDocument/2006/relationships/tags" Target="../tags/tag641.xml"/><Relationship Id="rId11" Type="http://schemas.openxmlformats.org/officeDocument/2006/relationships/tags" Target="../tags/tag642.xml"/><Relationship Id="rId12" Type="http://schemas.openxmlformats.org/officeDocument/2006/relationships/tags" Target="../tags/tag643.xml"/><Relationship Id="rId13" Type="http://schemas.openxmlformats.org/officeDocument/2006/relationships/tags" Target="../tags/tag644.xml"/><Relationship Id="rId14" Type="http://schemas.openxmlformats.org/officeDocument/2006/relationships/tags" Target="../tags/tag645.xml"/><Relationship Id="rId15" Type="http://schemas.openxmlformats.org/officeDocument/2006/relationships/tags" Target="../tags/tag646.xml"/><Relationship Id="rId16" Type="http://schemas.openxmlformats.org/officeDocument/2006/relationships/tags" Target="../tags/tag647.xml"/><Relationship Id="rId17" Type="http://schemas.openxmlformats.org/officeDocument/2006/relationships/tags" Target="../tags/tag648.xml"/><Relationship Id="rId18" Type="http://schemas.openxmlformats.org/officeDocument/2006/relationships/tags" Target="../tags/tag649.xml"/><Relationship Id="rId19" Type="http://schemas.openxmlformats.org/officeDocument/2006/relationships/tags" Target="../tags/tag650.xml"/><Relationship Id="rId20" Type="http://schemas.openxmlformats.org/officeDocument/2006/relationships/tags" Target="../tags/tag651.xml"/><Relationship Id="rId21" Type="http://schemas.openxmlformats.org/officeDocument/2006/relationships/tags" Target="../tags/tag652.xml"/><Relationship Id="rId22" Type="http://schemas.openxmlformats.org/officeDocument/2006/relationships/tags" Target="../tags/tag653.xml"/><Relationship Id="rId23" Type="http://schemas.openxmlformats.org/officeDocument/2006/relationships/tags" Target="../tags/tag654.xml"/><Relationship Id="rId24" Type="http://schemas.openxmlformats.org/officeDocument/2006/relationships/tags" Target="../tags/tag655.xml"/><Relationship Id="rId25" Type="http://schemas.openxmlformats.org/officeDocument/2006/relationships/tags" Target="../tags/tag656.xml"/><Relationship Id="rId26" Type="http://schemas.openxmlformats.org/officeDocument/2006/relationships/tags" Target="../tags/tag657.xml"/><Relationship Id="rId27" Type="http://schemas.openxmlformats.org/officeDocument/2006/relationships/tags" Target="../tags/tag658.xml"/><Relationship Id="rId28" Type="http://schemas.openxmlformats.org/officeDocument/2006/relationships/tags" Target="../tags/tag659.xml"/><Relationship Id="rId29" Type="http://schemas.openxmlformats.org/officeDocument/2006/relationships/tags" Target="../tags/tag660.xml"/><Relationship Id="rId30" Type="http://schemas.openxmlformats.org/officeDocument/2006/relationships/tags" Target="../tags/tag661.xml"/><Relationship Id="rId31" Type="http://schemas.openxmlformats.org/officeDocument/2006/relationships/tags" Target="../tags/tag662.xml"/><Relationship Id="rId32" Type="http://schemas.openxmlformats.org/officeDocument/2006/relationships/tags" Target="../tags/tag663.xml"/><Relationship Id="rId33" Type="http://schemas.openxmlformats.org/officeDocument/2006/relationships/tags" Target="../tags/tag664.xml"/><Relationship Id="rId34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665.xml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9530" y="2075180"/>
            <a:ext cx="1209611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i="1" dirty="0">
                <a:solidFill>
                  <a:schemeClr val="bg1"/>
                </a:solidFill>
                <a:latin typeface="印品粗朗体" panose="02010600030101010101" pitchFamily="2" charset="-122"/>
                <a:ea typeface="印品粗朗体" panose="02010600030101010101" pitchFamily="2" charset="-122"/>
                <a:cs typeface="+mn-ea"/>
                <a:sym typeface="+mn-lt"/>
              </a:rPr>
              <a:t>星知智链</a:t>
            </a:r>
            <a:endParaRPr lang="zh-CN" altLang="en-US" sz="9600" i="1" dirty="0">
              <a:solidFill>
                <a:schemeClr val="bg1"/>
              </a:solidFill>
              <a:latin typeface="印品粗朗体" panose="02010600030101010101" pitchFamily="2" charset="-122"/>
              <a:ea typeface="印品粗朗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00375" y="3856355"/>
            <a:ext cx="65125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>
                <a:solidFill>
                  <a:schemeClr val="bg1">
                    <a:alpha val="64000"/>
                  </a:schemeClr>
                </a:solidFill>
                <a:cs typeface="+mn-ea"/>
                <a:sym typeface="+mn-lt"/>
              </a:rPr>
              <a:t>面向计算机学科的可信教学研智能体</a:t>
            </a:r>
            <a:endParaRPr lang="zh-CN" altLang="en-US" sz="2000">
              <a:solidFill>
                <a:schemeClr val="bg1">
                  <a:alpha val="64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964940" y="5210810"/>
            <a:ext cx="454152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初赛作品方案 · 武汉大学人工智能学院学生团队</a:t>
            </a:r>
            <a:endParaRPr lang="zh-CN" altLang="en-US" sz="1000">
              <a:solidFill>
                <a:schemeClr val="bg1">
                  <a:alpha val="85000"/>
                </a:schemeClr>
              </a:solidFill>
              <a:cs typeface="+mn-ea"/>
              <a:sym typeface="+mn-lt"/>
            </a:endParaRPr>
          </a:p>
          <a:p>
            <a:pPr algn="dist"/>
            <a:endParaRPr lang="zh-CN" altLang="en-US" sz="1000">
              <a:solidFill>
                <a:schemeClr val="bg1">
                  <a:alpha val="8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1" name="直接连接符 20"/>
          <p:cNvCxnSpPr/>
          <p:nvPr/>
        </p:nvCxnSpPr>
        <p:spPr>
          <a:xfrm flipV="1">
            <a:off x="3592996" y="4086079"/>
            <a:ext cx="1" cy="1124532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3888998" y="1250318"/>
            <a:ext cx="0" cy="689121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V="1">
            <a:off x="8506619" y="4764264"/>
            <a:ext cx="0" cy="1438905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8114189" y="1697504"/>
            <a:ext cx="0" cy="810254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V="1">
            <a:off x="6707664" y="890907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2136934" y="3072132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V="1">
            <a:off x="10201434" y="2280287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80390" y="783590"/>
            <a:ext cx="1810385" cy="467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 sz="1600">
                <a:solidFill>
                  <a:schemeClr val="bg1">
                    <a:alpha val="85000"/>
                  </a:schemeClr>
                </a:solidFill>
                <a:latin typeface="Bahnschrift" panose="020B0502040204020203" charset="0"/>
                <a:ea typeface="字魂经典雅黑" panose="00000500000000000000" charset="-122"/>
                <a:cs typeface="Bahnschrift" panose="020B0502040204020203" charset="0"/>
                <a:sym typeface="+mn-lt"/>
              </a:rPr>
              <a:t>ESA / XH-202620</a:t>
            </a:r>
            <a:endParaRPr lang="en-US" altLang="zh-CN" sz="1600">
              <a:solidFill>
                <a:schemeClr val="bg1">
                  <a:alpha val="85000"/>
                </a:schemeClr>
              </a:solidFill>
              <a:latin typeface="Bahnschrift" panose="020B0502040204020203" charset="0"/>
              <a:ea typeface="字魂经典雅黑" panose="00000500000000000000" charset="-122"/>
              <a:cs typeface="Bahnschrift" panose="020B0502040204020203" charset="0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408187" y="2708870"/>
            <a:ext cx="3165290" cy="1478955"/>
            <a:chOff x="3615063" y="1567010"/>
            <a:chExt cx="3165290" cy="1478955"/>
          </a:xfrm>
        </p:grpSpPr>
        <p:sp>
          <p:nvSpPr>
            <p:cNvPr id="7" name="文本框 6"/>
            <p:cNvSpPr txBox="1"/>
            <p:nvPr/>
          </p:nvSpPr>
          <p:spPr>
            <a:xfrm>
              <a:off x="5190654" y="2400805"/>
              <a:ext cx="1097280" cy="6451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 dirty="0">
                  <a:solidFill>
                    <a:schemeClr val="bg1"/>
                  </a:solidFill>
                  <a:cs typeface="+mn-ea"/>
                  <a:sym typeface="+mn-lt"/>
                </a:rPr>
                <a:t>目录</a:t>
              </a:r>
              <a:endParaRPr lang="zh-CN" altLang="en-US" sz="3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615063" y="1567010"/>
              <a:ext cx="316529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dirty="0">
                  <a:solidFill>
                    <a:schemeClr val="bg1"/>
                  </a:solidFill>
                  <a:cs typeface="+mn-ea"/>
                  <a:sym typeface="+mn-lt"/>
                </a:rPr>
                <a:t>Contents</a:t>
              </a:r>
              <a:endParaRPr lang="en-US" altLang="zh-CN" sz="5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2"/>
            </p:custDataLst>
          </p:nvPr>
        </p:nvGrpSpPr>
        <p:grpSpPr>
          <a:xfrm>
            <a:off x="5851618" y="703483"/>
            <a:ext cx="5024627" cy="779058"/>
            <a:chOff x="1685677" y="4259253"/>
            <a:chExt cx="5024627" cy="779058"/>
          </a:xfrm>
        </p:grpSpPr>
        <p:sp>
          <p:nvSpPr>
            <p:cNvPr id="34" name="文本框 33"/>
            <p:cNvSpPr txBox="1"/>
            <p:nvPr>
              <p:custDataLst>
                <p:tags r:id="rId3"/>
              </p:custDataLst>
            </p:nvPr>
          </p:nvSpPr>
          <p:spPr>
            <a:xfrm>
              <a:off x="2700914" y="4259253"/>
              <a:ext cx="29260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项目定位与产品主线</a:t>
              </a:r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5" name="文本框 34"/>
            <p:cNvSpPr txBox="1"/>
            <p:nvPr>
              <p:custDataLst>
                <p:tags r:id="rId4"/>
              </p:custDataLst>
            </p:nvPr>
          </p:nvSpPr>
          <p:spPr>
            <a:xfrm>
              <a:off x="2700914" y="4701126"/>
              <a:ext cx="400939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600" b="1" dirty="0">
                  <a:solidFill>
                    <a:schemeClr val="bg1"/>
                  </a:solidFill>
                  <a:latin typeface="方正楷体_GBK" panose="02000000000000000000" charset="-122"/>
                  <a:ea typeface="方正楷体_GBK" panose="02000000000000000000" charset="-122"/>
                  <a:cs typeface="方正楷体_GBK" panose="02000000000000000000" charset="-122"/>
                  <a:sym typeface="+mn-lt"/>
                </a:rPr>
                <a:t>场景痛点、三类 </a:t>
              </a:r>
              <a:r>
                <a:rPr lang="en-US" altLang="zh-CN" sz="1600" b="1" dirty="0">
                  <a:solidFill>
                    <a:schemeClr val="bg1"/>
                  </a:solidFill>
                  <a:latin typeface="方正楷体_GBK" panose="02000000000000000000" charset="-122"/>
                  <a:ea typeface="方正楷体_GBK" panose="02000000000000000000" charset="-122"/>
                  <a:cs typeface="方正楷体_GBK" panose="02000000000000000000" charset="-122"/>
                  <a:sym typeface="+mn-lt"/>
                </a:rPr>
                <a:t>Workspace </a:t>
              </a:r>
              <a:r>
                <a:rPr lang="zh-CN" altLang="en-US" sz="1600" b="1" dirty="0">
                  <a:solidFill>
                    <a:schemeClr val="bg1"/>
                  </a:solidFill>
                  <a:latin typeface="方正楷体_GBK" panose="02000000000000000000" charset="-122"/>
                  <a:ea typeface="方正楷体_GBK" panose="02000000000000000000" charset="-122"/>
                  <a:cs typeface="方正楷体_GBK" panose="02000000000000000000" charset="-122"/>
                  <a:sym typeface="+mn-lt"/>
                </a:rPr>
                <a:t>与产品能力全景</a:t>
              </a:r>
              <a:endParaRPr lang="zh-CN" altLang="en-US" sz="1600" b="1" dirty="0">
                <a:solidFill>
                  <a:schemeClr val="bg1"/>
                </a:solidFill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  <a:sym typeface="+mn-lt"/>
              </a:endParaRPr>
            </a:p>
          </p:txBody>
        </p:sp>
        <p:sp>
          <p:nvSpPr>
            <p:cNvPr id="36" name="矩形 35"/>
            <p:cNvSpPr/>
            <p:nvPr>
              <p:custDataLst>
                <p:tags r:id="rId5"/>
              </p:custDataLst>
            </p:nvPr>
          </p:nvSpPr>
          <p:spPr>
            <a:xfrm>
              <a:off x="1685677" y="4313314"/>
              <a:ext cx="665568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  <a:endParaRPr lang="en-US" altLang="zh-CN" sz="3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8" name="组合 37"/>
          <p:cNvGrpSpPr/>
          <p:nvPr>
            <p:custDataLst>
              <p:tags r:id="rId6"/>
            </p:custDataLst>
          </p:nvPr>
        </p:nvGrpSpPr>
        <p:grpSpPr>
          <a:xfrm>
            <a:off x="5871304" y="1758106"/>
            <a:ext cx="4665216" cy="1043853"/>
            <a:chOff x="1685678" y="4083358"/>
            <a:chExt cx="4665216" cy="1043853"/>
          </a:xfrm>
        </p:grpSpPr>
        <p:sp>
          <p:nvSpPr>
            <p:cNvPr id="40" name="文本框 39"/>
            <p:cNvSpPr txBox="1"/>
            <p:nvPr>
              <p:custDataLst>
                <p:tags r:id="rId7"/>
              </p:custDataLst>
            </p:nvPr>
          </p:nvSpPr>
          <p:spPr>
            <a:xfrm>
              <a:off x="2700914" y="4083358"/>
              <a:ext cx="301625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dirty="0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技术架构与可信检索 </a:t>
              </a:r>
              <a:endParaRPr lang="zh-CN" altLang="en-US" sz="2400" dirty="0">
                <a:solidFill>
                  <a:schemeClr val="bg1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41" name="文本框 40"/>
            <p:cNvSpPr txBox="1"/>
            <p:nvPr>
              <p:custDataLst>
                <p:tags r:id="rId8"/>
              </p:custDataLst>
            </p:nvPr>
          </p:nvSpPr>
          <p:spPr>
            <a:xfrm>
              <a:off x="2700914" y="4543646"/>
              <a:ext cx="3649980" cy="583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600" b="1" dirty="0">
                  <a:solidFill>
                    <a:schemeClr val="bg1"/>
                  </a:solidFill>
                  <a:latin typeface="方正楷体_GBK" panose="02000000000000000000" charset="-122"/>
                  <a:ea typeface="方正楷体_GBK" panose="02000000000000000000" charset="-122"/>
                  <a:cs typeface="方正楷体_GBK" panose="02000000000000000000" charset="-122"/>
                  <a:sym typeface="+mn-lt"/>
                </a:rPr>
                <a:t>Agent Runtime、模型底座、知识图谱、</a:t>
              </a:r>
              <a:endParaRPr lang="zh-CN" altLang="en-US" sz="1600" b="1" dirty="0">
                <a:solidFill>
                  <a:schemeClr val="bg1"/>
                </a:solidFill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  <a:sym typeface="+mn-lt"/>
              </a:endParaRPr>
            </a:p>
            <a:p>
              <a:pPr algn="l"/>
              <a:r>
                <a:rPr lang="zh-CN" altLang="en-US" sz="1600" b="1" dirty="0">
                  <a:solidFill>
                    <a:schemeClr val="bg1"/>
                  </a:solidFill>
                  <a:latin typeface="方正楷体_GBK" panose="02000000000000000000" charset="-122"/>
                  <a:ea typeface="方正楷体_GBK" panose="02000000000000000000" charset="-122"/>
                  <a:cs typeface="方正楷体_GBK" panose="02000000000000000000" charset="-122"/>
                  <a:sym typeface="+mn-lt"/>
                </a:rPr>
                <a:t>RAG 评测与技术创新</a:t>
              </a:r>
              <a:endParaRPr lang="zh-CN" altLang="en-US" sz="1600" b="1" dirty="0">
                <a:solidFill>
                  <a:schemeClr val="bg1"/>
                </a:solidFill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  <a:sym typeface="+mn-lt"/>
              </a:endParaRPr>
            </a:p>
          </p:txBody>
        </p:sp>
        <p:sp>
          <p:nvSpPr>
            <p:cNvPr id="42" name="矩形 41"/>
            <p:cNvSpPr/>
            <p:nvPr>
              <p:custDataLst>
                <p:tags r:id="rId9"/>
              </p:custDataLst>
            </p:nvPr>
          </p:nvSpPr>
          <p:spPr>
            <a:xfrm>
              <a:off x="1685678" y="4313949"/>
              <a:ext cx="665567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  <a:endParaRPr lang="en-US" altLang="zh-CN" sz="3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3" name="组合 42"/>
          <p:cNvGrpSpPr/>
          <p:nvPr>
            <p:custDataLst>
              <p:tags r:id="rId10"/>
            </p:custDataLst>
          </p:nvPr>
        </p:nvGrpSpPr>
        <p:grpSpPr>
          <a:xfrm>
            <a:off x="5851619" y="3101019"/>
            <a:ext cx="5287516" cy="1025438"/>
            <a:chOff x="1685678" y="4259253"/>
            <a:chExt cx="5287516" cy="1025438"/>
          </a:xfrm>
        </p:grpSpPr>
        <p:sp>
          <p:nvSpPr>
            <p:cNvPr id="45" name="文本框 44"/>
            <p:cNvSpPr txBox="1"/>
            <p:nvPr>
              <p:custDataLst>
                <p:tags r:id="rId11"/>
              </p:custDataLst>
            </p:nvPr>
          </p:nvSpPr>
          <p:spPr>
            <a:xfrm>
              <a:off x="2700914" y="4259253"/>
              <a:ext cx="382905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dirty="0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学习 · 教学 · 科研场景闭环 </a:t>
              </a:r>
              <a:endParaRPr lang="zh-CN" altLang="en-US" sz="2400" dirty="0">
                <a:solidFill>
                  <a:schemeClr val="bg1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46" name="文本框 45"/>
            <p:cNvSpPr txBox="1"/>
            <p:nvPr>
              <p:custDataLst>
                <p:tags r:id="rId12"/>
              </p:custDataLst>
            </p:nvPr>
          </p:nvSpPr>
          <p:spPr>
            <a:xfrm>
              <a:off x="2700914" y="4701126"/>
              <a:ext cx="4272280" cy="583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buClrTx/>
                <a:buSzTx/>
                <a:buNone/>
              </a:pPr>
              <a:r>
                <a:rPr lang="zh-CN" altLang="en-US" sz="1600" b="1" dirty="0">
                  <a:solidFill>
                    <a:schemeClr val="bg1"/>
                  </a:solidFill>
                  <a:latin typeface="方正楷体_GBK" panose="02000000000000000000" charset="-122"/>
                  <a:ea typeface="方正楷体_GBK" panose="02000000000000000000" charset="-122"/>
                  <a:cs typeface="方正楷体_GBK" panose="02000000000000000000" charset="-122"/>
                  <a:sym typeface="+mn-lt"/>
                </a:rPr>
                <a:t>学生模型、教师复核、代码工具、科研工作流</a:t>
              </a:r>
              <a:endParaRPr lang="zh-CN" altLang="en-US" sz="1600" b="1" dirty="0">
                <a:solidFill>
                  <a:schemeClr val="bg1"/>
                </a:solidFill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  <a:sym typeface="+mn-lt"/>
              </a:endParaRPr>
            </a:p>
            <a:p>
              <a:pPr algn="l">
                <a:buClrTx/>
                <a:buSzTx/>
                <a:buNone/>
              </a:pPr>
              <a:r>
                <a:rPr lang="zh-CN" altLang="en-US" sz="1600" b="1" dirty="0">
                  <a:solidFill>
                    <a:schemeClr val="bg1"/>
                  </a:solidFill>
                  <a:latin typeface="方正楷体_GBK" panose="02000000000000000000" charset="-122"/>
                  <a:ea typeface="方正楷体_GBK" panose="02000000000000000000" charset="-122"/>
                  <a:cs typeface="方正楷体_GBK" panose="02000000000000000000" charset="-122"/>
                  <a:sym typeface="+mn-lt"/>
                </a:rPr>
                <a:t>与可信治理</a:t>
              </a:r>
              <a:endParaRPr lang="zh-CN" altLang="en-US" sz="1600" b="1" dirty="0">
                <a:solidFill>
                  <a:schemeClr val="bg1"/>
                </a:solidFill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  <a:sym typeface="+mn-lt"/>
              </a:endParaRPr>
            </a:p>
          </p:txBody>
        </p:sp>
        <p:sp>
          <p:nvSpPr>
            <p:cNvPr id="47" name="矩形 46"/>
            <p:cNvSpPr/>
            <p:nvPr>
              <p:custDataLst>
                <p:tags r:id="rId13"/>
              </p:custDataLst>
            </p:nvPr>
          </p:nvSpPr>
          <p:spPr>
            <a:xfrm>
              <a:off x="1685678" y="4313949"/>
              <a:ext cx="665567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cs typeface="+mn-ea"/>
                  <a:sym typeface="+mn-lt"/>
                </a:rPr>
                <a:t>03</a:t>
              </a:r>
              <a:endParaRPr lang="en-US" altLang="zh-CN" sz="3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>
            <p:custDataLst>
              <p:tags r:id="rId14"/>
            </p:custDataLst>
          </p:nvPr>
        </p:nvGrpSpPr>
        <p:grpSpPr>
          <a:xfrm>
            <a:off x="5871348" y="5401512"/>
            <a:ext cx="2833832" cy="779058"/>
            <a:chOff x="1685722" y="4296718"/>
            <a:chExt cx="2833832" cy="779058"/>
          </a:xfrm>
        </p:grpSpPr>
        <p:sp>
          <p:nvSpPr>
            <p:cNvPr id="50" name="文本框 49"/>
            <p:cNvSpPr txBox="1"/>
            <p:nvPr>
              <p:custDataLst>
                <p:tags r:id="rId15"/>
              </p:custDataLst>
            </p:nvPr>
          </p:nvSpPr>
          <p:spPr>
            <a:xfrm>
              <a:off x="2700914" y="4296718"/>
              <a:ext cx="14020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团队介绍</a:t>
              </a:r>
              <a:endParaRPr lang="en-US" altLang="zh-CN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1" name="文本框 50"/>
            <p:cNvSpPr txBox="1"/>
            <p:nvPr>
              <p:custDataLst>
                <p:tags r:id="rId16"/>
              </p:custDataLst>
            </p:nvPr>
          </p:nvSpPr>
          <p:spPr>
            <a:xfrm>
              <a:off x="2700914" y="4738591"/>
              <a:ext cx="181864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600" b="1" dirty="0">
                  <a:solidFill>
                    <a:schemeClr val="bg1"/>
                  </a:solidFill>
                  <a:latin typeface="方正楷体_GBK" panose="02000000000000000000" charset="-122"/>
                  <a:ea typeface="方正楷体_GBK" panose="02000000000000000000" charset="-122"/>
                  <a:cs typeface="方正楷体_GBK" panose="02000000000000000000" charset="-122"/>
                  <a:sym typeface="+mn-lt"/>
                </a:rPr>
                <a:t>跨校团队成员介绍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2" name="矩形 51"/>
            <p:cNvSpPr/>
            <p:nvPr>
              <p:custDataLst>
                <p:tags r:id="rId17"/>
              </p:custDataLst>
            </p:nvPr>
          </p:nvSpPr>
          <p:spPr>
            <a:xfrm>
              <a:off x="1685722" y="4381894"/>
              <a:ext cx="659130" cy="5835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cs typeface="+mn-ea"/>
                  <a:sym typeface="+mn-lt"/>
                </a:rPr>
                <a:t>05</a:t>
              </a:r>
              <a:endParaRPr lang="en-US" altLang="zh-CN" sz="3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54" name="直接连接符 53"/>
          <p:cNvCxnSpPr/>
          <p:nvPr>
            <p:custDataLst>
              <p:tags r:id="rId18"/>
            </p:custDataLst>
          </p:nvPr>
        </p:nvCxnSpPr>
        <p:spPr>
          <a:xfrm>
            <a:off x="4792231" y="1061996"/>
            <a:ext cx="45085" cy="4792980"/>
          </a:xfrm>
          <a:prstGeom prst="line">
            <a:avLst/>
          </a:prstGeom>
          <a:ln w="25400" cap="rnd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>
            <p:custDataLst>
              <p:tags r:id="rId19"/>
            </p:custDataLst>
          </p:nvPr>
        </p:nvCxnSpPr>
        <p:spPr>
          <a:xfrm>
            <a:off x="4792466" y="1061161"/>
            <a:ext cx="421634" cy="745"/>
          </a:xfrm>
          <a:prstGeom prst="line">
            <a:avLst/>
          </a:prstGeom>
          <a:ln w="25400" cap="rnd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>
            <p:custDataLst>
              <p:tags r:id="rId20"/>
            </p:custDataLst>
          </p:nvPr>
        </p:nvCxnSpPr>
        <p:spPr>
          <a:xfrm>
            <a:off x="4837551" y="3428181"/>
            <a:ext cx="421634" cy="745"/>
          </a:xfrm>
          <a:prstGeom prst="line">
            <a:avLst/>
          </a:prstGeom>
          <a:ln w="25400" cap="rnd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>
            <p:custDataLst>
              <p:tags r:id="rId21"/>
            </p:custDataLst>
          </p:nvPr>
        </p:nvCxnSpPr>
        <p:spPr>
          <a:xfrm>
            <a:off x="4837551" y="5854387"/>
            <a:ext cx="421634" cy="745"/>
          </a:xfrm>
          <a:prstGeom prst="line">
            <a:avLst/>
          </a:prstGeom>
          <a:ln w="25400" cap="rnd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>
            <p:custDataLst>
              <p:tags r:id="rId22"/>
            </p:custDataLst>
          </p:nvPr>
        </p:nvCxnSpPr>
        <p:spPr>
          <a:xfrm>
            <a:off x="4833106" y="4674051"/>
            <a:ext cx="421634" cy="745"/>
          </a:xfrm>
          <a:prstGeom prst="line">
            <a:avLst/>
          </a:prstGeom>
          <a:ln w="25400" cap="rnd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>
            <p:custDataLst>
              <p:tags r:id="rId23"/>
            </p:custDataLst>
          </p:nvPr>
        </p:nvCxnSpPr>
        <p:spPr>
          <a:xfrm flipV="1">
            <a:off x="4822311" y="2210886"/>
            <a:ext cx="435610" cy="7620"/>
          </a:xfrm>
          <a:prstGeom prst="line">
            <a:avLst/>
          </a:prstGeom>
          <a:ln w="25400" cap="rnd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组合 52"/>
          <p:cNvGrpSpPr/>
          <p:nvPr>
            <p:custDataLst>
              <p:tags r:id="rId24"/>
            </p:custDataLst>
          </p:nvPr>
        </p:nvGrpSpPr>
        <p:grpSpPr>
          <a:xfrm>
            <a:off x="5864954" y="4355667"/>
            <a:ext cx="4455666" cy="779058"/>
            <a:chOff x="1679328" y="4348153"/>
            <a:chExt cx="4455666" cy="779058"/>
          </a:xfrm>
        </p:grpSpPr>
        <p:sp>
          <p:nvSpPr>
            <p:cNvPr id="55" name="文本框 54"/>
            <p:cNvSpPr txBox="1"/>
            <p:nvPr>
              <p:custDataLst>
                <p:tags r:id="rId25"/>
              </p:custDataLst>
            </p:nvPr>
          </p:nvSpPr>
          <p:spPr>
            <a:xfrm>
              <a:off x="2700914" y="4348153"/>
              <a:ext cx="301625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效果验证与典型问题 </a:t>
              </a:r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6" name="文本框 55"/>
            <p:cNvSpPr txBox="1"/>
            <p:nvPr>
              <p:custDataLst>
                <p:tags r:id="rId26"/>
              </p:custDataLst>
            </p:nvPr>
          </p:nvSpPr>
          <p:spPr>
            <a:xfrm>
              <a:off x="2700914" y="4790026"/>
              <a:ext cx="343408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600" b="1" dirty="0">
                  <a:solidFill>
                    <a:schemeClr val="bg1"/>
                  </a:solidFill>
                  <a:latin typeface="方正楷体_GBK" panose="02000000000000000000" charset="-122"/>
                  <a:ea typeface="方正楷体_GBK" panose="02000000000000000000" charset="-122"/>
                  <a:cs typeface="方正楷体_GBK" panose="02000000000000000000" charset="-122"/>
                  <a:sym typeface="+mn-lt"/>
                </a:rPr>
                <a:t>真实用户试用与三道线上 </a:t>
              </a:r>
              <a:r>
                <a:rPr lang="en-US" altLang="zh-CN" sz="1600" b="1" dirty="0">
                  <a:solidFill>
                    <a:schemeClr val="bg1"/>
                  </a:solidFill>
                  <a:latin typeface="方正楷体_GBK" panose="02000000000000000000" charset="-122"/>
                  <a:ea typeface="方正楷体_GBK" panose="02000000000000000000" charset="-122"/>
                  <a:cs typeface="方正楷体_GBK" panose="02000000000000000000" charset="-122"/>
                  <a:sym typeface="+mn-lt"/>
                </a:rPr>
                <a:t>Demo </a:t>
              </a:r>
              <a:r>
                <a:rPr lang="zh-CN" altLang="en-US" sz="1600" b="1" dirty="0">
                  <a:solidFill>
                    <a:schemeClr val="bg1"/>
                  </a:solidFill>
                  <a:latin typeface="方正楷体_GBK" panose="02000000000000000000" charset="-122"/>
                  <a:ea typeface="方正楷体_GBK" panose="02000000000000000000" charset="-122"/>
                  <a:cs typeface="方正楷体_GBK" panose="02000000000000000000" charset="-122"/>
                  <a:sym typeface="+mn-lt"/>
                </a:rPr>
                <a:t>实测</a:t>
              </a:r>
              <a:endParaRPr lang="zh-CN" altLang="en-US" sz="1600" b="1" dirty="0">
                <a:solidFill>
                  <a:schemeClr val="bg1"/>
                </a:solidFill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  <a:sym typeface="+mn-lt"/>
              </a:endParaRPr>
            </a:p>
          </p:txBody>
        </p:sp>
        <p:sp>
          <p:nvSpPr>
            <p:cNvPr id="57" name="矩形 56"/>
            <p:cNvSpPr/>
            <p:nvPr>
              <p:custDataLst>
                <p:tags r:id="rId27"/>
              </p:custDataLst>
            </p:nvPr>
          </p:nvSpPr>
          <p:spPr>
            <a:xfrm>
              <a:off x="1679328" y="4448569"/>
              <a:ext cx="665567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cs typeface="+mn-ea"/>
                  <a:sym typeface="+mn-lt"/>
                </a:rPr>
                <a:t>04</a:t>
              </a:r>
              <a:endParaRPr lang="en-US" altLang="zh-CN" sz="3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</p:spTree>
    <p:custDataLst>
      <p:tags r:id="rId28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977130" y="1621155"/>
            <a:ext cx="226695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  <a:endParaRPr lang="en-US" altLang="zh-CN" sz="5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823685" y="2053493"/>
            <a:ext cx="8412480" cy="175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7200" dirty="0" smtClean="0">
                <a:solidFill>
                  <a:schemeClr val="bg1"/>
                </a:solidFill>
                <a:cs typeface="+mn-ea"/>
                <a:sym typeface="+mn-lt"/>
              </a:rPr>
              <a:t>项目定位与产品主线</a:t>
            </a:r>
            <a:endParaRPr lang="zh-CN" altLang="en-US" sz="7200" dirty="0" smtClean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066604" y="3806571"/>
            <a:ext cx="6222077" cy="1586171"/>
            <a:chOff x="2858885" y="3215810"/>
            <a:chExt cx="6222077" cy="1586171"/>
          </a:xfrm>
        </p:grpSpPr>
        <p:sp>
          <p:nvSpPr>
            <p:cNvPr id="19" name="椭圆 18"/>
            <p:cNvSpPr/>
            <p:nvPr/>
          </p:nvSpPr>
          <p:spPr>
            <a:xfrm rot="10800000">
              <a:off x="3611336" y="3215810"/>
              <a:ext cx="4717177" cy="1194265"/>
            </a:xfrm>
            <a:prstGeom prst="ellipse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72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 rot="10800000">
              <a:off x="2858885" y="3226715"/>
              <a:ext cx="6222077" cy="1575266"/>
            </a:xfrm>
            <a:prstGeom prst="ellipse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72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cxnSp>
        <p:nvCxnSpPr>
          <p:cNvPr id="21" name="直接连接符 20"/>
          <p:cNvCxnSpPr/>
          <p:nvPr/>
        </p:nvCxnSpPr>
        <p:spPr>
          <a:xfrm flipV="1">
            <a:off x="2547151" y="2701779"/>
            <a:ext cx="1" cy="1124532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3888998" y="1678308"/>
            <a:ext cx="0" cy="689121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V="1">
            <a:off x="9581039" y="2367774"/>
            <a:ext cx="0" cy="1438905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8018304" y="2040404"/>
            <a:ext cx="0" cy="810254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V="1">
            <a:off x="8933339" y="1083312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hteck"/>
          <p:cNvSpPr/>
          <p:nvPr/>
        </p:nvSpPr>
        <p:spPr>
          <a:xfrm>
            <a:off x="0" y="0"/>
            <a:ext cx="4826635" cy="6857365"/>
          </a:xfrm>
          <a:prstGeom prst="rect">
            <a:avLst/>
          </a:prstGeom>
          <a:solidFill>
            <a:srgbClr val="474479">
              <a:alpha val="20000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>
              <a:cs typeface="+mn-ea"/>
              <a:sym typeface="+mn-lt"/>
            </a:endParaRPr>
          </a:p>
        </p:txBody>
      </p:sp>
      <p:sp>
        <p:nvSpPr>
          <p:cNvPr id="107" name="Google Shape;86;p19"/>
          <p:cNvSpPr txBox="1"/>
          <p:nvPr/>
        </p:nvSpPr>
        <p:spPr>
          <a:xfrm>
            <a:off x="530225" y="2182495"/>
            <a:ext cx="784225" cy="699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1" i="0" u="none" strike="noStrike" cap="none">
                <a:solidFill>
                  <a:srgbClr val="605E8C"/>
                </a:solidFill>
                <a:cs typeface="+mn-ea"/>
                <a:sym typeface="+mn-lt"/>
              </a:rPr>
              <a:t>但</a:t>
            </a:r>
            <a:endParaRPr lang="zh-CN" altLang="en-US" sz="2800" b="1" i="0" u="none" strike="noStrike" cap="none">
              <a:solidFill>
                <a:srgbClr val="605E8C"/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part.01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88035" y="1495425"/>
            <a:ext cx="3265805" cy="64262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大模型</a:t>
            </a:r>
            <a:r>
              <a:rPr sz="2000" b="1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通用问答能给</a:t>
            </a:r>
            <a:r>
              <a:rPr lang="zh-CN" sz="2000" b="1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出</a:t>
            </a:r>
            <a:r>
              <a:rPr sz="2000" b="1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答案</a:t>
            </a:r>
            <a:endParaRPr lang="zh-CN" altLang="en-US" sz="2000" b="1">
              <a:solidFill>
                <a:schemeClr val="bg1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20470" y="2325370"/>
            <a:ext cx="2540000" cy="41465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sz="2000" b="1">
                <a:solidFill>
                  <a:schemeClr val="bg1"/>
                </a:solidFill>
                <a:latin typeface="微软雅黑" panose="020B0503020204020204" charset="-122"/>
              </a:rPr>
              <a:t>止步于一次性响应</a:t>
            </a:r>
            <a:endParaRPr lang="zh-CN" altLang="en-US" sz="2000"/>
          </a:p>
        </p:txBody>
      </p:sp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835660" y="3239135"/>
            <a:ext cx="3218815" cy="84963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marL="285750" lvl="0" indent="-28575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605E8C"/>
                </a:solidFill>
                <a:cs typeface="+mn-ea"/>
                <a:sym typeface="+mn-ea"/>
              </a:rPr>
              <a:t>无法支撑基于真实学情</a:t>
            </a:r>
            <a:endParaRPr lang="zh-CN" altLang="en-US">
              <a:solidFill>
                <a:srgbClr val="605E8C"/>
              </a:solidFill>
              <a:cs typeface="+mn-ea"/>
              <a:sym typeface="+mn-ea"/>
            </a:endParaRPr>
          </a:p>
          <a:p>
            <a:pPr lvl="0" indent="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605E8C"/>
                </a:solidFill>
                <a:cs typeface="+mn-ea"/>
                <a:sym typeface="+mn-ea"/>
              </a:rPr>
              <a:t>开展差异化教学</a:t>
            </a:r>
            <a:endParaRPr lang="zh-CN" altLang="en-US">
              <a:solidFill>
                <a:srgbClr val="605E8C"/>
              </a:solidFill>
              <a:cs typeface="+mn-ea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835660" y="4301490"/>
            <a:ext cx="3397885" cy="84963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marL="285750" lvl="0" indent="-28575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605E8C"/>
                </a:solidFill>
                <a:cs typeface="+mn-ea"/>
                <a:sym typeface="+mn-ea"/>
              </a:rPr>
              <a:t>无法贯通实验、数据与写</a:t>
            </a:r>
            <a:endParaRPr lang="zh-CN" altLang="en-US">
              <a:solidFill>
                <a:srgbClr val="605E8C"/>
              </a:solidFill>
              <a:cs typeface="+mn-ea"/>
              <a:sym typeface="+mn-ea"/>
            </a:endParaRPr>
          </a:p>
          <a:p>
            <a:pPr lvl="0" indent="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605E8C"/>
                </a:solidFill>
                <a:cs typeface="+mn-ea"/>
                <a:sym typeface="+mn-ea"/>
              </a:rPr>
              <a:t>有效</a:t>
            </a:r>
            <a:r>
              <a:rPr lang="zh-CN" altLang="en-US">
                <a:solidFill>
                  <a:srgbClr val="605E8C"/>
                </a:solidFill>
                <a:cs typeface="+mn-ea"/>
                <a:sym typeface="+mn-ea"/>
              </a:rPr>
              <a:t>支持科研</a:t>
            </a:r>
            <a:endParaRPr lang="zh-CN" altLang="en-US">
              <a:solidFill>
                <a:srgbClr val="605E8C"/>
              </a:solidFill>
              <a:cs typeface="+mn-ea"/>
              <a:sym typeface="+mn-ea"/>
            </a:endParaRPr>
          </a:p>
        </p:txBody>
      </p:sp>
      <p:grpSp>
        <p:nvGrpSpPr>
          <p:cNvPr id="32" name="组合 31"/>
          <p:cNvGrpSpPr/>
          <p:nvPr>
            <p:custDataLst>
              <p:tags r:id="rId3"/>
            </p:custDataLst>
          </p:nvPr>
        </p:nvGrpSpPr>
        <p:grpSpPr>
          <a:xfrm>
            <a:off x="5864225" y="991235"/>
            <a:ext cx="4485640" cy="1362710"/>
            <a:chOff x="8138" y="1939"/>
            <a:chExt cx="7064" cy="2146"/>
          </a:xfrm>
        </p:grpSpPr>
        <p:sp>
          <p:nvSpPr>
            <p:cNvPr id="99" name="Rectangle 29"/>
            <p:cNvSpPr/>
            <p:nvPr>
              <p:custDataLst>
                <p:tags r:id="rId4"/>
              </p:custDataLst>
            </p:nvPr>
          </p:nvSpPr>
          <p:spPr>
            <a:xfrm>
              <a:off x="9832" y="2730"/>
              <a:ext cx="5370" cy="13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l">
                <a:lnSpc>
                  <a:spcPts val="2000"/>
                </a:lnSpc>
                <a:defRPr/>
              </a:pP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短视频字剪大标宋" panose="02010604000000000000" charset="-122"/>
                  <a:ea typeface="短视频字剪大标宋" panose="02010604000000000000" charset="-122"/>
                  <a:cs typeface="+mn-ea"/>
                  <a:sym typeface="+mn-lt"/>
                </a:rPr>
                <a:t>现有产品大多止步于静态问答，既不追踪知识起点，也不沉淀错因逻辑，每次对话结束后，下一次仍如初见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短视频字剪大标宋" panose="02010604000000000000" charset="-122"/>
                <a:ea typeface="短视频字剪大标宋" panose="02010604000000000000" charset="-122"/>
                <a:cs typeface="+mn-ea"/>
                <a:sym typeface="+mn-lt"/>
              </a:endParaRPr>
            </a:p>
          </p:txBody>
        </p:sp>
        <p:sp>
          <p:nvSpPr>
            <p:cNvPr id="100" name="Rectangle 30"/>
            <p:cNvSpPr/>
            <p:nvPr>
              <p:custDataLst>
                <p:tags r:id="rId5"/>
              </p:custDataLst>
            </p:nvPr>
          </p:nvSpPr>
          <p:spPr>
            <a:xfrm>
              <a:off x="9832" y="1939"/>
              <a:ext cx="1898" cy="7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助学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8138" y="2841"/>
              <a:ext cx="900" cy="730"/>
              <a:chOff x="8138" y="2950"/>
              <a:chExt cx="900" cy="730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138" y="2956"/>
                <a:ext cx="707" cy="706"/>
              </a:xfrm>
              <a:prstGeom prst="ellipse">
                <a:avLst/>
              </a:prstGeom>
              <a:noFill/>
              <a:ln w="31750" cmpd="sng">
                <a:solidFill>
                  <a:srgbClr val="6A6893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8138" y="2950"/>
                <a:ext cx="900" cy="73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lang="zh-CN" altLang="en-US" sz="2000" b="1">
                    <a:solidFill>
                      <a:srgbClr val="6A6893"/>
                    </a:solidFill>
                  </a:rPr>
                  <a:t>？</a:t>
                </a:r>
                <a:endParaRPr lang="zh-CN" altLang="en-US" sz="2000" b="1">
                  <a:solidFill>
                    <a:srgbClr val="6A6893"/>
                  </a:solidFill>
                </a:endParaRPr>
              </a:p>
            </p:txBody>
          </p:sp>
        </p:grpSp>
      </p:grp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2810" y="240030"/>
            <a:ext cx="32924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01 / </a:t>
            </a: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problem 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cs typeface="+mn-ea"/>
                <a:sym typeface="+mn-lt"/>
              </a:rPr>
              <a:t>计算机教学</a:t>
            </a:r>
            <a:r>
              <a:rPr lang="zh-CN" altLang="en-US" sz="2400" dirty="0" smtClean="0">
                <a:solidFill>
                  <a:srgbClr val="474479"/>
                </a:solidFill>
                <a:cs typeface="+mn-ea"/>
                <a:sym typeface="+mn-lt"/>
              </a:rPr>
              <a:t>研痛点</a:t>
            </a:r>
            <a:endParaRPr lang="zh-CN" altLang="en-US" sz="24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62" name="组合 61"/>
          <p:cNvGrpSpPr/>
          <p:nvPr>
            <p:custDataLst>
              <p:tags r:id="rId6"/>
            </p:custDataLst>
          </p:nvPr>
        </p:nvGrpSpPr>
        <p:grpSpPr>
          <a:xfrm>
            <a:off x="5864225" y="4340225"/>
            <a:ext cx="4485640" cy="1362710"/>
            <a:chOff x="8138" y="1939"/>
            <a:chExt cx="7064" cy="2146"/>
          </a:xfrm>
        </p:grpSpPr>
        <p:sp>
          <p:nvSpPr>
            <p:cNvPr id="63" name="Rectangle 29"/>
            <p:cNvSpPr/>
            <p:nvPr>
              <p:custDataLst>
                <p:tags r:id="rId7"/>
              </p:custDataLst>
            </p:nvPr>
          </p:nvSpPr>
          <p:spPr>
            <a:xfrm>
              <a:off x="9832" y="2730"/>
              <a:ext cx="5370" cy="13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l">
                <a:lnSpc>
                  <a:spcPts val="2000"/>
                </a:lnSpc>
                <a:defRPr/>
              </a:pP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短视频字剪大标宋" panose="02010604000000000000" charset="-122"/>
                  <a:ea typeface="短视频字剪大标宋" panose="02010604000000000000" charset="-122"/>
                  <a:cs typeface="+mn-ea"/>
                  <a:sym typeface="+mn-lt"/>
                </a:rPr>
                <a:t>无法将文献、项目资料、数据与写作贯通为统一工作流，致使科研过程仍处于割裂且难以追溯的状态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短视频字剪大标宋" panose="02010604000000000000" charset="-122"/>
                <a:ea typeface="短视频字剪大标宋" panose="02010604000000000000" charset="-122"/>
                <a:cs typeface="+mn-ea"/>
                <a:sym typeface="+mn-lt"/>
              </a:endParaRPr>
            </a:p>
          </p:txBody>
        </p:sp>
        <p:sp>
          <p:nvSpPr>
            <p:cNvPr id="64" name="Rectangle 30"/>
            <p:cNvSpPr/>
            <p:nvPr>
              <p:custDataLst>
                <p:tags r:id="rId8"/>
              </p:custDataLst>
            </p:nvPr>
          </p:nvSpPr>
          <p:spPr>
            <a:xfrm>
              <a:off x="9832" y="1939"/>
              <a:ext cx="1898" cy="7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助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研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65" name="组合 64"/>
            <p:cNvGrpSpPr/>
            <p:nvPr/>
          </p:nvGrpSpPr>
          <p:grpSpPr>
            <a:xfrm>
              <a:off x="8138" y="2841"/>
              <a:ext cx="900" cy="730"/>
              <a:chOff x="8138" y="2950"/>
              <a:chExt cx="900" cy="730"/>
            </a:xfrm>
          </p:grpSpPr>
          <p:sp>
            <p:nvSpPr>
              <p:cNvPr id="66" name="椭圆 65"/>
              <p:cNvSpPr/>
              <p:nvPr/>
            </p:nvSpPr>
            <p:spPr>
              <a:xfrm>
                <a:off x="8138" y="2956"/>
                <a:ext cx="707" cy="706"/>
              </a:xfrm>
              <a:prstGeom prst="ellipse">
                <a:avLst/>
              </a:prstGeom>
              <a:noFill/>
              <a:ln w="31750" cmpd="sng">
                <a:solidFill>
                  <a:srgbClr val="6A6893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7" name="文本框 66"/>
              <p:cNvSpPr txBox="1"/>
              <p:nvPr/>
            </p:nvSpPr>
            <p:spPr>
              <a:xfrm>
                <a:off x="8138" y="2950"/>
                <a:ext cx="900" cy="73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lang="zh-CN" altLang="en-US" sz="2000" b="1">
                    <a:solidFill>
                      <a:srgbClr val="6A6893"/>
                    </a:solidFill>
                  </a:rPr>
                  <a:t>？</a:t>
                </a:r>
                <a:endParaRPr lang="zh-CN" altLang="en-US" sz="2000" b="1">
                  <a:solidFill>
                    <a:srgbClr val="6A6893"/>
                  </a:solidFill>
                </a:endParaRPr>
              </a:p>
            </p:txBody>
          </p:sp>
        </p:grpSp>
      </p:grpSp>
      <p:grpSp>
        <p:nvGrpSpPr>
          <p:cNvPr id="68" name="组合 67"/>
          <p:cNvGrpSpPr/>
          <p:nvPr>
            <p:custDataLst>
              <p:tags r:id="rId9"/>
            </p:custDataLst>
          </p:nvPr>
        </p:nvGrpSpPr>
        <p:grpSpPr>
          <a:xfrm>
            <a:off x="5864225" y="2665730"/>
            <a:ext cx="4485640" cy="1362710"/>
            <a:chOff x="8138" y="1939"/>
            <a:chExt cx="7064" cy="2146"/>
          </a:xfrm>
        </p:grpSpPr>
        <p:sp>
          <p:nvSpPr>
            <p:cNvPr id="69" name="Rectangle 29"/>
            <p:cNvSpPr/>
            <p:nvPr>
              <p:custDataLst>
                <p:tags r:id="rId10"/>
              </p:custDataLst>
            </p:nvPr>
          </p:nvSpPr>
          <p:spPr>
            <a:xfrm>
              <a:off x="9832" y="2730"/>
              <a:ext cx="5370" cy="13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l">
                <a:lnSpc>
                  <a:spcPts val="2000"/>
                </a:lnSpc>
                <a:defRPr/>
              </a:pP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短视频字剪大标宋" panose="02010604000000000000" charset="-122"/>
                  <a:ea typeface="短视频字剪大标宋" panose="02010604000000000000" charset="-122"/>
                  <a:cs typeface="+mn-ea"/>
                  <a:sym typeface="+mn-lt"/>
                </a:rPr>
                <a:t>缺少反复诊断与反馈的闭环机制，亦无力持续捕获班级共性薄弱点，致使教师的干预决策往往停留在经验而非数据之上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短视频字剪大标宋" panose="02010604000000000000" charset="-122"/>
                <a:ea typeface="短视频字剪大标宋" panose="02010604000000000000" charset="-122"/>
                <a:cs typeface="+mn-ea"/>
                <a:sym typeface="+mn-lt"/>
              </a:endParaRPr>
            </a:p>
          </p:txBody>
        </p:sp>
        <p:sp>
          <p:nvSpPr>
            <p:cNvPr id="70" name="Rectangle 30"/>
            <p:cNvSpPr/>
            <p:nvPr>
              <p:custDataLst>
                <p:tags r:id="rId11"/>
              </p:custDataLst>
            </p:nvPr>
          </p:nvSpPr>
          <p:spPr>
            <a:xfrm>
              <a:off x="9832" y="1939"/>
              <a:ext cx="1898" cy="7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助教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8138" y="2841"/>
              <a:ext cx="900" cy="730"/>
              <a:chOff x="8138" y="2950"/>
              <a:chExt cx="900" cy="730"/>
            </a:xfrm>
          </p:grpSpPr>
          <p:sp>
            <p:nvSpPr>
              <p:cNvPr id="72" name="椭圆 71"/>
              <p:cNvSpPr/>
              <p:nvPr/>
            </p:nvSpPr>
            <p:spPr>
              <a:xfrm>
                <a:off x="8138" y="2956"/>
                <a:ext cx="707" cy="706"/>
              </a:xfrm>
              <a:prstGeom prst="ellipse">
                <a:avLst/>
              </a:prstGeom>
              <a:noFill/>
              <a:ln w="31750" cmpd="sng">
                <a:solidFill>
                  <a:srgbClr val="6A6893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" name="文本框 72"/>
              <p:cNvSpPr txBox="1"/>
              <p:nvPr/>
            </p:nvSpPr>
            <p:spPr>
              <a:xfrm>
                <a:off x="8138" y="2950"/>
                <a:ext cx="900" cy="73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lang="zh-CN" altLang="en-US" sz="2000" b="1">
                    <a:solidFill>
                      <a:srgbClr val="6A6893"/>
                    </a:solidFill>
                  </a:rPr>
                  <a:t>？</a:t>
                </a:r>
                <a:endParaRPr lang="zh-CN" altLang="en-US" sz="2000" b="1">
                  <a:solidFill>
                    <a:srgbClr val="6A6893"/>
                  </a:solidFill>
                </a:endParaRPr>
              </a:p>
            </p:txBody>
          </p:sp>
        </p:grpSp>
      </p:grpSp>
    </p:spTree>
    <p:custDataLst>
      <p:tags r:id="rId1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ldLvl="0" animBg="1"/>
      <p:bldP spid="10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"/>
          <p:cNvSpPr/>
          <p:nvPr/>
        </p:nvSpPr>
        <p:spPr>
          <a:xfrm>
            <a:off x="4438015" y="0"/>
            <a:ext cx="7753985" cy="6858000"/>
          </a:xfrm>
          <a:prstGeom prst="rect">
            <a:avLst/>
          </a:prstGeom>
          <a:solidFill>
            <a:srgbClr val="474479">
              <a:alpha val="20000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>
              <a:cs typeface="+mn-ea"/>
              <a:sym typeface="+mn-lt"/>
            </a:endParaRPr>
          </a:p>
        </p:txBody>
      </p:sp>
      <p:sp>
        <p:nvSpPr>
          <p:cNvPr id="100" name="Rectangle 30"/>
          <p:cNvSpPr/>
          <p:nvPr>
            <p:custDataLst>
              <p:tags r:id="rId1"/>
            </p:custDataLst>
          </p:nvPr>
        </p:nvSpPr>
        <p:spPr>
          <a:xfrm>
            <a:off x="5037455" y="1983740"/>
            <a:ext cx="548894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dirty="0" smtClean="0">
                <a:solidFill>
                  <a:srgbClr val="474479"/>
                </a:solidFill>
                <a:cs typeface="+mn-ea"/>
                <a:sym typeface="+mn-lt"/>
              </a:rPr>
              <a:t>回答不是终点，证据要回到下一步行动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3" name="Rectangle 29"/>
          <p:cNvSpPr/>
          <p:nvPr>
            <p:custDataLst>
              <p:tags r:id="rId2"/>
            </p:custDataLst>
          </p:nvPr>
        </p:nvSpPr>
        <p:spPr>
          <a:xfrm>
            <a:off x="5037455" y="4820920"/>
            <a:ext cx="5769610" cy="3473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超清舒适清雅楷体" panose="02000503000000000000" charset="-122"/>
                <a:ea typeface="超清舒适清雅楷体" panose="02000503000000000000" charset="-122"/>
                <a:cs typeface="+mn-ea"/>
                <a:sym typeface="+mn-lt"/>
              </a:rPr>
              <a:t>可信知识 + 真实任务 + 可验证证据 = 学科能力闭环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1" name="Rectangle 29"/>
          <p:cNvSpPr/>
          <p:nvPr>
            <p:custDataLst>
              <p:tags r:id="rId3"/>
            </p:custDataLst>
          </p:nvPr>
        </p:nvSpPr>
        <p:spPr>
          <a:xfrm>
            <a:off x="5037455" y="3345815"/>
            <a:ext cx="5165090" cy="860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超清舒适清雅楷体" panose="02000503000000000000" charset="-122"/>
                <a:ea typeface="超清舒适清雅楷体" panose="02000503000000000000" charset="-122"/>
                <a:cs typeface="+mn-ea"/>
                <a:sym typeface="+mn-lt"/>
              </a:rPr>
              <a:t>学生作答、教师复核、知识来源和科研任务结果都要形成可追踪证据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超清舒适清雅楷体" panose="02000503000000000000" charset="-122"/>
              <a:ea typeface="超清舒适清雅楷体" panose="02000503000000000000" charset="-122"/>
              <a:cs typeface="+mn-ea"/>
              <a:sym typeface="+mn-lt"/>
            </a:endParaRPr>
          </a:p>
          <a:p>
            <a:pPr lvl="0" algn="l">
              <a:lnSpc>
                <a:spcPts val="2000"/>
              </a:lnSpc>
              <a:defRPr/>
            </a:pP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超清舒适清雅楷体" panose="02000503000000000000" charset="-122"/>
              <a:ea typeface="超清舒适清雅楷体" panose="02000503000000000000" charset="-122"/>
              <a:cs typeface="+mn-ea"/>
              <a:sym typeface="+mn-lt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rcRect l="-3431" r="53676" b="-3191"/>
          <a:stretch>
            <a:fillRect/>
          </a:stretch>
        </p:blipFill>
        <p:spPr>
          <a:xfrm>
            <a:off x="4296410" y="-163830"/>
            <a:ext cx="141605" cy="7578725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06" name="TextBox 7"/>
          <p:cNvSpPr txBox="1"/>
          <p:nvPr/>
        </p:nvSpPr>
        <p:spPr>
          <a:xfrm>
            <a:off x="4654550" y="974725"/>
            <a:ext cx="6549390" cy="72644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dist">
              <a:lnSpc>
                <a:spcPct val="150000"/>
              </a:lnSpc>
              <a:buClrTx/>
              <a:buSzTx/>
              <a:buFontTx/>
            </a:pPr>
            <a:r>
              <a:rPr lang="zh-CN" altLang="en-US" sz="2000" b="1" dirty="0" smtClean="0">
                <a:solidFill>
                  <a:schemeClr val="bg1"/>
                </a:solidFill>
                <a:effectLst/>
                <a:cs typeface="+mn-ea"/>
                <a:sym typeface="+mn-lt"/>
              </a:rPr>
              <a:t>从“模型会不会答”转向“回答之后能否推动能力成长”</a:t>
            </a:r>
            <a:endParaRPr lang="zh-CN" altLang="en-US" sz="2000" b="1" dirty="0" smtClean="0">
              <a:solidFill>
                <a:schemeClr val="bg1"/>
              </a:solidFill>
              <a:effectLst/>
              <a:cs typeface="+mn-ea"/>
              <a:sym typeface="+mn-lt"/>
            </a:endParaRPr>
          </a:p>
          <a:p>
            <a:pPr algn="dist"/>
            <a:endParaRPr lang="zh-CN" altLang="en-US" sz="2000" b="1" dirty="0" smtClean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/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 rot="10080000">
            <a:off x="-1102360" y="-1642745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92810" y="240030"/>
            <a:ext cx="29171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02 / CORE CLAIM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cs typeface="+mn-ea"/>
                <a:sym typeface="+mn-lt"/>
              </a:rPr>
              <a:t>让交互留下证据</a:t>
            </a:r>
            <a:endParaRPr lang="zh-CN" altLang="en-US" sz="24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part.01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pic>
        <p:nvPicPr>
          <p:cNvPr id="15" name="图片 14" descr="紫色数据分析清单图标(1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25" y="2371725"/>
            <a:ext cx="3794125" cy="4109720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4250690" y="2058670"/>
            <a:ext cx="411480" cy="406400"/>
            <a:chOff x="6694" y="3242"/>
            <a:chExt cx="648" cy="640"/>
          </a:xfrm>
        </p:grpSpPr>
        <p:sp>
          <p:nvSpPr>
            <p:cNvPr id="26" name="椭圆 25"/>
            <p:cNvSpPr/>
            <p:nvPr/>
          </p:nvSpPr>
          <p:spPr>
            <a:xfrm>
              <a:off x="6694" y="3242"/>
              <a:ext cx="648" cy="640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Form"/>
            <p:cNvSpPr/>
            <p:nvPr>
              <p:custDataLst>
                <p:tags r:id="rId6"/>
              </p:custDataLst>
            </p:nvPr>
          </p:nvSpPr>
          <p:spPr>
            <a:xfrm>
              <a:off x="6694" y="3242"/>
              <a:ext cx="640" cy="6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7" y="0"/>
                  </a:moveTo>
                  <a:cubicBezTo>
                    <a:pt x="4838" y="0"/>
                    <a:pt x="0" y="4838"/>
                    <a:pt x="0" y="10807"/>
                  </a:cubicBezTo>
                  <a:cubicBezTo>
                    <a:pt x="0" y="16777"/>
                    <a:pt x="4838" y="21600"/>
                    <a:pt x="10807" y="21600"/>
                  </a:cubicBezTo>
                  <a:cubicBezTo>
                    <a:pt x="16777" y="21600"/>
                    <a:pt x="21600" y="16777"/>
                    <a:pt x="21600" y="10807"/>
                  </a:cubicBezTo>
                  <a:cubicBezTo>
                    <a:pt x="21600" y="4838"/>
                    <a:pt x="16777" y="0"/>
                    <a:pt x="10807" y="0"/>
                  </a:cubicBezTo>
                  <a:close/>
                  <a:moveTo>
                    <a:pt x="10807" y="1184"/>
                  </a:moveTo>
                  <a:cubicBezTo>
                    <a:pt x="16066" y="1184"/>
                    <a:pt x="20371" y="5489"/>
                    <a:pt x="20371" y="10748"/>
                  </a:cubicBezTo>
                  <a:cubicBezTo>
                    <a:pt x="20371" y="16054"/>
                    <a:pt x="16113" y="20327"/>
                    <a:pt x="10807" y="20327"/>
                  </a:cubicBezTo>
                  <a:cubicBezTo>
                    <a:pt x="5549" y="20327"/>
                    <a:pt x="1229" y="16007"/>
                    <a:pt x="1229" y="10748"/>
                  </a:cubicBezTo>
                  <a:cubicBezTo>
                    <a:pt x="1229" y="5490"/>
                    <a:pt x="5549" y="1184"/>
                    <a:pt x="10807" y="1184"/>
                  </a:cubicBezTo>
                  <a:close/>
                  <a:moveTo>
                    <a:pt x="14849" y="7491"/>
                  </a:moveTo>
                  <a:cubicBezTo>
                    <a:pt x="14689" y="7491"/>
                    <a:pt x="14523" y="7550"/>
                    <a:pt x="14405" y="7669"/>
                  </a:cubicBezTo>
                  <a:lnTo>
                    <a:pt x="9431" y="12643"/>
                  </a:lnTo>
                  <a:lnTo>
                    <a:pt x="7210" y="10408"/>
                  </a:lnTo>
                  <a:cubicBezTo>
                    <a:pt x="6973" y="10171"/>
                    <a:pt x="6588" y="10171"/>
                    <a:pt x="6351" y="10408"/>
                  </a:cubicBezTo>
                  <a:cubicBezTo>
                    <a:pt x="6114" y="10645"/>
                    <a:pt x="6114" y="11029"/>
                    <a:pt x="6351" y="11266"/>
                  </a:cubicBezTo>
                  <a:lnTo>
                    <a:pt x="9001" y="13916"/>
                  </a:lnTo>
                  <a:cubicBezTo>
                    <a:pt x="9143" y="14058"/>
                    <a:pt x="9288" y="14109"/>
                    <a:pt x="9431" y="14109"/>
                  </a:cubicBezTo>
                  <a:cubicBezTo>
                    <a:pt x="9573" y="14109"/>
                    <a:pt x="9765" y="14058"/>
                    <a:pt x="9860" y="13916"/>
                  </a:cubicBezTo>
                  <a:lnTo>
                    <a:pt x="15264" y="8513"/>
                  </a:lnTo>
                  <a:cubicBezTo>
                    <a:pt x="15500" y="8276"/>
                    <a:pt x="15500" y="7906"/>
                    <a:pt x="15264" y="7669"/>
                  </a:cubicBezTo>
                  <a:cubicBezTo>
                    <a:pt x="15169" y="7550"/>
                    <a:pt x="15009" y="7491"/>
                    <a:pt x="14849" y="7491"/>
                  </a:cubicBezTo>
                  <a:close/>
                </a:path>
              </a:pathLst>
            </a:custGeom>
            <a:solidFill>
              <a:srgbClr val="605E8C"/>
            </a:solidFill>
            <a:ln w="12700"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algn="ctr" defTabSz="228600">
                <a:defRPr sz="3000" spc="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cs typeface="+mn-ea"/>
                <a:sym typeface="+mn-lt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248150" y="3422015"/>
            <a:ext cx="411480" cy="406400"/>
            <a:chOff x="6694" y="3242"/>
            <a:chExt cx="648" cy="640"/>
          </a:xfrm>
        </p:grpSpPr>
        <p:sp>
          <p:nvSpPr>
            <p:cNvPr id="29" name="椭圆 28"/>
            <p:cNvSpPr/>
            <p:nvPr/>
          </p:nvSpPr>
          <p:spPr>
            <a:xfrm>
              <a:off x="6694" y="3242"/>
              <a:ext cx="648" cy="640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0" name="Form"/>
            <p:cNvSpPr/>
            <p:nvPr>
              <p:custDataLst>
                <p:tags r:id="rId7"/>
              </p:custDataLst>
            </p:nvPr>
          </p:nvSpPr>
          <p:spPr>
            <a:xfrm>
              <a:off x="6694" y="3242"/>
              <a:ext cx="640" cy="6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7" y="0"/>
                  </a:moveTo>
                  <a:cubicBezTo>
                    <a:pt x="4838" y="0"/>
                    <a:pt x="0" y="4838"/>
                    <a:pt x="0" y="10807"/>
                  </a:cubicBezTo>
                  <a:cubicBezTo>
                    <a:pt x="0" y="16777"/>
                    <a:pt x="4838" y="21600"/>
                    <a:pt x="10807" y="21600"/>
                  </a:cubicBezTo>
                  <a:cubicBezTo>
                    <a:pt x="16777" y="21600"/>
                    <a:pt x="21600" y="16777"/>
                    <a:pt x="21600" y="10807"/>
                  </a:cubicBezTo>
                  <a:cubicBezTo>
                    <a:pt x="21600" y="4838"/>
                    <a:pt x="16777" y="0"/>
                    <a:pt x="10807" y="0"/>
                  </a:cubicBezTo>
                  <a:close/>
                  <a:moveTo>
                    <a:pt x="10807" y="1184"/>
                  </a:moveTo>
                  <a:cubicBezTo>
                    <a:pt x="16066" y="1184"/>
                    <a:pt x="20371" y="5489"/>
                    <a:pt x="20371" y="10748"/>
                  </a:cubicBezTo>
                  <a:cubicBezTo>
                    <a:pt x="20371" y="16054"/>
                    <a:pt x="16113" y="20327"/>
                    <a:pt x="10807" y="20327"/>
                  </a:cubicBezTo>
                  <a:cubicBezTo>
                    <a:pt x="5549" y="20327"/>
                    <a:pt x="1229" y="16007"/>
                    <a:pt x="1229" y="10748"/>
                  </a:cubicBezTo>
                  <a:cubicBezTo>
                    <a:pt x="1229" y="5490"/>
                    <a:pt x="5549" y="1184"/>
                    <a:pt x="10807" y="1184"/>
                  </a:cubicBezTo>
                  <a:close/>
                  <a:moveTo>
                    <a:pt x="14849" y="7491"/>
                  </a:moveTo>
                  <a:cubicBezTo>
                    <a:pt x="14689" y="7491"/>
                    <a:pt x="14523" y="7550"/>
                    <a:pt x="14405" y="7669"/>
                  </a:cubicBezTo>
                  <a:lnTo>
                    <a:pt x="9431" y="12643"/>
                  </a:lnTo>
                  <a:lnTo>
                    <a:pt x="7210" y="10408"/>
                  </a:lnTo>
                  <a:cubicBezTo>
                    <a:pt x="6973" y="10171"/>
                    <a:pt x="6588" y="10171"/>
                    <a:pt x="6351" y="10408"/>
                  </a:cubicBezTo>
                  <a:cubicBezTo>
                    <a:pt x="6114" y="10645"/>
                    <a:pt x="6114" y="11029"/>
                    <a:pt x="6351" y="11266"/>
                  </a:cubicBezTo>
                  <a:lnTo>
                    <a:pt x="9001" y="13916"/>
                  </a:lnTo>
                  <a:cubicBezTo>
                    <a:pt x="9143" y="14058"/>
                    <a:pt x="9288" y="14109"/>
                    <a:pt x="9431" y="14109"/>
                  </a:cubicBezTo>
                  <a:cubicBezTo>
                    <a:pt x="9573" y="14109"/>
                    <a:pt x="9765" y="14058"/>
                    <a:pt x="9860" y="13916"/>
                  </a:cubicBezTo>
                  <a:lnTo>
                    <a:pt x="15264" y="8513"/>
                  </a:lnTo>
                  <a:cubicBezTo>
                    <a:pt x="15500" y="8276"/>
                    <a:pt x="15500" y="7906"/>
                    <a:pt x="15264" y="7669"/>
                  </a:cubicBezTo>
                  <a:cubicBezTo>
                    <a:pt x="15169" y="7550"/>
                    <a:pt x="15009" y="7491"/>
                    <a:pt x="14849" y="7491"/>
                  </a:cubicBezTo>
                  <a:close/>
                </a:path>
              </a:pathLst>
            </a:custGeom>
            <a:solidFill>
              <a:srgbClr val="605E8C"/>
            </a:solidFill>
            <a:ln w="12700"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algn="ctr" defTabSz="228600">
                <a:defRPr sz="3000" spc="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cs typeface="+mn-ea"/>
                <a:sym typeface="+mn-lt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248150" y="4754245"/>
            <a:ext cx="411480" cy="406400"/>
            <a:chOff x="6694" y="3242"/>
            <a:chExt cx="648" cy="640"/>
          </a:xfrm>
        </p:grpSpPr>
        <p:sp>
          <p:nvSpPr>
            <p:cNvPr id="32" name="椭圆 31"/>
            <p:cNvSpPr/>
            <p:nvPr/>
          </p:nvSpPr>
          <p:spPr>
            <a:xfrm>
              <a:off x="6694" y="3242"/>
              <a:ext cx="648" cy="640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orm"/>
            <p:cNvSpPr/>
            <p:nvPr>
              <p:custDataLst>
                <p:tags r:id="rId8"/>
              </p:custDataLst>
            </p:nvPr>
          </p:nvSpPr>
          <p:spPr>
            <a:xfrm>
              <a:off x="6694" y="3242"/>
              <a:ext cx="640" cy="6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7" y="0"/>
                  </a:moveTo>
                  <a:cubicBezTo>
                    <a:pt x="4838" y="0"/>
                    <a:pt x="0" y="4838"/>
                    <a:pt x="0" y="10807"/>
                  </a:cubicBezTo>
                  <a:cubicBezTo>
                    <a:pt x="0" y="16777"/>
                    <a:pt x="4838" y="21600"/>
                    <a:pt x="10807" y="21600"/>
                  </a:cubicBezTo>
                  <a:cubicBezTo>
                    <a:pt x="16777" y="21600"/>
                    <a:pt x="21600" y="16777"/>
                    <a:pt x="21600" y="10807"/>
                  </a:cubicBezTo>
                  <a:cubicBezTo>
                    <a:pt x="21600" y="4838"/>
                    <a:pt x="16777" y="0"/>
                    <a:pt x="10807" y="0"/>
                  </a:cubicBezTo>
                  <a:close/>
                  <a:moveTo>
                    <a:pt x="10807" y="1184"/>
                  </a:moveTo>
                  <a:cubicBezTo>
                    <a:pt x="16066" y="1184"/>
                    <a:pt x="20371" y="5489"/>
                    <a:pt x="20371" y="10748"/>
                  </a:cubicBezTo>
                  <a:cubicBezTo>
                    <a:pt x="20371" y="16054"/>
                    <a:pt x="16113" y="20327"/>
                    <a:pt x="10807" y="20327"/>
                  </a:cubicBezTo>
                  <a:cubicBezTo>
                    <a:pt x="5549" y="20327"/>
                    <a:pt x="1229" y="16007"/>
                    <a:pt x="1229" y="10748"/>
                  </a:cubicBezTo>
                  <a:cubicBezTo>
                    <a:pt x="1229" y="5490"/>
                    <a:pt x="5549" y="1184"/>
                    <a:pt x="10807" y="1184"/>
                  </a:cubicBezTo>
                  <a:close/>
                  <a:moveTo>
                    <a:pt x="14849" y="7491"/>
                  </a:moveTo>
                  <a:cubicBezTo>
                    <a:pt x="14689" y="7491"/>
                    <a:pt x="14523" y="7550"/>
                    <a:pt x="14405" y="7669"/>
                  </a:cubicBezTo>
                  <a:lnTo>
                    <a:pt x="9431" y="12643"/>
                  </a:lnTo>
                  <a:lnTo>
                    <a:pt x="7210" y="10408"/>
                  </a:lnTo>
                  <a:cubicBezTo>
                    <a:pt x="6973" y="10171"/>
                    <a:pt x="6588" y="10171"/>
                    <a:pt x="6351" y="10408"/>
                  </a:cubicBezTo>
                  <a:cubicBezTo>
                    <a:pt x="6114" y="10645"/>
                    <a:pt x="6114" y="11029"/>
                    <a:pt x="6351" y="11266"/>
                  </a:cubicBezTo>
                  <a:lnTo>
                    <a:pt x="9001" y="13916"/>
                  </a:lnTo>
                  <a:cubicBezTo>
                    <a:pt x="9143" y="14058"/>
                    <a:pt x="9288" y="14109"/>
                    <a:pt x="9431" y="14109"/>
                  </a:cubicBezTo>
                  <a:cubicBezTo>
                    <a:pt x="9573" y="14109"/>
                    <a:pt x="9765" y="14058"/>
                    <a:pt x="9860" y="13916"/>
                  </a:cubicBezTo>
                  <a:lnTo>
                    <a:pt x="15264" y="8513"/>
                  </a:lnTo>
                  <a:cubicBezTo>
                    <a:pt x="15500" y="8276"/>
                    <a:pt x="15500" y="7906"/>
                    <a:pt x="15264" y="7669"/>
                  </a:cubicBezTo>
                  <a:cubicBezTo>
                    <a:pt x="15169" y="7550"/>
                    <a:pt x="15009" y="7491"/>
                    <a:pt x="14849" y="7491"/>
                  </a:cubicBezTo>
                  <a:close/>
                </a:path>
              </a:pathLst>
            </a:custGeom>
            <a:solidFill>
              <a:srgbClr val="605E8C"/>
            </a:solidFill>
            <a:ln w="12700"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algn="ctr" defTabSz="228600">
                <a:defRPr sz="3000" spc="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cs typeface="+mn-ea"/>
                <a:sym typeface="+mn-lt"/>
              </a:endParaRPr>
            </a:p>
          </p:txBody>
        </p:sp>
      </p:grpSp>
    </p:spTree>
    <p:custDataLst>
      <p:tags r:id="rId9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1" grpId="0"/>
      <p:bldP spid="103" grpId="0"/>
      <p:bldP spid="10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part.01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36" name="组合 19"/>
          <p:cNvGrpSpPr/>
          <p:nvPr>
            <p:custDataLst>
              <p:tags r:id="rId1"/>
            </p:custDataLst>
          </p:nvPr>
        </p:nvGrpSpPr>
        <p:grpSpPr>
          <a:xfrm>
            <a:off x="1291203" y="2356611"/>
            <a:ext cx="2149475" cy="1577340"/>
            <a:chOff x="731372" y="4136825"/>
            <a:chExt cx="2149475" cy="1577340"/>
          </a:xfrm>
        </p:grpSpPr>
        <p:sp>
          <p:nvSpPr>
            <p:cNvPr id="37" name="Rectangle 24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799317" y="4579420"/>
              <a:ext cx="2081530" cy="1134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09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38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67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3996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25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 defTabSz="914400" fontAlgn="auto">
                <a:lnSpc>
                  <a:spcPct val="150000"/>
                </a:lnSpc>
                <a:defRPr/>
              </a:pPr>
              <a:r>
                <a:rPr sz="1400"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学习</a:t>
              </a:r>
              <a:r>
                <a:rPr lang="zh-CN" sz="1400"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空间</a:t>
              </a:r>
              <a:endParaRPr sz="1400" b="1" i="0">
                <a:solidFill>
                  <a:srgbClr val="111111"/>
                </a:solidFill>
                <a:latin typeface="微软雅黑" panose="020B0503020204020204" charset="-122"/>
              </a:endParaRPr>
            </a:p>
            <a:p>
              <a:pPr indent="0" algn="l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5B625F"/>
                  </a:solidFill>
                  <a:latin typeface="微软雅黑" panose="020B0503020204020204" charset="-122"/>
                  <a:sym typeface="+mn-ea"/>
                </a:rPr>
                <a:t>答疑、练习、知识地图与计划；学习证据回流学生模型</a:t>
              </a:r>
              <a:endParaRPr lang="zh-CN" altLang="en-US" sz="1400" kern="0" dirty="0">
                <a:solidFill>
                  <a:schemeClr val="tx1">
                    <a:lumMod val="90000"/>
                    <a:lumOff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8" name="Rectangle 24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731372" y="4136825"/>
              <a:ext cx="1254256" cy="442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marL="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09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38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67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3996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25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>
                <a:lnSpc>
                  <a:spcPct val="120000"/>
                </a:lnSpc>
                <a:spcBef>
                  <a:spcPts val="300"/>
                </a:spcBef>
              </a:pPr>
              <a:r>
                <a:rPr lang="en-US" sz="2400" b="1">
                  <a:solidFill>
                    <a:srgbClr val="5B625F"/>
                  </a:solidFill>
                  <a:latin typeface="JetBrains Mono" panose="02010600030101010101" charset="-122"/>
                  <a:sym typeface="+mn-ea"/>
                </a:rPr>
                <a:t> </a:t>
              </a:r>
              <a:r>
                <a:rPr sz="2400" b="1">
                  <a:solidFill>
                    <a:srgbClr val="5B625F"/>
                  </a:solidFill>
                  <a:latin typeface="JetBrains Mono" panose="02010600030101010101" charset="-122"/>
                  <a:sym typeface="+mn-ea"/>
                </a:rPr>
                <a:t>LEARN</a:t>
              </a:r>
              <a:endParaRPr lang="zh-CN" altLang="en-US" sz="2400" dirty="0">
                <a:solidFill>
                  <a:srgbClr val="605E8C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9" name="组合 19"/>
          <p:cNvGrpSpPr/>
          <p:nvPr>
            <p:custDataLst>
              <p:tags r:id="rId4"/>
            </p:custDataLst>
          </p:nvPr>
        </p:nvGrpSpPr>
        <p:grpSpPr>
          <a:xfrm>
            <a:off x="7866788" y="3173221"/>
            <a:ext cx="2081488" cy="1709698"/>
            <a:chOff x="397131" y="4058085"/>
            <a:chExt cx="2081488" cy="1709698"/>
          </a:xfrm>
        </p:grpSpPr>
        <p:sp>
          <p:nvSpPr>
            <p:cNvPr id="40" name="Rectangle 2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97131" y="4475558"/>
              <a:ext cx="2081488" cy="1292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marL="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09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38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67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3996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25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defTabSz="914400">
                <a:lnSpc>
                  <a:spcPct val="150000"/>
                </a:lnSpc>
                <a:defRPr/>
              </a:pPr>
              <a:r>
                <a:rPr sz="1400"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教学</a:t>
              </a:r>
              <a:r>
                <a:rPr lang="zh-CN" sz="1400"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空间</a:t>
              </a:r>
              <a:endParaRPr sz="1400" b="1" i="0">
                <a:solidFill>
                  <a:srgbClr val="111111"/>
                </a:solidFill>
                <a:latin typeface="微软雅黑" panose="020B0503020204020204" charset="-122"/>
              </a:endParaRPr>
            </a:p>
            <a:p>
              <a:pPr algn="l" defTabSz="914400">
                <a:lnSpc>
                  <a:spcPct val="150000"/>
                </a:lnSpc>
                <a:defRPr/>
              </a:pPr>
              <a:r>
                <a:rPr sz="1400">
                  <a:solidFill>
                    <a:srgbClr val="5B625F"/>
                  </a:solidFill>
                  <a:latin typeface="微软雅黑" panose="020B0503020204020204" charset="-122"/>
                  <a:sym typeface="+mn-ea"/>
                </a:rPr>
                <a:t>建班、作业、AI 分析、教师复核、发布反馈与班级诊断</a:t>
              </a:r>
              <a:endParaRPr lang="zh-CN" altLang="en-US" sz="1400" kern="0" dirty="0">
                <a:solidFill>
                  <a:schemeClr val="tx1">
                    <a:lumMod val="90000"/>
                    <a:lumOff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1" name="Rectangle 24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97362" y="4058085"/>
              <a:ext cx="1254256" cy="3867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marL="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09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38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67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3996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25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b="1">
                  <a:solidFill>
                    <a:srgbClr val="5B625F"/>
                  </a:solidFill>
                  <a:latin typeface="JetBrains Mono" panose="02010600030101010101" charset="-122"/>
                  <a:sym typeface="+mn-ea"/>
                </a:rPr>
                <a:t>TEACH</a:t>
              </a:r>
              <a:endParaRPr lang="zh-CN" altLang="en-US" sz="2400" dirty="0">
                <a:solidFill>
                  <a:srgbClr val="605E8C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 rot="360000">
            <a:off x="4072890" y="1955165"/>
            <a:ext cx="3093720" cy="2747010"/>
            <a:chOff x="5736" y="2135"/>
            <a:chExt cx="7596" cy="6416"/>
          </a:xfrm>
        </p:grpSpPr>
        <p:sp>
          <p:nvSpPr>
            <p:cNvPr id="10" name="椭圆 9"/>
            <p:cNvSpPr/>
            <p:nvPr>
              <p:custDataLst>
                <p:tags r:id="rId7"/>
              </p:custDataLst>
            </p:nvPr>
          </p:nvSpPr>
          <p:spPr>
            <a:xfrm>
              <a:off x="6288" y="2135"/>
              <a:ext cx="6160" cy="5704"/>
            </a:xfrm>
            <a:prstGeom prst="ellipse">
              <a:avLst/>
            </a:prstGeom>
            <a:noFill/>
            <a:ln w="28575" cap="rnd" cmpd="sng">
              <a:solidFill>
                <a:schemeClr val="accent1">
                  <a:shade val="50000"/>
                </a:schemeClr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1" name="组合 10"/>
            <p:cNvGrpSpPr/>
            <p:nvPr>
              <p:custDataLst>
                <p:tags r:id="rId8"/>
              </p:custDataLst>
            </p:nvPr>
          </p:nvGrpSpPr>
          <p:grpSpPr>
            <a:xfrm>
              <a:off x="5736" y="2623"/>
              <a:ext cx="2104" cy="2104"/>
              <a:chOff x="6244" y="3595"/>
              <a:chExt cx="2104" cy="2104"/>
            </a:xfrm>
          </p:grpSpPr>
          <p:sp>
            <p:nvSpPr>
              <p:cNvPr id="12" name="Oval 4"/>
              <p:cNvSpPr/>
              <p:nvPr>
                <p:custDataLst>
                  <p:tags r:id="rId9"/>
                </p:custDataLst>
              </p:nvPr>
            </p:nvSpPr>
            <p:spPr>
              <a:xfrm>
                <a:off x="6244" y="3595"/>
                <a:ext cx="2104" cy="210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>
                  <a:solidFill>
                    <a:srgbClr val="8447A2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3" name="任意多边形 6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6924" y="4212"/>
                <a:ext cx="709" cy="869"/>
              </a:xfrm>
              <a:custGeom>
                <a:avLst/>
                <a:gdLst>
                  <a:gd name="T0" fmla="*/ 5267157 w 21543"/>
                  <a:gd name="T1" fmla="*/ 7974461 h 21368"/>
                  <a:gd name="T2" fmla="*/ 5267157 w 21543"/>
                  <a:gd name="T3" fmla="*/ 7974461 h 21368"/>
                  <a:gd name="T4" fmla="*/ 5267157 w 21543"/>
                  <a:gd name="T5" fmla="*/ 7974461 h 21368"/>
                  <a:gd name="T6" fmla="*/ 5267157 w 21543"/>
                  <a:gd name="T7" fmla="*/ 7974461 h 21368"/>
                  <a:gd name="T8" fmla="*/ 0 60000 65536"/>
                  <a:gd name="T9" fmla="*/ 5898240 60000 65536"/>
                  <a:gd name="T10" fmla="*/ 11796480 60000 65536"/>
                  <a:gd name="T11" fmla="*/ 1769472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543" h="21368" extrusionOk="0">
                    <a:moveTo>
                      <a:pt x="9210" y="17445"/>
                    </a:moveTo>
                    <a:lnTo>
                      <a:pt x="6091" y="18421"/>
                    </a:lnTo>
                    <a:cubicBezTo>
                      <a:pt x="5969" y="18459"/>
                      <a:pt x="5833" y="18428"/>
                      <a:pt x="5754" y="18344"/>
                    </a:cubicBezTo>
                    <a:cubicBezTo>
                      <a:pt x="5352" y="17930"/>
                      <a:pt x="4874" y="17519"/>
                      <a:pt x="4113" y="17070"/>
                    </a:cubicBezTo>
                    <a:cubicBezTo>
                      <a:pt x="3351" y="16622"/>
                      <a:pt x="2722" y="16380"/>
                      <a:pt x="2113" y="16197"/>
                    </a:cubicBezTo>
                    <a:cubicBezTo>
                      <a:pt x="1990" y="16160"/>
                      <a:pt x="1912" y="16066"/>
                      <a:pt x="1920" y="15959"/>
                    </a:cubicBezTo>
                    <a:lnTo>
                      <a:pt x="2107" y="13255"/>
                    </a:lnTo>
                    <a:lnTo>
                      <a:pt x="2945" y="12321"/>
                    </a:lnTo>
                    <a:cubicBezTo>
                      <a:pt x="2945" y="12321"/>
                      <a:pt x="4821" y="12112"/>
                      <a:pt x="7270" y="13556"/>
                    </a:cubicBezTo>
                    <a:cubicBezTo>
                      <a:pt x="9715" y="14998"/>
                      <a:pt x="10050" y="16510"/>
                      <a:pt x="10050" y="16510"/>
                    </a:cubicBezTo>
                    <a:cubicBezTo>
                      <a:pt x="10050" y="16510"/>
                      <a:pt x="9210" y="17445"/>
                      <a:pt x="9210" y="17445"/>
                    </a:cubicBezTo>
                    <a:close/>
                    <a:moveTo>
                      <a:pt x="17932" y="1607"/>
                    </a:moveTo>
                    <a:cubicBezTo>
                      <a:pt x="15041" y="-99"/>
                      <a:pt x="12983" y="-62"/>
                      <a:pt x="12201" y="41"/>
                    </a:cubicBezTo>
                    <a:cubicBezTo>
                      <a:pt x="11981" y="69"/>
                      <a:pt x="11796" y="172"/>
                      <a:pt x="11667" y="317"/>
                    </a:cubicBezTo>
                    <a:lnTo>
                      <a:pt x="4613" y="8201"/>
                    </a:lnTo>
                    <a:lnTo>
                      <a:pt x="1158" y="12064"/>
                    </a:lnTo>
                    <a:cubicBezTo>
                      <a:pt x="735" y="12537"/>
                      <a:pt x="491" y="13098"/>
                      <a:pt x="453" y="13681"/>
                    </a:cubicBezTo>
                    <a:lnTo>
                      <a:pt x="1" y="20638"/>
                    </a:lnTo>
                    <a:cubicBezTo>
                      <a:pt x="-31" y="21139"/>
                      <a:pt x="584" y="21501"/>
                      <a:pt x="1161" y="21322"/>
                    </a:cubicBezTo>
                    <a:lnTo>
                      <a:pt x="9186" y="18835"/>
                    </a:lnTo>
                    <a:cubicBezTo>
                      <a:pt x="9862" y="18625"/>
                      <a:pt x="10450" y="18260"/>
                      <a:pt x="10874" y="17785"/>
                    </a:cubicBezTo>
                    <a:lnTo>
                      <a:pt x="13690" y="14637"/>
                    </a:lnTo>
                    <a:lnTo>
                      <a:pt x="21378" y="6041"/>
                    </a:lnTo>
                    <a:cubicBezTo>
                      <a:pt x="21514" y="5889"/>
                      <a:pt x="21569" y="5704"/>
                      <a:pt x="21531" y="5518"/>
                    </a:cubicBezTo>
                    <a:cubicBezTo>
                      <a:pt x="21403" y="4867"/>
                      <a:pt x="20787" y="3289"/>
                      <a:pt x="17932" y="16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4" name="组合 13"/>
            <p:cNvGrpSpPr/>
            <p:nvPr>
              <p:custDataLst>
                <p:tags r:id="rId11"/>
              </p:custDataLst>
            </p:nvPr>
          </p:nvGrpSpPr>
          <p:grpSpPr>
            <a:xfrm>
              <a:off x="11228" y="3930"/>
              <a:ext cx="2104" cy="2104"/>
              <a:chOff x="10529" y="3422"/>
              <a:chExt cx="2104" cy="2104"/>
            </a:xfrm>
          </p:grpSpPr>
          <p:sp>
            <p:nvSpPr>
              <p:cNvPr id="15" name="Oval 5"/>
              <p:cNvSpPr/>
              <p:nvPr>
                <p:custDataLst>
                  <p:tags r:id="rId12"/>
                </p:custDataLst>
              </p:nvPr>
            </p:nvSpPr>
            <p:spPr>
              <a:xfrm>
                <a:off x="10529" y="3422"/>
                <a:ext cx="2104" cy="2104"/>
              </a:xfrm>
              <a:prstGeom prst="ellipse">
                <a:avLst/>
              </a:prstGeom>
              <a:solidFill>
                <a:srgbClr val="605E8C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>
                  <a:solidFill>
                    <a:srgbClr val="8447A2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任意多边形 22"/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11053" y="4123"/>
                <a:ext cx="1058" cy="702"/>
              </a:xfrm>
              <a:custGeom>
                <a:avLst/>
                <a:gdLst>
                  <a:gd name="T0" fmla="*/ 711200 w 77"/>
                  <a:gd name="T1" fmla="*/ 397529 h 51"/>
                  <a:gd name="T2" fmla="*/ 711200 w 77"/>
                  <a:gd name="T3" fmla="*/ 434509 h 51"/>
                  <a:gd name="T4" fmla="*/ 646545 w 77"/>
                  <a:gd name="T5" fmla="*/ 471488 h 51"/>
                  <a:gd name="T6" fmla="*/ 55418 w 77"/>
                  <a:gd name="T7" fmla="*/ 471488 h 51"/>
                  <a:gd name="T8" fmla="*/ 0 w 77"/>
                  <a:gd name="T9" fmla="*/ 434509 h 51"/>
                  <a:gd name="T10" fmla="*/ 0 w 77"/>
                  <a:gd name="T11" fmla="*/ 397529 h 51"/>
                  <a:gd name="T12" fmla="*/ 55418 w 77"/>
                  <a:gd name="T13" fmla="*/ 397529 h 51"/>
                  <a:gd name="T14" fmla="*/ 646545 w 77"/>
                  <a:gd name="T15" fmla="*/ 397529 h 51"/>
                  <a:gd name="T16" fmla="*/ 711200 w 77"/>
                  <a:gd name="T17" fmla="*/ 397529 h 51"/>
                  <a:gd name="T18" fmla="*/ 92364 w 77"/>
                  <a:gd name="T19" fmla="*/ 314325 h 51"/>
                  <a:gd name="T20" fmla="*/ 92364 w 77"/>
                  <a:gd name="T21" fmla="*/ 55469 h 51"/>
                  <a:gd name="T22" fmla="*/ 147782 w 77"/>
                  <a:gd name="T23" fmla="*/ 0 h 51"/>
                  <a:gd name="T24" fmla="*/ 554182 w 77"/>
                  <a:gd name="T25" fmla="*/ 0 h 51"/>
                  <a:gd name="T26" fmla="*/ 618836 w 77"/>
                  <a:gd name="T27" fmla="*/ 55469 h 51"/>
                  <a:gd name="T28" fmla="*/ 618836 w 77"/>
                  <a:gd name="T29" fmla="*/ 314325 h 51"/>
                  <a:gd name="T30" fmla="*/ 554182 w 77"/>
                  <a:gd name="T31" fmla="*/ 379039 h 51"/>
                  <a:gd name="T32" fmla="*/ 147782 w 77"/>
                  <a:gd name="T33" fmla="*/ 379039 h 51"/>
                  <a:gd name="T34" fmla="*/ 92364 w 77"/>
                  <a:gd name="T35" fmla="*/ 314325 h 51"/>
                  <a:gd name="T36" fmla="*/ 138545 w 77"/>
                  <a:gd name="T37" fmla="*/ 314325 h 51"/>
                  <a:gd name="T38" fmla="*/ 147782 w 77"/>
                  <a:gd name="T39" fmla="*/ 332815 h 51"/>
                  <a:gd name="T40" fmla="*/ 554182 w 77"/>
                  <a:gd name="T41" fmla="*/ 332815 h 51"/>
                  <a:gd name="T42" fmla="*/ 563418 w 77"/>
                  <a:gd name="T43" fmla="*/ 314325 h 51"/>
                  <a:gd name="T44" fmla="*/ 563418 w 77"/>
                  <a:gd name="T45" fmla="*/ 55469 h 51"/>
                  <a:gd name="T46" fmla="*/ 554182 w 77"/>
                  <a:gd name="T47" fmla="*/ 46224 h 51"/>
                  <a:gd name="T48" fmla="*/ 147782 w 77"/>
                  <a:gd name="T49" fmla="*/ 46224 h 51"/>
                  <a:gd name="T50" fmla="*/ 138545 w 77"/>
                  <a:gd name="T51" fmla="*/ 55469 h 51"/>
                  <a:gd name="T52" fmla="*/ 138545 w 77"/>
                  <a:gd name="T53" fmla="*/ 314325 h 51"/>
                  <a:gd name="T54" fmla="*/ 387927 w 77"/>
                  <a:gd name="T55" fmla="*/ 434509 h 51"/>
                  <a:gd name="T56" fmla="*/ 387927 w 77"/>
                  <a:gd name="T57" fmla="*/ 425264 h 51"/>
                  <a:gd name="T58" fmla="*/ 323273 w 77"/>
                  <a:gd name="T59" fmla="*/ 425264 h 51"/>
                  <a:gd name="T60" fmla="*/ 314036 w 77"/>
                  <a:gd name="T61" fmla="*/ 434509 h 51"/>
                  <a:gd name="T62" fmla="*/ 323273 w 77"/>
                  <a:gd name="T63" fmla="*/ 434509 h 51"/>
                  <a:gd name="T64" fmla="*/ 387927 w 77"/>
                  <a:gd name="T65" fmla="*/ 434509 h 51"/>
                  <a:gd name="T66" fmla="*/ 387927 w 77"/>
                  <a:gd name="T67" fmla="*/ 434509 h 5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77" h="51">
                    <a:moveTo>
                      <a:pt x="77" y="43"/>
                    </a:moveTo>
                    <a:cubicBezTo>
                      <a:pt x="77" y="47"/>
                      <a:pt x="77" y="47"/>
                      <a:pt x="77" y="47"/>
                    </a:cubicBezTo>
                    <a:cubicBezTo>
                      <a:pt x="77" y="49"/>
                      <a:pt x="74" y="51"/>
                      <a:pt x="70" y="51"/>
                    </a:cubicBezTo>
                    <a:cubicBezTo>
                      <a:pt x="6" y="51"/>
                      <a:pt x="6" y="51"/>
                      <a:pt x="6" y="51"/>
                    </a:cubicBezTo>
                    <a:cubicBezTo>
                      <a:pt x="3" y="51"/>
                      <a:pt x="0" y="49"/>
                      <a:pt x="0" y="47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70" y="43"/>
                      <a:pt x="70" y="43"/>
                      <a:pt x="70" y="43"/>
                    </a:cubicBezTo>
                    <a:lnTo>
                      <a:pt x="77" y="43"/>
                    </a:lnTo>
                    <a:close/>
                    <a:moveTo>
                      <a:pt x="10" y="34"/>
                    </a:moveTo>
                    <a:cubicBezTo>
                      <a:pt x="10" y="6"/>
                      <a:pt x="10" y="6"/>
                      <a:pt x="10" y="6"/>
                    </a:cubicBezTo>
                    <a:cubicBezTo>
                      <a:pt x="10" y="2"/>
                      <a:pt x="13" y="0"/>
                      <a:pt x="16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4" y="0"/>
                      <a:pt x="67" y="2"/>
                      <a:pt x="67" y="6"/>
                    </a:cubicBezTo>
                    <a:cubicBezTo>
                      <a:pt x="67" y="34"/>
                      <a:pt x="67" y="34"/>
                      <a:pt x="67" y="34"/>
                    </a:cubicBezTo>
                    <a:cubicBezTo>
                      <a:pt x="67" y="38"/>
                      <a:pt x="64" y="41"/>
                      <a:pt x="60" y="41"/>
                    </a:cubicBezTo>
                    <a:cubicBezTo>
                      <a:pt x="16" y="41"/>
                      <a:pt x="16" y="41"/>
                      <a:pt x="16" y="41"/>
                    </a:cubicBezTo>
                    <a:cubicBezTo>
                      <a:pt x="13" y="41"/>
                      <a:pt x="10" y="38"/>
                      <a:pt x="10" y="34"/>
                    </a:cubicBezTo>
                    <a:close/>
                    <a:moveTo>
                      <a:pt x="15" y="34"/>
                    </a:moveTo>
                    <a:cubicBezTo>
                      <a:pt x="15" y="35"/>
                      <a:pt x="16" y="36"/>
                      <a:pt x="16" y="36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61" y="36"/>
                      <a:pt x="61" y="35"/>
                      <a:pt x="61" y="34"/>
                    </a:cubicBezTo>
                    <a:cubicBezTo>
                      <a:pt x="61" y="6"/>
                      <a:pt x="61" y="6"/>
                      <a:pt x="61" y="6"/>
                    </a:cubicBezTo>
                    <a:cubicBezTo>
                      <a:pt x="61" y="5"/>
                      <a:pt x="61" y="5"/>
                      <a:pt x="60" y="5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6" y="5"/>
                      <a:pt x="15" y="5"/>
                      <a:pt x="15" y="6"/>
                    </a:cubicBezTo>
                    <a:lnTo>
                      <a:pt x="15" y="34"/>
                    </a:lnTo>
                    <a:close/>
                    <a:moveTo>
                      <a:pt x="42" y="47"/>
                    </a:moveTo>
                    <a:cubicBezTo>
                      <a:pt x="42" y="46"/>
                      <a:pt x="42" y="46"/>
                      <a:pt x="42" y="46"/>
                    </a:cubicBezTo>
                    <a:cubicBezTo>
                      <a:pt x="35" y="46"/>
                      <a:pt x="35" y="46"/>
                      <a:pt x="35" y="46"/>
                    </a:cubicBezTo>
                    <a:cubicBezTo>
                      <a:pt x="35" y="46"/>
                      <a:pt x="34" y="46"/>
                      <a:pt x="34" y="47"/>
                    </a:cubicBezTo>
                    <a:cubicBezTo>
                      <a:pt x="34" y="47"/>
                      <a:pt x="35" y="47"/>
                      <a:pt x="35" y="47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7"/>
                      <a:pt x="42" y="47"/>
                      <a:pt x="42" y="4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1" name="组合 20"/>
            <p:cNvGrpSpPr/>
            <p:nvPr>
              <p:custDataLst>
                <p:tags r:id="rId14"/>
              </p:custDataLst>
            </p:nvPr>
          </p:nvGrpSpPr>
          <p:grpSpPr>
            <a:xfrm>
              <a:off x="7812" y="6447"/>
              <a:ext cx="2104" cy="2104"/>
              <a:chOff x="7707" y="6270"/>
              <a:chExt cx="2104" cy="2104"/>
            </a:xfrm>
          </p:grpSpPr>
          <p:sp>
            <p:nvSpPr>
              <p:cNvPr id="18" name="Oval 5"/>
              <p:cNvSpPr/>
              <p:nvPr>
                <p:custDataLst>
                  <p:tags r:id="rId15"/>
                </p:custDataLst>
              </p:nvPr>
            </p:nvSpPr>
            <p:spPr>
              <a:xfrm>
                <a:off x="7707" y="6270"/>
                <a:ext cx="2104" cy="2104"/>
              </a:xfrm>
              <a:prstGeom prst="ellipse">
                <a:avLst/>
              </a:prstGeom>
              <a:solidFill>
                <a:srgbClr val="DADAE4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>
                  <a:solidFill>
                    <a:srgbClr val="8447A2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7" name="supermarket-shopping-cart_17870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8482" y="6970"/>
                <a:ext cx="694" cy="704"/>
              </a:xfrm>
              <a:custGeom>
                <a:avLst/>
                <a:gdLst>
                  <a:gd name="connsiteX0" fmla="*/ 373273 h 605239"/>
                  <a:gd name="connsiteY0" fmla="*/ 373273 h 605239"/>
                  <a:gd name="connsiteX1" fmla="*/ 373273 h 605239"/>
                  <a:gd name="connsiteY1" fmla="*/ 373273 h 605239"/>
                  <a:gd name="connsiteX2" fmla="*/ 373273 h 605239"/>
                  <a:gd name="connsiteY2" fmla="*/ 373273 h 605239"/>
                  <a:gd name="connsiteX3" fmla="*/ 373273 h 605239"/>
                  <a:gd name="connsiteY3" fmla="*/ 373273 h 605239"/>
                  <a:gd name="connsiteX4" fmla="*/ 373273 h 605239"/>
                  <a:gd name="connsiteY4" fmla="*/ 373273 h 605239"/>
                  <a:gd name="connsiteX5" fmla="*/ 373273 h 605239"/>
                  <a:gd name="connsiteY5" fmla="*/ 373273 h 605239"/>
                  <a:gd name="connsiteX6" fmla="*/ 373273 h 605239"/>
                  <a:gd name="connsiteY6" fmla="*/ 373273 h 605239"/>
                  <a:gd name="connsiteX7" fmla="*/ 373273 h 605239"/>
                  <a:gd name="connsiteY7" fmla="*/ 373273 h 605239"/>
                  <a:gd name="connsiteX8" fmla="*/ 373273 h 605239"/>
                  <a:gd name="connsiteY8" fmla="*/ 373273 h 605239"/>
                  <a:gd name="connsiteX9" fmla="*/ 373273 h 605239"/>
                  <a:gd name="connsiteY9" fmla="*/ 373273 h 605239"/>
                  <a:gd name="connsiteX10" fmla="*/ 373273 h 605239"/>
                  <a:gd name="connsiteY10" fmla="*/ 373273 h 605239"/>
                  <a:gd name="connsiteX11" fmla="*/ 373273 h 605239"/>
                  <a:gd name="connsiteY11" fmla="*/ 373273 h 605239"/>
                  <a:gd name="connsiteX12" fmla="*/ 373273 h 605239"/>
                  <a:gd name="connsiteY12" fmla="*/ 373273 h 605239"/>
                  <a:gd name="connsiteX13" fmla="*/ 373273 h 605239"/>
                  <a:gd name="connsiteY13" fmla="*/ 373273 h 605239"/>
                  <a:gd name="connsiteX14" fmla="*/ 373273 h 605239"/>
                  <a:gd name="connsiteY14" fmla="*/ 373273 h 605239"/>
                  <a:gd name="connsiteX15" fmla="*/ 373273 h 605239"/>
                  <a:gd name="connsiteY15" fmla="*/ 373273 h 605239"/>
                  <a:gd name="connsiteX16" fmla="*/ 373273 h 605239"/>
                  <a:gd name="connsiteY16" fmla="*/ 373273 h 605239"/>
                  <a:gd name="connsiteX17" fmla="*/ 373273 h 605239"/>
                  <a:gd name="connsiteY17" fmla="*/ 373273 h 605239"/>
                  <a:gd name="connsiteX18" fmla="*/ 373273 h 605239"/>
                  <a:gd name="connsiteY18" fmla="*/ 373273 h 605239"/>
                  <a:gd name="connsiteX19" fmla="*/ 373273 h 605239"/>
                  <a:gd name="connsiteY19" fmla="*/ 373273 h 605239"/>
                  <a:gd name="connsiteX20" fmla="*/ 373273 h 605239"/>
                  <a:gd name="connsiteY20" fmla="*/ 373273 h 605239"/>
                  <a:gd name="connsiteX21" fmla="*/ 373273 h 605239"/>
                  <a:gd name="connsiteY21" fmla="*/ 373273 h 605239"/>
                  <a:gd name="connsiteX22" fmla="*/ 373273 h 605239"/>
                  <a:gd name="connsiteY22" fmla="*/ 373273 h 605239"/>
                  <a:gd name="connsiteX23" fmla="*/ 373273 h 605239"/>
                  <a:gd name="connsiteY23" fmla="*/ 373273 h 605239"/>
                  <a:gd name="connsiteX24" fmla="*/ 373273 h 605239"/>
                  <a:gd name="connsiteY24" fmla="*/ 373273 h 605239"/>
                  <a:gd name="connsiteX25" fmla="*/ 373273 h 605239"/>
                  <a:gd name="connsiteY25" fmla="*/ 373273 h 605239"/>
                  <a:gd name="connsiteX26" fmla="*/ 373273 h 605239"/>
                  <a:gd name="connsiteY26" fmla="*/ 373273 h 605239"/>
                  <a:gd name="connsiteX27" fmla="*/ 373273 h 605239"/>
                  <a:gd name="connsiteY27" fmla="*/ 373273 h 605239"/>
                  <a:gd name="connsiteX28" fmla="*/ 373273 h 605239"/>
                  <a:gd name="connsiteY28" fmla="*/ 373273 h 605239"/>
                  <a:gd name="connsiteX29" fmla="*/ 373273 h 605239"/>
                  <a:gd name="connsiteY29" fmla="*/ 373273 h 605239"/>
                  <a:gd name="connsiteX30" fmla="*/ 373273 h 605239"/>
                  <a:gd name="connsiteY30" fmla="*/ 373273 h 605239"/>
                  <a:gd name="connsiteX31" fmla="*/ 373273 h 605239"/>
                  <a:gd name="connsiteY31" fmla="*/ 373273 h 605239"/>
                  <a:gd name="connsiteX32" fmla="*/ 373273 h 605239"/>
                  <a:gd name="connsiteY32" fmla="*/ 373273 h 605239"/>
                  <a:gd name="connsiteX33" fmla="*/ 373273 h 605239"/>
                  <a:gd name="connsiteY33" fmla="*/ 373273 h 605239"/>
                  <a:gd name="connsiteX34" fmla="*/ 373273 h 605239"/>
                  <a:gd name="connsiteY34" fmla="*/ 373273 h 605239"/>
                  <a:gd name="connsiteX35" fmla="*/ 373273 h 605239"/>
                  <a:gd name="connsiteY35" fmla="*/ 373273 h 605239"/>
                  <a:gd name="connsiteX36" fmla="*/ 373273 h 605239"/>
                  <a:gd name="connsiteY36" fmla="*/ 373273 h 605239"/>
                  <a:gd name="connsiteX37" fmla="*/ 373273 h 605239"/>
                  <a:gd name="connsiteY37" fmla="*/ 373273 h 605239"/>
                  <a:gd name="connsiteX38" fmla="*/ 373273 h 605239"/>
                  <a:gd name="connsiteY38" fmla="*/ 373273 h 605239"/>
                  <a:gd name="connsiteX39" fmla="*/ 373273 h 605239"/>
                  <a:gd name="connsiteY39" fmla="*/ 373273 h 605239"/>
                  <a:gd name="connsiteX40" fmla="*/ 373273 h 605239"/>
                  <a:gd name="connsiteY40" fmla="*/ 373273 h 60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578649" h="594741">
                    <a:moveTo>
                      <a:pt x="411175" y="315251"/>
                    </a:moveTo>
                    <a:cubicBezTo>
                      <a:pt x="392328" y="315251"/>
                      <a:pt x="373301" y="322420"/>
                      <a:pt x="358940" y="336757"/>
                    </a:cubicBezTo>
                    <a:cubicBezTo>
                      <a:pt x="330220" y="365432"/>
                      <a:pt x="330220" y="411311"/>
                      <a:pt x="358940" y="439986"/>
                    </a:cubicBezTo>
                    <a:cubicBezTo>
                      <a:pt x="387661" y="468660"/>
                      <a:pt x="435049" y="468660"/>
                      <a:pt x="462333" y="439986"/>
                    </a:cubicBezTo>
                    <a:cubicBezTo>
                      <a:pt x="491053" y="411311"/>
                      <a:pt x="491053" y="365432"/>
                      <a:pt x="462333" y="336757"/>
                    </a:cubicBezTo>
                    <a:cubicBezTo>
                      <a:pt x="448691" y="322420"/>
                      <a:pt x="430023" y="315251"/>
                      <a:pt x="411175" y="315251"/>
                    </a:cubicBezTo>
                    <a:close/>
                    <a:moveTo>
                      <a:pt x="410816" y="276182"/>
                    </a:moveTo>
                    <a:cubicBezTo>
                      <a:pt x="439716" y="276182"/>
                      <a:pt x="468795" y="287293"/>
                      <a:pt x="491053" y="309516"/>
                    </a:cubicBezTo>
                    <a:cubicBezTo>
                      <a:pt x="525517" y="342492"/>
                      <a:pt x="532697" y="394106"/>
                      <a:pt x="514029" y="435685"/>
                    </a:cubicBezTo>
                    <a:lnTo>
                      <a:pt x="578649" y="500203"/>
                    </a:lnTo>
                    <a:lnTo>
                      <a:pt x="522645" y="556118"/>
                    </a:lnTo>
                    <a:lnTo>
                      <a:pt x="458025" y="491600"/>
                    </a:lnTo>
                    <a:cubicBezTo>
                      <a:pt x="416381" y="510239"/>
                      <a:pt x="366121" y="503070"/>
                      <a:pt x="331656" y="468660"/>
                    </a:cubicBezTo>
                    <a:cubicBezTo>
                      <a:pt x="287140" y="424215"/>
                      <a:pt x="287140" y="352528"/>
                      <a:pt x="331656" y="309516"/>
                    </a:cubicBezTo>
                    <a:cubicBezTo>
                      <a:pt x="353197" y="287293"/>
                      <a:pt x="381917" y="276182"/>
                      <a:pt x="410816" y="276182"/>
                    </a:cubicBezTo>
                    <a:close/>
                    <a:moveTo>
                      <a:pt x="134949" y="20001"/>
                    </a:moveTo>
                    <a:lnTo>
                      <a:pt x="134949" y="144835"/>
                    </a:lnTo>
                    <a:lnTo>
                      <a:pt x="17242" y="144835"/>
                    </a:lnTo>
                    <a:close/>
                    <a:moveTo>
                      <a:pt x="172278" y="0"/>
                    </a:moveTo>
                    <a:lnTo>
                      <a:pt x="480943" y="0"/>
                    </a:lnTo>
                    <a:lnTo>
                      <a:pt x="480943" y="276591"/>
                    </a:lnTo>
                    <a:cubicBezTo>
                      <a:pt x="460844" y="263693"/>
                      <a:pt x="436438" y="256527"/>
                      <a:pt x="410596" y="256527"/>
                    </a:cubicBezTo>
                    <a:cubicBezTo>
                      <a:pt x="381883" y="256527"/>
                      <a:pt x="354606" y="265126"/>
                      <a:pt x="331636" y="282323"/>
                    </a:cubicBezTo>
                    <a:lnTo>
                      <a:pt x="81832" y="282323"/>
                    </a:lnTo>
                    <a:lnTo>
                      <a:pt x="81832" y="322450"/>
                    </a:lnTo>
                    <a:lnTo>
                      <a:pt x="295744" y="322450"/>
                    </a:lnTo>
                    <a:cubicBezTo>
                      <a:pt x="288566" y="335348"/>
                      <a:pt x="282823" y="351112"/>
                      <a:pt x="279952" y="366877"/>
                    </a:cubicBezTo>
                    <a:lnTo>
                      <a:pt x="81832" y="366877"/>
                    </a:lnTo>
                    <a:lnTo>
                      <a:pt x="81832" y="407004"/>
                    </a:lnTo>
                    <a:lnTo>
                      <a:pt x="279952" y="407004"/>
                    </a:lnTo>
                    <a:cubicBezTo>
                      <a:pt x="281388" y="422768"/>
                      <a:pt x="287130" y="438532"/>
                      <a:pt x="294309" y="451430"/>
                    </a:cubicBezTo>
                    <a:lnTo>
                      <a:pt x="81832" y="451430"/>
                    </a:lnTo>
                    <a:lnTo>
                      <a:pt x="81832" y="491557"/>
                    </a:lnTo>
                    <a:lnTo>
                      <a:pt x="327329" y="491557"/>
                    </a:lnTo>
                    <a:cubicBezTo>
                      <a:pt x="350299" y="511621"/>
                      <a:pt x="380448" y="521653"/>
                      <a:pt x="410596" y="521653"/>
                    </a:cubicBezTo>
                    <a:cubicBezTo>
                      <a:pt x="424953" y="521653"/>
                      <a:pt x="439309" y="518786"/>
                      <a:pt x="453666" y="514487"/>
                    </a:cubicBezTo>
                    <a:lnTo>
                      <a:pt x="480943" y="543149"/>
                    </a:lnTo>
                    <a:lnTo>
                      <a:pt x="480943" y="594741"/>
                    </a:lnTo>
                    <a:lnTo>
                      <a:pt x="0" y="594741"/>
                    </a:lnTo>
                    <a:lnTo>
                      <a:pt x="0" y="180572"/>
                    </a:lnTo>
                    <a:lnTo>
                      <a:pt x="172278" y="18057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>
                <a:normAutofit fontScale="6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25" name="文本框 24"/>
          <p:cNvSpPr txBox="1"/>
          <p:nvPr/>
        </p:nvSpPr>
        <p:spPr>
          <a:xfrm>
            <a:off x="892810" y="240030"/>
            <a:ext cx="38741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03 / WORKSPACE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三类角色，一条证据回路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28" name="Rectangle 24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3638550" y="4735195"/>
            <a:ext cx="1468120" cy="386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0965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3865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6765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99665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565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5B625F"/>
                </a:solidFill>
                <a:latin typeface="JetBrains Mono" panose="02010600030101010101" charset="-122"/>
                <a:sym typeface="+mn-ea"/>
              </a:rPr>
              <a:t>RESEARCH</a:t>
            </a:r>
            <a:endParaRPr lang="zh-CN" altLang="en-US" sz="2400" dirty="0">
              <a:solidFill>
                <a:srgbClr val="605E8C"/>
              </a:solidFill>
              <a:cs typeface="+mn-ea"/>
              <a:sym typeface="+mn-lt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3568700" y="5121910"/>
            <a:ext cx="3126105" cy="1060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defTabSz="914400">
              <a:lnSpc>
                <a:spcPct val="150000"/>
              </a:lnSpc>
              <a:defRPr/>
            </a:pPr>
            <a:r>
              <a:rPr sz="1400" b="1">
                <a:solidFill>
                  <a:srgbClr val="111111"/>
                </a:solidFill>
                <a:latin typeface="微软雅黑" panose="020B0503020204020204" charset="-122"/>
                <a:sym typeface="+mn-ea"/>
              </a:rPr>
              <a:t>科研</a:t>
            </a:r>
            <a:r>
              <a:rPr lang="zh-CN" sz="1400" b="1">
                <a:solidFill>
                  <a:srgbClr val="111111"/>
                </a:solidFill>
                <a:latin typeface="微软雅黑" panose="020B0503020204020204" charset="-122"/>
                <a:sym typeface="+mn-ea"/>
              </a:rPr>
              <a:t>空间</a:t>
            </a:r>
            <a:endParaRPr sz="1400" b="1" i="0">
              <a:solidFill>
                <a:srgbClr val="111111"/>
              </a:solidFill>
              <a:latin typeface="微软雅黑" panose="020B0503020204020204" charset="-122"/>
            </a:endParaRPr>
          </a:p>
          <a:p>
            <a:pPr algn="l" defTabSz="914400">
              <a:lnSpc>
                <a:spcPct val="150000"/>
              </a:lnSpc>
              <a:defRPr/>
            </a:pPr>
            <a:r>
              <a:rPr sz="1400" i="0">
                <a:solidFill>
                  <a:srgbClr val="5B625F"/>
                </a:solidFill>
                <a:latin typeface="微软雅黑" panose="020B0503020204020204" charset="-122"/>
              </a:rPr>
              <a:t>项目资料、前沿追踪、写作与数据分析，以项目为资源边界</a:t>
            </a:r>
            <a:endParaRPr sz="1400" i="0">
              <a:solidFill>
                <a:srgbClr val="5B625F"/>
              </a:solidFill>
              <a:latin typeface="微软雅黑" panose="020B0503020204020204" charset="-122"/>
            </a:endParaRPr>
          </a:p>
        </p:txBody>
      </p:sp>
      <p:sp>
        <p:nvSpPr>
          <p:cNvPr id="46" name="TextBox 6"/>
          <p:cNvSpPr txBox="1"/>
          <p:nvPr/>
        </p:nvSpPr>
        <p:spPr>
          <a:xfrm>
            <a:off x="3021330" y="1343025"/>
            <a:ext cx="8286750" cy="3676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微软雅黑" panose="020B0503020204020204" charset="-122"/>
              </a:rPr>
              <a:t>通用问答能给答案，却很难留下下一次学习、教学或科研行动所需的证据。</a:t>
            </a:r>
            <a:r>
              <a:rPr lang="zh-CN" sz="20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微软雅黑" panose="020B0503020204020204" charset="-122"/>
                <a:sym typeface="+mn-ea"/>
              </a:rPr>
              <a:t/>
            </a:r>
            <a:r>
              <a:rPr lang="zh-CN" sz="2000" b="1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微软雅黑" panose="020B0503020204020204" charset="-122"/>
                <a:sym typeface="+mn-ea"/>
              </a:rPr>
              <a:t/>
            </a:r>
            <a:r>
              <a:rPr lang="zh-CN" sz="2000" b="1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微软雅黑" panose="020B0503020204020204" charset="-122"/>
                <a:sym typeface="+mn-ea"/>
              </a:rPr>
              <a:t/>
            </a:r>
            <a:r>
              <a:rPr lang="zh-CN" sz="2000" b="1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/>
            </a:r>
            <a:endParaRPr lang="zh-CN" altLang="en-US" sz="2000" b="1">
              <a:solidFill>
                <a:schemeClr val="bg1"/>
              </a:solidFill>
              <a:latin typeface="微软雅黑" panose="020B0503020204020204" charset="-122"/>
              <a:sym typeface="+mn-ea"/>
            </a:endParaRPr>
          </a:p>
        </p:txBody>
      </p:sp>
    </p:spTree>
    <p:custDataLst>
      <p:tags r:id="rId18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45" grpId="0"/>
      <p:bldP spid="28" grpId="1"/>
      <p:bldP spid="45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92810" y="240030"/>
            <a:ext cx="4902835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04 /  PRODUCT SURFACE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进入一个平台，完成三种任务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l">
              <a:lnSpc>
                <a:spcPct val="150000"/>
              </a:lnSpc>
            </a:pP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part.01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" name="Oval 19"/>
          <p:cNvSpPr/>
          <p:nvPr/>
        </p:nvSpPr>
        <p:spPr>
          <a:xfrm>
            <a:off x="788035" y="1638996"/>
            <a:ext cx="4069019" cy="4069019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3" name="Oval 20"/>
          <p:cNvSpPr/>
          <p:nvPr/>
        </p:nvSpPr>
        <p:spPr>
          <a:xfrm>
            <a:off x="788035" y="2317167"/>
            <a:ext cx="3390849" cy="3390848"/>
          </a:xfrm>
          <a:prstGeom prst="ellipse">
            <a:avLst/>
          </a:prstGeom>
          <a:solidFill>
            <a:schemeClr val="bg1">
              <a:lumMod val="85000"/>
              <a:alpha val="38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8" name="Oval 21"/>
          <p:cNvSpPr/>
          <p:nvPr/>
        </p:nvSpPr>
        <p:spPr>
          <a:xfrm>
            <a:off x="788035" y="2995335"/>
            <a:ext cx="2712680" cy="271268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9" name="Oval 22"/>
          <p:cNvSpPr/>
          <p:nvPr/>
        </p:nvSpPr>
        <p:spPr>
          <a:xfrm>
            <a:off x="788035" y="3673505"/>
            <a:ext cx="2034510" cy="2034510"/>
          </a:xfrm>
          <a:prstGeom prst="ellipse">
            <a:avLst/>
          </a:prstGeom>
          <a:solidFill>
            <a:srgbClr val="605E8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cxnSp>
        <p:nvCxnSpPr>
          <p:cNvPr id="10" name="Straight Arrow Connector 24"/>
          <p:cNvCxnSpPr/>
          <p:nvPr/>
        </p:nvCxnSpPr>
        <p:spPr>
          <a:xfrm>
            <a:off x="3361605" y="4285001"/>
            <a:ext cx="2631007" cy="0"/>
          </a:xfrm>
          <a:prstGeom prst="straightConnector1">
            <a:avLst/>
          </a:prstGeom>
          <a:ln w="44450">
            <a:solidFill>
              <a:schemeClr val="bg1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25"/>
          <p:cNvCxnSpPr/>
          <p:nvPr/>
        </p:nvCxnSpPr>
        <p:spPr>
          <a:xfrm>
            <a:off x="2401079" y="5237143"/>
            <a:ext cx="3591533" cy="0"/>
          </a:xfrm>
          <a:prstGeom prst="straightConnector1">
            <a:avLst/>
          </a:prstGeom>
          <a:ln w="44450">
            <a:solidFill>
              <a:srgbClr val="605E8C"/>
            </a:solidFill>
            <a:tailEnd type="oval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26"/>
          <p:cNvCxnSpPr/>
          <p:nvPr/>
        </p:nvCxnSpPr>
        <p:spPr>
          <a:xfrm>
            <a:off x="4238608" y="2380719"/>
            <a:ext cx="1754004" cy="0"/>
          </a:xfrm>
          <a:prstGeom prst="straightConnector1">
            <a:avLst/>
          </a:prstGeom>
          <a:ln w="44450">
            <a:solidFill>
              <a:schemeClr val="bg1">
                <a:lumMod val="9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27"/>
          <p:cNvCxnSpPr/>
          <p:nvPr/>
        </p:nvCxnSpPr>
        <p:spPr>
          <a:xfrm>
            <a:off x="3904511" y="3332860"/>
            <a:ext cx="2088101" cy="0"/>
          </a:xfrm>
          <a:prstGeom prst="straightConnector1">
            <a:avLst/>
          </a:prstGeom>
          <a:ln w="44450">
            <a:solidFill>
              <a:schemeClr val="bg1">
                <a:lumMod val="8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>
            <p:custDataLst>
              <p:tags r:id="rId1"/>
            </p:custDataLst>
          </p:nvPr>
        </p:nvGrpSpPr>
        <p:grpSpPr>
          <a:xfrm>
            <a:off x="6156151" y="2075919"/>
            <a:ext cx="5572125" cy="774700"/>
            <a:chOff x="6028516" y="2362304"/>
            <a:chExt cx="5572125" cy="774700"/>
          </a:xfrm>
        </p:grpSpPr>
        <p:sp>
          <p:nvSpPr>
            <p:cNvPr id="23" name="Rectangle 30"/>
            <p:cNvSpPr/>
            <p:nvPr>
              <p:custDataLst>
                <p:tags r:id="rId2"/>
              </p:custDataLst>
            </p:nvPr>
          </p:nvSpPr>
          <p:spPr bwMode="auto">
            <a:xfrm>
              <a:off x="6028516" y="2749654"/>
              <a:ext cx="5572125" cy="387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400" b="1" dirty="0">
                  <a:latin typeface="方正楷体_GBK" panose="02000000000000000000" charset="-122"/>
                  <a:ea typeface="方正楷体_GBK" panose="02000000000000000000" charset="-122"/>
                  <a:cs typeface="方正楷体_GBK" panose="02000000000000000000" charset="-122"/>
                  <a:sym typeface="+mn-lt"/>
                </a:rPr>
                <a:t>SSE 多轮对话、Markdown/LaTeX、练习、知识地图与个性化学习计划</a:t>
              </a:r>
              <a:endParaRPr lang="zh-CN" altLang="en-US" sz="1400" dirty="0"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  <a:sym typeface="+mn-lt"/>
              </a:endParaRPr>
            </a:p>
            <a:p>
              <a:pPr>
                <a:lnSpc>
                  <a:spcPct val="150000"/>
                </a:lnSpc>
                <a:spcBef>
                  <a:spcPct val="0"/>
                </a:spcBef>
              </a:pPr>
              <a:endParaRPr lang="zh-CN" altLang="en-US" sz="1400" dirty="0"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  <a:sym typeface="+mn-lt"/>
              </a:endParaRPr>
            </a:p>
          </p:txBody>
        </p:sp>
        <p:sp>
          <p:nvSpPr>
            <p:cNvPr id="24" name="TextBox 31"/>
            <p:cNvSpPr txBox="1"/>
            <p:nvPr>
              <p:custDataLst>
                <p:tags r:id="rId3"/>
              </p:custDataLst>
            </p:nvPr>
          </p:nvSpPr>
          <p:spPr bwMode="auto">
            <a:xfrm>
              <a:off x="6028516" y="2362304"/>
              <a:ext cx="5490384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 fontScale="9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cs typeface="+mn-ea"/>
                  <a:sym typeface="+mn-lt"/>
                </a:rPr>
                <a:t>学习助手</a:t>
              </a:r>
              <a:endParaRPr lang="zh-CN" altLang="en-US" sz="2000" dirty="0">
                <a:cs typeface="+mn-ea"/>
                <a:sym typeface="+mn-lt"/>
              </a:endParaRPr>
            </a:p>
          </p:txBody>
        </p:sp>
      </p:grpSp>
      <p:grpSp>
        <p:nvGrpSpPr>
          <p:cNvPr id="35" name="组合 34"/>
          <p:cNvGrpSpPr/>
          <p:nvPr>
            <p:custDataLst>
              <p:tags r:id="rId4"/>
            </p:custDataLst>
          </p:nvPr>
        </p:nvGrpSpPr>
        <p:grpSpPr>
          <a:xfrm>
            <a:off x="6156151" y="3028060"/>
            <a:ext cx="5490384" cy="775197"/>
            <a:chOff x="6028516" y="3314445"/>
            <a:chExt cx="5490384" cy="775197"/>
          </a:xfrm>
        </p:grpSpPr>
        <p:sp>
          <p:nvSpPr>
            <p:cNvPr id="21" name="Rectangle 30"/>
            <p:cNvSpPr/>
            <p:nvPr>
              <p:custDataLst>
                <p:tags r:id="rId5"/>
              </p:custDataLst>
            </p:nvPr>
          </p:nvSpPr>
          <p:spPr bwMode="auto">
            <a:xfrm>
              <a:off x="6028516" y="3702044"/>
              <a:ext cx="5490384" cy="387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400" b="1" dirty="0">
                  <a:latin typeface="方正楷体_GBK" panose="02000000000000000000" charset="-122"/>
                  <a:ea typeface="方正楷体_GBK" panose="02000000000000000000" charset="-122"/>
                  <a:cs typeface="方正楷体_GBK" panose="02000000000000000000" charset="-122"/>
                  <a:sym typeface="+mn-ea"/>
                </a:rPr>
                <a:t>建班、邀请、作业、提交、AI 分析、复核、发布和班级诊断</a:t>
              </a:r>
              <a:endParaRPr lang="en-US" altLang="zh-CN" sz="1400" b="1" dirty="0"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  <a:sym typeface="+mn-lt"/>
              </a:endParaRPr>
            </a:p>
          </p:txBody>
        </p:sp>
        <p:sp>
          <p:nvSpPr>
            <p:cNvPr id="22" name="TextBox 31"/>
            <p:cNvSpPr txBox="1"/>
            <p:nvPr>
              <p:custDataLst>
                <p:tags r:id="rId6"/>
              </p:custDataLst>
            </p:nvPr>
          </p:nvSpPr>
          <p:spPr bwMode="auto">
            <a:xfrm>
              <a:off x="6028516" y="3314445"/>
              <a:ext cx="5490384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 fontScale="9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cs typeface="+mn-ea"/>
                  <a:sym typeface="+mn-lt"/>
                </a:rPr>
                <a:t>教学工作台</a:t>
              </a:r>
              <a:endParaRPr lang="zh-CN" altLang="en-US" sz="2000" dirty="0">
                <a:cs typeface="+mn-ea"/>
                <a:sym typeface="+mn-lt"/>
              </a:endParaRPr>
            </a:p>
          </p:txBody>
        </p:sp>
      </p:grpSp>
      <p:grpSp>
        <p:nvGrpSpPr>
          <p:cNvPr id="34" name="组合 33"/>
          <p:cNvGrpSpPr/>
          <p:nvPr>
            <p:custDataLst>
              <p:tags r:id="rId7"/>
            </p:custDataLst>
          </p:nvPr>
        </p:nvGrpSpPr>
        <p:grpSpPr>
          <a:xfrm>
            <a:off x="6156151" y="3980201"/>
            <a:ext cx="5490384" cy="775197"/>
            <a:chOff x="6028516" y="4266586"/>
            <a:chExt cx="5490384" cy="775197"/>
          </a:xfrm>
        </p:grpSpPr>
        <p:sp>
          <p:nvSpPr>
            <p:cNvPr id="19" name="Rectangle 30"/>
            <p:cNvSpPr/>
            <p:nvPr>
              <p:custDataLst>
                <p:tags r:id="rId8"/>
              </p:custDataLst>
            </p:nvPr>
          </p:nvSpPr>
          <p:spPr bwMode="auto">
            <a:xfrm>
              <a:off x="6028516" y="4654185"/>
              <a:ext cx="5490384" cy="387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400" b="1" dirty="0">
                  <a:latin typeface="方正楷体_GBK" panose="02000000000000000000" charset="-122"/>
                  <a:ea typeface="方正楷体_GBK" panose="02000000000000000000" charset="-122"/>
                  <a:cs typeface="方正楷体_GBK" panose="02000000000000000000" charset="-122"/>
                  <a:sym typeface="+mn-ea"/>
                </a:rPr>
                <a:t>项目、文献、附件、前沿、写作任务和数据分析任务</a:t>
              </a:r>
              <a:endParaRPr lang="en-US" altLang="zh-CN" sz="1400" b="1" dirty="0"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  <a:sym typeface="+mn-lt"/>
              </a:endParaRPr>
            </a:p>
          </p:txBody>
        </p:sp>
        <p:sp>
          <p:nvSpPr>
            <p:cNvPr id="20" name="TextBox 31"/>
            <p:cNvSpPr txBox="1"/>
            <p:nvPr>
              <p:custDataLst>
                <p:tags r:id="rId9"/>
              </p:custDataLst>
            </p:nvPr>
          </p:nvSpPr>
          <p:spPr bwMode="auto">
            <a:xfrm>
              <a:off x="6028516" y="4266586"/>
              <a:ext cx="5490384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 fontScale="9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cs typeface="+mn-ea"/>
                  <a:sym typeface="+mn-lt"/>
                </a:rPr>
                <a:t>科研空间</a:t>
              </a:r>
              <a:endParaRPr lang="zh-CN" altLang="en-US" sz="2000" dirty="0">
                <a:cs typeface="+mn-ea"/>
                <a:sym typeface="+mn-lt"/>
              </a:endParaRPr>
            </a:p>
          </p:txBody>
        </p:sp>
      </p:grpSp>
      <p:grpSp>
        <p:nvGrpSpPr>
          <p:cNvPr id="33" name="组合 32"/>
          <p:cNvGrpSpPr/>
          <p:nvPr>
            <p:custDataLst>
              <p:tags r:id="rId10"/>
            </p:custDataLst>
          </p:nvPr>
        </p:nvGrpSpPr>
        <p:grpSpPr>
          <a:xfrm>
            <a:off x="6156151" y="4844713"/>
            <a:ext cx="5490384" cy="775197"/>
            <a:chOff x="6028516" y="5218728"/>
            <a:chExt cx="5490384" cy="775197"/>
          </a:xfrm>
        </p:grpSpPr>
        <p:sp>
          <p:nvSpPr>
            <p:cNvPr id="17" name="Rectangle 30"/>
            <p:cNvSpPr/>
            <p:nvPr>
              <p:custDataLst>
                <p:tags r:id="rId11"/>
              </p:custDataLst>
            </p:nvPr>
          </p:nvSpPr>
          <p:spPr bwMode="auto">
            <a:xfrm>
              <a:off x="6028516" y="5606327"/>
              <a:ext cx="5490384" cy="387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 fontScale="900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400" b="1" dirty="0">
                  <a:latin typeface="方正楷体_GBK" panose="02000000000000000000" charset="-122"/>
                  <a:ea typeface="方正楷体_GBK" panose="02000000000000000000" charset="-122"/>
                  <a:cs typeface="方正楷体_GBK" panose="02000000000000000000" charset="-122"/>
                  <a:sym typeface="+mn-lt"/>
                </a:rPr>
                <a:t>课程图谱、附件上传/预览、DocIR/RAG；运行开关以部署环境为准</a:t>
              </a:r>
              <a:endParaRPr lang="en-US" altLang="zh-CN" sz="1400" b="1" dirty="0"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  <a:sym typeface="+mn-lt"/>
              </a:endParaRPr>
            </a:p>
          </p:txBody>
        </p:sp>
        <p:sp>
          <p:nvSpPr>
            <p:cNvPr id="18" name="TextBox 31"/>
            <p:cNvSpPr txBox="1"/>
            <p:nvPr>
              <p:custDataLst>
                <p:tags r:id="rId12"/>
              </p:custDataLst>
            </p:nvPr>
          </p:nvSpPr>
          <p:spPr bwMode="auto">
            <a:xfrm>
              <a:off x="6028516" y="5218728"/>
              <a:ext cx="5490384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 fontScale="9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cs typeface="+mn-ea"/>
                  <a:sym typeface="+mn-lt"/>
                </a:rPr>
                <a:t>知识与附件</a:t>
              </a:r>
              <a:endParaRPr lang="zh-CN" altLang="en-US" sz="2000" dirty="0">
                <a:cs typeface="+mn-ea"/>
                <a:sym typeface="+mn-lt"/>
              </a:endParaRPr>
            </a:p>
          </p:txBody>
        </p:sp>
      </p:grpSp>
      <p:cxnSp>
        <p:nvCxnSpPr>
          <p:cNvPr id="14" name="直接连接符 13"/>
          <p:cNvCxnSpPr/>
          <p:nvPr>
            <p:custDataLst>
              <p:tags r:id="rId13"/>
            </p:custDataLst>
          </p:nvPr>
        </p:nvCxnSpPr>
        <p:spPr>
          <a:xfrm>
            <a:off x="6272330" y="3891729"/>
            <a:ext cx="5321739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14"/>
            </p:custDataLst>
          </p:nvPr>
        </p:nvCxnSpPr>
        <p:spPr>
          <a:xfrm>
            <a:off x="6272330" y="4843870"/>
            <a:ext cx="5321739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>
            <p:custDataLst>
              <p:tags r:id="rId15"/>
            </p:custDataLst>
          </p:nvPr>
        </p:nvCxnSpPr>
        <p:spPr>
          <a:xfrm>
            <a:off x="6272330" y="2939588"/>
            <a:ext cx="5321739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upermarket-shopping-cart_17870"/>
          <p:cNvSpPr>
            <a:spLocks noChangeAspect="1"/>
          </p:cNvSpPr>
          <p:nvPr/>
        </p:nvSpPr>
        <p:spPr bwMode="auto">
          <a:xfrm>
            <a:off x="3071735" y="2772709"/>
            <a:ext cx="404208" cy="401906"/>
          </a:xfrm>
          <a:custGeom>
            <a:avLst/>
            <a:gdLst>
              <a:gd name="T0" fmla="*/ 3682 w 4808"/>
              <a:gd name="T1" fmla="*/ 2763 h 4789"/>
              <a:gd name="T2" fmla="*/ 3420 w 4808"/>
              <a:gd name="T3" fmla="*/ 2703 h 4789"/>
              <a:gd name="T4" fmla="*/ 3026 w 4808"/>
              <a:gd name="T5" fmla="*/ 2392 h 4789"/>
              <a:gd name="T6" fmla="*/ 2818 w 4808"/>
              <a:gd name="T7" fmla="*/ 2517 h 4789"/>
              <a:gd name="T8" fmla="*/ 3219 w 4808"/>
              <a:gd name="T9" fmla="*/ 1876 h 4789"/>
              <a:gd name="T10" fmla="*/ 3609 w 4808"/>
              <a:gd name="T11" fmla="*/ 1953 h 4789"/>
              <a:gd name="T12" fmla="*/ 4553 w 4808"/>
              <a:gd name="T13" fmla="*/ 720 h 4789"/>
              <a:gd name="T14" fmla="*/ 4388 w 4808"/>
              <a:gd name="T15" fmla="*/ 680 h 4789"/>
              <a:gd name="T16" fmla="*/ 3872 w 4808"/>
              <a:gd name="T17" fmla="*/ 1161 h 4789"/>
              <a:gd name="T18" fmla="*/ 3859 w 4808"/>
              <a:gd name="T19" fmla="*/ 1160 h 4789"/>
              <a:gd name="T20" fmla="*/ 3491 w 4808"/>
              <a:gd name="T21" fmla="*/ 1099 h 4789"/>
              <a:gd name="T22" fmla="*/ 3432 w 4808"/>
              <a:gd name="T23" fmla="*/ 731 h 4789"/>
              <a:gd name="T24" fmla="*/ 3454 w 4808"/>
              <a:gd name="T25" fmla="*/ 658 h 4789"/>
              <a:gd name="T26" fmla="*/ 3938 w 4808"/>
              <a:gd name="T27" fmla="*/ 104 h 4789"/>
              <a:gd name="T28" fmla="*/ 3609 w 4808"/>
              <a:gd name="T29" fmla="*/ 0 h 4789"/>
              <a:gd name="T30" fmla="*/ 2710 w 4808"/>
              <a:gd name="T31" fmla="*/ 1369 h 4789"/>
              <a:gd name="T32" fmla="*/ 1300 w 4808"/>
              <a:gd name="T33" fmla="*/ 999 h 4789"/>
              <a:gd name="T34" fmla="*/ 1309 w 4808"/>
              <a:gd name="T35" fmla="*/ 892 h 4789"/>
              <a:gd name="T36" fmla="*/ 865 w 4808"/>
              <a:gd name="T37" fmla="*/ 294 h 4789"/>
              <a:gd name="T38" fmla="*/ 665 w 4808"/>
              <a:gd name="T39" fmla="*/ 298 h 4789"/>
              <a:gd name="T40" fmla="*/ 278 w 4808"/>
              <a:gd name="T41" fmla="*/ 787 h 4789"/>
              <a:gd name="T42" fmla="*/ 630 w 4808"/>
              <a:gd name="T43" fmla="*/ 1163 h 4789"/>
              <a:gd name="T44" fmla="*/ 926 w 4808"/>
              <a:gd name="T45" fmla="*/ 1291 h 4789"/>
              <a:gd name="T46" fmla="*/ 1018 w 4808"/>
              <a:gd name="T47" fmla="*/ 1282 h 4789"/>
              <a:gd name="T48" fmla="*/ 1485 w 4808"/>
              <a:gd name="T49" fmla="*/ 2594 h 4789"/>
              <a:gd name="T50" fmla="*/ 1037 w 4808"/>
              <a:gd name="T51" fmla="*/ 2572 h 4789"/>
              <a:gd name="T52" fmla="*/ 92 w 4808"/>
              <a:gd name="T53" fmla="*/ 3809 h 4789"/>
              <a:gd name="T54" fmla="*/ 186 w 4808"/>
              <a:gd name="T55" fmla="*/ 3882 h 4789"/>
              <a:gd name="T56" fmla="*/ 727 w 4808"/>
              <a:gd name="T57" fmla="*/ 3384 h 4789"/>
              <a:gd name="T58" fmla="*/ 789 w 4808"/>
              <a:gd name="T59" fmla="*/ 3371 h 4789"/>
              <a:gd name="T60" fmla="*/ 796 w 4808"/>
              <a:gd name="T61" fmla="*/ 3372 h 4789"/>
              <a:gd name="T62" fmla="*/ 1218 w 4808"/>
              <a:gd name="T63" fmla="*/ 3798 h 4789"/>
              <a:gd name="T64" fmla="*/ 1192 w 4808"/>
              <a:gd name="T65" fmla="*/ 3873 h 4789"/>
              <a:gd name="T66" fmla="*/ 707 w 4808"/>
              <a:gd name="T67" fmla="*/ 4427 h 4789"/>
              <a:gd name="T68" fmla="*/ 1037 w 4808"/>
              <a:gd name="T69" fmla="*/ 4531 h 4789"/>
              <a:gd name="T70" fmla="*/ 2016 w 4808"/>
              <a:gd name="T71" fmla="*/ 3551 h 4789"/>
              <a:gd name="T72" fmla="*/ 1994 w 4808"/>
              <a:gd name="T73" fmla="*/ 3103 h 4789"/>
              <a:gd name="T74" fmla="*/ 2535 w 4808"/>
              <a:gd name="T75" fmla="*/ 2799 h 4789"/>
              <a:gd name="T76" fmla="*/ 2410 w 4808"/>
              <a:gd name="T77" fmla="*/ 3007 h 4789"/>
              <a:gd name="T78" fmla="*/ 2721 w 4808"/>
              <a:gd name="T79" fmla="*/ 3401 h 4789"/>
              <a:gd name="T80" fmla="*/ 2781 w 4808"/>
              <a:gd name="T81" fmla="*/ 3663 h 4789"/>
              <a:gd name="T82" fmla="*/ 4013 w 4808"/>
              <a:gd name="T83" fmla="*/ 4789 h 4789"/>
              <a:gd name="T84" fmla="*/ 4734 w 4808"/>
              <a:gd name="T85" fmla="*/ 4173 h 4789"/>
              <a:gd name="T86" fmla="*/ 4734 w 4808"/>
              <a:gd name="T87" fmla="*/ 3815 h 47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808" h="4789">
                <a:moveTo>
                  <a:pt x="4734" y="3815"/>
                </a:moveTo>
                <a:lnTo>
                  <a:pt x="3682" y="2763"/>
                </a:lnTo>
                <a:cubicBezTo>
                  <a:pt x="3634" y="2715"/>
                  <a:pt x="3570" y="2689"/>
                  <a:pt x="3502" y="2689"/>
                </a:cubicBezTo>
                <a:cubicBezTo>
                  <a:pt x="3474" y="2689"/>
                  <a:pt x="3446" y="2694"/>
                  <a:pt x="3420" y="2703"/>
                </a:cubicBezTo>
                <a:lnTo>
                  <a:pt x="3167" y="2450"/>
                </a:lnTo>
                <a:cubicBezTo>
                  <a:pt x="3130" y="2413"/>
                  <a:pt x="3079" y="2392"/>
                  <a:pt x="3026" y="2392"/>
                </a:cubicBezTo>
                <a:cubicBezTo>
                  <a:pt x="2972" y="2392"/>
                  <a:pt x="2922" y="2413"/>
                  <a:pt x="2884" y="2450"/>
                </a:cubicBezTo>
                <a:lnTo>
                  <a:pt x="2818" y="2517"/>
                </a:lnTo>
                <a:lnTo>
                  <a:pt x="2699" y="2398"/>
                </a:lnTo>
                <a:lnTo>
                  <a:pt x="3219" y="1876"/>
                </a:lnTo>
                <a:cubicBezTo>
                  <a:pt x="3340" y="1928"/>
                  <a:pt x="3472" y="1953"/>
                  <a:pt x="3609" y="1953"/>
                </a:cubicBezTo>
                <a:lnTo>
                  <a:pt x="3609" y="1953"/>
                </a:lnTo>
                <a:cubicBezTo>
                  <a:pt x="3870" y="1953"/>
                  <a:pt x="4116" y="1854"/>
                  <a:pt x="4301" y="1669"/>
                </a:cubicBezTo>
                <a:cubicBezTo>
                  <a:pt x="4549" y="1421"/>
                  <a:pt x="4646" y="1059"/>
                  <a:pt x="4553" y="720"/>
                </a:cubicBezTo>
                <a:cubicBezTo>
                  <a:pt x="4542" y="678"/>
                  <a:pt x="4502" y="648"/>
                  <a:pt x="4459" y="648"/>
                </a:cubicBezTo>
                <a:cubicBezTo>
                  <a:pt x="4441" y="648"/>
                  <a:pt x="4413" y="654"/>
                  <a:pt x="4388" y="680"/>
                </a:cubicBezTo>
                <a:cubicBezTo>
                  <a:pt x="4384" y="683"/>
                  <a:pt x="4034" y="1030"/>
                  <a:pt x="3918" y="1146"/>
                </a:cubicBezTo>
                <a:cubicBezTo>
                  <a:pt x="3906" y="1159"/>
                  <a:pt x="3885" y="1161"/>
                  <a:pt x="3872" y="1161"/>
                </a:cubicBezTo>
                <a:cubicBezTo>
                  <a:pt x="3864" y="1161"/>
                  <a:pt x="3859" y="1160"/>
                  <a:pt x="3859" y="1160"/>
                </a:cubicBezTo>
                <a:lnTo>
                  <a:pt x="3859" y="1160"/>
                </a:lnTo>
                <a:lnTo>
                  <a:pt x="3851" y="1159"/>
                </a:lnTo>
                <a:cubicBezTo>
                  <a:pt x="3707" y="1146"/>
                  <a:pt x="3535" y="1119"/>
                  <a:pt x="3491" y="1099"/>
                </a:cubicBezTo>
                <a:cubicBezTo>
                  <a:pt x="3470" y="1055"/>
                  <a:pt x="3445" y="879"/>
                  <a:pt x="3432" y="733"/>
                </a:cubicBezTo>
                <a:lnTo>
                  <a:pt x="3432" y="731"/>
                </a:lnTo>
                <a:lnTo>
                  <a:pt x="3429" y="727"/>
                </a:lnTo>
                <a:cubicBezTo>
                  <a:pt x="3428" y="720"/>
                  <a:pt x="3425" y="687"/>
                  <a:pt x="3454" y="658"/>
                </a:cubicBezTo>
                <a:cubicBezTo>
                  <a:pt x="3574" y="538"/>
                  <a:pt x="3905" y="204"/>
                  <a:pt x="3908" y="201"/>
                </a:cubicBezTo>
                <a:cubicBezTo>
                  <a:pt x="3936" y="173"/>
                  <a:pt x="3947" y="138"/>
                  <a:pt x="3938" y="104"/>
                </a:cubicBezTo>
                <a:cubicBezTo>
                  <a:pt x="3927" y="64"/>
                  <a:pt x="3893" y="42"/>
                  <a:pt x="3865" y="34"/>
                </a:cubicBezTo>
                <a:cubicBezTo>
                  <a:pt x="3782" y="11"/>
                  <a:pt x="3695" y="0"/>
                  <a:pt x="3609" y="0"/>
                </a:cubicBezTo>
                <a:cubicBezTo>
                  <a:pt x="3347" y="0"/>
                  <a:pt x="3101" y="102"/>
                  <a:pt x="2916" y="287"/>
                </a:cubicBezTo>
                <a:cubicBezTo>
                  <a:pt x="2624" y="579"/>
                  <a:pt x="2555" y="1011"/>
                  <a:pt x="2710" y="1369"/>
                </a:cubicBezTo>
                <a:lnTo>
                  <a:pt x="2190" y="1889"/>
                </a:lnTo>
                <a:lnTo>
                  <a:pt x="1300" y="999"/>
                </a:lnTo>
                <a:cubicBezTo>
                  <a:pt x="1300" y="998"/>
                  <a:pt x="1299" y="998"/>
                  <a:pt x="1299" y="997"/>
                </a:cubicBezTo>
                <a:cubicBezTo>
                  <a:pt x="1307" y="963"/>
                  <a:pt x="1311" y="928"/>
                  <a:pt x="1309" y="892"/>
                </a:cubicBezTo>
                <a:cubicBezTo>
                  <a:pt x="1305" y="788"/>
                  <a:pt x="1260" y="689"/>
                  <a:pt x="1182" y="611"/>
                </a:cubicBezTo>
                <a:lnTo>
                  <a:pt x="865" y="294"/>
                </a:lnTo>
                <a:cubicBezTo>
                  <a:pt x="858" y="288"/>
                  <a:pt x="821" y="253"/>
                  <a:pt x="766" y="253"/>
                </a:cubicBezTo>
                <a:cubicBezTo>
                  <a:pt x="740" y="253"/>
                  <a:pt x="702" y="261"/>
                  <a:pt x="665" y="298"/>
                </a:cubicBezTo>
                <a:lnTo>
                  <a:pt x="318" y="645"/>
                </a:lnTo>
                <a:cubicBezTo>
                  <a:pt x="277" y="685"/>
                  <a:pt x="263" y="737"/>
                  <a:pt x="278" y="787"/>
                </a:cubicBezTo>
                <a:cubicBezTo>
                  <a:pt x="288" y="820"/>
                  <a:pt x="308" y="842"/>
                  <a:pt x="314" y="848"/>
                </a:cubicBezTo>
                <a:lnTo>
                  <a:pt x="630" y="1163"/>
                </a:lnTo>
                <a:cubicBezTo>
                  <a:pt x="712" y="1246"/>
                  <a:pt x="817" y="1291"/>
                  <a:pt x="926" y="1291"/>
                </a:cubicBezTo>
                <a:lnTo>
                  <a:pt x="926" y="1291"/>
                </a:lnTo>
                <a:cubicBezTo>
                  <a:pt x="957" y="1291"/>
                  <a:pt x="987" y="1287"/>
                  <a:pt x="1016" y="1280"/>
                </a:cubicBezTo>
                <a:cubicBezTo>
                  <a:pt x="1017" y="1281"/>
                  <a:pt x="1017" y="1281"/>
                  <a:pt x="1018" y="1282"/>
                </a:cubicBezTo>
                <a:lnTo>
                  <a:pt x="1907" y="2171"/>
                </a:lnTo>
                <a:lnTo>
                  <a:pt x="1485" y="2594"/>
                </a:lnTo>
                <a:cubicBezTo>
                  <a:pt x="1466" y="2613"/>
                  <a:pt x="1449" y="2634"/>
                  <a:pt x="1435" y="2656"/>
                </a:cubicBezTo>
                <a:cubicBezTo>
                  <a:pt x="1311" y="2601"/>
                  <a:pt x="1176" y="2572"/>
                  <a:pt x="1037" y="2572"/>
                </a:cubicBezTo>
                <a:cubicBezTo>
                  <a:pt x="775" y="2572"/>
                  <a:pt x="529" y="2674"/>
                  <a:pt x="344" y="2859"/>
                </a:cubicBezTo>
                <a:cubicBezTo>
                  <a:pt x="96" y="3106"/>
                  <a:pt x="0" y="3471"/>
                  <a:pt x="92" y="3809"/>
                </a:cubicBezTo>
                <a:cubicBezTo>
                  <a:pt x="103" y="3852"/>
                  <a:pt x="143" y="3882"/>
                  <a:pt x="186" y="3882"/>
                </a:cubicBezTo>
                <a:lnTo>
                  <a:pt x="186" y="3882"/>
                </a:lnTo>
                <a:cubicBezTo>
                  <a:pt x="204" y="3882"/>
                  <a:pt x="232" y="3877"/>
                  <a:pt x="258" y="3851"/>
                </a:cubicBezTo>
                <a:cubicBezTo>
                  <a:pt x="261" y="3847"/>
                  <a:pt x="611" y="3500"/>
                  <a:pt x="727" y="3384"/>
                </a:cubicBezTo>
                <a:cubicBezTo>
                  <a:pt x="740" y="3372"/>
                  <a:pt x="762" y="3370"/>
                  <a:pt x="774" y="3370"/>
                </a:cubicBezTo>
                <a:cubicBezTo>
                  <a:pt x="783" y="3370"/>
                  <a:pt x="789" y="3371"/>
                  <a:pt x="789" y="3371"/>
                </a:cubicBezTo>
                <a:lnTo>
                  <a:pt x="789" y="3371"/>
                </a:lnTo>
                <a:lnTo>
                  <a:pt x="796" y="3372"/>
                </a:lnTo>
                <a:cubicBezTo>
                  <a:pt x="940" y="3385"/>
                  <a:pt x="1113" y="3411"/>
                  <a:pt x="1157" y="3431"/>
                </a:cubicBezTo>
                <a:cubicBezTo>
                  <a:pt x="1178" y="3475"/>
                  <a:pt x="1205" y="3652"/>
                  <a:pt x="1218" y="3798"/>
                </a:cubicBezTo>
                <a:lnTo>
                  <a:pt x="1219" y="3805"/>
                </a:lnTo>
                <a:cubicBezTo>
                  <a:pt x="1219" y="3805"/>
                  <a:pt x="1223" y="3842"/>
                  <a:pt x="1192" y="3873"/>
                </a:cubicBezTo>
                <a:cubicBezTo>
                  <a:pt x="1072" y="3993"/>
                  <a:pt x="741" y="4327"/>
                  <a:pt x="738" y="4330"/>
                </a:cubicBezTo>
                <a:cubicBezTo>
                  <a:pt x="710" y="4358"/>
                  <a:pt x="699" y="4393"/>
                  <a:pt x="707" y="4427"/>
                </a:cubicBezTo>
                <a:cubicBezTo>
                  <a:pt x="718" y="4467"/>
                  <a:pt x="752" y="4489"/>
                  <a:pt x="780" y="4497"/>
                </a:cubicBezTo>
                <a:cubicBezTo>
                  <a:pt x="864" y="4519"/>
                  <a:pt x="950" y="4531"/>
                  <a:pt x="1037" y="4531"/>
                </a:cubicBezTo>
                <a:cubicBezTo>
                  <a:pt x="1298" y="4531"/>
                  <a:pt x="1544" y="4429"/>
                  <a:pt x="1729" y="4244"/>
                </a:cubicBezTo>
                <a:cubicBezTo>
                  <a:pt x="1914" y="4059"/>
                  <a:pt x="2016" y="3813"/>
                  <a:pt x="2016" y="3551"/>
                </a:cubicBezTo>
                <a:cubicBezTo>
                  <a:pt x="2016" y="3412"/>
                  <a:pt x="1987" y="3277"/>
                  <a:pt x="1932" y="3153"/>
                </a:cubicBezTo>
                <a:cubicBezTo>
                  <a:pt x="1954" y="3139"/>
                  <a:pt x="1975" y="3122"/>
                  <a:pt x="1994" y="3103"/>
                </a:cubicBezTo>
                <a:lnTo>
                  <a:pt x="2417" y="2681"/>
                </a:lnTo>
                <a:lnTo>
                  <a:pt x="2535" y="2799"/>
                </a:lnTo>
                <a:lnTo>
                  <a:pt x="2469" y="2866"/>
                </a:lnTo>
                <a:cubicBezTo>
                  <a:pt x="2431" y="2904"/>
                  <a:pt x="2410" y="2954"/>
                  <a:pt x="2410" y="3007"/>
                </a:cubicBezTo>
                <a:cubicBezTo>
                  <a:pt x="2410" y="3061"/>
                  <a:pt x="2431" y="3111"/>
                  <a:pt x="2469" y="3149"/>
                </a:cubicBezTo>
                <a:lnTo>
                  <a:pt x="2721" y="3401"/>
                </a:lnTo>
                <a:cubicBezTo>
                  <a:pt x="2712" y="3427"/>
                  <a:pt x="2707" y="3455"/>
                  <a:pt x="2707" y="3484"/>
                </a:cubicBezTo>
                <a:cubicBezTo>
                  <a:pt x="2707" y="3552"/>
                  <a:pt x="2734" y="3615"/>
                  <a:pt x="2781" y="3663"/>
                </a:cubicBezTo>
                <a:lnTo>
                  <a:pt x="3834" y="4715"/>
                </a:lnTo>
                <a:cubicBezTo>
                  <a:pt x="3881" y="4763"/>
                  <a:pt x="3945" y="4789"/>
                  <a:pt x="4013" y="4789"/>
                </a:cubicBezTo>
                <a:cubicBezTo>
                  <a:pt x="4081" y="4789"/>
                  <a:pt x="4144" y="4763"/>
                  <a:pt x="4192" y="4715"/>
                </a:cubicBezTo>
                <a:lnTo>
                  <a:pt x="4734" y="4173"/>
                </a:lnTo>
                <a:cubicBezTo>
                  <a:pt x="4782" y="4126"/>
                  <a:pt x="4808" y="4062"/>
                  <a:pt x="4808" y="3994"/>
                </a:cubicBezTo>
                <a:cubicBezTo>
                  <a:pt x="4808" y="3926"/>
                  <a:pt x="4782" y="3863"/>
                  <a:pt x="4734" y="3815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supermarket-shopping-cart_17870"/>
          <p:cNvSpPr/>
          <p:nvPr/>
        </p:nvSpPr>
        <p:spPr bwMode="auto">
          <a:xfrm>
            <a:off x="1581446" y="4467255"/>
            <a:ext cx="447688" cy="447010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578649" h="594741">
                <a:moveTo>
                  <a:pt x="411175" y="315251"/>
                </a:moveTo>
                <a:cubicBezTo>
                  <a:pt x="392328" y="315251"/>
                  <a:pt x="373301" y="322420"/>
                  <a:pt x="358940" y="336757"/>
                </a:cubicBezTo>
                <a:cubicBezTo>
                  <a:pt x="330220" y="365432"/>
                  <a:pt x="330220" y="411311"/>
                  <a:pt x="358940" y="439986"/>
                </a:cubicBezTo>
                <a:cubicBezTo>
                  <a:pt x="387661" y="468660"/>
                  <a:pt x="435049" y="468660"/>
                  <a:pt x="462333" y="439986"/>
                </a:cubicBezTo>
                <a:cubicBezTo>
                  <a:pt x="491053" y="411311"/>
                  <a:pt x="491053" y="365432"/>
                  <a:pt x="462333" y="336757"/>
                </a:cubicBezTo>
                <a:cubicBezTo>
                  <a:pt x="448691" y="322420"/>
                  <a:pt x="430023" y="315251"/>
                  <a:pt x="411175" y="315251"/>
                </a:cubicBezTo>
                <a:close/>
                <a:moveTo>
                  <a:pt x="410816" y="276182"/>
                </a:moveTo>
                <a:cubicBezTo>
                  <a:pt x="439716" y="276182"/>
                  <a:pt x="468795" y="287293"/>
                  <a:pt x="491053" y="309516"/>
                </a:cubicBezTo>
                <a:cubicBezTo>
                  <a:pt x="525517" y="342492"/>
                  <a:pt x="532697" y="394106"/>
                  <a:pt x="514029" y="435685"/>
                </a:cubicBezTo>
                <a:lnTo>
                  <a:pt x="578649" y="500203"/>
                </a:lnTo>
                <a:lnTo>
                  <a:pt x="522645" y="556118"/>
                </a:lnTo>
                <a:lnTo>
                  <a:pt x="458025" y="491600"/>
                </a:lnTo>
                <a:cubicBezTo>
                  <a:pt x="416381" y="510239"/>
                  <a:pt x="366121" y="503070"/>
                  <a:pt x="331656" y="468660"/>
                </a:cubicBezTo>
                <a:cubicBezTo>
                  <a:pt x="287140" y="424215"/>
                  <a:pt x="287140" y="352528"/>
                  <a:pt x="331656" y="309516"/>
                </a:cubicBezTo>
                <a:cubicBezTo>
                  <a:pt x="353197" y="287293"/>
                  <a:pt x="381917" y="276182"/>
                  <a:pt x="410816" y="276182"/>
                </a:cubicBezTo>
                <a:close/>
                <a:moveTo>
                  <a:pt x="134949" y="20001"/>
                </a:moveTo>
                <a:lnTo>
                  <a:pt x="134949" y="144835"/>
                </a:lnTo>
                <a:lnTo>
                  <a:pt x="17242" y="144835"/>
                </a:lnTo>
                <a:close/>
                <a:moveTo>
                  <a:pt x="172278" y="0"/>
                </a:moveTo>
                <a:lnTo>
                  <a:pt x="480943" y="0"/>
                </a:lnTo>
                <a:lnTo>
                  <a:pt x="480943" y="276591"/>
                </a:lnTo>
                <a:cubicBezTo>
                  <a:pt x="460844" y="263693"/>
                  <a:pt x="436438" y="256527"/>
                  <a:pt x="410596" y="256527"/>
                </a:cubicBezTo>
                <a:cubicBezTo>
                  <a:pt x="381883" y="256527"/>
                  <a:pt x="354606" y="265126"/>
                  <a:pt x="331636" y="282323"/>
                </a:cubicBezTo>
                <a:lnTo>
                  <a:pt x="81832" y="282323"/>
                </a:lnTo>
                <a:lnTo>
                  <a:pt x="81832" y="322450"/>
                </a:lnTo>
                <a:lnTo>
                  <a:pt x="295744" y="322450"/>
                </a:lnTo>
                <a:cubicBezTo>
                  <a:pt x="288566" y="335348"/>
                  <a:pt x="282823" y="351112"/>
                  <a:pt x="279952" y="366877"/>
                </a:cubicBezTo>
                <a:lnTo>
                  <a:pt x="81832" y="366877"/>
                </a:lnTo>
                <a:lnTo>
                  <a:pt x="81832" y="407004"/>
                </a:lnTo>
                <a:lnTo>
                  <a:pt x="279952" y="407004"/>
                </a:lnTo>
                <a:cubicBezTo>
                  <a:pt x="281388" y="422768"/>
                  <a:pt x="287130" y="438532"/>
                  <a:pt x="294309" y="451430"/>
                </a:cubicBezTo>
                <a:lnTo>
                  <a:pt x="81832" y="451430"/>
                </a:lnTo>
                <a:lnTo>
                  <a:pt x="81832" y="491557"/>
                </a:lnTo>
                <a:lnTo>
                  <a:pt x="327329" y="491557"/>
                </a:lnTo>
                <a:cubicBezTo>
                  <a:pt x="350299" y="511621"/>
                  <a:pt x="380448" y="521653"/>
                  <a:pt x="410596" y="521653"/>
                </a:cubicBezTo>
                <a:cubicBezTo>
                  <a:pt x="424953" y="521653"/>
                  <a:pt x="439309" y="518786"/>
                  <a:pt x="453666" y="514487"/>
                </a:cubicBezTo>
                <a:lnTo>
                  <a:pt x="480943" y="543149"/>
                </a:lnTo>
                <a:lnTo>
                  <a:pt x="480943" y="594741"/>
                </a:lnTo>
                <a:lnTo>
                  <a:pt x="0" y="594741"/>
                </a:lnTo>
                <a:lnTo>
                  <a:pt x="0" y="180572"/>
                </a:lnTo>
                <a:lnTo>
                  <a:pt x="172278" y="1805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8" name="Freeform 20"/>
          <p:cNvSpPr/>
          <p:nvPr/>
        </p:nvSpPr>
        <p:spPr>
          <a:xfrm>
            <a:off x="2544239" y="3375545"/>
            <a:ext cx="437838" cy="382208"/>
          </a:xfrm>
          <a:custGeom>
            <a:avLst/>
            <a:gdLst>
              <a:gd name="connsiteX0" fmla="*/ 424975 w 608697"/>
              <a:gd name="connsiteY0" fmla="*/ 168488 h 531358"/>
              <a:gd name="connsiteX1" fmla="*/ 387604 w 608697"/>
              <a:gd name="connsiteY1" fmla="*/ 205806 h 531358"/>
              <a:gd name="connsiteX2" fmla="*/ 424975 w 608697"/>
              <a:gd name="connsiteY2" fmla="*/ 243124 h 531358"/>
              <a:gd name="connsiteX3" fmla="*/ 462346 w 608697"/>
              <a:gd name="connsiteY3" fmla="*/ 205806 h 531358"/>
              <a:gd name="connsiteX4" fmla="*/ 424975 w 608697"/>
              <a:gd name="connsiteY4" fmla="*/ 168488 h 531358"/>
              <a:gd name="connsiteX5" fmla="*/ 287947 w 608697"/>
              <a:gd name="connsiteY5" fmla="*/ 168488 h 531358"/>
              <a:gd name="connsiteX6" fmla="*/ 250576 w 608697"/>
              <a:gd name="connsiteY6" fmla="*/ 205806 h 531358"/>
              <a:gd name="connsiteX7" fmla="*/ 287947 w 608697"/>
              <a:gd name="connsiteY7" fmla="*/ 243124 h 531358"/>
              <a:gd name="connsiteX8" fmla="*/ 325318 w 608697"/>
              <a:gd name="connsiteY8" fmla="*/ 205806 h 531358"/>
              <a:gd name="connsiteX9" fmla="*/ 287947 w 608697"/>
              <a:gd name="connsiteY9" fmla="*/ 168488 h 531358"/>
              <a:gd name="connsiteX10" fmla="*/ 102356 w 608697"/>
              <a:gd name="connsiteY10" fmla="*/ 121231 h 531358"/>
              <a:gd name="connsiteX11" fmla="*/ 98850 w 608697"/>
              <a:gd name="connsiteY11" fmla="*/ 127711 h 531358"/>
              <a:gd name="connsiteX12" fmla="*/ 76842 w 608697"/>
              <a:gd name="connsiteY12" fmla="*/ 217990 h 531358"/>
              <a:gd name="connsiteX13" fmla="*/ 98850 w 608697"/>
              <a:gd name="connsiteY13" fmla="*/ 308194 h 531358"/>
              <a:gd name="connsiteX14" fmla="*/ 157488 w 608697"/>
              <a:gd name="connsiteY14" fmla="*/ 380223 h 531358"/>
              <a:gd name="connsiteX15" fmla="*/ 344668 w 608697"/>
              <a:gd name="connsiteY15" fmla="*/ 444729 h 531358"/>
              <a:gd name="connsiteX16" fmla="*/ 370257 w 608697"/>
              <a:gd name="connsiteY16" fmla="*/ 443687 h 531358"/>
              <a:gd name="connsiteX17" fmla="*/ 236717 w 608697"/>
              <a:gd name="connsiteY17" fmla="*/ 477876 h 531358"/>
              <a:gd name="connsiteX18" fmla="*/ 198072 w 608697"/>
              <a:gd name="connsiteY18" fmla="*/ 475344 h 531358"/>
              <a:gd name="connsiteX19" fmla="*/ 82437 w 608697"/>
              <a:gd name="connsiteY19" fmla="*/ 531284 h 531358"/>
              <a:gd name="connsiteX20" fmla="*/ 81542 w 608697"/>
              <a:gd name="connsiteY20" fmla="*/ 531358 h 531358"/>
              <a:gd name="connsiteX21" fmla="*/ 75051 w 608697"/>
              <a:gd name="connsiteY21" fmla="*/ 527857 h 531358"/>
              <a:gd name="connsiteX22" fmla="*/ 74753 w 608697"/>
              <a:gd name="connsiteY22" fmla="*/ 519738 h 531358"/>
              <a:gd name="connsiteX23" fmla="*/ 88778 w 608697"/>
              <a:gd name="connsiteY23" fmla="*/ 435046 h 531358"/>
              <a:gd name="connsiteX24" fmla="*/ 0 w 608697"/>
              <a:gd name="connsiteY24" fmla="*/ 282198 h 531358"/>
              <a:gd name="connsiteX25" fmla="*/ 102356 w 608697"/>
              <a:gd name="connsiteY25" fmla="*/ 121231 h 531358"/>
              <a:gd name="connsiteX26" fmla="*/ 356424 w 608697"/>
              <a:gd name="connsiteY26" fmla="*/ 0 h 531358"/>
              <a:gd name="connsiteX27" fmla="*/ 608697 w 608697"/>
              <a:gd name="connsiteY27" fmla="*/ 211244 h 531358"/>
              <a:gd name="connsiteX28" fmla="*/ 518290 w 608697"/>
              <a:gd name="connsiteY28" fmla="*/ 373401 h 531358"/>
              <a:gd name="connsiteX29" fmla="*/ 531941 w 608697"/>
              <a:gd name="connsiteY29" fmla="*/ 441109 h 531358"/>
              <a:gd name="connsiteX30" fmla="*/ 531120 w 608697"/>
              <a:gd name="connsiteY30" fmla="*/ 465391 h 531358"/>
              <a:gd name="connsiteX31" fmla="*/ 511577 w 608697"/>
              <a:gd name="connsiteY31" fmla="*/ 475894 h 531358"/>
              <a:gd name="connsiteX32" fmla="*/ 509041 w 608697"/>
              <a:gd name="connsiteY32" fmla="*/ 475745 h 531358"/>
              <a:gd name="connsiteX33" fmla="*/ 391408 w 608697"/>
              <a:gd name="connsiteY33" fmla="*/ 420476 h 531358"/>
              <a:gd name="connsiteX34" fmla="*/ 356424 w 608697"/>
              <a:gd name="connsiteY34" fmla="*/ 422487 h 531358"/>
              <a:gd name="connsiteX35" fmla="*/ 104225 w 608697"/>
              <a:gd name="connsiteY35" fmla="*/ 211244 h 531358"/>
              <a:gd name="connsiteX36" fmla="*/ 356424 w 608697"/>
              <a:gd name="connsiteY36" fmla="*/ 0 h 531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8697" h="531358">
                <a:moveTo>
                  <a:pt x="424975" y="168488"/>
                </a:moveTo>
                <a:cubicBezTo>
                  <a:pt x="404312" y="168488"/>
                  <a:pt x="387604" y="185248"/>
                  <a:pt x="387604" y="205806"/>
                </a:cubicBezTo>
                <a:cubicBezTo>
                  <a:pt x="387604" y="226439"/>
                  <a:pt x="404312" y="243124"/>
                  <a:pt x="424975" y="243124"/>
                </a:cubicBezTo>
                <a:cubicBezTo>
                  <a:pt x="445562" y="243124"/>
                  <a:pt x="462346" y="226439"/>
                  <a:pt x="462346" y="205806"/>
                </a:cubicBezTo>
                <a:cubicBezTo>
                  <a:pt x="462346" y="185248"/>
                  <a:pt x="445637" y="168488"/>
                  <a:pt x="424975" y="168488"/>
                </a:cubicBezTo>
                <a:close/>
                <a:moveTo>
                  <a:pt x="287947" y="168488"/>
                </a:moveTo>
                <a:cubicBezTo>
                  <a:pt x="267285" y="168488"/>
                  <a:pt x="250576" y="185248"/>
                  <a:pt x="250576" y="205806"/>
                </a:cubicBezTo>
                <a:cubicBezTo>
                  <a:pt x="250576" y="226439"/>
                  <a:pt x="267285" y="243124"/>
                  <a:pt x="287947" y="243124"/>
                </a:cubicBezTo>
                <a:cubicBezTo>
                  <a:pt x="308610" y="243124"/>
                  <a:pt x="325318" y="226439"/>
                  <a:pt x="325318" y="205806"/>
                </a:cubicBezTo>
                <a:cubicBezTo>
                  <a:pt x="325318" y="185248"/>
                  <a:pt x="308610" y="168488"/>
                  <a:pt x="287947" y="168488"/>
                </a:cubicBezTo>
                <a:close/>
                <a:moveTo>
                  <a:pt x="102356" y="121231"/>
                </a:moveTo>
                <a:cubicBezTo>
                  <a:pt x="101162" y="123317"/>
                  <a:pt x="99969" y="125477"/>
                  <a:pt x="98850" y="127711"/>
                </a:cubicBezTo>
                <a:cubicBezTo>
                  <a:pt x="84227" y="156240"/>
                  <a:pt x="76842" y="186631"/>
                  <a:pt x="76842" y="217990"/>
                </a:cubicBezTo>
                <a:cubicBezTo>
                  <a:pt x="76842" y="249275"/>
                  <a:pt x="84227" y="279666"/>
                  <a:pt x="98850" y="308194"/>
                </a:cubicBezTo>
                <a:cubicBezTo>
                  <a:pt x="112726" y="335308"/>
                  <a:pt x="132496" y="359516"/>
                  <a:pt x="157488" y="380223"/>
                </a:cubicBezTo>
                <a:cubicBezTo>
                  <a:pt x="207845" y="421787"/>
                  <a:pt x="274317" y="444729"/>
                  <a:pt x="344668" y="444729"/>
                </a:cubicBezTo>
                <a:cubicBezTo>
                  <a:pt x="353173" y="444729"/>
                  <a:pt x="361752" y="444357"/>
                  <a:pt x="370257" y="443687"/>
                </a:cubicBezTo>
                <a:cubicBezTo>
                  <a:pt x="332209" y="465288"/>
                  <a:pt x="286254" y="477876"/>
                  <a:pt x="236717" y="477876"/>
                </a:cubicBezTo>
                <a:cubicBezTo>
                  <a:pt x="223736" y="477876"/>
                  <a:pt x="210755" y="477057"/>
                  <a:pt x="198072" y="475344"/>
                </a:cubicBezTo>
                <a:cubicBezTo>
                  <a:pt x="160397" y="499478"/>
                  <a:pt x="110637" y="528155"/>
                  <a:pt x="82437" y="531284"/>
                </a:cubicBezTo>
                <a:cubicBezTo>
                  <a:pt x="82138" y="531358"/>
                  <a:pt x="81840" y="531358"/>
                  <a:pt x="81542" y="531358"/>
                </a:cubicBezTo>
                <a:cubicBezTo>
                  <a:pt x="78930" y="531358"/>
                  <a:pt x="76469" y="530017"/>
                  <a:pt x="75051" y="527857"/>
                </a:cubicBezTo>
                <a:cubicBezTo>
                  <a:pt x="73410" y="525399"/>
                  <a:pt x="73335" y="522271"/>
                  <a:pt x="74753" y="519738"/>
                </a:cubicBezTo>
                <a:cubicBezTo>
                  <a:pt x="75051" y="519291"/>
                  <a:pt x="99223" y="476014"/>
                  <a:pt x="88778" y="435046"/>
                </a:cubicBezTo>
                <a:cubicBezTo>
                  <a:pt x="32303" y="397653"/>
                  <a:pt x="0" y="342160"/>
                  <a:pt x="0" y="282198"/>
                </a:cubicBezTo>
                <a:cubicBezTo>
                  <a:pt x="0" y="215532"/>
                  <a:pt x="40584" y="156538"/>
                  <a:pt x="102356" y="121231"/>
                </a:cubicBezTo>
                <a:close/>
                <a:moveTo>
                  <a:pt x="356424" y="0"/>
                </a:moveTo>
                <a:cubicBezTo>
                  <a:pt x="495540" y="0"/>
                  <a:pt x="608697" y="94747"/>
                  <a:pt x="608697" y="211244"/>
                </a:cubicBezTo>
                <a:cubicBezTo>
                  <a:pt x="608697" y="274408"/>
                  <a:pt x="575802" y="333178"/>
                  <a:pt x="518290" y="373401"/>
                </a:cubicBezTo>
                <a:cubicBezTo>
                  <a:pt x="512845" y="406324"/>
                  <a:pt x="531717" y="440811"/>
                  <a:pt x="531941" y="441109"/>
                </a:cubicBezTo>
                <a:cubicBezTo>
                  <a:pt x="536267" y="448781"/>
                  <a:pt x="535969" y="458092"/>
                  <a:pt x="531120" y="465391"/>
                </a:cubicBezTo>
                <a:cubicBezTo>
                  <a:pt x="526794" y="472021"/>
                  <a:pt x="519484" y="475894"/>
                  <a:pt x="511577" y="475894"/>
                </a:cubicBezTo>
                <a:cubicBezTo>
                  <a:pt x="510756" y="475894"/>
                  <a:pt x="509936" y="475894"/>
                  <a:pt x="509041" y="475745"/>
                </a:cubicBezTo>
                <a:cubicBezTo>
                  <a:pt x="484574" y="473064"/>
                  <a:pt x="444966" y="454442"/>
                  <a:pt x="391408" y="420476"/>
                </a:cubicBezTo>
                <a:cubicBezTo>
                  <a:pt x="379920" y="421817"/>
                  <a:pt x="368135" y="422487"/>
                  <a:pt x="356424" y="422487"/>
                </a:cubicBezTo>
                <a:cubicBezTo>
                  <a:pt x="217382" y="422487"/>
                  <a:pt x="104225" y="327741"/>
                  <a:pt x="104225" y="211244"/>
                </a:cubicBezTo>
                <a:cubicBezTo>
                  <a:pt x="104225" y="94747"/>
                  <a:pt x="217382" y="0"/>
                  <a:pt x="356424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rmAutofit fontScale="97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200" kern="1200">
              <a:cs typeface="+mn-ea"/>
              <a:sym typeface="+mn-lt"/>
            </a:endParaRPr>
          </a:p>
        </p:txBody>
      </p:sp>
      <p:sp>
        <p:nvSpPr>
          <p:cNvPr id="29" name="Freeform 20"/>
          <p:cNvSpPr/>
          <p:nvPr/>
        </p:nvSpPr>
        <p:spPr>
          <a:xfrm>
            <a:off x="3615621" y="2181528"/>
            <a:ext cx="441780" cy="398382"/>
          </a:xfrm>
          <a:custGeom>
            <a:avLst/>
            <a:gdLst>
              <a:gd name="connsiteX0" fmla="*/ 521432 w 608344"/>
              <a:gd name="connsiteY0" fmla="*/ 370453 h 548582"/>
              <a:gd name="connsiteX1" fmla="*/ 465737 w 608344"/>
              <a:gd name="connsiteY1" fmla="*/ 425787 h 548582"/>
              <a:gd name="connsiteX2" fmla="*/ 442491 w 608344"/>
              <a:gd name="connsiteY2" fmla="*/ 402479 h 548582"/>
              <a:gd name="connsiteX3" fmla="*/ 418201 w 608344"/>
              <a:gd name="connsiteY3" fmla="*/ 426545 h 548582"/>
              <a:gd name="connsiteX4" fmla="*/ 441447 w 608344"/>
              <a:gd name="connsiteY4" fmla="*/ 449948 h 548582"/>
              <a:gd name="connsiteX5" fmla="*/ 465642 w 608344"/>
              <a:gd name="connsiteY5" fmla="*/ 474204 h 548582"/>
              <a:gd name="connsiteX6" fmla="*/ 489932 w 608344"/>
              <a:gd name="connsiteY6" fmla="*/ 450043 h 548582"/>
              <a:gd name="connsiteX7" fmla="*/ 545532 w 608344"/>
              <a:gd name="connsiteY7" fmla="*/ 394709 h 548582"/>
              <a:gd name="connsiteX8" fmla="*/ 481962 w 608344"/>
              <a:gd name="connsiteY8" fmla="*/ 296170 h 548582"/>
              <a:gd name="connsiteX9" fmla="*/ 608344 w 608344"/>
              <a:gd name="connsiteY9" fmla="*/ 422376 h 548582"/>
              <a:gd name="connsiteX10" fmla="*/ 481962 w 608344"/>
              <a:gd name="connsiteY10" fmla="*/ 548582 h 548582"/>
              <a:gd name="connsiteX11" fmla="*/ 355579 w 608344"/>
              <a:gd name="connsiteY11" fmla="*/ 422376 h 548582"/>
              <a:gd name="connsiteX12" fmla="*/ 481962 w 608344"/>
              <a:gd name="connsiteY12" fmla="*/ 296170 h 548582"/>
              <a:gd name="connsiteX13" fmla="*/ 255835 w 608344"/>
              <a:gd name="connsiteY13" fmla="*/ 446 h 548582"/>
              <a:gd name="connsiteX14" fmla="*/ 317801 w 608344"/>
              <a:gd name="connsiteY14" fmla="*/ 13616 h 548582"/>
              <a:gd name="connsiteX15" fmla="*/ 348072 w 608344"/>
              <a:gd name="connsiteY15" fmla="*/ 41661 h 548582"/>
              <a:gd name="connsiteX16" fmla="*/ 381190 w 608344"/>
              <a:gd name="connsiteY16" fmla="*/ 146831 h 548582"/>
              <a:gd name="connsiteX17" fmla="*/ 378913 w 608344"/>
              <a:gd name="connsiteY17" fmla="*/ 156211 h 548582"/>
              <a:gd name="connsiteX18" fmla="*/ 387833 w 608344"/>
              <a:gd name="connsiteY18" fmla="*/ 200458 h 548582"/>
              <a:gd name="connsiteX19" fmla="*/ 366387 w 608344"/>
              <a:gd name="connsiteY19" fmla="*/ 237694 h 548582"/>
              <a:gd name="connsiteX20" fmla="*/ 351393 w 608344"/>
              <a:gd name="connsiteY20" fmla="*/ 278720 h 548582"/>
              <a:gd name="connsiteX21" fmla="*/ 351393 w 608344"/>
              <a:gd name="connsiteY21" fmla="*/ 322873 h 548582"/>
              <a:gd name="connsiteX22" fmla="*/ 317611 w 608344"/>
              <a:gd name="connsiteY22" fmla="*/ 422358 h 548582"/>
              <a:gd name="connsiteX23" fmla="*/ 376635 w 608344"/>
              <a:gd name="connsiteY23" fmla="*/ 548088 h 548582"/>
              <a:gd name="connsiteX24" fmla="*/ 26855 w 608344"/>
              <a:gd name="connsiteY24" fmla="*/ 548088 h 548582"/>
              <a:gd name="connsiteX25" fmla="*/ 0 w 608344"/>
              <a:gd name="connsiteY25" fmla="*/ 521274 h 548582"/>
              <a:gd name="connsiteX26" fmla="*/ 0 w 608344"/>
              <a:gd name="connsiteY26" fmla="*/ 473806 h 548582"/>
              <a:gd name="connsiteX27" fmla="*/ 19453 w 608344"/>
              <a:gd name="connsiteY27" fmla="*/ 432969 h 548582"/>
              <a:gd name="connsiteX28" fmla="*/ 173751 w 608344"/>
              <a:gd name="connsiteY28" fmla="*/ 334242 h 548582"/>
              <a:gd name="connsiteX29" fmla="*/ 176408 w 608344"/>
              <a:gd name="connsiteY29" fmla="*/ 329884 h 548582"/>
              <a:gd name="connsiteX30" fmla="*/ 176408 w 608344"/>
              <a:gd name="connsiteY30" fmla="*/ 278720 h 548582"/>
              <a:gd name="connsiteX31" fmla="*/ 161320 w 608344"/>
              <a:gd name="connsiteY31" fmla="*/ 237694 h 548582"/>
              <a:gd name="connsiteX32" fmla="*/ 139969 w 608344"/>
              <a:gd name="connsiteY32" fmla="*/ 200458 h 548582"/>
              <a:gd name="connsiteX33" fmla="*/ 148320 w 608344"/>
              <a:gd name="connsiteY33" fmla="*/ 156211 h 548582"/>
              <a:gd name="connsiteX34" fmla="*/ 146042 w 608344"/>
              <a:gd name="connsiteY34" fmla="*/ 146736 h 548582"/>
              <a:gd name="connsiteX35" fmla="*/ 145758 w 608344"/>
              <a:gd name="connsiteY35" fmla="*/ 95099 h 548582"/>
              <a:gd name="connsiteX36" fmla="*/ 176029 w 608344"/>
              <a:gd name="connsiteY36" fmla="*/ 42135 h 548582"/>
              <a:gd name="connsiteX37" fmla="*/ 203928 w 608344"/>
              <a:gd name="connsiteY37" fmla="*/ 19017 h 548582"/>
              <a:gd name="connsiteX38" fmla="*/ 231162 w 608344"/>
              <a:gd name="connsiteY38" fmla="*/ 5089 h 548582"/>
              <a:gd name="connsiteX39" fmla="*/ 255835 w 608344"/>
              <a:gd name="connsiteY39" fmla="*/ 446 h 54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344" h="548582">
                <a:moveTo>
                  <a:pt x="521432" y="370453"/>
                </a:moveTo>
                <a:lnTo>
                  <a:pt x="465737" y="425787"/>
                </a:lnTo>
                <a:lnTo>
                  <a:pt x="442491" y="402479"/>
                </a:lnTo>
                <a:lnTo>
                  <a:pt x="418201" y="426545"/>
                </a:lnTo>
                <a:lnTo>
                  <a:pt x="441447" y="449948"/>
                </a:lnTo>
                <a:lnTo>
                  <a:pt x="465642" y="474204"/>
                </a:lnTo>
                <a:lnTo>
                  <a:pt x="489932" y="450043"/>
                </a:lnTo>
                <a:lnTo>
                  <a:pt x="545532" y="394709"/>
                </a:lnTo>
                <a:close/>
                <a:moveTo>
                  <a:pt x="481962" y="296170"/>
                </a:moveTo>
                <a:cubicBezTo>
                  <a:pt x="551795" y="296170"/>
                  <a:pt x="608344" y="352641"/>
                  <a:pt x="608344" y="422376"/>
                </a:cubicBezTo>
                <a:cubicBezTo>
                  <a:pt x="608344" y="492111"/>
                  <a:pt x="551795" y="548582"/>
                  <a:pt x="481962" y="548582"/>
                </a:cubicBezTo>
                <a:cubicBezTo>
                  <a:pt x="412129" y="548582"/>
                  <a:pt x="355579" y="492111"/>
                  <a:pt x="355579" y="422376"/>
                </a:cubicBezTo>
                <a:cubicBezTo>
                  <a:pt x="355579" y="352641"/>
                  <a:pt x="412129" y="296170"/>
                  <a:pt x="481962" y="296170"/>
                </a:cubicBezTo>
                <a:close/>
                <a:moveTo>
                  <a:pt x="255835" y="446"/>
                </a:moveTo>
                <a:cubicBezTo>
                  <a:pt x="282785" y="-1828"/>
                  <a:pt x="303187" y="4899"/>
                  <a:pt x="317801" y="13616"/>
                </a:cubicBezTo>
                <a:cubicBezTo>
                  <a:pt x="339721" y="25744"/>
                  <a:pt x="348072" y="41661"/>
                  <a:pt x="348072" y="41661"/>
                </a:cubicBezTo>
                <a:cubicBezTo>
                  <a:pt x="348072" y="41661"/>
                  <a:pt x="398176" y="45167"/>
                  <a:pt x="381190" y="146831"/>
                </a:cubicBezTo>
                <a:cubicBezTo>
                  <a:pt x="380621" y="149863"/>
                  <a:pt x="379862" y="153085"/>
                  <a:pt x="378913" y="156211"/>
                </a:cubicBezTo>
                <a:cubicBezTo>
                  <a:pt x="388592" y="156211"/>
                  <a:pt x="398271" y="163507"/>
                  <a:pt x="387833" y="200458"/>
                </a:cubicBezTo>
                <a:cubicBezTo>
                  <a:pt x="379672" y="229262"/>
                  <a:pt x="372080" y="237221"/>
                  <a:pt x="366387" y="237694"/>
                </a:cubicBezTo>
                <a:cubicBezTo>
                  <a:pt x="364394" y="250675"/>
                  <a:pt x="359175" y="265076"/>
                  <a:pt x="351393" y="278720"/>
                </a:cubicBezTo>
                <a:lnTo>
                  <a:pt x="351393" y="322873"/>
                </a:lnTo>
                <a:cubicBezTo>
                  <a:pt x="330232" y="350539"/>
                  <a:pt x="317611" y="385027"/>
                  <a:pt x="317611" y="422358"/>
                </a:cubicBezTo>
                <a:cubicBezTo>
                  <a:pt x="317611" y="472764"/>
                  <a:pt x="340480" y="518053"/>
                  <a:pt x="376635" y="548088"/>
                </a:cubicBezTo>
                <a:lnTo>
                  <a:pt x="26855" y="548088"/>
                </a:lnTo>
                <a:cubicBezTo>
                  <a:pt x="12052" y="548088"/>
                  <a:pt x="0" y="536055"/>
                  <a:pt x="0" y="521274"/>
                </a:cubicBezTo>
                <a:lnTo>
                  <a:pt x="0" y="473806"/>
                </a:lnTo>
                <a:cubicBezTo>
                  <a:pt x="0" y="457983"/>
                  <a:pt x="7212" y="443013"/>
                  <a:pt x="19453" y="432969"/>
                </a:cubicBezTo>
                <a:cubicBezTo>
                  <a:pt x="86638" y="377921"/>
                  <a:pt x="159043" y="341443"/>
                  <a:pt x="173751" y="334242"/>
                </a:cubicBezTo>
                <a:cubicBezTo>
                  <a:pt x="175365" y="333484"/>
                  <a:pt x="176408" y="331779"/>
                  <a:pt x="176408" y="329884"/>
                </a:cubicBezTo>
                <a:lnTo>
                  <a:pt x="176408" y="278720"/>
                </a:lnTo>
                <a:cubicBezTo>
                  <a:pt x="168437" y="265076"/>
                  <a:pt x="163313" y="250675"/>
                  <a:pt x="161320" y="237694"/>
                </a:cubicBezTo>
                <a:cubicBezTo>
                  <a:pt x="155627" y="237221"/>
                  <a:pt x="148035" y="229072"/>
                  <a:pt x="139969" y="200458"/>
                </a:cubicBezTo>
                <a:cubicBezTo>
                  <a:pt x="129531" y="164170"/>
                  <a:pt x="138925" y="156496"/>
                  <a:pt x="148320" y="156211"/>
                </a:cubicBezTo>
                <a:cubicBezTo>
                  <a:pt x="147371" y="153085"/>
                  <a:pt x="146612" y="149863"/>
                  <a:pt x="146042" y="146736"/>
                </a:cubicBezTo>
                <a:cubicBezTo>
                  <a:pt x="142436" y="128450"/>
                  <a:pt x="141487" y="111396"/>
                  <a:pt x="145758" y="95099"/>
                </a:cubicBezTo>
                <a:cubicBezTo>
                  <a:pt x="150787" y="73212"/>
                  <a:pt x="162744" y="55684"/>
                  <a:pt x="176029" y="42135"/>
                </a:cubicBezTo>
                <a:cubicBezTo>
                  <a:pt x="184379" y="33134"/>
                  <a:pt x="193869" y="25459"/>
                  <a:pt x="203928" y="19017"/>
                </a:cubicBezTo>
                <a:cubicBezTo>
                  <a:pt x="212183" y="13332"/>
                  <a:pt x="221293" y="8405"/>
                  <a:pt x="231162" y="5089"/>
                </a:cubicBezTo>
                <a:cubicBezTo>
                  <a:pt x="238849" y="2625"/>
                  <a:pt x="247105" y="825"/>
                  <a:pt x="255835" y="446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200" kern="1200"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581150" y="1153160"/>
            <a:ext cx="9133840" cy="413385"/>
          </a:xfrm>
          <a:prstGeom prst="rect">
            <a:avLst/>
          </a:prstGeom>
          <a:solidFill>
            <a:schemeClr val="tx2">
              <a:lumMod val="25000"/>
              <a:lumOff val="75000"/>
              <a:alpha val="70000"/>
            </a:schemeClr>
          </a:solidFill>
        </p:spPr>
        <p:txBody>
          <a:bodyPr wrap="square" rtlCol="0" anchor="t">
            <a:spAutoFit/>
          </a:bodyPr>
          <a:p>
            <a:pPr algn="di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不是一个聊天框，而是围绕学习、教学、科研任务组织的多入口平台</a:t>
            </a:r>
            <a:endParaRPr lang="zh-CN" sz="2000" b="1">
              <a:solidFill>
                <a:schemeClr val="bg1"/>
              </a:solidFill>
              <a:latin typeface="微软雅黑" panose="020B0503020204020204" charset="-122"/>
              <a:sym typeface="+mn-ea"/>
            </a:endParaRPr>
          </a:p>
        </p:txBody>
      </p:sp>
    </p:spTree>
    <p:custDataLst>
      <p:tags r:id="rId1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8" grpId="0" animBg="1"/>
      <p:bldP spid="9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730115" y="1621155"/>
            <a:ext cx="226695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  <a:endParaRPr lang="en-US" altLang="zh-CN" sz="5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688465" y="2040255"/>
            <a:ext cx="8682990" cy="34283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7200" dirty="0">
                <a:solidFill>
                  <a:schemeClr val="bg1"/>
                </a:solidFill>
                <a:effectLst/>
                <a:cs typeface="+mn-ea"/>
                <a:sym typeface="+mn-lt"/>
              </a:rPr>
              <a:t> </a:t>
            </a:r>
            <a:r>
              <a:rPr lang="zh-CN" altLang="en-US" sz="7200" dirty="0">
                <a:solidFill>
                  <a:schemeClr val="bg1"/>
                </a:solidFill>
                <a:effectLst/>
                <a:cs typeface="+mn-ea"/>
                <a:sym typeface="+mn-lt"/>
              </a:rPr>
              <a:t>技术架构与可信检索</a:t>
            </a:r>
            <a:r>
              <a:rPr lang="zh-CN" altLang="en-US" sz="7200" dirty="0">
                <a:solidFill>
                  <a:schemeClr val="bg1"/>
                </a:solidFill>
                <a:effectLst/>
                <a:cs typeface="+mn-ea"/>
                <a:sym typeface="+mn-lt"/>
              </a:rPr>
              <a:t> </a:t>
            </a:r>
            <a:endParaRPr lang="zh-CN" altLang="en-US" sz="7200" dirty="0">
              <a:solidFill>
                <a:schemeClr val="bg1"/>
              </a:solidFill>
              <a:effectLst/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endParaRPr lang="zh-CN" altLang="en-US" sz="7200" dirty="0" smtClean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066604" y="3806571"/>
            <a:ext cx="6222077" cy="1586171"/>
            <a:chOff x="2858885" y="3215810"/>
            <a:chExt cx="6222077" cy="1586171"/>
          </a:xfrm>
        </p:grpSpPr>
        <p:sp>
          <p:nvSpPr>
            <p:cNvPr id="19" name="椭圆 18"/>
            <p:cNvSpPr/>
            <p:nvPr/>
          </p:nvSpPr>
          <p:spPr>
            <a:xfrm rot="10800000">
              <a:off x="3611336" y="3215810"/>
              <a:ext cx="4717177" cy="1194265"/>
            </a:xfrm>
            <a:prstGeom prst="ellipse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72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 rot="10800000">
              <a:off x="2858885" y="3226715"/>
              <a:ext cx="6222077" cy="1575266"/>
            </a:xfrm>
            <a:prstGeom prst="ellipse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72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cxnSp>
        <p:nvCxnSpPr>
          <p:cNvPr id="21" name="直接连接符 20"/>
          <p:cNvCxnSpPr/>
          <p:nvPr/>
        </p:nvCxnSpPr>
        <p:spPr>
          <a:xfrm flipV="1">
            <a:off x="2547151" y="2701779"/>
            <a:ext cx="1" cy="1124532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3888998" y="1678308"/>
            <a:ext cx="0" cy="689121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V="1">
            <a:off x="9581039" y="2367774"/>
            <a:ext cx="0" cy="1438905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8018304" y="2040404"/>
            <a:ext cx="0" cy="810254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V="1">
            <a:off x="8933339" y="1083312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part.01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12" name="椭圆 11"/>
          <p:cNvSpPr/>
          <p:nvPr>
            <p:custDataLst>
              <p:tags r:id="rId1"/>
            </p:custDataLst>
          </p:nvPr>
        </p:nvSpPr>
        <p:spPr>
          <a:xfrm>
            <a:off x="5053792" y="3204056"/>
            <a:ext cx="640390" cy="640388"/>
          </a:xfrm>
          <a:prstGeom prst="ellipse">
            <a:avLst/>
          </a:prstGeom>
          <a:solidFill>
            <a:srgbClr val="605E8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" name="椭圆 12"/>
          <p:cNvSpPr/>
          <p:nvPr>
            <p:custDataLst>
              <p:tags r:id="rId2"/>
            </p:custDataLst>
          </p:nvPr>
        </p:nvSpPr>
        <p:spPr>
          <a:xfrm flipH="1">
            <a:off x="5989819" y="3204056"/>
            <a:ext cx="640390" cy="64038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>
            <p:custDataLst>
              <p:tags r:id="rId3"/>
            </p:custDataLst>
          </p:nvPr>
        </p:nvSpPr>
        <p:spPr>
          <a:xfrm flipV="1">
            <a:off x="5053792" y="4081627"/>
            <a:ext cx="640390" cy="64038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椭圆 14"/>
          <p:cNvSpPr/>
          <p:nvPr>
            <p:custDataLst>
              <p:tags r:id="rId4"/>
            </p:custDataLst>
          </p:nvPr>
        </p:nvSpPr>
        <p:spPr>
          <a:xfrm flipH="1" flipV="1">
            <a:off x="6002519" y="4081627"/>
            <a:ext cx="640390" cy="640388"/>
          </a:xfrm>
          <a:prstGeom prst="ellipse">
            <a:avLst/>
          </a:prstGeom>
          <a:solidFill>
            <a:srgbClr val="605E8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任意多边形: 形状 15"/>
          <p:cNvSpPr/>
          <p:nvPr>
            <p:custDataLst>
              <p:tags r:id="rId5"/>
            </p:custDataLst>
          </p:nvPr>
        </p:nvSpPr>
        <p:spPr>
          <a:xfrm>
            <a:off x="4140645" y="2293280"/>
            <a:ext cx="1201718" cy="1201717"/>
          </a:xfrm>
          <a:custGeom>
            <a:avLst/>
            <a:gdLst>
              <a:gd name="connsiteX0" fmla="*/ 0 w 1206500"/>
              <a:gd name="connsiteY0" fmla="*/ 0 h 1206500"/>
              <a:gd name="connsiteX1" fmla="*/ 1206500 w 1206500"/>
              <a:gd name="connsiteY1" fmla="*/ 0 h 1206500"/>
              <a:gd name="connsiteX2" fmla="*/ 1206500 w 1206500"/>
              <a:gd name="connsiteY2" fmla="*/ 863600 h 1206500"/>
              <a:gd name="connsiteX3" fmla="*/ 863600 w 1206500"/>
              <a:gd name="connsiteY3" fmla="*/ 1206500 h 1206500"/>
              <a:gd name="connsiteX4" fmla="*/ 0 w 1206500"/>
              <a:gd name="connsiteY4" fmla="*/ 1206500 h 1206500"/>
              <a:gd name="connsiteX5" fmla="*/ 0 w 1206500"/>
              <a:gd name="connsiteY5" fmla="*/ 0 h 120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6500" h="1206500">
                <a:moveTo>
                  <a:pt x="0" y="0"/>
                </a:moveTo>
                <a:lnTo>
                  <a:pt x="1206500" y="0"/>
                </a:lnTo>
                <a:lnTo>
                  <a:pt x="1206500" y="863600"/>
                </a:lnTo>
                <a:cubicBezTo>
                  <a:pt x="1017122" y="863600"/>
                  <a:pt x="863600" y="1017122"/>
                  <a:pt x="863600" y="1206500"/>
                </a:cubicBez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rgbClr val="605E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任意多边形: 形状 16"/>
          <p:cNvSpPr/>
          <p:nvPr>
            <p:custDataLst>
              <p:tags r:id="rId6"/>
            </p:custDataLst>
          </p:nvPr>
        </p:nvSpPr>
        <p:spPr>
          <a:xfrm>
            <a:off x="6354338" y="2293280"/>
            <a:ext cx="1201718" cy="1201717"/>
          </a:xfrm>
          <a:custGeom>
            <a:avLst/>
            <a:gdLst>
              <a:gd name="connsiteX0" fmla="*/ 0 w 1206500"/>
              <a:gd name="connsiteY0" fmla="*/ 0 h 1206500"/>
              <a:gd name="connsiteX1" fmla="*/ 1206500 w 1206500"/>
              <a:gd name="connsiteY1" fmla="*/ 0 h 1206500"/>
              <a:gd name="connsiteX2" fmla="*/ 1206500 w 1206500"/>
              <a:gd name="connsiteY2" fmla="*/ 1206500 h 1206500"/>
              <a:gd name="connsiteX3" fmla="*/ 342900 w 1206500"/>
              <a:gd name="connsiteY3" fmla="*/ 1206500 h 1206500"/>
              <a:gd name="connsiteX4" fmla="*/ 0 w 1206500"/>
              <a:gd name="connsiteY4" fmla="*/ 863600 h 1206500"/>
              <a:gd name="connsiteX5" fmla="*/ 0 w 1206500"/>
              <a:gd name="connsiteY5" fmla="*/ 0 h 120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6500" h="1206500">
                <a:moveTo>
                  <a:pt x="0" y="0"/>
                </a:moveTo>
                <a:lnTo>
                  <a:pt x="1206500" y="0"/>
                </a:lnTo>
                <a:lnTo>
                  <a:pt x="1206500" y="1206500"/>
                </a:lnTo>
                <a:lnTo>
                  <a:pt x="342900" y="1206500"/>
                </a:lnTo>
                <a:cubicBezTo>
                  <a:pt x="342900" y="1017122"/>
                  <a:pt x="189378" y="863600"/>
                  <a:pt x="0" y="863600"/>
                </a:cubicBez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" name="任意多边形: 形状 17"/>
          <p:cNvSpPr/>
          <p:nvPr>
            <p:custDataLst>
              <p:tags r:id="rId7"/>
            </p:custDataLst>
          </p:nvPr>
        </p:nvSpPr>
        <p:spPr>
          <a:xfrm>
            <a:off x="4150805" y="4431073"/>
            <a:ext cx="1201718" cy="1201717"/>
          </a:xfrm>
          <a:custGeom>
            <a:avLst/>
            <a:gdLst>
              <a:gd name="connsiteX0" fmla="*/ 0 w 1206500"/>
              <a:gd name="connsiteY0" fmla="*/ 0 h 1206500"/>
              <a:gd name="connsiteX1" fmla="*/ 863600 w 1206500"/>
              <a:gd name="connsiteY1" fmla="*/ 0 h 1206500"/>
              <a:gd name="connsiteX2" fmla="*/ 1206500 w 1206500"/>
              <a:gd name="connsiteY2" fmla="*/ 342900 h 1206500"/>
              <a:gd name="connsiteX3" fmla="*/ 1206500 w 1206500"/>
              <a:gd name="connsiteY3" fmla="*/ 1206500 h 1206500"/>
              <a:gd name="connsiteX4" fmla="*/ 0 w 1206500"/>
              <a:gd name="connsiteY4" fmla="*/ 1206500 h 1206500"/>
              <a:gd name="connsiteX5" fmla="*/ 0 w 1206500"/>
              <a:gd name="connsiteY5" fmla="*/ 0 h 120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6500" h="1206500">
                <a:moveTo>
                  <a:pt x="0" y="0"/>
                </a:moveTo>
                <a:lnTo>
                  <a:pt x="863600" y="0"/>
                </a:lnTo>
                <a:cubicBezTo>
                  <a:pt x="863600" y="189378"/>
                  <a:pt x="1017122" y="342900"/>
                  <a:pt x="1206500" y="342900"/>
                </a:cubicBezTo>
                <a:lnTo>
                  <a:pt x="1206500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任意多边形: 形状 18"/>
          <p:cNvSpPr/>
          <p:nvPr>
            <p:custDataLst>
              <p:tags r:id="rId8"/>
            </p:custDataLst>
          </p:nvPr>
        </p:nvSpPr>
        <p:spPr>
          <a:xfrm>
            <a:off x="6354338" y="4431073"/>
            <a:ext cx="1201718" cy="1201717"/>
          </a:xfrm>
          <a:custGeom>
            <a:avLst/>
            <a:gdLst>
              <a:gd name="connsiteX0" fmla="*/ 342900 w 1206500"/>
              <a:gd name="connsiteY0" fmla="*/ 0 h 1206500"/>
              <a:gd name="connsiteX1" fmla="*/ 1206500 w 1206500"/>
              <a:gd name="connsiteY1" fmla="*/ 0 h 1206500"/>
              <a:gd name="connsiteX2" fmla="*/ 1206500 w 1206500"/>
              <a:gd name="connsiteY2" fmla="*/ 1206500 h 1206500"/>
              <a:gd name="connsiteX3" fmla="*/ 0 w 1206500"/>
              <a:gd name="connsiteY3" fmla="*/ 1206500 h 1206500"/>
              <a:gd name="connsiteX4" fmla="*/ 0 w 1206500"/>
              <a:gd name="connsiteY4" fmla="*/ 342900 h 1206500"/>
              <a:gd name="connsiteX5" fmla="*/ 342900 w 1206500"/>
              <a:gd name="connsiteY5" fmla="*/ 0 h 120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6500" h="1206500">
                <a:moveTo>
                  <a:pt x="342900" y="0"/>
                </a:moveTo>
                <a:lnTo>
                  <a:pt x="1206500" y="0"/>
                </a:lnTo>
                <a:lnTo>
                  <a:pt x="1206500" y="1206500"/>
                </a:lnTo>
                <a:lnTo>
                  <a:pt x="0" y="1206500"/>
                </a:lnTo>
                <a:lnTo>
                  <a:pt x="0" y="342900"/>
                </a:lnTo>
                <a:cubicBezTo>
                  <a:pt x="189378" y="342900"/>
                  <a:pt x="342900" y="189378"/>
                  <a:pt x="342900" y="0"/>
                </a:cubicBezTo>
                <a:close/>
              </a:path>
            </a:pathLst>
          </a:custGeom>
          <a:noFill/>
          <a:ln w="19050">
            <a:solidFill>
              <a:srgbClr val="605E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>
            <p:custDataLst>
              <p:tags r:id="rId9"/>
            </p:custDataLst>
          </p:nvPr>
        </p:nvGrpSpPr>
        <p:grpSpPr>
          <a:xfrm>
            <a:off x="6759934" y="4872031"/>
            <a:ext cx="352425" cy="381000"/>
            <a:chOff x="3849688" y="3228976"/>
            <a:chExt cx="352425" cy="381000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33" name="98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3859213" y="3228976"/>
              <a:ext cx="341313" cy="203200"/>
            </a:xfrm>
            <a:custGeom>
              <a:avLst/>
              <a:gdLst>
                <a:gd name="T0" fmla="*/ 31 w 215"/>
                <a:gd name="T1" fmla="*/ 128 h 128"/>
                <a:gd name="T2" fmla="*/ 0 w 215"/>
                <a:gd name="T3" fmla="*/ 128 h 128"/>
                <a:gd name="T4" fmla="*/ 0 w 215"/>
                <a:gd name="T5" fmla="*/ 44 h 128"/>
                <a:gd name="T6" fmla="*/ 156 w 215"/>
                <a:gd name="T7" fmla="*/ 44 h 128"/>
                <a:gd name="T8" fmla="*/ 156 w 215"/>
                <a:gd name="T9" fmla="*/ 0 h 128"/>
                <a:gd name="T10" fmla="*/ 215 w 215"/>
                <a:gd name="T11" fmla="*/ 60 h 128"/>
                <a:gd name="T12" fmla="*/ 156 w 215"/>
                <a:gd name="T13" fmla="*/ 118 h 128"/>
                <a:gd name="T14" fmla="*/ 156 w 215"/>
                <a:gd name="T15" fmla="*/ 75 h 128"/>
                <a:gd name="T16" fmla="*/ 31 w 215"/>
                <a:gd name="T17" fmla="*/ 75 h 128"/>
                <a:gd name="T18" fmla="*/ 31 w 215"/>
                <a:gd name="T19" fmla="*/ 128 h 128"/>
                <a:gd name="T20" fmla="*/ 5 w 215"/>
                <a:gd name="T21" fmla="*/ 123 h 128"/>
                <a:gd name="T22" fmla="*/ 26 w 215"/>
                <a:gd name="T23" fmla="*/ 123 h 128"/>
                <a:gd name="T24" fmla="*/ 26 w 215"/>
                <a:gd name="T25" fmla="*/ 69 h 128"/>
                <a:gd name="T26" fmla="*/ 162 w 215"/>
                <a:gd name="T27" fmla="*/ 69 h 128"/>
                <a:gd name="T28" fmla="*/ 162 w 215"/>
                <a:gd name="T29" fmla="*/ 105 h 128"/>
                <a:gd name="T30" fmla="*/ 208 w 215"/>
                <a:gd name="T31" fmla="*/ 60 h 128"/>
                <a:gd name="T32" fmla="*/ 162 w 215"/>
                <a:gd name="T33" fmla="*/ 14 h 128"/>
                <a:gd name="T34" fmla="*/ 162 w 215"/>
                <a:gd name="T35" fmla="*/ 49 h 128"/>
                <a:gd name="T36" fmla="*/ 5 w 215"/>
                <a:gd name="T37" fmla="*/ 49 h 128"/>
                <a:gd name="T38" fmla="*/ 5 w 215"/>
                <a:gd name="T39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15" h="128">
                  <a:moveTo>
                    <a:pt x="31" y="128"/>
                  </a:moveTo>
                  <a:lnTo>
                    <a:pt x="0" y="128"/>
                  </a:lnTo>
                  <a:lnTo>
                    <a:pt x="0" y="44"/>
                  </a:lnTo>
                  <a:lnTo>
                    <a:pt x="156" y="44"/>
                  </a:lnTo>
                  <a:lnTo>
                    <a:pt x="156" y="0"/>
                  </a:lnTo>
                  <a:lnTo>
                    <a:pt x="215" y="60"/>
                  </a:lnTo>
                  <a:lnTo>
                    <a:pt x="156" y="118"/>
                  </a:lnTo>
                  <a:lnTo>
                    <a:pt x="156" y="75"/>
                  </a:lnTo>
                  <a:lnTo>
                    <a:pt x="31" y="75"/>
                  </a:lnTo>
                  <a:lnTo>
                    <a:pt x="31" y="128"/>
                  </a:lnTo>
                  <a:close/>
                  <a:moveTo>
                    <a:pt x="5" y="123"/>
                  </a:moveTo>
                  <a:lnTo>
                    <a:pt x="26" y="123"/>
                  </a:lnTo>
                  <a:lnTo>
                    <a:pt x="26" y="69"/>
                  </a:lnTo>
                  <a:lnTo>
                    <a:pt x="162" y="69"/>
                  </a:lnTo>
                  <a:lnTo>
                    <a:pt x="162" y="105"/>
                  </a:lnTo>
                  <a:lnTo>
                    <a:pt x="208" y="60"/>
                  </a:lnTo>
                  <a:lnTo>
                    <a:pt x="162" y="14"/>
                  </a:lnTo>
                  <a:lnTo>
                    <a:pt x="162" y="49"/>
                  </a:lnTo>
                  <a:lnTo>
                    <a:pt x="5" y="49"/>
                  </a:lnTo>
                  <a:lnTo>
                    <a:pt x="5" y="123"/>
                  </a:lnTo>
                  <a:close/>
                </a:path>
              </a:pathLst>
            </a:custGeom>
            <a:grpFill/>
            <a:ln>
              <a:solidFill>
                <a:srgbClr val="605E8C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" name="99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3849688" y="3394076"/>
              <a:ext cx="352425" cy="215900"/>
            </a:xfrm>
            <a:custGeom>
              <a:avLst/>
              <a:gdLst>
                <a:gd name="T0" fmla="*/ 66 w 222"/>
                <a:gd name="T1" fmla="*/ 136 h 136"/>
                <a:gd name="T2" fmla="*/ 0 w 222"/>
                <a:gd name="T3" fmla="*/ 70 h 136"/>
                <a:gd name="T4" fmla="*/ 66 w 222"/>
                <a:gd name="T5" fmla="*/ 5 h 136"/>
                <a:gd name="T6" fmla="*/ 66 w 222"/>
                <a:gd name="T7" fmla="*/ 51 h 136"/>
                <a:gd name="T8" fmla="*/ 186 w 222"/>
                <a:gd name="T9" fmla="*/ 51 h 136"/>
                <a:gd name="T10" fmla="*/ 186 w 222"/>
                <a:gd name="T11" fmla="*/ 0 h 136"/>
                <a:gd name="T12" fmla="*/ 222 w 222"/>
                <a:gd name="T13" fmla="*/ 0 h 136"/>
                <a:gd name="T14" fmla="*/ 222 w 222"/>
                <a:gd name="T15" fmla="*/ 89 h 136"/>
                <a:gd name="T16" fmla="*/ 66 w 222"/>
                <a:gd name="T17" fmla="*/ 89 h 136"/>
                <a:gd name="T18" fmla="*/ 66 w 222"/>
                <a:gd name="T19" fmla="*/ 136 h 136"/>
                <a:gd name="T20" fmla="*/ 15 w 222"/>
                <a:gd name="T21" fmla="*/ 70 h 136"/>
                <a:gd name="T22" fmla="*/ 55 w 222"/>
                <a:gd name="T23" fmla="*/ 110 h 136"/>
                <a:gd name="T24" fmla="*/ 55 w 222"/>
                <a:gd name="T25" fmla="*/ 79 h 136"/>
                <a:gd name="T26" fmla="*/ 211 w 222"/>
                <a:gd name="T27" fmla="*/ 79 h 136"/>
                <a:gd name="T28" fmla="*/ 211 w 222"/>
                <a:gd name="T29" fmla="*/ 10 h 136"/>
                <a:gd name="T30" fmla="*/ 196 w 222"/>
                <a:gd name="T31" fmla="*/ 10 h 136"/>
                <a:gd name="T32" fmla="*/ 196 w 222"/>
                <a:gd name="T33" fmla="*/ 62 h 136"/>
                <a:gd name="T34" fmla="*/ 55 w 222"/>
                <a:gd name="T35" fmla="*/ 62 h 136"/>
                <a:gd name="T36" fmla="*/ 55 w 222"/>
                <a:gd name="T37" fmla="*/ 31 h 136"/>
                <a:gd name="T38" fmla="*/ 15 w 222"/>
                <a:gd name="T39" fmla="*/ 7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2" h="136">
                  <a:moveTo>
                    <a:pt x="66" y="136"/>
                  </a:moveTo>
                  <a:lnTo>
                    <a:pt x="0" y="70"/>
                  </a:lnTo>
                  <a:lnTo>
                    <a:pt x="66" y="5"/>
                  </a:lnTo>
                  <a:lnTo>
                    <a:pt x="66" y="51"/>
                  </a:lnTo>
                  <a:lnTo>
                    <a:pt x="186" y="51"/>
                  </a:lnTo>
                  <a:lnTo>
                    <a:pt x="186" y="0"/>
                  </a:lnTo>
                  <a:lnTo>
                    <a:pt x="222" y="0"/>
                  </a:lnTo>
                  <a:lnTo>
                    <a:pt x="222" y="89"/>
                  </a:lnTo>
                  <a:lnTo>
                    <a:pt x="66" y="89"/>
                  </a:lnTo>
                  <a:lnTo>
                    <a:pt x="66" y="136"/>
                  </a:lnTo>
                  <a:close/>
                  <a:moveTo>
                    <a:pt x="15" y="70"/>
                  </a:moveTo>
                  <a:lnTo>
                    <a:pt x="55" y="110"/>
                  </a:lnTo>
                  <a:lnTo>
                    <a:pt x="55" y="79"/>
                  </a:lnTo>
                  <a:lnTo>
                    <a:pt x="211" y="79"/>
                  </a:lnTo>
                  <a:lnTo>
                    <a:pt x="211" y="10"/>
                  </a:lnTo>
                  <a:lnTo>
                    <a:pt x="196" y="10"/>
                  </a:lnTo>
                  <a:lnTo>
                    <a:pt x="196" y="62"/>
                  </a:lnTo>
                  <a:lnTo>
                    <a:pt x="55" y="62"/>
                  </a:lnTo>
                  <a:lnTo>
                    <a:pt x="55" y="31"/>
                  </a:lnTo>
                  <a:lnTo>
                    <a:pt x="15" y="70"/>
                  </a:lnTo>
                  <a:close/>
                </a:path>
              </a:pathLst>
            </a:custGeom>
            <a:grpFill/>
            <a:ln>
              <a:solidFill>
                <a:srgbClr val="605E8C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35" name="组合 34"/>
          <p:cNvGrpSpPr/>
          <p:nvPr>
            <p:custDataLst>
              <p:tags r:id="rId12"/>
            </p:custDataLst>
          </p:nvPr>
        </p:nvGrpSpPr>
        <p:grpSpPr>
          <a:xfrm>
            <a:off x="4562512" y="2647518"/>
            <a:ext cx="363538" cy="384176"/>
            <a:chOff x="2182813" y="3243263"/>
            <a:chExt cx="363538" cy="384176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36" name="100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2195513" y="3243263"/>
              <a:ext cx="350838" cy="146050"/>
            </a:xfrm>
            <a:custGeom>
              <a:avLst/>
              <a:gdLst>
                <a:gd name="T0" fmla="*/ 162 w 162"/>
                <a:gd name="T1" fmla="*/ 67 h 67"/>
                <a:gd name="T2" fmla="*/ 95 w 162"/>
                <a:gd name="T3" fmla="*/ 67 h 67"/>
                <a:gd name="T4" fmla="*/ 119 w 162"/>
                <a:gd name="T5" fmla="*/ 43 h 67"/>
                <a:gd name="T6" fmla="*/ 79 w 162"/>
                <a:gd name="T7" fmla="*/ 27 h 67"/>
                <a:gd name="T8" fmla="*/ 24 w 162"/>
                <a:gd name="T9" fmla="*/ 65 h 67"/>
                <a:gd name="T10" fmla="*/ 23 w 162"/>
                <a:gd name="T11" fmla="*/ 67 h 67"/>
                <a:gd name="T12" fmla="*/ 0 w 162"/>
                <a:gd name="T13" fmla="*/ 58 h 67"/>
                <a:gd name="T14" fmla="*/ 1 w 162"/>
                <a:gd name="T15" fmla="*/ 57 h 67"/>
                <a:gd name="T16" fmla="*/ 79 w 162"/>
                <a:gd name="T17" fmla="*/ 2 h 67"/>
                <a:gd name="T18" fmla="*/ 136 w 162"/>
                <a:gd name="T19" fmla="*/ 25 h 67"/>
                <a:gd name="T20" fmla="*/ 162 w 162"/>
                <a:gd name="T21" fmla="*/ 0 h 67"/>
                <a:gd name="T22" fmla="*/ 162 w 162"/>
                <a:gd name="T23" fmla="*/ 67 h 67"/>
                <a:gd name="T24" fmla="*/ 104 w 162"/>
                <a:gd name="T25" fmla="*/ 63 h 67"/>
                <a:gd name="T26" fmla="*/ 158 w 162"/>
                <a:gd name="T27" fmla="*/ 63 h 67"/>
                <a:gd name="T28" fmla="*/ 158 w 162"/>
                <a:gd name="T29" fmla="*/ 9 h 67"/>
                <a:gd name="T30" fmla="*/ 137 w 162"/>
                <a:gd name="T31" fmla="*/ 31 h 67"/>
                <a:gd name="T32" fmla="*/ 135 w 162"/>
                <a:gd name="T33" fmla="*/ 30 h 67"/>
                <a:gd name="T34" fmla="*/ 79 w 162"/>
                <a:gd name="T35" fmla="*/ 6 h 67"/>
                <a:gd name="T36" fmla="*/ 5 w 162"/>
                <a:gd name="T37" fmla="*/ 56 h 67"/>
                <a:gd name="T38" fmla="*/ 21 w 162"/>
                <a:gd name="T39" fmla="*/ 62 h 67"/>
                <a:gd name="T40" fmla="*/ 79 w 162"/>
                <a:gd name="T41" fmla="*/ 23 h 67"/>
                <a:gd name="T42" fmla="*/ 124 w 162"/>
                <a:gd name="T43" fmla="*/ 41 h 67"/>
                <a:gd name="T44" fmla="*/ 125 w 162"/>
                <a:gd name="T45" fmla="*/ 43 h 67"/>
                <a:gd name="T46" fmla="*/ 104 w 162"/>
                <a:gd name="T47" fmla="*/ 63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2" h="67">
                  <a:moveTo>
                    <a:pt x="162" y="67"/>
                  </a:moveTo>
                  <a:cubicBezTo>
                    <a:pt x="95" y="67"/>
                    <a:pt x="95" y="67"/>
                    <a:pt x="95" y="67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08" y="32"/>
                    <a:pt x="94" y="27"/>
                    <a:pt x="79" y="27"/>
                  </a:cubicBezTo>
                  <a:cubicBezTo>
                    <a:pt x="55" y="27"/>
                    <a:pt x="32" y="42"/>
                    <a:pt x="24" y="65"/>
                  </a:cubicBezTo>
                  <a:cubicBezTo>
                    <a:pt x="23" y="67"/>
                    <a:pt x="23" y="67"/>
                    <a:pt x="23" y="67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1" y="57"/>
                    <a:pt x="1" y="57"/>
                    <a:pt x="1" y="57"/>
                  </a:cubicBezTo>
                  <a:cubicBezTo>
                    <a:pt x="13" y="24"/>
                    <a:pt x="44" y="2"/>
                    <a:pt x="79" y="2"/>
                  </a:cubicBezTo>
                  <a:cubicBezTo>
                    <a:pt x="101" y="2"/>
                    <a:pt x="121" y="11"/>
                    <a:pt x="136" y="25"/>
                  </a:cubicBezTo>
                  <a:cubicBezTo>
                    <a:pt x="162" y="0"/>
                    <a:pt x="162" y="0"/>
                    <a:pt x="162" y="0"/>
                  </a:cubicBezTo>
                  <a:lnTo>
                    <a:pt x="162" y="67"/>
                  </a:lnTo>
                  <a:close/>
                  <a:moveTo>
                    <a:pt x="104" y="63"/>
                  </a:moveTo>
                  <a:cubicBezTo>
                    <a:pt x="158" y="63"/>
                    <a:pt x="158" y="63"/>
                    <a:pt x="158" y="63"/>
                  </a:cubicBezTo>
                  <a:cubicBezTo>
                    <a:pt x="158" y="9"/>
                    <a:pt x="158" y="9"/>
                    <a:pt x="158" y="9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5" y="30"/>
                    <a:pt x="135" y="30"/>
                    <a:pt x="135" y="30"/>
                  </a:cubicBezTo>
                  <a:cubicBezTo>
                    <a:pt x="120" y="15"/>
                    <a:pt x="100" y="6"/>
                    <a:pt x="79" y="6"/>
                  </a:cubicBezTo>
                  <a:cubicBezTo>
                    <a:pt x="47" y="6"/>
                    <a:pt x="17" y="26"/>
                    <a:pt x="5" y="56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30" y="38"/>
                    <a:pt x="54" y="23"/>
                    <a:pt x="79" y="23"/>
                  </a:cubicBezTo>
                  <a:cubicBezTo>
                    <a:pt x="96" y="23"/>
                    <a:pt x="112" y="29"/>
                    <a:pt x="124" y="41"/>
                  </a:cubicBezTo>
                  <a:cubicBezTo>
                    <a:pt x="125" y="43"/>
                    <a:pt x="125" y="43"/>
                    <a:pt x="125" y="43"/>
                  </a:cubicBezTo>
                  <a:lnTo>
                    <a:pt x="104" y="63"/>
                  </a:lnTo>
                  <a:close/>
                </a:path>
              </a:pathLst>
            </a:custGeom>
            <a:grpFill/>
            <a:ln>
              <a:solidFill>
                <a:srgbClr val="605E8C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7" name="101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2182813" y="3463926"/>
              <a:ext cx="358775" cy="163513"/>
            </a:xfrm>
            <a:custGeom>
              <a:avLst/>
              <a:gdLst>
                <a:gd name="T0" fmla="*/ 0 w 166"/>
                <a:gd name="T1" fmla="*/ 75 h 75"/>
                <a:gd name="T2" fmla="*/ 0 w 166"/>
                <a:gd name="T3" fmla="*/ 0 h 75"/>
                <a:gd name="T4" fmla="*/ 74 w 166"/>
                <a:gd name="T5" fmla="*/ 0 h 75"/>
                <a:gd name="T6" fmla="*/ 48 w 166"/>
                <a:gd name="T7" fmla="*/ 27 h 75"/>
                <a:gd name="T8" fmla="*/ 85 w 166"/>
                <a:gd name="T9" fmla="*/ 41 h 75"/>
                <a:gd name="T10" fmla="*/ 138 w 166"/>
                <a:gd name="T11" fmla="*/ 4 h 75"/>
                <a:gd name="T12" fmla="*/ 140 w 166"/>
                <a:gd name="T13" fmla="*/ 0 h 75"/>
                <a:gd name="T14" fmla="*/ 166 w 166"/>
                <a:gd name="T15" fmla="*/ 10 h 75"/>
                <a:gd name="T16" fmla="*/ 165 w 166"/>
                <a:gd name="T17" fmla="*/ 14 h 75"/>
                <a:gd name="T18" fmla="*/ 85 w 166"/>
                <a:gd name="T19" fmla="*/ 69 h 75"/>
                <a:gd name="T20" fmla="*/ 28 w 166"/>
                <a:gd name="T21" fmla="*/ 47 h 75"/>
                <a:gd name="T22" fmla="*/ 0 w 166"/>
                <a:gd name="T23" fmla="*/ 75 h 75"/>
                <a:gd name="T24" fmla="*/ 27 w 166"/>
                <a:gd name="T25" fmla="*/ 36 h 75"/>
                <a:gd name="T26" fmla="*/ 30 w 166"/>
                <a:gd name="T27" fmla="*/ 38 h 75"/>
                <a:gd name="T28" fmla="*/ 85 w 166"/>
                <a:gd name="T29" fmla="*/ 61 h 75"/>
                <a:gd name="T30" fmla="*/ 156 w 166"/>
                <a:gd name="T31" fmla="*/ 15 h 75"/>
                <a:gd name="T32" fmla="*/ 144 w 166"/>
                <a:gd name="T33" fmla="*/ 10 h 75"/>
                <a:gd name="T34" fmla="*/ 85 w 166"/>
                <a:gd name="T35" fmla="*/ 49 h 75"/>
                <a:gd name="T36" fmla="*/ 39 w 166"/>
                <a:gd name="T37" fmla="*/ 30 h 75"/>
                <a:gd name="T38" fmla="*/ 36 w 166"/>
                <a:gd name="T39" fmla="*/ 27 h 75"/>
                <a:gd name="T40" fmla="*/ 55 w 166"/>
                <a:gd name="T41" fmla="*/ 8 h 75"/>
                <a:gd name="T42" fmla="*/ 8 w 166"/>
                <a:gd name="T43" fmla="*/ 8 h 75"/>
                <a:gd name="T44" fmla="*/ 8 w 166"/>
                <a:gd name="T45" fmla="*/ 55 h 75"/>
                <a:gd name="T46" fmla="*/ 27 w 166"/>
                <a:gd name="T47" fmla="*/ 3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6" h="75">
                  <a:moveTo>
                    <a:pt x="0" y="75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58" y="36"/>
                    <a:pt x="71" y="41"/>
                    <a:pt x="85" y="41"/>
                  </a:cubicBezTo>
                  <a:cubicBezTo>
                    <a:pt x="109" y="41"/>
                    <a:pt x="130" y="26"/>
                    <a:pt x="138" y="4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66" y="10"/>
                    <a:pt x="166" y="10"/>
                    <a:pt x="166" y="10"/>
                  </a:cubicBezTo>
                  <a:cubicBezTo>
                    <a:pt x="165" y="14"/>
                    <a:pt x="165" y="14"/>
                    <a:pt x="165" y="14"/>
                  </a:cubicBezTo>
                  <a:cubicBezTo>
                    <a:pt x="152" y="47"/>
                    <a:pt x="120" y="69"/>
                    <a:pt x="85" y="69"/>
                  </a:cubicBezTo>
                  <a:cubicBezTo>
                    <a:pt x="64" y="69"/>
                    <a:pt x="43" y="61"/>
                    <a:pt x="28" y="47"/>
                  </a:cubicBezTo>
                  <a:lnTo>
                    <a:pt x="0" y="75"/>
                  </a:lnTo>
                  <a:close/>
                  <a:moveTo>
                    <a:pt x="27" y="36"/>
                  </a:moveTo>
                  <a:cubicBezTo>
                    <a:pt x="30" y="38"/>
                    <a:pt x="30" y="38"/>
                    <a:pt x="30" y="38"/>
                  </a:cubicBezTo>
                  <a:cubicBezTo>
                    <a:pt x="45" y="53"/>
                    <a:pt x="64" y="61"/>
                    <a:pt x="85" y="61"/>
                  </a:cubicBezTo>
                  <a:cubicBezTo>
                    <a:pt x="116" y="61"/>
                    <a:pt x="144" y="43"/>
                    <a:pt x="156" y="15"/>
                  </a:cubicBezTo>
                  <a:cubicBezTo>
                    <a:pt x="144" y="10"/>
                    <a:pt x="144" y="10"/>
                    <a:pt x="144" y="10"/>
                  </a:cubicBezTo>
                  <a:cubicBezTo>
                    <a:pt x="134" y="33"/>
                    <a:pt x="111" y="49"/>
                    <a:pt x="85" y="49"/>
                  </a:cubicBezTo>
                  <a:cubicBezTo>
                    <a:pt x="68" y="49"/>
                    <a:pt x="51" y="42"/>
                    <a:pt x="39" y="30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55"/>
                    <a:pt x="8" y="55"/>
                    <a:pt x="8" y="55"/>
                  </a:cubicBezTo>
                  <a:lnTo>
                    <a:pt x="27" y="36"/>
                  </a:lnTo>
                  <a:close/>
                </a:path>
              </a:pathLst>
            </a:custGeom>
            <a:grpFill/>
            <a:ln>
              <a:solidFill>
                <a:srgbClr val="605E8C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38" name="组合 37"/>
          <p:cNvGrpSpPr/>
          <p:nvPr>
            <p:custDataLst>
              <p:tags r:id="rId15"/>
            </p:custDataLst>
          </p:nvPr>
        </p:nvGrpSpPr>
        <p:grpSpPr>
          <a:xfrm>
            <a:off x="6750409" y="2732926"/>
            <a:ext cx="409576" cy="244475"/>
            <a:chOff x="4652963" y="3305176"/>
            <a:chExt cx="409576" cy="244475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39" name="102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4652963" y="3305176"/>
              <a:ext cx="244475" cy="222250"/>
            </a:xfrm>
            <a:custGeom>
              <a:avLst/>
              <a:gdLst>
                <a:gd name="T0" fmla="*/ 154 w 154"/>
                <a:gd name="T1" fmla="*/ 140 h 140"/>
                <a:gd name="T2" fmla="*/ 50 w 154"/>
                <a:gd name="T3" fmla="*/ 140 h 140"/>
                <a:gd name="T4" fmla="*/ 50 w 154"/>
                <a:gd name="T5" fmla="*/ 69 h 140"/>
                <a:gd name="T6" fmla="*/ 0 w 154"/>
                <a:gd name="T7" fmla="*/ 69 h 140"/>
                <a:gd name="T8" fmla="*/ 69 w 154"/>
                <a:gd name="T9" fmla="*/ 0 h 140"/>
                <a:gd name="T10" fmla="*/ 140 w 154"/>
                <a:gd name="T11" fmla="*/ 69 h 140"/>
                <a:gd name="T12" fmla="*/ 90 w 154"/>
                <a:gd name="T13" fmla="*/ 69 h 140"/>
                <a:gd name="T14" fmla="*/ 90 w 154"/>
                <a:gd name="T15" fmla="*/ 100 h 140"/>
                <a:gd name="T16" fmla="*/ 114 w 154"/>
                <a:gd name="T17" fmla="*/ 100 h 140"/>
                <a:gd name="T18" fmla="*/ 154 w 154"/>
                <a:gd name="T19" fmla="*/ 140 h 140"/>
                <a:gd name="T20" fmla="*/ 61 w 154"/>
                <a:gd name="T21" fmla="*/ 129 h 140"/>
                <a:gd name="T22" fmla="*/ 128 w 154"/>
                <a:gd name="T23" fmla="*/ 129 h 140"/>
                <a:gd name="T24" fmla="*/ 110 w 154"/>
                <a:gd name="T25" fmla="*/ 111 h 140"/>
                <a:gd name="T26" fmla="*/ 79 w 154"/>
                <a:gd name="T27" fmla="*/ 111 h 140"/>
                <a:gd name="T28" fmla="*/ 79 w 154"/>
                <a:gd name="T29" fmla="*/ 58 h 140"/>
                <a:gd name="T30" fmla="*/ 114 w 154"/>
                <a:gd name="T31" fmla="*/ 58 h 140"/>
                <a:gd name="T32" fmla="*/ 69 w 154"/>
                <a:gd name="T33" fmla="*/ 15 h 140"/>
                <a:gd name="T34" fmla="*/ 26 w 154"/>
                <a:gd name="T35" fmla="*/ 58 h 140"/>
                <a:gd name="T36" fmla="*/ 61 w 154"/>
                <a:gd name="T37" fmla="*/ 58 h 140"/>
                <a:gd name="T38" fmla="*/ 61 w 154"/>
                <a:gd name="T39" fmla="*/ 129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54" h="140">
                  <a:moveTo>
                    <a:pt x="154" y="140"/>
                  </a:moveTo>
                  <a:lnTo>
                    <a:pt x="50" y="140"/>
                  </a:lnTo>
                  <a:lnTo>
                    <a:pt x="50" y="69"/>
                  </a:lnTo>
                  <a:lnTo>
                    <a:pt x="0" y="69"/>
                  </a:lnTo>
                  <a:lnTo>
                    <a:pt x="69" y="0"/>
                  </a:lnTo>
                  <a:lnTo>
                    <a:pt x="140" y="69"/>
                  </a:lnTo>
                  <a:lnTo>
                    <a:pt x="90" y="69"/>
                  </a:lnTo>
                  <a:lnTo>
                    <a:pt x="90" y="100"/>
                  </a:lnTo>
                  <a:lnTo>
                    <a:pt x="114" y="100"/>
                  </a:lnTo>
                  <a:lnTo>
                    <a:pt x="154" y="140"/>
                  </a:lnTo>
                  <a:close/>
                  <a:moveTo>
                    <a:pt x="61" y="129"/>
                  </a:moveTo>
                  <a:lnTo>
                    <a:pt x="128" y="129"/>
                  </a:lnTo>
                  <a:lnTo>
                    <a:pt x="110" y="111"/>
                  </a:lnTo>
                  <a:lnTo>
                    <a:pt x="79" y="111"/>
                  </a:lnTo>
                  <a:lnTo>
                    <a:pt x="79" y="58"/>
                  </a:lnTo>
                  <a:lnTo>
                    <a:pt x="114" y="58"/>
                  </a:lnTo>
                  <a:lnTo>
                    <a:pt x="69" y="15"/>
                  </a:lnTo>
                  <a:lnTo>
                    <a:pt x="26" y="58"/>
                  </a:lnTo>
                  <a:lnTo>
                    <a:pt x="61" y="58"/>
                  </a:lnTo>
                  <a:lnTo>
                    <a:pt x="61" y="12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0" name="103"/>
            <p:cNvSpPr>
              <a:spLocks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4838701" y="3335338"/>
              <a:ext cx="223838" cy="214313"/>
            </a:xfrm>
            <a:custGeom>
              <a:avLst/>
              <a:gdLst>
                <a:gd name="T0" fmla="*/ 77 w 141"/>
                <a:gd name="T1" fmla="*/ 135 h 135"/>
                <a:gd name="T2" fmla="*/ 13 w 141"/>
                <a:gd name="T3" fmla="*/ 71 h 135"/>
                <a:gd name="T4" fmla="*/ 61 w 141"/>
                <a:gd name="T5" fmla="*/ 71 h 135"/>
                <a:gd name="T6" fmla="*/ 61 w 141"/>
                <a:gd name="T7" fmla="*/ 34 h 135"/>
                <a:gd name="T8" fmla="*/ 34 w 141"/>
                <a:gd name="T9" fmla="*/ 34 h 135"/>
                <a:gd name="T10" fmla="*/ 0 w 141"/>
                <a:gd name="T11" fmla="*/ 0 h 135"/>
                <a:gd name="T12" fmla="*/ 94 w 141"/>
                <a:gd name="T13" fmla="*/ 0 h 135"/>
                <a:gd name="T14" fmla="*/ 94 w 141"/>
                <a:gd name="T15" fmla="*/ 71 h 135"/>
                <a:gd name="T16" fmla="*/ 141 w 141"/>
                <a:gd name="T17" fmla="*/ 71 h 135"/>
                <a:gd name="T18" fmla="*/ 77 w 141"/>
                <a:gd name="T19" fmla="*/ 135 h 135"/>
                <a:gd name="T20" fmla="*/ 27 w 141"/>
                <a:gd name="T21" fmla="*/ 76 h 135"/>
                <a:gd name="T22" fmla="*/ 77 w 141"/>
                <a:gd name="T23" fmla="*/ 126 h 135"/>
                <a:gd name="T24" fmla="*/ 128 w 141"/>
                <a:gd name="T25" fmla="*/ 76 h 135"/>
                <a:gd name="T26" fmla="*/ 88 w 141"/>
                <a:gd name="T27" fmla="*/ 76 h 135"/>
                <a:gd name="T28" fmla="*/ 88 w 141"/>
                <a:gd name="T29" fmla="*/ 5 h 135"/>
                <a:gd name="T30" fmla="*/ 13 w 141"/>
                <a:gd name="T31" fmla="*/ 5 h 135"/>
                <a:gd name="T32" fmla="*/ 35 w 141"/>
                <a:gd name="T33" fmla="*/ 28 h 135"/>
                <a:gd name="T34" fmla="*/ 67 w 141"/>
                <a:gd name="T35" fmla="*/ 28 h 135"/>
                <a:gd name="T36" fmla="*/ 67 w 141"/>
                <a:gd name="T37" fmla="*/ 76 h 135"/>
                <a:gd name="T38" fmla="*/ 27 w 141"/>
                <a:gd name="T39" fmla="*/ 76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1" h="135">
                  <a:moveTo>
                    <a:pt x="77" y="135"/>
                  </a:moveTo>
                  <a:lnTo>
                    <a:pt x="13" y="71"/>
                  </a:lnTo>
                  <a:lnTo>
                    <a:pt x="61" y="71"/>
                  </a:lnTo>
                  <a:lnTo>
                    <a:pt x="61" y="34"/>
                  </a:lnTo>
                  <a:lnTo>
                    <a:pt x="34" y="34"/>
                  </a:lnTo>
                  <a:lnTo>
                    <a:pt x="0" y="0"/>
                  </a:lnTo>
                  <a:lnTo>
                    <a:pt x="94" y="0"/>
                  </a:lnTo>
                  <a:lnTo>
                    <a:pt x="94" y="71"/>
                  </a:lnTo>
                  <a:lnTo>
                    <a:pt x="141" y="71"/>
                  </a:lnTo>
                  <a:lnTo>
                    <a:pt x="77" y="135"/>
                  </a:lnTo>
                  <a:close/>
                  <a:moveTo>
                    <a:pt x="27" y="76"/>
                  </a:moveTo>
                  <a:lnTo>
                    <a:pt x="77" y="126"/>
                  </a:lnTo>
                  <a:lnTo>
                    <a:pt x="128" y="76"/>
                  </a:lnTo>
                  <a:lnTo>
                    <a:pt x="88" y="76"/>
                  </a:lnTo>
                  <a:lnTo>
                    <a:pt x="88" y="5"/>
                  </a:lnTo>
                  <a:lnTo>
                    <a:pt x="13" y="5"/>
                  </a:lnTo>
                  <a:lnTo>
                    <a:pt x="35" y="28"/>
                  </a:lnTo>
                  <a:lnTo>
                    <a:pt x="67" y="28"/>
                  </a:lnTo>
                  <a:lnTo>
                    <a:pt x="67" y="76"/>
                  </a:lnTo>
                  <a:lnTo>
                    <a:pt x="27" y="76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41" name="组合 40"/>
          <p:cNvGrpSpPr/>
          <p:nvPr>
            <p:custDataLst>
              <p:tags r:id="rId18"/>
            </p:custDataLst>
          </p:nvPr>
        </p:nvGrpSpPr>
        <p:grpSpPr>
          <a:xfrm>
            <a:off x="4529023" y="4831708"/>
            <a:ext cx="369888" cy="388938"/>
            <a:chOff x="3017838" y="3233738"/>
            <a:chExt cx="369888" cy="388938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42" name="104"/>
            <p:cNvSpPr>
              <a:spLocks noEditPoints="1"/>
            </p:cNvSpPr>
            <p:nvPr>
              <p:custDataLst>
                <p:tags r:id="rId19"/>
              </p:custDataLst>
            </p:nvPr>
          </p:nvSpPr>
          <p:spPr bwMode="auto">
            <a:xfrm>
              <a:off x="3017838" y="3233738"/>
              <a:ext cx="369888" cy="388938"/>
            </a:xfrm>
            <a:custGeom>
              <a:avLst/>
              <a:gdLst>
                <a:gd name="T0" fmla="*/ 121 w 171"/>
                <a:gd name="T1" fmla="*/ 180 h 180"/>
                <a:gd name="T2" fmla="*/ 121 w 171"/>
                <a:gd name="T3" fmla="*/ 144 h 180"/>
                <a:gd name="T4" fmla="*/ 74 w 171"/>
                <a:gd name="T5" fmla="*/ 129 h 180"/>
                <a:gd name="T6" fmla="*/ 52 w 171"/>
                <a:gd name="T7" fmla="*/ 96 h 180"/>
                <a:gd name="T8" fmla="*/ 4 w 171"/>
                <a:gd name="T9" fmla="*/ 64 h 180"/>
                <a:gd name="T10" fmla="*/ 0 w 171"/>
                <a:gd name="T11" fmla="*/ 64 h 180"/>
                <a:gd name="T12" fmla="*/ 0 w 171"/>
                <a:gd name="T13" fmla="*/ 36 h 180"/>
                <a:gd name="T14" fmla="*/ 4 w 171"/>
                <a:gd name="T15" fmla="*/ 36 h 180"/>
                <a:gd name="T16" fmla="*/ 54 w 171"/>
                <a:gd name="T17" fmla="*/ 52 h 180"/>
                <a:gd name="T18" fmla="*/ 77 w 171"/>
                <a:gd name="T19" fmla="*/ 84 h 180"/>
                <a:gd name="T20" fmla="*/ 121 w 171"/>
                <a:gd name="T21" fmla="*/ 116 h 180"/>
                <a:gd name="T22" fmla="*/ 121 w 171"/>
                <a:gd name="T23" fmla="*/ 64 h 180"/>
                <a:gd name="T24" fmla="*/ 88 w 171"/>
                <a:gd name="T25" fmla="*/ 78 h 180"/>
                <a:gd name="T26" fmla="*/ 84 w 171"/>
                <a:gd name="T27" fmla="*/ 82 h 180"/>
                <a:gd name="T28" fmla="*/ 81 w 171"/>
                <a:gd name="T29" fmla="*/ 77 h 180"/>
                <a:gd name="T30" fmla="*/ 71 w 171"/>
                <a:gd name="T31" fmla="*/ 59 h 180"/>
                <a:gd name="T32" fmla="*/ 69 w 171"/>
                <a:gd name="T33" fmla="*/ 56 h 180"/>
                <a:gd name="T34" fmla="*/ 71 w 171"/>
                <a:gd name="T35" fmla="*/ 54 h 180"/>
                <a:gd name="T36" fmla="*/ 74 w 171"/>
                <a:gd name="T37" fmla="*/ 52 h 180"/>
                <a:gd name="T38" fmla="*/ 121 w 171"/>
                <a:gd name="T39" fmla="*/ 36 h 180"/>
                <a:gd name="T40" fmla="*/ 121 w 171"/>
                <a:gd name="T41" fmla="*/ 0 h 180"/>
                <a:gd name="T42" fmla="*/ 171 w 171"/>
                <a:gd name="T43" fmla="*/ 50 h 180"/>
                <a:gd name="T44" fmla="*/ 130 w 171"/>
                <a:gd name="T45" fmla="*/ 90 h 180"/>
                <a:gd name="T46" fmla="*/ 171 w 171"/>
                <a:gd name="T47" fmla="*/ 130 h 180"/>
                <a:gd name="T48" fmla="*/ 121 w 171"/>
                <a:gd name="T49" fmla="*/ 180 h 180"/>
                <a:gd name="T50" fmla="*/ 8 w 171"/>
                <a:gd name="T51" fmla="*/ 56 h 180"/>
                <a:gd name="T52" fmla="*/ 59 w 171"/>
                <a:gd name="T53" fmla="*/ 93 h 180"/>
                <a:gd name="T54" fmla="*/ 79 w 171"/>
                <a:gd name="T55" fmla="*/ 122 h 180"/>
                <a:gd name="T56" fmla="*/ 125 w 171"/>
                <a:gd name="T57" fmla="*/ 137 h 180"/>
                <a:gd name="T58" fmla="*/ 129 w 171"/>
                <a:gd name="T59" fmla="*/ 137 h 180"/>
                <a:gd name="T60" fmla="*/ 129 w 171"/>
                <a:gd name="T61" fmla="*/ 161 h 180"/>
                <a:gd name="T62" fmla="*/ 159 w 171"/>
                <a:gd name="T63" fmla="*/ 130 h 180"/>
                <a:gd name="T64" fmla="*/ 129 w 171"/>
                <a:gd name="T65" fmla="*/ 100 h 180"/>
                <a:gd name="T66" fmla="*/ 129 w 171"/>
                <a:gd name="T67" fmla="*/ 124 h 180"/>
                <a:gd name="T68" fmla="*/ 125 w 171"/>
                <a:gd name="T69" fmla="*/ 124 h 180"/>
                <a:gd name="T70" fmla="*/ 70 w 171"/>
                <a:gd name="T71" fmla="*/ 87 h 180"/>
                <a:gd name="T72" fmla="*/ 49 w 171"/>
                <a:gd name="T73" fmla="*/ 58 h 180"/>
                <a:gd name="T74" fmla="*/ 8 w 171"/>
                <a:gd name="T75" fmla="*/ 44 h 180"/>
                <a:gd name="T76" fmla="*/ 8 w 171"/>
                <a:gd name="T77" fmla="*/ 56 h 180"/>
                <a:gd name="T78" fmla="*/ 125 w 171"/>
                <a:gd name="T79" fmla="*/ 56 h 180"/>
                <a:gd name="T80" fmla="*/ 129 w 171"/>
                <a:gd name="T81" fmla="*/ 56 h 180"/>
                <a:gd name="T82" fmla="*/ 129 w 171"/>
                <a:gd name="T83" fmla="*/ 80 h 180"/>
                <a:gd name="T84" fmla="*/ 159 w 171"/>
                <a:gd name="T85" fmla="*/ 50 h 180"/>
                <a:gd name="T86" fmla="*/ 129 w 171"/>
                <a:gd name="T87" fmla="*/ 19 h 180"/>
                <a:gd name="T88" fmla="*/ 129 w 171"/>
                <a:gd name="T89" fmla="*/ 44 h 180"/>
                <a:gd name="T90" fmla="*/ 125 w 171"/>
                <a:gd name="T91" fmla="*/ 44 h 180"/>
                <a:gd name="T92" fmla="*/ 79 w 171"/>
                <a:gd name="T93" fmla="*/ 58 h 180"/>
                <a:gd name="T94" fmla="*/ 86 w 171"/>
                <a:gd name="T95" fmla="*/ 68 h 180"/>
                <a:gd name="T96" fmla="*/ 125 w 171"/>
                <a:gd name="T97" fmla="*/ 56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71" h="180">
                  <a:moveTo>
                    <a:pt x="121" y="180"/>
                  </a:moveTo>
                  <a:cubicBezTo>
                    <a:pt x="121" y="144"/>
                    <a:pt x="121" y="144"/>
                    <a:pt x="121" y="144"/>
                  </a:cubicBezTo>
                  <a:cubicBezTo>
                    <a:pt x="101" y="144"/>
                    <a:pt x="86" y="139"/>
                    <a:pt x="74" y="129"/>
                  </a:cubicBezTo>
                  <a:cubicBezTo>
                    <a:pt x="63" y="119"/>
                    <a:pt x="57" y="108"/>
                    <a:pt x="52" y="96"/>
                  </a:cubicBezTo>
                  <a:cubicBezTo>
                    <a:pt x="42" y="78"/>
                    <a:pt x="35" y="64"/>
                    <a:pt x="4" y="64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25" y="36"/>
                    <a:pt x="42" y="41"/>
                    <a:pt x="54" y="52"/>
                  </a:cubicBezTo>
                  <a:cubicBezTo>
                    <a:pt x="65" y="61"/>
                    <a:pt x="71" y="73"/>
                    <a:pt x="77" y="84"/>
                  </a:cubicBezTo>
                  <a:cubicBezTo>
                    <a:pt x="86" y="102"/>
                    <a:pt x="92" y="115"/>
                    <a:pt x="121" y="116"/>
                  </a:cubicBezTo>
                  <a:cubicBezTo>
                    <a:pt x="121" y="64"/>
                    <a:pt x="121" y="64"/>
                    <a:pt x="121" y="64"/>
                  </a:cubicBezTo>
                  <a:cubicBezTo>
                    <a:pt x="101" y="65"/>
                    <a:pt x="93" y="71"/>
                    <a:pt x="88" y="78"/>
                  </a:cubicBezTo>
                  <a:cubicBezTo>
                    <a:pt x="84" y="82"/>
                    <a:pt x="84" y="82"/>
                    <a:pt x="84" y="82"/>
                  </a:cubicBezTo>
                  <a:cubicBezTo>
                    <a:pt x="81" y="77"/>
                    <a:pt x="81" y="77"/>
                    <a:pt x="81" y="77"/>
                  </a:cubicBezTo>
                  <a:cubicBezTo>
                    <a:pt x="78" y="71"/>
                    <a:pt x="75" y="65"/>
                    <a:pt x="71" y="59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71" y="54"/>
                    <a:pt x="71" y="54"/>
                    <a:pt x="71" y="54"/>
                  </a:cubicBezTo>
                  <a:cubicBezTo>
                    <a:pt x="72" y="53"/>
                    <a:pt x="73" y="52"/>
                    <a:pt x="74" y="52"/>
                  </a:cubicBezTo>
                  <a:cubicBezTo>
                    <a:pt x="86" y="42"/>
                    <a:pt x="101" y="36"/>
                    <a:pt x="121" y="36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171" y="50"/>
                    <a:pt x="171" y="50"/>
                    <a:pt x="171" y="50"/>
                  </a:cubicBezTo>
                  <a:cubicBezTo>
                    <a:pt x="130" y="90"/>
                    <a:pt x="130" y="90"/>
                    <a:pt x="130" y="90"/>
                  </a:cubicBezTo>
                  <a:cubicBezTo>
                    <a:pt x="171" y="130"/>
                    <a:pt x="171" y="130"/>
                    <a:pt x="171" y="130"/>
                  </a:cubicBezTo>
                  <a:lnTo>
                    <a:pt x="121" y="180"/>
                  </a:lnTo>
                  <a:close/>
                  <a:moveTo>
                    <a:pt x="8" y="56"/>
                  </a:moveTo>
                  <a:cubicBezTo>
                    <a:pt x="41" y="57"/>
                    <a:pt x="49" y="74"/>
                    <a:pt x="59" y="93"/>
                  </a:cubicBezTo>
                  <a:cubicBezTo>
                    <a:pt x="64" y="103"/>
                    <a:pt x="69" y="114"/>
                    <a:pt x="79" y="122"/>
                  </a:cubicBezTo>
                  <a:cubicBezTo>
                    <a:pt x="90" y="132"/>
                    <a:pt x="105" y="137"/>
                    <a:pt x="125" y="137"/>
                  </a:cubicBezTo>
                  <a:cubicBezTo>
                    <a:pt x="129" y="137"/>
                    <a:pt x="129" y="137"/>
                    <a:pt x="129" y="137"/>
                  </a:cubicBezTo>
                  <a:cubicBezTo>
                    <a:pt x="129" y="161"/>
                    <a:pt x="129" y="161"/>
                    <a:pt x="129" y="161"/>
                  </a:cubicBezTo>
                  <a:cubicBezTo>
                    <a:pt x="159" y="130"/>
                    <a:pt x="159" y="130"/>
                    <a:pt x="159" y="130"/>
                  </a:cubicBezTo>
                  <a:cubicBezTo>
                    <a:pt x="129" y="100"/>
                    <a:pt x="129" y="100"/>
                    <a:pt x="129" y="100"/>
                  </a:cubicBezTo>
                  <a:cubicBezTo>
                    <a:pt x="129" y="124"/>
                    <a:pt x="129" y="124"/>
                    <a:pt x="129" y="124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88" y="124"/>
                    <a:pt x="80" y="107"/>
                    <a:pt x="70" y="87"/>
                  </a:cubicBezTo>
                  <a:cubicBezTo>
                    <a:pt x="64" y="77"/>
                    <a:pt x="59" y="66"/>
                    <a:pt x="49" y="58"/>
                  </a:cubicBezTo>
                  <a:cubicBezTo>
                    <a:pt x="39" y="49"/>
                    <a:pt x="25" y="44"/>
                    <a:pt x="8" y="44"/>
                  </a:cubicBezTo>
                  <a:lnTo>
                    <a:pt x="8" y="56"/>
                  </a:lnTo>
                  <a:close/>
                  <a:moveTo>
                    <a:pt x="125" y="56"/>
                  </a:moveTo>
                  <a:cubicBezTo>
                    <a:pt x="129" y="56"/>
                    <a:pt x="129" y="56"/>
                    <a:pt x="129" y="56"/>
                  </a:cubicBezTo>
                  <a:cubicBezTo>
                    <a:pt x="129" y="80"/>
                    <a:pt x="129" y="80"/>
                    <a:pt x="129" y="80"/>
                  </a:cubicBezTo>
                  <a:cubicBezTo>
                    <a:pt x="159" y="50"/>
                    <a:pt x="159" y="50"/>
                    <a:pt x="159" y="50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29" y="44"/>
                    <a:pt x="129" y="44"/>
                    <a:pt x="129" y="44"/>
                  </a:cubicBezTo>
                  <a:cubicBezTo>
                    <a:pt x="125" y="44"/>
                    <a:pt x="125" y="44"/>
                    <a:pt x="125" y="44"/>
                  </a:cubicBezTo>
                  <a:cubicBezTo>
                    <a:pt x="105" y="44"/>
                    <a:pt x="90" y="48"/>
                    <a:pt x="79" y="58"/>
                  </a:cubicBezTo>
                  <a:cubicBezTo>
                    <a:pt x="82" y="61"/>
                    <a:pt x="84" y="65"/>
                    <a:pt x="86" y="68"/>
                  </a:cubicBezTo>
                  <a:cubicBezTo>
                    <a:pt x="95" y="60"/>
                    <a:pt x="107" y="56"/>
                    <a:pt x="125" y="56"/>
                  </a:cubicBez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3" name="105"/>
            <p:cNvSpPr>
              <a:spLocks noEditPoints="1"/>
            </p:cNvSpPr>
            <p:nvPr>
              <p:custDataLst>
                <p:tags r:id="rId20"/>
              </p:custDataLst>
            </p:nvPr>
          </p:nvSpPr>
          <p:spPr bwMode="auto">
            <a:xfrm>
              <a:off x="3021013" y="3454401"/>
              <a:ext cx="119063" cy="88900"/>
            </a:xfrm>
            <a:custGeom>
              <a:avLst/>
              <a:gdLst>
                <a:gd name="T0" fmla="*/ 2 w 55"/>
                <a:gd name="T1" fmla="*/ 41 h 41"/>
                <a:gd name="T2" fmla="*/ 0 w 55"/>
                <a:gd name="T3" fmla="*/ 41 h 41"/>
                <a:gd name="T4" fmla="*/ 0 w 55"/>
                <a:gd name="T5" fmla="*/ 16 h 41"/>
                <a:gd name="T6" fmla="*/ 2 w 55"/>
                <a:gd name="T7" fmla="*/ 16 h 41"/>
                <a:gd name="T8" fmla="*/ 40 w 55"/>
                <a:gd name="T9" fmla="*/ 2 h 41"/>
                <a:gd name="T10" fmla="*/ 42 w 55"/>
                <a:gd name="T11" fmla="*/ 0 h 41"/>
                <a:gd name="T12" fmla="*/ 43 w 55"/>
                <a:gd name="T13" fmla="*/ 2 h 41"/>
                <a:gd name="T14" fmla="*/ 54 w 55"/>
                <a:gd name="T15" fmla="*/ 20 h 41"/>
                <a:gd name="T16" fmla="*/ 55 w 55"/>
                <a:gd name="T17" fmla="*/ 22 h 41"/>
                <a:gd name="T18" fmla="*/ 54 w 55"/>
                <a:gd name="T19" fmla="*/ 23 h 41"/>
                <a:gd name="T20" fmla="*/ 51 w 55"/>
                <a:gd name="T21" fmla="*/ 25 h 41"/>
                <a:gd name="T22" fmla="*/ 2 w 55"/>
                <a:gd name="T23" fmla="*/ 41 h 41"/>
                <a:gd name="T24" fmla="*/ 4 w 55"/>
                <a:gd name="T25" fmla="*/ 20 h 41"/>
                <a:gd name="T26" fmla="*/ 4 w 55"/>
                <a:gd name="T27" fmla="*/ 37 h 41"/>
                <a:gd name="T28" fmla="*/ 49 w 55"/>
                <a:gd name="T29" fmla="*/ 22 h 41"/>
                <a:gd name="T30" fmla="*/ 50 w 55"/>
                <a:gd name="T31" fmla="*/ 21 h 41"/>
                <a:gd name="T32" fmla="*/ 41 w 55"/>
                <a:gd name="T33" fmla="*/ 7 h 41"/>
                <a:gd name="T34" fmla="*/ 4 w 55"/>
                <a:gd name="T35" fmla="*/ 2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5" h="41">
                  <a:moveTo>
                    <a:pt x="2" y="41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0" y="16"/>
                    <a:pt x="32" y="12"/>
                    <a:pt x="40" y="2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6" y="8"/>
                    <a:pt x="50" y="14"/>
                    <a:pt x="54" y="20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53" y="24"/>
                    <a:pt x="52" y="24"/>
                    <a:pt x="51" y="25"/>
                  </a:cubicBezTo>
                  <a:cubicBezTo>
                    <a:pt x="39" y="35"/>
                    <a:pt x="23" y="41"/>
                    <a:pt x="2" y="41"/>
                  </a:cubicBezTo>
                  <a:close/>
                  <a:moveTo>
                    <a:pt x="4" y="20"/>
                  </a:moveTo>
                  <a:cubicBezTo>
                    <a:pt x="4" y="37"/>
                    <a:pt x="4" y="37"/>
                    <a:pt x="4" y="37"/>
                  </a:cubicBezTo>
                  <a:cubicBezTo>
                    <a:pt x="23" y="36"/>
                    <a:pt x="37" y="31"/>
                    <a:pt x="49" y="22"/>
                  </a:cubicBezTo>
                  <a:cubicBezTo>
                    <a:pt x="49" y="22"/>
                    <a:pt x="49" y="21"/>
                    <a:pt x="50" y="21"/>
                  </a:cubicBezTo>
                  <a:cubicBezTo>
                    <a:pt x="46" y="16"/>
                    <a:pt x="44" y="11"/>
                    <a:pt x="41" y="7"/>
                  </a:cubicBezTo>
                  <a:cubicBezTo>
                    <a:pt x="32" y="16"/>
                    <a:pt x="21" y="20"/>
                    <a:pt x="4" y="20"/>
                  </a:cubicBez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>
            <p:custDataLst>
              <p:tags r:id="rId21"/>
            </p:custDataLst>
          </p:nvPr>
        </p:nvGrpSpPr>
        <p:grpSpPr>
          <a:xfrm>
            <a:off x="1584325" y="2166620"/>
            <a:ext cx="2070735" cy="1915160"/>
            <a:chOff x="2267" y="3190"/>
            <a:chExt cx="3261" cy="3016"/>
          </a:xfrm>
        </p:grpSpPr>
        <p:sp>
          <p:nvSpPr>
            <p:cNvPr id="9" name="TextBox 45"/>
            <p:cNvSpPr txBox="1"/>
            <p:nvPr>
              <p:custDataLst>
                <p:tags r:id="rId22"/>
              </p:custDataLst>
            </p:nvPr>
          </p:nvSpPr>
          <p:spPr>
            <a:xfrm>
              <a:off x="2267" y="3190"/>
              <a:ext cx="3261" cy="663"/>
            </a:xfrm>
            <a:prstGeom prst="rect">
              <a:avLst/>
            </a:prstGeom>
          </p:spPr>
          <p:txBody>
            <a:bodyPr vert="horz" wrap="none" lIns="0" tIns="0" rIns="0" bIns="0" anchor="b" anchorCtr="1">
              <a:normAutofit/>
            </a:bodyPr>
            <a:lstStyle/>
            <a:p>
              <a:pPr algn="ctr"/>
              <a:r>
                <a:rPr lang="en-US" altLang="zh-C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Workspace profile</a:t>
              </a:r>
              <a:endPara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" name="TextBox 46"/>
            <p:cNvSpPr txBox="1"/>
            <p:nvPr>
              <p:custDataLst>
                <p:tags r:id="rId23"/>
              </p:custDataLst>
            </p:nvPr>
          </p:nvSpPr>
          <p:spPr>
            <a:xfrm>
              <a:off x="2408" y="3853"/>
              <a:ext cx="2977" cy="2353"/>
            </a:xfrm>
            <a:prstGeom prst="rect">
              <a:avLst/>
            </a:prstGeom>
          </p:spPr>
          <p:txBody>
            <a:bodyPr vert="horz" wrap="square" lIns="0" tIns="0" rIns="0" bIns="0" anchor="t" anchorCtr="1">
              <a:noAutofit/>
            </a:bodyPr>
            <a:lstStyle/>
            <a:p>
              <a:pPr lvl="0" indent="0" algn="l" fontAlgn="auto">
                <a:lnSpc>
                  <a:spcPct val="150000"/>
                </a:lnSpc>
              </a:pPr>
              <a:r>
                <a:rPr lang="zh-CN" altLang="en-US" b="1" dirty="0" smtClean="0">
                  <a:solidFill>
                    <a:srgbClr val="474479"/>
                  </a:solidFill>
                  <a:latin typeface="Bahnschrift" panose="020B0502040204020203" charset="0"/>
                  <a:cs typeface="Bahnschrift" panose="020B0502040204020203" charset="0"/>
                  <a:sym typeface="+mn-lt"/>
                </a:rPr>
                <a:t>学习、教学、科研决定身份、资源范围和默认策略</a:t>
              </a:r>
              <a:endParaRPr lang="zh-CN" altLang="en-US" b="1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892810" y="240030"/>
            <a:ext cx="4902835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05 / RUNTIME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dist">
              <a:lnSpc>
                <a:spcPct val="150000"/>
              </a:lnSpc>
              <a:buClrTx/>
              <a:buSzTx/>
              <a:buFontTx/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从 Workspace 到 Agent Runtime</a:t>
            </a:r>
            <a:endParaRPr lang="zh-CN" altLang="en-US" sz="2400" b="0" i="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algn="dist">
              <a:lnSpc>
                <a:spcPct val="150000"/>
              </a:lnSpc>
              <a:buClrTx/>
              <a:buSzTx/>
              <a:buFontTx/>
            </a:pP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l">
              <a:lnSpc>
                <a:spcPct val="150000"/>
              </a:lnSpc>
            </a:pP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28065" y="1360805"/>
            <a:ext cx="10067290" cy="413385"/>
          </a:xfrm>
          <a:prstGeom prst="rect">
            <a:avLst/>
          </a:prstGeom>
          <a:solidFill>
            <a:schemeClr val="tx2">
              <a:lumMod val="25000"/>
              <a:lumOff val="75000"/>
              <a:alpha val="70000"/>
            </a:schemeClr>
          </a:solidFill>
        </p:spPr>
        <p:txBody>
          <a:bodyPr wrap="square" rtlCol="0" anchor="t">
            <a:spAutoFit/>
          </a:bodyPr>
          <a:p>
            <a:pPr algn="di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运行时按角色、资源范围、能力清单和工具预算执行，而不是让模型无边界调用工具</a:t>
            </a:r>
            <a:endParaRPr lang="zh-CN" altLang="en-US" sz="2000" b="1">
              <a:solidFill>
                <a:schemeClr val="bg1"/>
              </a:solidFill>
              <a:latin typeface="微软雅黑" panose="020B0503020204020204" charset="-122"/>
              <a:sym typeface="+mn-ea"/>
            </a:endParaRPr>
          </a:p>
        </p:txBody>
      </p:sp>
      <p:grpSp>
        <p:nvGrpSpPr>
          <p:cNvPr id="48" name="组合 47"/>
          <p:cNvGrpSpPr/>
          <p:nvPr>
            <p:custDataLst>
              <p:tags r:id="rId24"/>
            </p:custDataLst>
          </p:nvPr>
        </p:nvGrpSpPr>
        <p:grpSpPr>
          <a:xfrm>
            <a:off x="1584325" y="4073525"/>
            <a:ext cx="2070735" cy="1978660"/>
            <a:chOff x="2267" y="3090"/>
            <a:chExt cx="3261" cy="3116"/>
          </a:xfrm>
        </p:grpSpPr>
        <p:sp>
          <p:nvSpPr>
            <p:cNvPr id="49" name="TextBox 45"/>
            <p:cNvSpPr txBox="1"/>
            <p:nvPr>
              <p:custDataLst>
                <p:tags r:id="rId25"/>
              </p:custDataLst>
            </p:nvPr>
          </p:nvSpPr>
          <p:spPr>
            <a:xfrm>
              <a:off x="2267" y="3090"/>
              <a:ext cx="3261" cy="663"/>
            </a:xfrm>
            <a:prstGeom prst="rect">
              <a:avLst/>
            </a:prstGeom>
          </p:spPr>
          <p:txBody>
            <a:bodyPr vert="horz" wrap="none" lIns="0" tIns="0" rIns="0" bIns="0" anchor="b" anchorCtr="1">
              <a:normAutofit/>
            </a:bodyPr>
            <a:lstStyle/>
            <a:p>
              <a:pPr algn="ctr"/>
              <a:r>
                <a:rPr lang="en-US" altLang="zh-C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Context composer</a:t>
              </a:r>
              <a:endPara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0" name="TextBox 46"/>
            <p:cNvSpPr txBox="1"/>
            <p:nvPr>
              <p:custDataLst>
                <p:tags r:id="rId26"/>
              </p:custDataLst>
            </p:nvPr>
          </p:nvSpPr>
          <p:spPr>
            <a:xfrm>
              <a:off x="2408" y="3853"/>
              <a:ext cx="2977" cy="2353"/>
            </a:xfrm>
            <a:prstGeom prst="rect">
              <a:avLst/>
            </a:prstGeom>
          </p:spPr>
          <p:txBody>
            <a:bodyPr vert="horz" wrap="square" lIns="0" tIns="0" rIns="0" bIns="0" anchor="t" anchorCtr="1">
              <a:noAutofit/>
            </a:bodyPr>
            <a:lstStyle/>
            <a:p>
              <a:pPr lvl="0" indent="0" algn="l" fontAlgn="auto">
                <a:lnSpc>
                  <a:spcPct val="150000"/>
                </a:lnSpc>
              </a:pPr>
              <a:r>
                <a:rPr lang="zh-CN" altLang="en-US" b="1" dirty="0" smtClean="0">
                  <a:solidFill>
                    <a:srgbClr val="474479"/>
                  </a:solidFill>
                  <a:latin typeface="Bahnschrift" panose="020B0502040204020203" charset="0"/>
                  <a:cs typeface="Bahnschrift" panose="020B0502040204020203" charset="0"/>
                  <a:sym typeface="+mn-lt"/>
                </a:rPr>
                <a:t>组合任务、课程/项目上下文、权限和证据投影</a:t>
              </a:r>
              <a:endParaRPr lang="zh-CN" altLang="en-US" b="1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endParaRPr>
            </a:p>
          </p:txBody>
        </p:sp>
      </p:grpSp>
      <p:grpSp>
        <p:nvGrpSpPr>
          <p:cNvPr id="57" name="组合 56"/>
          <p:cNvGrpSpPr/>
          <p:nvPr>
            <p:custDataLst>
              <p:tags r:id="rId27"/>
            </p:custDataLst>
          </p:nvPr>
        </p:nvGrpSpPr>
        <p:grpSpPr>
          <a:xfrm>
            <a:off x="8312785" y="4137025"/>
            <a:ext cx="2070735" cy="1915160"/>
            <a:chOff x="2267" y="3190"/>
            <a:chExt cx="3261" cy="3016"/>
          </a:xfrm>
        </p:grpSpPr>
        <p:sp>
          <p:nvSpPr>
            <p:cNvPr id="58" name="TextBox 45"/>
            <p:cNvSpPr txBox="1"/>
            <p:nvPr>
              <p:custDataLst>
                <p:tags r:id="rId28"/>
              </p:custDataLst>
            </p:nvPr>
          </p:nvSpPr>
          <p:spPr>
            <a:xfrm>
              <a:off x="2267" y="3190"/>
              <a:ext cx="3261" cy="663"/>
            </a:xfrm>
            <a:prstGeom prst="rect">
              <a:avLst/>
            </a:prstGeom>
          </p:spPr>
          <p:txBody>
            <a:bodyPr vert="horz" wrap="none" lIns="0" tIns="0" rIns="0" bIns="0" anchor="b" anchorCtr="1">
              <a:normAutofit/>
            </a:bodyPr>
            <a:lstStyle/>
            <a:p>
              <a:pPr algn="ctr"/>
              <a:r>
                <a:rPr lang="en-US" altLang="zh-C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Audit &amp; evidence</a:t>
              </a:r>
              <a:endPara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9" name="TextBox 46"/>
            <p:cNvSpPr txBox="1"/>
            <p:nvPr>
              <p:custDataLst>
                <p:tags r:id="rId29"/>
              </p:custDataLst>
            </p:nvPr>
          </p:nvSpPr>
          <p:spPr>
            <a:xfrm>
              <a:off x="2408" y="3853"/>
              <a:ext cx="2977" cy="2353"/>
            </a:xfrm>
            <a:prstGeom prst="rect">
              <a:avLst/>
            </a:prstGeom>
          </p:spPr>
          <p:txBody>
            <a:bodyPr vert="horz" wrap="square" lIns="0" tIns="0" rIns="0" bIns="0" anchor="t" anchorCtr="1">
              <a:noAutofit/>
            </a:bodyPr>
            <a:lstStyle/>
            <a:p>
              <a:pPr lvl="0" indent="0" algn="l" fontAlgn="auto">
                <a:lnSpc>
                  <a:spcPct val="150000"/>
                </a:lnSpc>
              </a:pPr>
              <a:r>
                <a:rPr lang="zh-CN" altLang="en-US" b="1" dirty="0" smtClean="0">
                  <a:solidFill>
                    <a:srgbClr val="474479"/>
                  </a:solidFill>
                  <a:latin typeface="Bahnschrift" panose="020B0502040204020203" charset="0"/>
                  <a:cs typeface="Bahnschrift" panose="020B0502040204020203" charset="0"/>
                  <a:sym typeface="+mn-lt"/>
                </a:rPr>
                <a:t>关键操作写审计；学习与教学证据回到后续行动</a:t>
              </a:r>
              <a:endParaRPr lang="zh-CN" altLang="en-US" b="1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endParaRPr>
            </a:p>
          </p:txBody>
        </p:sp>
      </p:grpSp>
      <p:grpSp>
        <p:nvGrpSpPr>
          <p:cNvPr id="64" name="组合 63"/>
          <p:cNvGrpSpPr/>
          <p:nvPr>
            <p:custDataLst>
              <p:tags r:id="rId30"/>
            </p:custDataLst>
          </p:nvPr>
        </p:nvGrpSpPr>
        <p:grpSpPr>
          <a:xfrm>
            <a:off x="7991475" y="2165985"/>
            <a:ext cx="2338705" cy="1960245"/>
            <a:chOff x="1702" y="3119"/>
            <a:chExt cx="3683" cy="3087"/>
          </a:xfrm>
        </p:grpSpPr>
        <p:sp>
          <p:nvSpPr>
            <p:cNvPr id="65" name="TextBox 45"/>
            <p:cNvSpPr txBox="1"/>
            <p:nvPr>
              <p:custDataLst>
                <p:tags r:id="rId31"/>
              </p:custDataLst>
            </p:nvPr>
          </p:nvSpPr>
          <p:spPr>
            <a:xfrm>
              <a:off x="1702" y="3119"/>
              <a:ext cx="3261" cy="663"/>
            </a:xfrm>
            <a:prstGeom prst="rect">
              <a:avLst/>
            </a:prstGeom>
          </p:spPr>
          <p:txBody>
            <a:bodyPr vert="horz" wrap="none" lIns="0" tIns="0" rIns="0" bIns="0" anchor="b" anchorCtr="1">
              <a:normAutofit/>
            </a:bodyPr>
            <a:lstStyle/>
            <a:p>
              <a:pPr algn="l"/>
              <a:r>
                <a:rPr lang="en-US" altLang="zh-C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Agent loop</a:t>
              </a:r>
              <a:endPara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6" name="TextBox 46"/>
            <p:cNvSpPr txBox="1"/>
            <p:nvPr>
              <p:custDataLst>
                <p:tags r:id="rId32"/>
              </p:custDataLst>
            </p:nvPr>
          </p:nvSpPr>
          <p:spPr>
            <a:xfrm>
              <a:off x="2408" y="3853"/>
              <a:ext cx="2977" cy="2353"/>
            </a:xfrm>
            <a:prstGeom prst="rect">
              <a:avLst/>
            </a:prstGeom>
          </p:spPr>
          <p:txBody>
            <a:bodyPr vert="horz" wrap="square" lIns="0" tIns="0" rIns="0" bIns="0" anchor="t" anchorCtr="1">
              <a:noAutofit/>
            </a:bodyPr>
            <a:lstStyle/>
            <a:p>
              <a:pPr lvl="0" indent="0" algn="l" fontAlgn="auto">
                <a:lnSpc>
                  <a:spcPct val="150000"/>
                </a:lnSpc>
              </a:pPr>
              <a:r>
                <a:rPr lang="zh-CN" altLang="en-US" b="1" dirty="0" smtClean="0">
                  <a:solidFill>
                    <a:srgbClr val="474479"/>
                  </a:solidFill>
                  <a:latin typeface="Bahnschrift" panose="020B0502040204020203" charset="0"/>
                  <a:cs typeface="Bahnschrift" panose="020B0502040204020203" charset="0"/>
                  <a:sym typeface="+mn-lt"/>
                </a:rPr>
                <a:t>以受控工具循环执行，受能力与 </a:t>
              </a:r>
              <a:r>
                <a:rPr lang="en-US" altLang="zh-CN" b="1" dirty="0" smtClean="0">
                  <a:solidFill>
                    <a:srgbClr val="474479"/>
                  </a:solidFill>
                  <a:latin typeface="Bahnschrift" panose="020B0502040204020203" charset="0"/>
                  <a:cs typeface="Bahnschrift" panose="020B0502040204020203" charset="0"/>
                  <a:sym typeface="+mn-lt"/>
                </a:rPr>
                <a:t>token </a:t>
              </a:r>
              <a:r>
                <a:rPr lang="zh-CN" altLang="en-US" b="1" dirty="0" smtClean="0">
                  <a:solidFill>
                    <a:srgbClr val="474479"/>
                  </a:solidFill>
                  <a:latin typeface="Bahnschrift" panose="020B0502040204020203" charset="0"/>
                  <a:cs typeface="Bahnschrift" panose="020B0502040204020203" charset="0"/>
                  <a:sym typeface="+mn-lt"/>
                </a:rPr>
                <a:t>预算约束</a:t>
              </a:r>
              <a:endParaRPr lang="zh-CN" altLang="en-US" b="1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endParaRPr>
            </a:p>
          </p:txBody>
        </p:sp>
      </p:grpSp>
    </p:spTree>
    <p:custDataLst>
      <p:tags r:id="rId3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500"/>
                            </p:stCondLst>
                            <p:childTnLst>
                              <p:par>
                                <p:cTn id="7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 bldLvl="0" animBg="1"/>
      <p:bldP spid="14" grpId="0" bldLvl="0" animBg="1"/>
      <p:bldP spid="15" grpId="0" bldLvl="0" animBg="1"/>
      <p:bldP spid="2" grpId="0" bldLvl="0" animBg="1"/>
      <p:bldP spid="17" grpId="0" bldLvl="0" animBg="1"/>
      <p:bldP spid="18" grpId="0" bldLvl="0" animBg="1"/>
      <p:bldP spid="3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part.02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" name="íşľiḋé"/>
          <p:cNvGrpSpPr/>
          <p:nvPr>
            <p:custDataLst>
              <p:tags r:id="rId1"/>
            </p:custDataLst>
          </p:nvPr>
        </p:nvGrpSpPr>
        <p:grpSpPr>
          <a:xfrm>
            <a:off x="4363720" y="1756410"/>
            <a:ext cx="3534410" cy="3470910"/>
            <a:chOff x="1067142" y="1509486"/>
            <a:chExt cx="4513065" cy="4126063"/>
          </a:xfrm>
        </p:grpSpPr>
        <p:grpSp>
          <p:nvGrpSpPr>
            <p:cNvPr id="32" name="iŝ1ïdê"/>
            <p:cNvGrpSpPr/>
            <p:nvPr/>
          </p:nvGrpSpPr>
          <p:grpSpPr>
            <a:xfrm>
              <a:off x="1067142" y="1509486"/>
              <a:ext cx="4513065" cy="4126063"/>
              <a:chOff x="3302342" y="546212"/>
              <a:chExt cx="5843064" cy="5342011"/>
            </a:xfrm>
          </p:grpSpPr>
          <p:sp>
            <p:nvSpPr>
              <p:cNvPr id="38" name="íṥľîdé"/>
              <p:cNvSpPr/>
              <p:nvPr>
                <p:custDataLst>
                  <p:tags r:id="rId2"/>
                </p:custDataLst>
              </p:nvPr>
            </p:nvSpPr>
            <p:spPr>
              <a:xfrm rot="18900000" flipH="1">
                <a:off x="6593271" y="1987505"/>
                <a:ext cx="2552135" cy="2552135"/>
              </a:xfrm>
              <a:prstGeom prst="teardrop">
                <a:avLst/>
              </a:prstGeom>
              <a:solidFill>
                <a:srgbClr val="605E8C"/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9" name="iṣ1îḋé"/>
              <p:cNvSpPr/>
              <p:nvPr>
                <p:custDataLst>
                  <p:tags r:id="rId3"/>
                </p:custDataLst>
              </p:nvPr>
            </p:nvSpPr>
            <p:spPr>
              <a:xfrm rot="18900000" flipH="1">
                <a:off x="6672493" y="827585"/>
                <a:ext cx="1705474" cy="1705474"/>
              </a:xfrm>
              <a:prstGeom prst="teardrop">
                <a:avLst/>
              </a:prstGeom>
              <a:solidFill>
                <a:schemeClr val="bg2">
                  <a:lumMod val="65000"/>
                </a:schemeClr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ïṧlidê"/>
              <p:cNvSpPr/>
              <p:nvPr>
                <p:custDataLst>
                  <p:tags r:id="rId4"/>
                </p:custDataLst>
              </p:nvPr>
            </p:nvSpPr>
            <p:spPr>
              <a:xfrm rot="2700000">
                <a:off x="4294345" y="1229609"/>
                <a:ext cx="2237783" cy="2237783"/>
              </a:xfrm>
              <a:prstGeom prst="teardrop">
                <a:avLst/>
              </a:prstGeom>
              <a:solidFill>
                <a:srgbClr val="72719F"/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1" name="ïSḷïḍê"/>
              <p:cNvSpPr/>
              <p:nvPr>
                <p:custDataLst>
                  <p:tags r:id="rId5"/>
                </p:custDataLst>
              </p:nvPr>
            </p:nvSpPr>
            <p:spPr>
              <a:xfrm rot="2700000">
                <a:off x="5254783" y="546212"/>
                <a:ext cx="1285875" cy="1285875"/>
              </a:xfrm>
              <a:prstGeom prst="teardrop">
                <a:avLst/>
              </a:prstGeom>
              <a:solidFill>
                <a:srgbClr val="8C8BB1"/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2" name="işļíḑé"/>
              <p:cNvSpPr/>
              <p:nvPr>
                <p:custDataLst>
                  <p:tags r:id="rId6"/>
                </p:custDataLst>
              </p:nvPr>
            </p:nvSpPr>
            <p:spPr>
              <a:xfrm rot="2700000">
                <a:off x="3302342" y="2718238"/>
                <a:ext cx="3169985" cy="3169985"/>
              </a:xfrm>
              <a:prstGeom prst="teardrop">
                <a:avLst/>
              </a:prstGeom>
              <a:solidFill>
                <a:schemeClr val="bg1">
                  <a:lumMod val="65000"/>
                </a:schemeClr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33" name="íṧ1idé"/>
            <p:cNvSpPr/>
            <p:nvPr>
              <p:custDataLst>
                <p:tags r:id="rId7"/>
              </p:custDataLst>
            </p:nvPr>
          </p:nvSpPr>
          <p:spPr bwMode="auto">
            <a:xfrm>
              <a:off x="2513991" y="2621812"/>
              <a:ext cx="424066" cy="358366"/>
            </a:xfrm>
            <a:custGeom>
              <a:avLst/>
              <a:gdLst>
                <a:gd name="connsiteX0" fmla="*/ 46038 w 338138"/>
                <a:gd name="connsiteY0" fmla="*/ 261938 h 285751"/>
                <a:gd name="connsiteX1" fmla="*/ 38100 w 338138"/>
                <a:gd name="connsiteY1" fmla="*/ 270670 h 285751"/>
                <a:gd name="connsiteX2" fmla="*/ 46038 w 338138"/>
                <a:gd name="connsiteY2" fmla="*/ 279402 h 285751"/>
                <a:gd name="connsiteX3" fmla="*/ 53976 w 338138"/>
                <a:gd name="connsiteY3" fmla="*/ 270670 h 285751"/>
                <a:gd name="connsiteX4" fmla="*/ 46038 w 338138"/>
                <a:gd name="connsiteY4" fmla="*/ 261938 h 285751"/>
                <a:gd name="connsiteX5" fmla="*/ 288131 w 338138"/>
                <a:gd name="connsiteY5" fmla="*/ 184150 h 285751"/>
                <a:gd name="connsiteX6" fmla="*/ 277812 w 338138"/>
                <a:gd name="connsiteY6" fmla="*/ 194469 h 285751"/>
                <a:gd name="connsiteX7" fmla="*/ 288131 w 338138"/>
                <a:gd name="connsiteY7" fmla="*/ 204788 h 285751"/>
                <a:gd name="connsiteX8" fmla="*/ 298450 w 338138"/>
                <a:gd name="connsiteY8" fmla="*/ 194469 h 285751"/>
                <a:gd name="connsiteX9" fmla="*/ 288131 w 338138"/>
                <a:gd name="connsiteY9" fmla="*/ 184150 h 285751"/>
                <a:gd name="connsiteX10" fmla="*/ 19050 w 338138"/>
                <a:gd name="connsiteY10" fmla="*/ 165100 h 285751"/>
                <a:gd name="connsiteX11" fmla="*/ 19050 w 338138"/>
                <a:gd name="connsiteY11" fmla="*/ 242888 h 285751"/>
                <a:gd name="connsiteX12" fmla="*/ 73025 w 338138"/>
                <a:gd name="connsiteY12" fmla="*/ 242888 h 285751"/>
                <a:gd name="connsiteX13" fmla="*/ 73025 w 338138"/>
                <a:gd name="connsiteY13" fmla="*/ 165100 h 285751"/>
                <a:gd name="connsiteX14" fmla="*/ 12010 w 338138"/>
                <a:gd name="connsiteY14" fmla="*/ 141288 h 285751"/>
                <a:gd name="connsiteX15" fmla="*/ 81400 w 338138"/>
                <a:gd name="connsiteY15" fmla="*/ 141288 h 285751"/>
                <a:gd name="connsiteX16" fmla="*/ 92075 w 338138"/>
                <a:gd name="connsiteY16" fmla="*/ 153107 h 285751"/>
                <a:gd name="connsiteX17" fmla="*/ 92075 w 338138"/>
                <a:gd name="connsiteY17" fmla="*/ 273932 h 285751"/>
                <a:gd name="connsiteX18" fmla="*/ 81400 w 338138"/>
                <a:gd name="connsiteY18" fmla="*/ 285751 h 285751"/>
                <a:gd name="connsiteX19" fmla="*/ 12010 w 338138"/>
                <a:gd name="connsiteY19" fmla="*/ 285751 h 285751"/>
                <a:gd name="connsiteX20" fmla="*/ 0 w 338138"/>
                <a:gd name="connsiteY20" fmla="*/ 273932 h 285751"/>
                <a:gd name="connsiteX21" fmla="*/ 0 w 338138"/>
                <a:gd name="connsiteY21" fmla="*/ 153107 h 285751"/>
                <a:gd name="connsiteX22" fmla="*/ 12010 w 338138"/>
                <a:gd name="connsiteY22" fmla="*/ 141288 h 285751"/>
                <a:gd name="connsiteX23" fmla="*/ 55002 w 338138"/>
                <a:gd name="connsiteY23" fmla="*/ 82550 h 285751"/>
                <a:gd name="connsiteX24" fmla="*/ 175185 w 338138"/>
                <a:gd name="connsiteY24" fmla="*/ 82550 h 285751"/>
                <a:gd name="connsiteX25" fmla="*/ 193675 w 338138"/>
                <a:gd name="connsiteY25" fmla="*/ 99703 h 285751"/>
                <a:gd name="connsiteX26" fmla="*/ 193675 w 338138"/>
                <a:gd name="connsiteY26" fmla="*/ 268597 h 285751"/>
                <a:gd name="connsiteX27" fmla="*/ 175185 w 338138"/>
                <a:gd name="connsiteY27" fmla="*/ 285750 h 285751"/>
                <a:gd name="connsiteX28" fmla="*/ 107830 w 338138"/>
                <a:gd name="connsiteY28" fmla="*/ 285750 h 285751"/>
                <a:gd name="connsiteX29" fmla="*/ 109151 w 338138"/>
                <a:gd name="connsiteY29" fmla="*/ 276514 h 285751"/>
                <a:gd name="connsiteX30" fmla="*/ 109151 w 338138"/>
                <a:gd name="connsiteY30" fmla="*/ 273875 h 285751"/>
                <a:gd name="connsiteX31" fmla="*/ 115754 w 338138"/>
                <a:gd name="connsiteY31" fmla="*/ 275194 h 285751"/>
                <a:gd name="connsiteX32" fmla="*/ 124999 w 338138"/>
                <a:gd name="connsiteY32" fmla="*/ 264639 h 285751"/>
                <a:gd name="connsiteX33" fmla="*/ 115754 w 338138"/>
                <a:gd name="connsiteY33" fmla="*/ 254083 h 285751"/>
                <a:gd name="connsiteX34" fmla="*/ 109151 w 338138"/>
                <a:gd name="connsiteY34" fmla="*/ 256722 h 285751"/>
                <a:gd name="connsiteX35" fmla="*/ 109151 w 338138"/>
                <a:gd name="connsiteY35" fmla="*/ 235610 h 285751"/>
                <a:gd name="connsiteX36" fmla="*/ 168582 w 338138"/>
                <a:gd name="connsiteY36" fmla="*/ 235610 h 285751"/>
                <a:gd name="connsiteX37" fmla="*/ 168582 w 338138"/>
                <a:gd name="connsiteY37" fmla="*/ 110259 h 285751"/>
                <a:gd name="connsiteX38" fmla="*/ 61606 w 338138"/>
                <a:gd name="connsiteY38" fmla="*/ 110259 h 285751"/>
                <a:gd name="connsiteX39" fmla="*/ 61606 w 338138"/>
                <a:gd name="connsiteY39" fmla="*/ 126093 h 285751"/>
                <a:gd name="connsiteX40" fmla="*/ 36512 w 338138"/>
                <a:gd name="connsiteY40" fmla="*/ 126093 h 285751"/>
                <a:gd name="connsiteX41" fmla="*/ 36512 w 338138"/>
                <a:gd name="connsiteY41" fmla="*/ 99703 h 285751"/>
                <a:gd name="connsiteX42" fmla="*/ 55002 w 338138"/>
                <a:gd name="connsiteY42" fmla="*/ 82550 h 285751"/>
                <a:gd name="connsiteX43" fmla="*/ 102729 w 338138"/>
                <a:gd name="connsiteY43" fmla="*/ 0 h 285751"/>
                <a:gd name="connsiteX44" fmla="*/ 305260 w 338138"/>
                <a:gd name="connsiteY44" fmla="*/ 0 h 285751"/>
                <a:gd name="connsiteX45" fmla="*/ 338138 w 338138"/>
                <a:gd name="connsiteY45" fmla="*/ 34237 h 285751"/>
                <a:gd name="connsiteX46" fmla="*/ 338138 w 338138"/>
                <a:gd name="connsiteY46" fmla="*/ 188306 h 285751"/>
                <a:gd name="connsiteX47" fmla="*/ 305260 w 338138"/>
                <a:gd name="connsiteY47" fmla="*/ 221226 h 285751"/>
                <a:gd name="connsiteX48" fmla="*/ 234242 w 338138"/>
                <a:gd name="connsiteY48" fmla="*/ 221226 h 285751"/>
                <a:gd name="connsiteX49" fmla="*/ 234242 w 338138"/>
                <a:gd name="connsiteY49" fmla="*/ 243612 h 285751"/>
                <a:gd name="connsiteX50" fmla="*/ 265806 w 338138"/>
                <a:gd name="connsiteY50" fmla="*/ 243612 h 285751"/>
                <a:gd name="connsiteX51" fmla="*/ 277642 w 338138"/>
                <a:gd name="connsiteY51" fmla="*/ 256780 h 285751"/>
                <a:gd name="connsiteX52" fmla="*/ 277642 w 338138"/>
                <a:gd name="connsiteY52" fmla="*/ 272582 h 285751"/>
                <a:gd name="connsiteX53" fmla="*/ 265806 w 338138"/>
                <a:gd name="connsiteY53" fmla="*/ 285750 h 285751"/>
                <a:gd name="connsiteX54" fmla="*/ 205309 w 338138"/>
                <a:gd name="connsiteY54" fmla="*/ 285750 h 285751"/>
                <a:gd name="connsiteX55" fmla="*/ 210570 w 338138"/>
                <a:gd name="connsiteY55" fmla="*/ 269948 h 285751"/>
                <a:gd name="connsiteX56" fmla="*/ 210570 w 338138"/>
                <a:gd name="connsiteY56" fmla="*/ 213325 h 285751"/>
                <a:gd name="connsiteX57" fmla="*/ 210570 w 338138"/>
                <a:gd name="connsiteY57" fmla="*/ 172504 h 285751"/>
                <a:gd name="connsiteX58" fmla="*/ 296054 w 338138"/>
                <a:gd name="connsiteY58" fmla="*/ 172504 h 285751"/>
                <a:gd name="connsiteX59" fmla="*/ 309205 w 338138"/>
                <a:gd name="connsiteY59" fmla="*/ 159335 h 285751"/>
                <a:gd name="connsiteX60" fmla="*/ 309205 w 338138"/>
                <a:gd name="connsiteY60" fmla="*/ 39504 h 285751"/>
                <a:gd name="connsiteX61" fmla="*/ 296054 w 338138"/>
                <a:gd name="connsiteY61" fmla="*/ 27653 h 285751"/>
                <a:gd name="connsiteX62" fmla="*/ 110620 w 338138"/>
                <a:gd name="connsiteY62" fmla="*/ 27653 h 285751"/>
                <a:gd name="connsiteX63" fmla="*/ 98783 w 338138"/>
                <a:gd name="connsiteY63" fmla="*/ 39504 h 285751"/>
                <a:gd name="connsiteX64" fmla="*/ 98783 w 338138"/>
                <a:gd name="connsiteY64" fmla="*/ 65841 h 285751"/>
                <a:gd name="connsiteX65" fmla="*/ 69850 w 338138"/>
                <a:gd name="connsiteY65" fmla="*/ 65841 h 285751"/>
                <a:gd name="connsiteX66" fmla="*/ 69850 w 338138"/>
                <a:gd name="connsiteY66" fmla="*/ 34237 h 285751"/>
                <a:gd name="connsiteX67" fmla="*/ 102729 w 338138"/>
                <a:gd name="connsiteY67" fmla="*/ 0 h 28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38138" h="285751">
                  <a:moveTo>
                    <a:pt x="46038" y="261938"/>
                  </a:moveTo>
                  <a:cubicBezTo>
                    <a:pt x="41654" y="261938"/>
                    <a:pt x="38100" y="265847"/>
                    <a:pt x="38100" y="270670"/>
                  </a:cubicBezTo>
                  <a:cubicBezTo>
                    <a:pt x="38100" y="275493"/>
                    <a:pt x="41654" y="279402"/>
                    <a:pt x="46038" y="279402"/>
                  </a:cubicBezTo>
                  <a:cubicBezTo>
                    <a:pt x="50422" y="279402"/>
                    <a:pt x="53976" y="275493"/>
                    <a:pt x="53976" y="270670"/>
                  </a:cubicBezTo>
                  <a:cubicBezTo>
                    <a:pt x="53976" y="265847"/>
                    <a:pt x="50422" y="261938"/>
                    <a:pt x="46038" y="261938"/>
                  </a:cubicBezTo>
                  <a:close/>
                  <a:moveTo>
                    <a:pt x="288131" y="184150"/>
                  </a:moveTo>
                  <a:cubicBezTo>
                    <a:pt x="282432" y="184150"/>
                    <a:pt x="277812" y="188770"/>
                    <a:pt x="277812" y="194469"/>
                  </a:cubicBezTo>
                  <a:cubicBezTo>
                    <a:pt x="277812" y="200168"/>
                    <a:pt x="282432" y="204788"/>
                    <a:pt x="288131" y="204788"/>
                  </a:cubicBezTo>
                  <a:cubicBezTo>
                    <a:pt x="293830" y="204788"/>
                    <a:pt x="298450" y="200168"/>
                    <a:pt x="298450" y="194469"/>
                  </a:cubicBezTo>
                  <a:cubicBezTo>
                    <a:pt x="298450" y="188770"/>
                    <a:pt x="293830" y="184150"/>
                    <a:pt x="288131" y="184150"/>
                  </a:cubicBezTo>
                  <a:close/>
                  <a:moveTo>
                    <a:pt x="19050" y="165100"/>
                  </a:moveTo>
                  <a:lnTo>
                    <a:pt x="19050" y="242888"/>
                  </a:lnTo>
                  <a:lnTo>
                    <a:pt x="73025" y="242888"/>
                  </a:lnTo>
                  <a:lnTo>
                    <a:pt x="73025" y="165100"/>
                  </a:lnTo>
                  <a:close/>
                  <a:moveTo>
                    <a:pt x="12010" y="141288"/>
                  </a:moveTo>
                  <a:cubicBezTo>
                    <a:pt x="12010" y="141288"/>
                    <a:pt x="12010" y="141288"/>
                    <a:pt x="81400" y="141288"/>
                  </a:cubicBezTo>
                  <a:cubicBezTo>
                    <a:pt x="86738" y="141288"/>
                    <a:pt x="92075" y="146541"/>
                    <a:pt x="92075" y="153107"/>
                  </a:cubicBezTo>
                  <a:cubicBezTo>
                    <a:pt x="92075" y="153107"/>
                    <a:pt x="92075" y="153107"/>
                    <a:pt x="92075" y="273932"/>
                  </a:cubicBezTo>
                  <a:cubicBezTo>
                    <a:pt x="92075" y="280498"/>
                    <a:pt x="86738" y="285751"/>
                    <a:pt x="81400" y="285751"/>
                  </a:cubicBezTo>
                  <a:cubicBezTo>
                    <a:pt x="81400" y="285751"/>
                    <a:pt x="81400" y="285751"/>
                    <a:pt x="12010" y="285751"/>
                  </a:cubicBezTo>
                  <a:cubicBezTo>
                    <a:pt x="5337" y="285751"/>
                    <a:pt x="0" y="280498"/>
                    <a:pt x="0" y="273932"/>
                  </a:cubicBezTo>
                  <a:cubicBezTo>
                    <a:pt x="0" y="273932"/>
                    <a:pt x="0" y="273932"/>
                    <a:pt x="0" y="153107"/>
                  </a:cubicBezTo>
                  <a:cubicBezTo>
                    <a:pt x="0" y="146541"/>
                    <a:pt x="5337" y="141288"/>
                    <a:pt x="12010" y="141288"/>
                  </a:cubicBezTo>
                  <a:close/>
                  <a:moveTo>
                    <a:pt x="55002" y="82550"/>
                  </a:moveTo>
                  <a:cubicBezTo>
                    <a:pt x="55002" y="82550"/>
                    <a:pt x="55002" y="82550"/>
                    <a:pt x="175185" y="82550"/>
                  </a:cubicBezTo>
                  <a:cubicBezTo>
                    <a:pt x="185751" y="82550"/>
                    <a:pt x="193675" y="90467"/>
                    <a:pt x="193675" y="99703"/>
                  </a:cubicBezTo>
                  <a:cubicBezTo>
                    <a:pt x="193675" y="99703"/>
                    <a:pt x="193675" y="99703"/>
                    <a:pt x="193675" y="268597"/>
                  </a:cubicBezTo>
                  <a:cubicBezTo>
                    <a:pt x="193675" y="277833"/>
                    <a:pt x="185751" y="285750"/>
                    <a:pt x="175185" y="285750"/>
                  </a:cubicBezTo>
                  <a:cubicBezTo>
                    <a:pt x="175185" y="285750"/>
                    <a:pt x="175185" y="285750"/>
                    <a:pt x="107830" y="285750"/>
                  </a:cubicBezTo>
                  <a:cubicBezTo>
                    <a:pt x="109151" y="283111"/>
                    <a:pt x="109151" y="280472"/>
                    <a:pt x="109151" y="276514"/>
                  </a:cubicBezTo>
                  <a:cubicBezTo>
                    <a:pt x="109151" y="276514"/>
                    <a:pt x="109151" y="276514"/>
                    <a:pt x="109151" y="273875"/>
                  </a:cubicBezTo>
                  <a:cubicBezTo>
                    <a:pt x="110471" y="273875"/>
                    <a:pt x="113113" y="275194"/>
                    <a:pt x="115754" y="275194"/>
                  </a:cubicBezTo>
                  <a:cubicBezTo>
                    <a:pt x="121037" y="275194"/>
                    <a:pt x="124999" y="271236"/>
                    <a:pt x="124999" y="264639"/>
                  </a:cubicBezTo>
                  <a:cubicBezTo>
                    <a:pt x="124999" y="259361"/>
                    <a:pt x="121037" y="254083"/>
                    <a:pt x="115754" y="254083"/>
                  </a:cubicBezTo>
                  <a:cubicBezTo>
                    <a:pt x="113113" y="254083"/>
                    <a:pt x="110471" y="255402"/>
                    <a:pt x="109151" y="256722"/>
                  </a:cubicBezTo>
                  <a:cubicBezTo>
                    <a:pt x="109151" y="256722"/>
                    <a:pt x="109151" y="256722"/>
                    <a:pt x="109151" y="235610"/>
                  </a:cubicBezTo>
                  <a:cubicBezTo>
                    <a:pt x="109151" y="235610"/>
                    <a:pt x="109151" y="235610"/>
                    <a:pt x="168582" y="235610"/>
                  </a:cubicBezTo>
                  <a:cubicBezTo>
                    <a:pt x="168582" y="235610"/>
                    <a:pt x="168582" y="235610"/>
                    <a:pt x="168582" y="110259"/>
                  </a:cubicBezTo>
                  <a:cubicBezTo>
                    <a:pt x="168582" y="110259"/>
                    <a:pt x="168582" y="110259"/>
                    <a:pt x="61606" y="110259"/>
                  </a:cubicBezTo>
                  <a:cubicBezTo>
                    <a:pt x="61606" y="110259"/>
                    <a:pt x="61606" y="110259"/>
                    <a:pt x="61606" y="126093"/>
                  </a:cubicBezTo>
                  <a:cubicBezTo>
                    <a:pt x="61606" y="126093"/>
                    <a:pt x="61606" y="126093"/>
                    <a:pt x="36512" y="126093"/>
                  </a:cubicBezTo>
                  <a:cubicBezTo>
                    <a:pt x="36512" y="126093"/>
                    <a:pt x="36512" y="126093"/>
                    <a:pt x="36512" y="99703"/>
                  </a:cubicBezTo>
                  <a:cubicBezTo>
                    <a:pt x="36512" y="90467"/>
                    <a:pt x="45757" y="82550"/>
                    <a:pt x="55002" y="82550"/>
                  </a:cubicBezTo>
                  <a:close/>
                  <a:moveTo>
                    <a:pt x="102729" y="0"/>
                  </a:moveTo>
                  <a:cubicBezTo>
                    <a:pt x="102729" y="0"/>
                    <a:pt x="102729" y="0"/>
                    <a:pt x="305260" y="0"/>
                  </a:cubicBezTo>
                  <a:cubicBezTo>
                    <a:pt x="323672" y="0"/>
                    <a:pt x="338138" y="15802"/>
                    <a:pt x="338138" y="34237"/>
                  </a:cubicBezTo>
                  <a:cubicBezTo>
                    <a:pt x="338138" y="34237"/>
                    <a:pt x="338138" y="34237"/>
                    <a:pt x="338138" y="188306"/>
                  </a:cubicBezTo>
                  <a:cubicBezTo>
                    <a:pt x="338138" y="206741"/>
                    <a:pt x="323672" y="221226"/>
                    <a:pt x="305260" y="221226"/>
                  </a:cubicBezTo>
                  <a:cubicBezTo>
                    <a:pt x="305260" y="221226"/>
                    <a:pt x="305260" y="221226"/>
                    <a:pt x="234242" y="221226"/>
                  </a:cubicBezTo>
                  <a:cubicBezTo>
                    <a:pt x="234242" y="221226"/>
                    <a:pt x="234242" y="221226"/>
                    <a:pt x="234242" y="243612"/>
                  </a:cubicBezTo>
                  <a:cubicBezTo>
                    <a:pt x="234242" y="243612"/>
                    <a:pt x="234242" y="243612"/>
                    <a:pt x="265806" y="243612"/>
                  </a:cubicBezTo>
                  <a:cubicBezTo>
                    <a:pt x="272381" y="243612"/>
                    <a:pt x="277642" y="250196"/>
                    <a:pt x="277642" y="256780"/>
                  </a:cubicBezTo>
                  <a:cubicBezTo>
                    <a:pt x="277642" y="256780"/>
                    <a:pt x="277642" y="256780"/>
                    <a:pt x="277642" y="272582"/>
                  </a:cubicBezTo>
                  <a:cubicBezTo>
                    <a:pt x="277642" y="280483"/>
                    <a:pt x="272381" y="285750"/>
                    <a:pt x="265806" y="285750"/>
                  </a:cubicBezTo>
                  <a:cubicBezTo>
                    <a:pt x="265806" y="285750"/>
                    <a:pt x="265806" y="285750"/>
                    <a:pt x="205309" y="285750"/>
                  </a:cubicBezTo>
                  <a:cubicBezTo>
                    <a:pt x="207940" y="280483"/>
                    <a:pt x="209255" y="275216"/>
                    <a:pt x="210570" y="269948"/>
                  </a:cubicBezTo>
                  <a:cubicBezTo>
                    <a:pt x="210570" y="268632"/>
                    <a:pt x="210570" y="213325"/>
                    <a:pt x="210570" y="213325"/>
                  </a:cubicBezTo>
                  <a:cubicBezTo>
                    <a:pt x="210570" y="213325"/>
                    <a:pt x="210570" y="213325"/>
                    <a:pt x="210570" y="172504"/>
                  </a:cubicBezTo>
                  <a:cubicBezTo>
                    <a:pt x="210570" y="172504"/>
                    <a:pt x="210570" y="172504"/>
                    <a:pt x="296054" y="172504"/>
                  </a:cubicBezTo>
                  <a:cubicBezTo>
                    <a:pt x="303945" y="172504"/>
                    <a:pt x="309205" y="165920"/>
                    <a:pt x="309205" y="159335"/>
                  </a:cubicBezTo>
                  <a:cubicBezTo>
                    <a:pt x="309205" y="159335"/>
                    <a:pt x="309205" y="159335"/>
                    <a:pt x="309205" y="39504"/>
                  </a:cubicBezTo>
                  <a:cubicBezTo>
                    <a:pt x="309205" y="32920"/>
                    <a:pt x="303945" y="27653"/>
                    <a:pt x="296054" y="27653"/>
                  </a:cubicBezTo>
                  <a:cubicBezTo>
                    <a:pt x="296054" y="27653"/>
                    <a:pt x="296054" y="27653"/>
                    <a:pt x="110620" y="27653"/>
                  </a:cubicBezTo>
                  <a:cubicBezTo>
                    <a:pt x="104044" y="27653"/>
                    <a:pt x="98783" y="32920"/>
                    <a:pt x="98783" y="39504"/>
                  </a:cubicBezTo>
                  <a:cubicBezTo>
                    <a:pt x="98783" y="39504"/>
                    <a:pt x="98783" y="39504"/>
                    <a:pt x="98783" y="65841"/>
                  </a:cubicBezTo>
                  <a:cubicBezTo>
                    <a:pt x="98783" y="65841"/>
                    <a:pt x="98783" y="65841"/>
                    <a:pt x="69850" y="65841"/>
                  </a:cubicBezTo>
                  <a:cubicBezTo>
                    <a:pt x="69850" y="65841"/>
                    <a:pt x="69850" y="65841"/>
                    <a:pt x="69850" y="34237"/>
                  </a:cubicBezTo>
                  <a:cubicBezTo>
                    <a:pt x="69850" y="15802"/>
                    <a:pt x="84317" y="0"/>
                    <a:pt x="10272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91440" tIns="45720" rIns="91440" bIns="4572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" name="îṥļiḋê"/>
            <p:cNvSpPr/>
            <p:nvPr>
              <p:custDataLst>
                <p:tags r:id="rId8"/>
              </p:custDataLst>
            </p:nvPr>
          </p:nvSpPr>
          <p:spPr bwMode="auto">
            <a:xfrm>
              <a:off x="2816012" y="1763668"/>
              <a:ext cx="511496" cy="432251"/>
            </a:xfrm>
            <a:custGeom>
              <a:avLst/>
              <a:gdLst>
                <a:gd name="connsiteX0" fmla="*/ 46038 w 338138"/>
                <a:gd name="connsiteY0" fmla="*/ 261938 h 285751"/>
                <a:gd name="connsiteX1" fmla="*/ 38100 w 338138"/>
                <a:gd name="connsiteY1" fmla="*/ 270670 h 285751"/>
                <a:gd name="connsiteX2" fmla="*/ 46038 w 338138"/>
                <a:gd name="connsiteY2" fmla="*/ 279402 h 285751"/>
                <a:gd name="connsiteX3" fmla="*/ 53976 w 338138"/>
                <a:gd name="connsiteY3" fmla="*/ 270670 h 285751"/>
                <a:gd name="connsiteX4" fmla="*/ 46038 w 338138"/>
                <a:gd name="connsiteY4" fmla="*/ 261938 h 285751"/>
                <a:gd name="connsiteX5" fmla="*/ 288131 w 338138"/>
                <a:gd name="connsiteY5" fmla="*/ 184150 h 285751"/>
                <a:gd name="connsiteX6" fmla="*/ 277812 w 338138"/>
                <a:gd name="connsiteY6" fmla="*/ 194469 h 285751"/>
                <a:gd name="connsiteX7" fmla="*/ 288131 w 338138"/>
                <a:gd name="connsiteY7" fmla="*/ 204788 h 285751"/>
                <a:gd name="connsiteX8" fmla="*/ 298450 w 338138"/>
                <a:gd name="connsiteY8" fmla="*/ 194469 h 285751"/>
                <a:gd name="connsiteX9" fmla="*/ 288131 w 338138"/>
                <a:gd name="connsiteY9" fmla="*/ 184150 h 285751"/>
                <a:gd name="connsiteX10" fmla="*/ 19050 w 338138"/>
                <a:gd name="connsiteY10" fmla="*/ 165100 h 285751"/>
                <a:gd name="connsiteX11" fmla="*/ 19050 w 338138"/>
                <a:gd name="connsiteY11" fmla="*/ 242888 h 285751"/>
                <a:gd name="connsiteX12" fmla="*/ 73025 w 338138"/>
                <a:gd name="connsiteY12" fmla="*/ 242888 h 285751"/>
                <a:gd name="connsiteX13" fmla="*/ 73025 w 338138"/>
                <a:gd name="connsiteY13" fmla="*/ 165100 h 285751"/>
                <a:gd name="connsiteX14" fmla="*/ 12010 w 338138"/>
                <a:gd name="connsiteY14" fmla="*/ 141288 h 285751"/>
                <a:gd name="connsiteX15" fmla="*/ 81400 w 338138"/>
                <a:gd name="connsiteY15" fmla="*/ 141288 h 285751"/>
                <a:gd name="connsiteX16" fmla="*/ 92075 w 338138"/>
                <a:gd name="connsiteY16" fmla="*/ 153107 h 285751"/>
                <a:gd name="connsiteX17" fmla="*/ 92075 w 338138"/>
                <a:gd name="connsiteY17" fmla="*/ 273932 h 285751"/>
                <a:gd name="connsiteX18" fmla="*/ 81400 w 338138"/>
                <a:gd name="connsiteY18" fmla="*/ 285751 h 285751"/>
                <a:gd name="connsiteX19" fmla="*/ 12010 w 338138"/>
                <a:gd name="connsiteY19" fmla="*/ 285751 h 285751"/>
                <a:gd name="connsiteX20" fmla="*/ 0 w 338138"/>
                <a:gd name="connsiteY20" fmla="*/ 273932 h 285751"/>
                <a:gd name="connsiteX21" fmla="*/ 0 w 338138"/>
                <a:gd name="connsiteY21" fmla="*/ 153107 h 285751"/>
                <a:gd name="connsiteX22" fmla="*/ 12010 w 338138"/>
                <a:gd name="connsiteY22" fmla="*/ 141288 h 285751"/>
                <a:gd name="connsiteX23" fmla="*/ 55002 w 338138"/>
                <a:gd name="connsiteY23" fmla="*/ 82550 h 285751"/>
                <a:gd name="connsiteX24" fmla="*/ 175185 w 338138"/>
                <a:gd name="connsiteY24" fmla="*/ 82550 h 285751"/>
                <a:gd name="connsiteX25" fmla="*/ 193675 w 338138"/>
                <a:gd name="connsiteY25" fmla="*/ 99703 h 285751"/>
                <a:gd name="connsiteX26" fmla="*/ 193675 w 338138"/>
                <a:gd name="connsiteY26" fmla="*/ 268597 h 285751"/>
                <a:gd name="connsiteX27" fmla="*/ 175185 w 338138"/>
                <a:gd name="connsiteY27" fmla="*/ 285750 h 285751"/>
                <a:gd name="connsiteX28" fmla="*/ 107830 w 338138"/>
                <a:gd name="connsiteY28" fmla="*/ 285750 h 285751"/>
                <a:gd name="connsiteX29" fmla="*/ 109151 w 338138"/>
                <a:gd name="connsiteY29" fmla="*/ 276514 h 285751"/>
                <a:gd name="connsiteX30" fmla="*/ 109151 w 338138"/>
                <a:gd name="connsiteY30" fmla="*/ 273875 h 285751"/>
                <a:gd name="connsiteX31" fmla="*/ 115754 w 338138"/>
                <a:gd name="connsiteY31" fmla="*/ 275194 h 285751"/>
                <a:gd name="connsiteX32" fmla="*/ 124999 w 338138"/>
                <a:gd name="connsiteY32" fmla="*/ 264639 h 285751"/>
                <a:gd name="connsiteX33" fmla="*/ 115754 w 338138"/>
                <a:gd name="connsiteY33" fmla="*/ 254083 h 285751"/>
                <a:gd name="connsiteX34" fmla="*/ 109151 w 338138"/>
                <a:gd name="connsiteY34" fmla="*/ 256722 h 285751"/>
                <a:gd name="connsiteX35" fmla="*/ 109151 w 338138"/>
                <a:gd name="connsiteY35" fmla="*/ 235610 h 285751"/>
                <a:gd name="connsiteX36" fmla="*/ 168582 w 338138"/>
                <a:gd name="connsiteY36" fmla="*/ 235610 h 285751"/>
                <a:gd name="connsiteX37" fmla="*/ 168582 w 338138"/>
                <a:gd name="connsiteY37" fmla="*/ 110259 h 285751"/>
                <a:gd name="connsiteX38" fmla="*/ 61606 w 338138"/>
                <a:gd name="connsiteY38" fmla="*/ 110259 h 285751"/>
                <a:gd name="connsiteX39" fmla="*/ 61606 w 338138"/>
                <a:gd name="connsiteY39" fmla="*/ 126093 h 285751"/>
                <a:gd name="connsiteX40" fmla="*/ 36512 w 338138"/>
                <a:gd name="connsiteY40" fmla="*/ 126093 h 285751"/>
                <a:gd name="connsiteX41" fmla="*/ 36512 w 338138"/>
                <a:gd name="connsiteY41" fmla="*/ 99703 h 285751"/>
                <a:gd name="connsiteX42" fmla="*/ 55002 w 338138"/>
                <a:gd name="connsiteY42" fmla="*/ 82550 h 285751"/>
                <a:gd name="connsiteX43" fmla="*/ 102729 w 338138"/>
                <a:gd name="connsiteY43" fmla="*/ 0 h 285751"/>
                <a:gd name="connsiteX44" fmla="*/ 305260 w 338138"/>
                <a:gd name="connsiteY44" fmla="*/ 0 h 285751"/>
                <a:gd name="connsiteX45" fmla="*/ 338138 w 338138"/>
                <a:gd name="connsiteY45" fmla="*/ 34237 h 285751"/>
                <a:gd name="connsiteX46" fmla="*/ 338138 w 338138"/>
                <a:gd name="connsiteY46" fmla="*/ 188306 h 285751"/>
                <a:gd name="connsiteX47" fmla="*/ 305260 w 338138"/>
                <a:gd name="connsiteY47" fmla="*/ 221226 h 285751"/>
                <a:gd name="connsiteX48" fmla="*/ 234242 w 338138"/>
                <a:gd name="connsiteY48" fmla="*/ 221226 h 285751"/>
                <a:gd name="connsiteX49" fmla="*/ 234242 w 338138"/>
                <a:gd name="connsiteY49" fmla="*/ 243612 h 285751"/>
                <a:gd name="connsiteX50" fmla="*/ 265806 w 338138"/>
                <a:gd name="connsiteY50" fmla="*/ 243612 h 285751"/>
                <a:gd name="connsiteX51" fmla="*/ 277642 w 338138"/>
                <a:gd name="connsiteY51" fmla="*/ 256780 h 285751"/>
                <a:gd name="connsiteX52" fmla="*/ 277642 w 338138"/>
                <a:gd name="connsiteY52" fmla="*/ 272582 h 285751"/>
                <a:gd name="connsiteX53" fmla="*/ 265806 w 338138"/>
                <a:gd name="connsiteY53" fmla="*/ 285750 h 285751"/>
                <a:gd name="connsiteX54" fmla="*/ 205309 w 338138"/>
                <a:gd name="connsiteY54" fmla="*/ 285750 h 285751"/>
                <a:gd name="connsiteX55" fmla="*/ 210570 w 338138"/>
                <a:gd name="connsiteY55" fmla="*/ 269948 h 285751"/>
                <a:gd name="connsiteX56" fmla="*/ 210570 w 338138"/>
                <a:gd name="connsiteY56" fmla="*/ 213325 h 285751"/>
                <a:gd name="connsiteX57" fmla="*/ 210570 w 338138"/>
                <a:gd name="connsiteY57" fmla="*/ 172504 h 285751"/>
                <a:gd name="connsiteX58" fmla="*/ 296054 w 338138"/>
                <a:gd name="connsiteY58" fmla="*/ 172504 h 285751"/>
                <a:gd name="connsiteX59" fmla="*/ 309205 w 338138"/>
                <a:gd name="connsiteY59" fmla="*/ 159335 h 285751"/>
                <a:gd name="connsiteX60" fmla="*/ 309205 w 338138"/>
                <a:gd name="connsiteY60" fmla="*/ 39504 h 285751"/>
                <a:gd name="connsiteX61" fmla="*/ 296054 w 338138"/>
                <a:gd name="connsiteY61" fmla="*/ 27653 h 285751"/>
                <a:gd name="connsiteX62" fmla="*/ 110620 w 338138"/>
                <a:gd name="connsiteY62" fmla="*/ 27653 h 285751"/>
                <a:gd name="connsiteX63" fmla="*/ 98783 w 338138"/>
                <a:gd name="connsiteY63" fmla="*/ 39504 h 285751"/>
                <a:gd name="connsiteX64" fmla="*/ 98783 w 338138"/>
                <a:gd name="connsiteY64" fmla="*/ 65841 h 285751"/>
                <a:gd name="connsiteX65" fmla="*/ 69850 w 338138"/>
                <a:gd name="connsiteY65" fmla="*/ 65841 h 285751"/>
                <a:gd name="connsiteX66" fmla="*/ 69850 w 338138"/>
                <a:gd name="connsiteY66" fmla="*/ 34237 h 285751"/>
                <a:gd name="connsiteX67" fmla="*/ 102729 w 338138"/>
                <a:gd name="connsiteY67" fmla="*/ 0 h 28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38138" h="285751">
                  <a:moveTo>
                    <a:pt x="46038" y="261938"/>
                  </a:moveTo>
                  <a:cubicBezTo>
                    <a:pt x="41654" y="261938"/>
                    <a:pt x="38100" y="265847"/>
                    <a:pt x="38100" y="270670"/>
                  </a:cubicBezTo>
                  <a:cubicBezTo>
                    <a:pt x="38100" y="275493"/>
                    <a:pt x="41654" y="279402"/>
                    <a:pt x="46038" y="279402"/>
                  </a:cubicBezTo>
                  <a:cubicBezTo>
                    <a:pt x="50422" y="279402"/>
                    <a:pt x="53976" y="275493"/>
                    <a:pt x="53976" y="270670"/>
                  </a:cubicBezTo>
                  <a:cubicBezTo>
                    <a:pt x="53976" y="265847"/>
                    <a:pt x="50422" y="261938"/>
                    <a:pt x="46038" y="261938"/>
                  </a:cubicBezTo>
                  <a:close/>
                  <a:moveTo>
                    <a:pt x="288131" y="184150"/>
                  </a:moveTo>
                  <a:cubicBezTo>
                    <a:pt x="282432" y="184150"/>
                    <a:pt x="277812" y="188770"/>
                    <a:pt x="277812" y="194469"/>
                  </a:cubicBezTo>
                  <a:cubicBezTo>
                    <a:pt x="277812" y="200168"/>
                    <a:pt x="282432" y="204788"/>
                    <a:pt x="288131" y="204788"/>
                  </a:cubicBezTo>
                  <a:cubicBezTo>
                    <a:pt x="293830" y="204788"/>
                    <a:pt x="298450" y="200168"/>
                    <a:pt x="298450" y="194469"/>
                  </a:cubicBezTo>
                  <a:cubicBezTo>
                    <a:pt x="298450" y="188770"/>
                    <a:pt x="293830" y="184150"/>
                    <a:pt x="288131" y="184150"/>
                  </a:cubicBezTo>
                  <a:close/>
                  <a:moveTo>
                    <a:pt x="19050" y="165100"/>
                  </a:moveTo>
                  <a:lnTo>
                    <a:pt x="19050" y="242888"/>
                  </a:lnTo>
                  <a:lnTo>
                    <a:pt x="73025" y="242888"/>
                  </a:lnTo>
                  <a:lnTo>
                    <a:pt x="73025" y="165100"/>
                  </a:lnTo>
                  <a:close/>
                  <a:moveTo>
                    <a:pt x="12010" y="141288"/>
                  </a:moveTo>
                  <a:cubicBezTo>
                    <a:pt x="12010" y="141288"/>
                    <a:pt x="12010" y="141288"/>
                    <a:pt x="81400" y="141288"/>
                  </a:cubicBezTo>
                  <a:cubicBezTo>
                    <a:pt x="86738" y="141288"/>
                    <a:pt x="92075" y="146541"/>
                    <a:pt x="92075" y="153107"/>
                  </a:cubicBezTo>
                  <a:cubicBezTo>
                    <a:pt x="92075" y="153107"/>
                    <a:pt x="92075" y="153107"/>
                    <a:pt x="92075" y="273932"/>
                  </a:cubicBezTo>
                  <a:cubicBezTo>
                    <a:pt x="92075" y="280498"/>
                    <a:pt x="86738" y="285751"/>
                    <a:pt x="81400" y="285751"/>
                  </a:cubicBezTo>
                  <a:cubicBezTo>
                    <a:pt x="81400" y="285751"/>
                    <a:pt x="81400" y="285751"/>
                    <a:pt x="12010" y="285751"/>
                  </a:cubicBezTo>
                  <a:cubicBezTo>
                    <a:pt x="5337" y="285751"/>
                    <a:pt x="0" y="280498"/>
                    <a:pt x="0" y="273932"/>
                  </a:cubicBezTo>
                  <a:cubicBezTo>
                    <a:pt x="0" y="273932"/>
                    <a:pt x="0" y="273932"/>
                    <a:pt x="0" y="153107"/>
                  </a:cubicBezTo>
                  <a:cubicBezTo>
                    <a:pt x="0" y="146541"/>
                    <a:pt x="5337" y="141288"/>
                    <a:pt x="12010" y="141288"/>
                  </a:cubicBezTo>
                  <a:close/>
                  <a:moveTo>
                    <a:pt x="55002" y="82550"/>
                  </a:moveTo>
                  <a:cubicBezTo>
                    <a:pt x="55002" y="82550"/>
                    <a:pt x="55002" y="82550"/>
                    <a:pt x="175185" y="82550"/>
                  </a:cubicBezTo>
                  <a:cubicBezTo>
                    <a:pt x="185751" y="82550"/>
                    <a:pt x="193675" y="90467"/>
                    <a:pt x="193675" y="99703"/>
                  </a:cubicBezTo>
                  <a:cubicBezTo>
                    <a:pt x="193675" y="99703"/>
                    <a:pt x="193675" y="99703"/>
                    <a:pt x="193675" y="268597"/>
                  </a:cubicBezTo>
                  <a:cubicBezTo>
                    <a:pt x="193675" y="277833"/>
                    <a:pt x="185751" y="285750"/>
                    <a:pt x="175185" y="285750"/>
                  </a:cubicBezTo>
                  <a:cubicBezTo>
                    <a:pt x="175185" y="285750"/>
                    <a:pt x="175185" y="285750"/>
                    <a:pt x="107830" y="285750"/>
                  </a:cubicBezTo>
                  <a:cubicBezTo>
                    <a:pt x="109151" y="283111"/>
                    <a:pt x="109151" y="280472"/>
                    <a:pt x="109151" y="276514"/>
                  </a:cubicBezTo>
                  <a:cubicBezTo>
                    <a:pt x="109151" y="276514"/>
                    <a:pt x="109151" y="276514"/>
                    <a:pt x="109151" y="273875"/>
                  </a:cubicBezTo>
                  <a:cubicBezTo>
                    <a:pt x="110471" y="273875"/>
                    <a:pt x="113113" y="275194"/>
                    <a:pt x="115754" y="275194"/>
                  </a:cubicBezTo>
                  <a:cubicBezTo>
                    <a:pt x="121037" y="275194"/>
                    <a:pt x="124999" y="271236"/>
                    <a:pt x="124999" y="264639"/>
                  </a:cubicBezTo>
                  <a:cubicBezTo>
                    <a:pt x="124999" y="259361"/>
                    <a:pt x="121037" y="254083"/>
                    <a:pt x="115754" y="254083"/>
                  </a:cubicBezTo>
                  <a:cubicBezTo>
                    <a:pt x="113113" y="254083"/>
                    <a:pt x="110471" y="255402"/>
                    <a:pt x="109151" y="256722"/>
                  </a:cubicBezTo>
                  <a:cubicBezTo>
                    <a:pt x="109151" y="256722"/>
                    <a:pt x="109151" y="256722"/>
                    <a:pt x="109151" y="235610"/>
                  </a:cubicBezTo>
                  <a:cubicBezTo>
                    <a:pt x="109151" y="235610"/>
                    <a:pt x="109151" y="235610"/>
                    <a:pt x="168582" y="235610"/>
                  </a:cubicBezTo>
                  <a:cubicBezTo>
                    <a:pt x="168582" y="235610"/>
                    <a:pt x="168582" y="235610"/>
                    <a:pt x="168582" y="110259"/>
                  </a:cubicBezTo>
                  <a:cubicBezTo>
                    <a:pt x="168582" y="110259"/>
                    <a:pt x="168582" y="110259"/>
                    <a:pt x="61606" y="110259"/>
                  </a:cubicBezTo>
                  <a:cubicBezTo>
                    <a:pt x="61606" y="110259"/>
                    <a:pt x="61606" y="110259"/>
                    <a:pt x="61606" y="126093"/>
                  </a:cubicBezTo>
                  <a:cubicBezTo>
                    <a:pt x="61606" y="126093"/>
                    <a:pt x="61606" y="126093"/>
                    <a:pt x="36512" y="126093"/>
                  </a:cubicBezTo>
                  <a:cubicBezTo>
                    <a:pt x="36512" y="126093"/>
                    <a:pt x="36512" y="126093"/>
                    <a:pt x="36512" y="99703"/>
                  </a:cubicBezTo>
                  <a:cubicBezTo>
                    <a:pt x="36512" y="90467"/>
                    <a:pt x="45757" y="82550"/>
                    <a:pt x="55002" y="82550"/>
                  </a:cubicBezTo>
                  <a:close/>
                  <a:moveTo>
                    <a:pt x="102729" y="0"/>
                  </a:moveTo>
                  <a:cubicBezTo>
                    <a:pt x="102729" y="0"/>
                    <a:pt x="102729" y="0"/>
                    <a:pt x="305260" y="0"/>
                  </a:cubicBezTo>
                  <a:cubicBezTo>
                    <a:pt x="323672" y="0"/>
                    <a:pt x="338138" y="15802"/>
                    <a:pt x="338138" y="34237"/>
                  </a:cubicBezTo>
                  <a:cubicBezTo>
                    <a:pt x="338138" y="34237"/>
                    <a:pt x="338138" y="34237"/>
                    <a:pt x="338138" y="188306"/>
                  </a:cubicBezTo>
                  <a:cubicBezTo>
                    <a:pt x="338138" y="206741"/>
                    <a:pt x="323672" y="221226"/>
                    <a:pt x="305260" y="221226"/>
                  </a:cubicBezTo>
                  <a:cubicBezTo>
                    <a:pt x="305260" y="221226"/>
                    <a:pt x="305260" y="221226"/>
                    <a:pt x="234242" y="221226"/>
                  </a:cubicBezTo>
                  <a:cubicBezTo>
                    <a:pt x="234242" y="221226"/>
                    <a:pt x="234242" y="221226"/>
                    <a:pt x="234242" y="243612"/>
                  </a:cubicBezTo>
                  <a:cubicBezTo>
                    <a:pt x="234242" y="243612"/>
                    <a:pt x="234242" y="243612"/>
                    <a:pt x="265806" y="243612"/>
                  </a:cubicBezTo>
                  <a:cubicBezTo>
                    <a:pt x="272381" y="243612"/>
                    <a:pt x="277642" y="250196"/>
                    <a:pt x="277642" y="256780"/>
                  </a:cubicBezTo>
                  <a:cubicBezTo>
                    <a:pt x="277642" y="256780"/>
                    <a:pt x="277642" y="256780"/>
                    <a:pt x="277642" y="272582"/>
                  </a:cubicBezTo>
                  <a:cubicBezTo>
                    <a:pt x="277642" y="280483"/>
                    <a:pt x="272381" y="285750"/>
                    <a:pt x="265806" y="285750"/>
                  </a:cubicBezTo>
                  <a:cubicBezTo>
                    <a:pt x="265806" y="285750"/>
                    <a:pt x="265806" y="285750"/>
                    <a:pt x="205309" y="285750"/>
                  </a:cubicBezTo>
                  <a:cubicBezTo>
                    <a:pt x="207940" y="280483"/>
                    <a:pt x="209255" y="275216"/>
                    <a:pt x="210570" y="269948"/>
                  </a:cubicBezTo>
                  <a:cubicBezTo>
                    <a:pt x="210570" y="268632"/>
                    <a:pt x="210570" y="213325"/>
                    <a:pt x="210570" y="213325"/>
                  </a:cubicBezTo>
                  <a:cubicBezTo>
                    <a:pt x="210570" y="213325"/>
                    <a:pt x="210570" y="213325"/>
                    <a:pt x="210570" y="172504"/>
                  </a:cubicBezTo>
                  <a:cubicBezTo>
                    <a:pt x="210570" y="172504"/>
                    <a:pt x="210570" y="172504"/>
                    <a:pt x="296054" y="172504"/>
                  </a:cubicBezTo>
                  <a:cubicBezTo>
                    <a:pt x="303945" y="172504"/>
                    <a:pt x="309205" y="165920"/>
                    <a:pt x="309205" y="159335"/>
                  </a:cubicBezTo>
                  <a:cubicBezTo>
                    <a:pt x="309205" y="159335"/>
                    <a:pt x="309205" y="159335"/>
                    <a:pt x="309205" y="39504"/>
                  </a:cubicBezTo>
                  <a:cubicBezTo>
                    <a:pt x="309205" y="32920"/>
                    <a:pt x="303945" y="27653"/>
                    <a:pt x="296054" y="27653"/>
                  </a:cubicBezTo>
                  <a:cubicBezTo>
                    <a:pt x="296054" y="27653"/>
                    <a:pt x="296054" y="27653"/>
                    <a:pt x="110620" y="27653"/>
                  </a:cubicBezTo>
                  <a:cubicBezTo>
                    <a:pt x="104044" y="27653"/>
                    <a:pt x="98783" y="32920"/>
                    <a:pt x="98783" y="39504"/>
                  </a:cubicBezTo>
                  <a:cubicBezTo>
                    <a:pt x="98783" y="39504"/>
                    <a:pt x="98783" y="39504"/>
                    <a:pt x="98783" y="65841"/>
                  </a:cubicBezTo>
                  <a:cubicBezTo>
                    <a:pt x="98783" y="65841"/>
                    <a:pt x="98783" y="65841"/>
                    <a:pt x="69850" y="65841"/>
                  </a:cubicBezTo>
                  <a:cubicBezTo>
                    <a:pt x="69850" y="65841"/>
                    <a:pt x="69850" y="65841"/>
                    <a:pt x="69850" y="34237"/>
                  </a:cubicBezTo>
                  <a:cubicBezTo>
                    <a:pt x="69850" y="15802"/>
                    <a:pt x="84317" y="0"/>
                    <a:pt x="10272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91440" tIns="45720" rIns="91440" bIns="4572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5" name="íŝļiḋê"/>
            <p:cNvSpPr/>
            <p:nvPr>
              <p:custDataLst>
                <p:tags r:id="rId9"/>
              </p:custDataLst>
            </p:nvPr>
          </p:nvSpPr>
          <p:spPr bwMode="auto">
            <a:xfrm>
              <a:off x="4089576" y="2192590"/>
              <a:ext cx="456434" cy="385719"/>
            </a:xfrm>
            <a:custGeom>
              <a:avLst/>
              <a:gdLst>
                <a:gd name="connsiteX0" fmla="*/ 46038 w 338138"/>
                <a:gd name="connsiteY0" fmla="*/ 261938 h 285751"/>
                <a:gd name="connsiteX1" fmla="*/ 38100 w 338138"/>
                <a:gd name="connsiteY1" fmla="*/ 270670 h 285751"/>
                <a:gd name="connsiteX2" fmla="*/ 46038 w 338138"/>
                <a:gd name="connsiteY2" fmla="*/ 279402 h 285751"/>
                <a:gd name="connsiteX3" fmla="*/ 53976 w 338138"/>
                <a:gd name="connsiteY3" fmla="*/ 270670 h 285751"/>
                <a:gd name="connsiteX4" fmla="*/ 46038 w 338138"/>
                <a:gd name="connsiteY4" fmla="*/ 261938 h 285751"/>
                <a:gd name="connsiteX5" fmla="*/ 288131 w 338138"/>
                <a:gd name="connsiteY5" fmla="*/ 184150 h 285751"/>
                <a:gd name="connsiteX6" fmla="*/ 277812 w 338138"/>
                <a:gd name="connsiteY6" fmla="*/ 194469 h 285751"/>
                <a:gd name="connsiteX7" fmla="*/ 288131 w 338138"/>
                <a:gd name="connsiteY7" fmla="*/ 204788 h 285751"/>
                <a:gd name="connsiteX8" fmla="*/ 298450 w 338138"/>
                <a:gd name="connsiteY8" fmla="*/ 194469 h 285751"/>
                <a:gd name="connsiteX9" fmla="*/ 288131 w 338138"/>
                <a:gd name="connsiteY9" fmla="*/ 184150 h 285751"/>
                <a:gd name="connsiteX10" fmla="*/ 19050 w 338138"/>
                <a:gd name="connsiteY10" fmla="*/ 165100 h 285751"/>
                <a:gd name="connsiteX11" fmla="*/ 19050 w 338138"/>
                <a:gd name="connsiteY11" fmla="*/ 242888 h 285751"/>
                <a:gd name="connsiteX12" fmla="*/ 73025 w 338138"/>
                <a:gd name="connsiteY12" fmla="*/ 242888 h 285751"/>
                <a:gd name="connsiteX13" fmla="*/ 73025 w 338138"/>
                <a:gd name="connsiteY13" fmla="*/ 165100 h 285751"/>
                <a:gd name="connsiteX14" fmla="*/ 12010 w 338138"/>
                <a:gd name="connsiteY14" fmla="*/ 141288 h 285751"/>
                <a:gd name="connsiteX15" fmla="*/ 81400 w 338138"/>
                <a:gd name="connsiteY15" fmla="*/ 141288 h 285751"/>
                <a:gd name="connsiteX16" fmla="*/ 92075 w 338138"/>
                <a:gd name="connsiteY16" fmla="*/ 153107 h 285751"/>
                <a:gd name="connsiteX17" fmla="*/ 92075 w 338138"/>
                <a:gd name="connsiteY17" fmla="*/ 273932 h 285751"/>
                <a:gd name="connsiteX18" fmla="*/ 81400 w 338138"/>
                <a:gd name="connsiteY18" fmla="*/ 285751 h 285751"/>
                <a:gd name="connsiteX19" fmla="*/ 12010 w 338138"/>
                <a:gd name="connsiteY19" fmla="*/ 285751 h 285751"/>
                <a:gd name="connsiteX20" fmla="*/ 0 w 338138"/>
                <a:gd name="connsiteY20" fmla="*/ 273932 h 285751"/>
                <a:gd name="connsiteX21" fmla="*/ 0 w 338138"/>
                <a:gd name="connsiteY21" fmla="*/ 153107 h 285751"/>
                <a:gd name="connsiteX22" fmla="*/ 12010 w 338138"/>
                <a:gd name="connsiteY22" fmla="*/ 141288 h 285751"/>
                <a:gd name="connsiteX23" fmla="*/ 55002 w 338138"/>
                <a:gd name="connsiteY23" fmla="*/ 82550 h 285751"/>
                <a:gd name="connsiteX24" fmla="*/ 175185 w 338138"/>
                <a:gd name="connsiteY24" fmla="*/ 82550 h 285751"/>
                <a:gd name="connsiteX25" fmla="*/ 193675 w 338138"/>
                <a:gd name="connsiteY25" fmla="*/ 99703 h 285751"/>
                <a:gd name="connsiteX26" fmla="*/ 193675 w 338138"/>
                <a:gd name="connsiteY26" fmla="*/ 268597 h 285751"/>
                <a:gd name="connsiteX27" fmla="*/ 175185 w 338138"/>
                <a:gd name="connsiteY27" fmla="*/ 285750 h 285751"/>
                <a:gd name="connsiteX28" fmla="*/ 107830 w 338138"/>
                <a:gd name="connsiteY28" fmla="*/ 285750 h 285751"/>
                <a:gd name="connsiteX29" fmla="*/ 109151 w 338138"/>
                <a:gd name="connsiteY29" fmla="*/ 276514 h 285751"/>
                <a:gd name="connsiteX30" fmla="*/ 109151 w 338138"/>
                <a:gd name="connsiteY30" fmla="*/ 273875 h 285751"/>
                <a:gd name="connsiteX31" fmla="*/ 115754 w 338138"/>
                <a:gd name="connsiteY31" fmla="*/ 275194 h 285751"/>
                <a:gd name="connsiteX32" fmla="*/ 124999 w 338138"/>
                <a:gd name="connsiteY32" fmla="*/ 264639 h 285751"/>
                <a:gd name="connsiteX33" fmla="*/ 115754 w 338138"/>
                <a:gd name="connsiteY33" fmla="*/ 254083 h 285751"/>
                <a:gd name="connsiteX34" fmla="*/ 109151 w 338138"/>
                <a:gd name="connsiteY34" fmla="*/ 256722 h 285751"/>
                <a:gd name="connsiteX35" fmla="*/ 109151 w 338138"/>
                <a:gd name="connsiteY35" fmla="*/ 235610 h 285751"/>
                <a:gd name="connsiteX36" fmla="*/ 168582 w 338138"/>
                <a:gd name="connsiteY36" fmla="*/ 235610 h 285751"/>
                <a:gd name="connsiteX37" fmla="*/ 168582 w 338138"/>
                <a:gd name="connsiteY37" fmla="*/ 110259 h 285751"/>
                <a:gd name="connsiteX38" fmla="*/ 61606 w 338138"/>
                <a:gd name="connsiteY38" fmla="*/ 110259 h 285751"/>
                <a:gd name="connsiteX39" fmla="*/ 61606 w 338138"/>
                <a:gd name="connsiteY39" fmla="*/ 126093 h 285751"/>
                <a:gd name="connsiteX40" fmla="*/ 36512 w 338138"/>
                <a:gd name="connsiteY40" fmla="*/ 126093 h 285751"/>
                <a:gd name="connsiteX41" fmla="*/ 36512 w 338138"/>
                <a:gd name="connsiteY41" fmla="*/ 99703 h 285751"/>
                <a:gd name="connsiteX42" fmla="*/ 55002 w 338138"/>
                <a:gd name="connsiteY42" fmla="*/ 82550 h 285751"/>
                <a:gd name="connsiteX43" fmla="*/ 102729 w 338138"/>
                <a:gd name="connsiteY43" fmla="*/ 0 h 285751"/>
                <a:gd name="connsiteX44" fmla="*/ 305260 w 338138"/>
                <a:gd name="connsiteY44" fmla="*/ 0 h 285751"/>
                <a:gd name="connsiteX45" fmla="*/ 338138 w 338138"/>
                <a:gd name="connsiteY45" fmla="*/ 34237 h 285751"/>
                <a:gd name="connsiteX46" fmla="*/ 338138 w 338138"/>
                <a:gd name="connsiteY46" fmla="*/ 188306 h 285751"/>
                <a:gd name="connsiteX47" fmla="*/ 305260 w 338138"/>
                <a:gd name="connsiteY47" fmla="*/ 221226 h 285751"/>
                <a:gd name="connsiteX48" fmla="*/ 234242 w 338138"/>
                <a:gd name="connsiteY48" fmla="*/ 221226 h 285751"/>
                <a:gd name="connsiteX49" fmla="*/ 234242 w 338138"/>
                <a:gd name="connsiteY49" fmla="*/ 243612 h 285751"/>
                <a:gd name="connsiteX50" fmla="*/ 265806 w 338138"/>
                <a:gd name="connsiteY50" fmla="*/ 243612 h 285751"/>
                <a:gd name="connsiteX51" fmla="*/ 277642 w 338138"/>
                <a:gd name="connsiteY51" fmla="*/ 256780 h 285751"/>
                <a:gd name="connsiteX52" fmla="*/ 277642 w 338138"/>
                <a:gd name="connsiteY52" fmla="*/ 272582 h 285751"/>
                <a:gd name="connsiteX53" fmla="*/ 265806 w 338138"/>
                <a:gd name="connsiteY53" fmla="*/ 285750 h 285751"/>
                <a:gd name="connsiteX54" fmla="*/ 205309 w 338138"/>
                <a:gd name="connsiteY54" fmla="*/ 285750 h 285751"/>
                <a:gd name="connsiteX55" fmla="*/ 210570 w 338138"/>
                <a:gd name="connsiteY55" fmla="*/ 269948 h 285751"/>
                <a:gd name="connsiteX56" fmla="*/ 210570 w 338138"/>
                <a:gd name="connsiteY56" fmla="*/ 213325 h 285751"/>
                <a:gd name="connsiteX57" fmla="*/ 210570 w 338138"/>
                <a:gd name="connsiteY57" fmla="*/ 172504 h 285751"/>
                <a:gd name="connsiteX58" fmla="*/ 296054 w 338138"/>
                <a:gd name="connsiteY58" fmla="*/ 172504 h 285751"/>
                <a:gd name="connsiteX59" fmla="*/ 309205 w 338138"/>
                <a:gd name="connsiteY59" fmla="*/ 159335 h 285751"/>
                <a:gd name="connsiteX60" fmla="*/ 309205 w 338138"/>
                <a:gd name="connsiteY60" fmla="*/ 39504 h 285751"/>
                <a:gd name="connsiteX61" fmla="*/ 296054 w 338138"/>
                <a:gd name="connsiteY61" fmla="*/ 27653 h 285751"/>
                <a:gd name="connsiteX62" fmla="*/ 110620 w 338138"/>
                <a:gd name="connsiteY62" fmla="*/ 27653 h 285751"/>
                <a:gd name="connsiteX63" fmla="*/ 98783 w 338138"/>
                <a:gd name="connsiteY63" fmla="*/ 39504 h 285751"/>
                <a:gd name="connsiteX64" fmla="*/ 98783 w 338138"/>
                <a:gd name="connsiteY64" fmla="*/ 65841 h 285751"/>
                <a:gd name="connsiteX65" fmla="*/ 69850 w 338138"/>
                <a:gd name="connsiteY65" fmla="*/ 65841 h 285751"/>
                <a:gd name="connsiteX66" fmla="*/ 69850 w 338138"/>
                <a:gd name="connsiteY66" fmla="*/ 34237 h 285751"/>
                <a:gd name="connsiteX67" fmla="*/ 102729 w 338138"/>
                <a:gd name="connsiteY67" fmla="*/ 0 h 28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38138" h="285751">
                  <a:moveTo>
                    <a:pt x="46038" y="261938"/>
                  </a:moveTo>
                  <a:cubicBezTo>
                    <a:pt x="41654" y="261938"/>
                    <a:pt x="38100" y="265847"/>
                    <a:pt x="38100" y="270670"/>
                  </a:cubicBezTo>
                  <a:cubicBezTo>
                    <a:pt x="38100" y="275493"/>
                    <a:pt x="41654" y="279402"/>
                    <a:pt x="46038" y="279402"/>
                  </a:cubicBezTo>
                  <a:cubicBezTo>
                    <a:pt x="50422" y="279402"/>
                    <a:pt x="53976" y="275493"/>
                    <a:pt x="53976" y="270670"/>
                  </a:cubicBezTo>
                  <a:cubicBezTo>
                    <a:pt x="53976" y="265847"/>
                    <a:pt x="50422" y="261938"/>
                    <a:pt x="46038" y="261938"/>
                  </a:cubicBezTo>
                  <a:close/>
                  <a:moveTo>
                    <a:pt x="288131" y="184150"/>
                  </a:moveTo>
                  <a:cubicBezTo>
                    <a:pt x="282432" y="184150"/>
                    <a:pt x="277812" y="188770"/>
                    <a:pt x="277812" y="194469"/>
                  </a:cubicBezTo>
                  <a:cubicBezTo>
                    <a:pt x="277812" y="200168"/>
                    <a:pt x="282432" y="204788"/>
                    <a:pt x="288131" y="204788"/>
                  </a:cubicBezTo>
                  <a:cubicBezTo>
                    <a:pt x="293830" y="204788"/>
                    <a:pt x="298450" y="200168"/>
                    <a:pt x="298450" y="194469"/>
                  </a:cubicBezTo>
                  <a:cubicBezTo>
                    <a:pt x="298450" y="188770"/>
                    <a:pt x="293830" y="184150"/>
                    <a:pt x="288131" y="184150"/>
                  </a:cubicBezTo>
                  <a:close/>
                  <a:moveTo>
                    <a:pt x="19050" y="165100"/>
                  </a:moveTo>
                  <a:lnTo>
                    <a:pt x="19050" y="242888"/>
                  </a:lnTo>
                  <a:lnTo>
                    <a:pt x="73025" y="242888"/>
                  </a:lnTo>
                  <a:lnTo>
                    <a:pt x="73025" y="165100"/>
                  </a:lnTo>
                  <a:close/>
                  <a:moveTo>
                    <a:pt x="12010" y="141288"/>
                  </a:moveTo>
                  <a:cubicBezTo>
                    <a:pt x="12010" y="141288"/>
                    <a:pt x="12010" y="141288"/>
                    <a:pt x="81400" y="141288"/>
                  </a:cubicBezTo>
                  <a:cubicBezTo>
                    <a:pt x="86738" y="141288"/>
                    <a:pt x="92075" y="146541"/>
                    <a:pt x="92075" y="153107"/>
                  </a:cubicBezTo>
                  <a:cubicBezTo>
                    <a:pt x="92075" y="153107"/>
                    <a:pt x="92075" y="153107"/>
                    <a:pt x="92075" y="273932"/>
                  </a:cubicBezTo>
                  <a:cubicBezTo>
                    <a:pt x="92075" y="280498"/>
                    <a:pt x="86738" y="285751"/>
                    <a:pt x="81400" y="285751"/>
                  </a:cubicBezTo>
                  <a:cubicBezTo>
                    <a:pt x="81400" y="285751"/>
                    <a:pt x="81400" y="285751"/>
                    <a:pt x="12010" y="285751"/>
                  </a:cubicBezTo>
                  <a:cubicBezTo>
                    <a:pt x="5337" y="285751"/>
                    <a:pt x="0" y="280498"/>
                    <a:pt x="0" y="273932"/>
                  </a:cubicBezTo>
                  <a:cubicBezTo>
                    <a:pt x="0" y="273932"/>
                    <a:pt x="0" y="273932"/>
                    <a:pt x="0" y="153107"/>
                  </a:cubicBezTo>
                  <a:cubicBezTo>
                    <a:pt x="0" y="146541"/>
                    <a:pt x="5337" y="141288"/>
                    <a:pt x="12010" y="141288"/>
                  </a:cubicBezTo>
                  <a:close/>
                  <a:moveTo>
                    <a:pt x="55002" y="82550"/>
                  </a:moveTo>
                  <a:cubicBezTo>
                    <a:pt x="55002" y="82550"/>
                    <a:pt x="55002" y="82550"/>
                    <a:pt x="175185" y="82550"/>
                  </a:cubicBezTo>
                  <a:cubicBezTo>
                    <a:pt x="185751" y="82550"/>
                    <a:pt x="193675" y="90467"/>
                    <a:pt x="193675" y="99703"/>
                  </a:cubicBezTo>
                  <a:cubicBezTo>
                    <a:pt x="193675" y="99703"/>
                    <a:pt x="193675" y="99703"/>
                    <a:pt x="193675" y="268597"/>
                  </a:cubicBezTo>
                  <a:cubicBezTo>
                    <a:pt x="193675" y="277833"/>
                    <a:pt x="185751" y="285750"/>
                    <a:pt x="175185" y="285750"/>
                  </a:cubicBezTo>
                  <a:cubicBezTo>
                    <a:pt x="175185" y="285750"/>
                    <a:pt x="175185" y="285750"/>
                    <a:pt x="107830" y="285750"/>
                  </a:cubicBezTo>
                  <a:cubicBezTo>
                    <a:pt x="109151" y="283111"/>
                    <a:pt x="109151" y="280472"/>
                    <a:pt x="109151" y="276514"/>
                  </a:cubicBezTo>
                  <a:cubicBezTo>
                    <a:pt x="109151" y="276514"/>
                    <a:pt x="109151" y="276514"/>
                    <a:pt x="109151" y="273875"/>
                  </a:cubicBezTo>
                  <a:cubicBezTo>
                    <a:pt x="110471" y="273875"/>
                    <a:pt x="113113" y="275194"/>
                    <a:pt x="115754" y="275194"/>
                  </a:cubicBezTo>
                  <a:cubicBezTo>
                    <a:pt x="121037" y="275194"/>
                    <a:pt x="124999" y="271236"/>
                    <a:pt x="124999" y="264639"/>
                  </a:cubicBezTo>
                  <a:cubicBezTo>
                    <a:pt x="124999" y="259361"/>
                    <a:pt x="121037" y="254083"/>
                    <a:pt x="115754" y="254083"/>
                  </a:cubicBezTo>
                  <a:cubicBezTo>
                    <a:pt x="113113" y="254083"/>
                    <a:pt x="110471" y="255402"/>
                    <a:pt x="109151" y="256722"/>
                  </a:cubicBezTo>
                  <a:cubicBezTo>
                    <a:pt x="109151" y="256722"/>
                    <a:pt x="109151" y="256722"/>
                    <a:pt x="109151" y="235610"/>
                  </a:cubicBezTo>
                  <a:cubicBezTo>
                    <a:pt x="109151" y="235610"/>
                    <a:pt x="109151" y="235610"/>
                    <a:pt x="168582" y="235610"/>
                  </a:cubicBezTo>
                  <a:cubicBezTo>
                    <a:pt x="168582" y="235610"/>
                    <a:pt x="168582" y="235610"/>
                    <a:pt x="168582" y="110259"/>
                  </a:cubicBezTo>
                  <a:cubicBezTo>
                    <a:pt x="168582" y="110259"/>
                    <a:pt x="168582" y="110259"/>
                    <a:pt x="61606" y="110259"/>
                  </a:cubicBezTo>
                  <a:cubicBezTo>
                    <a:pt x="61606" y="110259"/>
                    <a:pt x="61606" y="110259"/>
                    <a:pt x="61606" y="126093"/>
                  </a:cubicBezTo>
                  <a:cubicBezTo>
                    <a:pt x="61606" y="126093"/>
                    <a:pt x="61606" y="126093"/>
                    <a:pt x="36512" y="126093"/>
                  </a:cubicBezTo>
                  <a:cubicBezTo>
                    <a:pt x="36512" y="126093"/>
                    <a:pt x="36512" y="126093"/>
                    <a:pt x="36512" y="99703"/>
                  </a:cubicBezTo>
                  <a:cubicBezTo>
                    <a:pt x="36512" y="90467"/>
                    <a:pt x="45757" y="82550"/>
                    <a:pt x="55002" y="82550"/>
                  </a:cubicBezTo>
                  <a:close/>
                  <a:moveTo>
                    <a:pt x="102729" y="0"/>
                  </a:moveTo>
                  <a:cubicBezTo>
                    <a:pt x="102729" y="0"/>
                    <a:pt x="102729" y="0"/>
                    <a:pt x="305260" y="0"/>
                  </a:cubicBezTo>
                  <a:cubicBezTo>
                    <a:pt x="323672" y="0"/>
                    <a:pt x="338138" y="15802"/>
                    <a:pt x="338138" y="34237"/>
                  </a:cubicBezTo>
                  <a:cubicBezTo>
                    <a:pt x="338138" y="34237"/>
                    <a:pt x="338138" y="34237"/>
                    <a:pt x="338138" y="188306"/>
                  </a:cubicBezTo>
                  <a:cubicBezTo>
                    <a:pt x="338138" y="206741"/>
                    <a:pt x="323672" y="221226"/>
                    <a:pt x="305260" y="221226"/>
                  </a:cubicBezTo>
                  <a:cubicBezTo>
                    <a:pt x="305260" y="221226"/>
                    <a:pt x="305260" y="221226"/>
                    <a:pt x="234242" y="221226"/>
                  </a:cubicBezTo>
                  <a:cubicBezTo>
                    <a:pt x="234242" y="221226"/>
                    <a:pt x="234242" y="221226"/>
                    <a:pt x="234242" y="243612"/>
                  </a:cubicBezTo>
                  <a:cubicBezTo>
                    <a:pt x="234242" y="243612"/>
                    <a:pt x="234242" y="243612"/>
                    <a:pt x="265806" y="243612"/>
                  </a:cubicBezTo>
                  <a:cubicBezTo>
                    <a:pt x="272381" y="243612"/>
                    <a:pt x="277642" y="250196"/>
                    <a:pt x="277642" y="256780"/>
                  </a:cubicBezTo>
                  <a:cubicBezTo>
                    <a:pt x="277642" y="256780"/>
                    <a:pt x="277642" y="256780"/>
                    <a:pt x="277642" y="272582"/>
                  </a:cubicBezTo>
                  <a:cubicBezTo>
                    <a:pt x="277642" y="280483"/>
                    <a:pt x="272381" y="285750"/>
                    <a:pt x="265806" y="285750"/>
                  </a:cubicBezTo>
                  <a:cubicBezTo>
                    <a:pt x="265806" y="285750"/>
                    <a:pt x="265806" y="285750"/>
                    <a:pt x="205309" y="285750"/>
                  </a:cubicBezTo>
                  <a:cubicBezTo>
                    <a:pt x="207940" y="280483"/>
                    <a:pt x="209255" y="275216"/>
                    <a:pt x="210570" y="269948"/>
                  </a:cubicBezTo>
                  <a:cubicBezTo>
                    <a:pt x="210570" y="268632"/>
                    <a:pt x="210570" y="213325"/>
                    <a:pt x="210570" y="213325"/>
                  </a:cubicBezTo>
                  <a:cubicBezTo>
                    <a:pt x="210570" y="213325"/>
                    <a:pt x="210570" y="213325"/>
                    <a:pt x="210570" y="172504"/>
                  </a:cubicBezTo>
                  <a:cubicBezTo>
                    <a:pt x="210570" y="172504"/>
                    <a:pt x="210570" y="172504"/>
                    <a:pt x="296054" y="172504"/>
                  </a:cubicBezTo>
                  <a:cubicBezTo>
                    <a:pt x="303945" y="172504"/>
                    <a:pt x="309205" y="165920"/>
                    <a:pt x="309205" y="159335"/>
                  </a:cubicBezTo>
                  <a:cubicBezTo>
                    <a:pt x="309205" y="159335"/>
                    <a:pt x="309205" y="159335"/>
                    <a:pt x="309205" y="39504"/>
                  </a:cubicBezTo>
                  <a:cubicBezTo>
                    <a:pt x="309205" y="32920"/>
                    <a:pt x="303945" y="27653"/>
                    <a:pt x="296054" y="27653"/>
                  </a:cubicBezTo>
                  <a:cubicBezTo>
                    <a:pt x="296054" y="27653"/>
                    <a:pt x="296054" y="27653"/>
                    <a:pt x="110620" y="27653"/>
                  </a:cubicBezTo>
                  <a:cubicBezTo>
                    <a:pt x="104044" y="27653"/>
                    <a:pt x="98783" y="32920"/>
                    <a:pt x="98783" y="39504"/>
                  </a:cubicBezTo>
                  <a:cubicBezTo>
                    <a:pt x="98783" y="39504"/>
                    <a:pt x="98783" y="39504"/>
                    <a:pt x="98783" y="65841"/>
                  </a:cubicBezTo>
                  <a:cubicBezTo>
                    <a:pt x="98783" y="65841"/>
                    <a:pt x="98783" y="65841"/>
                    <a:pt x="69850" y="65841"/>
                  </a:cubicBezTo>
                  <a:cubicBezTo>
                    <a:pt x="69850" y="65841"/>
                    <a:pt x="69850" y="65841"/>
                    <a:pt x="69850" y="34237"/>
                  </a:cubicBezTo>
                  <a:cubicBezTo>
                    <a:pt x="69850" y="15802"/>
                    <a:pt x="84317" y="0"/>
                    <a:pt x="10272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91440" tIns="45720" rIns="91440" bIns="4572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6" name="iṥlïḓê"/>
            <p:cNvSpPr/>
            <p:nvPr>
              <p:custDataLst>
                <p:tags r:id="rId10"/>
              </p:custDataLst>
            </p:nvPr>
          </p:nvSpPr>
          <p:spPr bwMode="auto">
            <a:xfrm>
              <a:off x="1796641" y="3892058"/>
              <a:ext cx="1081612" cy="914040"/>
            </a:xfrm>
            <a:custGeom>
              <a:avLst/>
              <a:gdLst>
                <a:gd name="connsiteX0" fmla="*/ 46038 w 338138"/>
                <a:gd name="connsiteY0" fmla="*/ 261938 h 285751"/>
                <a:gd name="connsiteX1" fmla="*/ 38100 w 338138"/>
                <a:gd name="connsiteY1" fmla="*/ 270670 h 285751"/>
                <a:gd name="connsiteX2" fmla="*/ 46038 w 338138"/>
                <a:gd name="connsiteY2" fmla="*/ 279402 h 285751"/>
                <a:gd name="connsiteX3" fmla="*/ 53976 w 338138"/>
                <a:gd name="connsiteY3" fmla="*/ 270670 h 285751"/>
                <a:gd name="connsiteX4" fmla="*/ 46038 w 338138"/>
                <a:gd name="connsiteY4" fmla="*/ 261938 h 285751"/>
                <a:gd name="connsiteX5" fmla="*/ 288131 w 338138"/>
                <a:gd name="connsiteY5" fmla="*/ 184150 h 285751"/>
                <a:gd name="connsiteX6" fmla="*/ 277812 w 338138"/>
                <a:gd name="connsiteY6" fmla="*/ 194469 h 285751"/>
                <a:gd name="connsiteX7" fmla="*/ 288131 w 338138"/>
                <a:gd name="connsiteY7" fmla="*/ 204788 h 285751"/>
                <a:gd name="connsiteX8" fmla="*/ 298450 w 338138"/>
                <a:gd name="connsiteY8" fmla="*/ 194469 h 285751"/>
                <a:gd name="connsiteX9" fmla="*/ 288131 w 338138"/>
                <a:gd name="connsiteY9" fmla="*/ 184150 h 285751"/>
                <a:gd name="connsiteX10" fmla="*/ 19050 w 338138"/>
                <a:gd name="connsiteY10" fmla="*/ 165100 h 285751"/>
                <a:gd name="connsiteX11" fmla="*/ 19050 w 338138"/>
                <a:gd name="connsiteY11" fmla="*/ 242888 h 285751"/>
                <a:gd name="connsiteX12" fmla="*/ 73025 w 338138"/>
                <a:gd name="connsiteY12" fmla="*/ 242888 h 285751"/>
                <a:gd name="connsiteX13" fmla="*/ 73025 w 338138"/>
                <a:gd name="connsiteY13" fmla="*/ 165100 h 285751"/>
                <a:gd name="connsiteX14" fmla="*/ 12010 w 338138"/>
                <a:gd name="connsiteY14" fmla="*/ 141288 h 285751"/>
                <a:gd name="connsiteX15" fmla="*/ 81400 w 338138"/>
                <a:gd name="connsiteY15" fmla="*/ 141288 h 285751"/>
                <a:gd name="connsiteX16" fmla="*/ 92075 w 338138"/>
                <a:gd name="connsiteY16" fmla="*/ 153107 h 285751"/>
                <a:gd name="connsiteX17" fmla="*/ 92075 w 338138"/>
                <a:gd name="connsiteY17" fmla="*/ 273932 h 285751"/>
                <a:gd name="connsiteX18" fmla="*/ 81400 w 338138"/>
                <a:gd name="connsiteY18" fmla="*/ 285751 h 285751"/>
                <a:gd name="connsiteX19" fmla="*/ 12010 w 338138"/>
                <a:gd name="connsiteY19" fmla="*/ 285751 h 285751"/>
                <a:gd name="connsiteX20" fmla="*/ 0 w 338138"/>
                <a:gd name="connsiteY20" fmla="*/ 273932 h 285751"/>
                <a:gd name="connsiteX21" fmla="*/ 0 w 338138"/>
                <a:gd name="connsiteY21" fmla="*/ 153107 h 285751"/>
                <a:gd name="connsiteX22" fmla="*/ 12010 w 338138"/>
                <a:gd name="connsiteY22" fmla="*/ 141288 h 285751"/>
                <a:gd name="connsiteX23" fmla="*/ 55002 w 338138"/>
                <a:gd name="connsiteY23" fmla="*/ 82550 h 285751"/>
                <a:gd name="connsiteX24" fmla="*/ 175185 w 338138"/>
                <a:gd name="connsiteY24" fmla="*/ 82550 h 285751"/>
                <a:gd name="connsiteX25" fmla="*/ 193675 w 338138"/>
                <a:gd name="connsiteY25" fmla="*/ 99703 h 285751"/>
                <a:gd name="connsiteX26" fmla="*/ 193675 w 338138"/>
                <a:gd name="connsiteY26" fmla="*/ 268597 h 285751"/>
                <a:gd name="connsiteX27" fmla="*/ 175185 w 338138"/>
                <a:gd name="connsiteY27" fmla="*/ 285750 h 285751"/>
                <a:gd name="connsiteX28" fmla="*/ 107830 w 338138"/>
                <a:gd name="connsiteY28" fmla="*/ 285750 h 285751"/>
                <a:gd name="connsiteX29" fmla="*/ 109151 w 338138"/>
                <a:gd name="connsiteY29" fmla="*/ 276514 h 285751"/>
                <a:gd name="connsiteX30" fmla="*/ 109151 w 338138"/>
                <a:gd name="connsiteY30" fmla="*/ 273875 h 285751"/>
                <a:gd name="connsiteX31" fmla="*/ 115754 w 338138"/>
                <a:gd name="connsiteY31" fmla="*/ 275194 h 285751"/>
                <a:gd name="connsiteX32" fmla="*/ 124999 w 338138"/>
                <a:gd name="connsiteY32" fmla="*/ 264639 h 285751"/>
                <a:gd name="connsiteX33" fmla="*/ 115754 w 338138"/>
                <a:gd name="connsiteY33" fmla="*/ 254083 h 285751"/>
                <a:gd name="connsiteX34" fmla="*/ 109151 w 338138"/>
                <a:gd name="connsiteY34" fmla="*/ 256722 h 285751"/>
                <a:gd name="connsiteX35" fmla="*/ 109151 w 338138"/>
                <a:gd name="connsiteY35" fmla="*/ 235610 h 285751"/>
                <a:gd name="connsiteX36" fmla="*/ 168582 w 338138"/>
                <a:gd name="connsiteY36" fmla="*/ 235610 h 285751"/>
                <a:gd name="connsiteX37" fmla="*/ 168582 w 338138"/>
                <a:gd name="connsiteY37" fmla="*/ 110259 h 285751"/>
                <a:gd name="connsiteX38" fmla="*/ 61606 w 338138"/>
                <a:gd name="connsiteY38" fmla="*/ 110259 h 285751"/>
                <a:gd name="connsiteX39" fmla="*/ 61606 w 338138"/>
                <a:gd name="connsiteY39" fmla="*/ 126093 h 285751"/>
                <a:gd name="connsiteX40" fmla="*/ 36512 w 338138"/>
                <a:gd name="connsiteY40" fmla="*/ 126093 h 285751"/>
                <a:gd name="connsiteX41" fmla="*/ 36512 w 338138"/>
                <a:gd name="connsiteY41" fmla="*/ 99703 h 285751"/>
                <a:gd name="connsiteX42" fmla="*/ 55002 w 338138"/>
                <a:gd name="connsiteY42" fmla="*/ 82550 h 285751"/>
                <a:gd name="connsiteX43" fmla="*/ 102729 w 338138"/>
                <a:gd name="connsiteY43" fmla="*/ 0 h 285751"/>
                <a:gd name="connsiteX44" fmla="*/ 305260 w 338138"/>
                <a:gd name="connsiteY44" fmla="*/ 0 h 285751"/>
                <a:gd name="connsiteX45" fmla="*/ 338138 w 338138"/>
                <a:gd name="connsiteY45" fmla="*/ 34237 h 285751"/>
                <a:gd name="connsiteX46" fmla="*/ 338138 w 338138"/>
                <a:gd name="connsiteY46" fmla="*/ 188306 h 285751"/>
                <a:gd name="connsiteX47" fmla="*/ 305260 w 338138"/>
                <a:gd name="connsiteY47" fmla="*/ 221226 h 285751"/>
                <a:gd name="connsiteX48" fmla="*/ 234242 w 338138"/>
                <a:gd name="connsiteY48" fmla="*/ 221226 h 285751"/>
                <a:gd name="connsiteX49" fmla="*/ 234242 w 338138"/>
                <a:gd name="connsiteY49" fmla="*/ 243612 h 285751"/>
                <a:gd name="connsiteX50" fmla="*/ 265806 w 338138"/>
                <a:gd name="connsiteY50" fmla="*/ 243612 h 285751"/>
                <a:gd name="connsiteX51" fmla="*/ 277642 w 338138"/>
                <a:gd name="connsiteY51" fmla="*/ 256780 h 285751"/>
                <a:gd name="connsiteX52" fmla="*/ 277642 w 338138"/>
                <a:gd name="connsiteY52" fmla="*/ 272582 h 285751"/>
                <a:gd name="connsiteX53" fmla="*/ 265806 w 338138"/>
                <a:gd name="connsiteY53" fmla="*/ 285750 h 285751"/>
                <a:gd name="connsiteX54" fmla="*/ 205309 w 338138"/>
                <a:gd name="connsiteY54" fmla="*/ 285750 h 285751"/>
                <a:gd name="connsiteX55" fmla="*/ 210570 w 338138"/>
                <a:gd name="connsiteY55" fmla="*/ 269948 h 285751"/>
                <a:gd name="connsiteX56" fmla="*/ 210570 w 338138"/>
                <a:gd name="connsiteY56" fmla="*/ 213325 h 285751"/>
                <a:gd name="connsiteX57" fmla="*/ 210570 w 338138"/>
                <a:gd name="connsiteY57" fmla="*/ 172504 h 285751"/>
                <a:gd name="connsiteX58" fmla="*/ 296054 w 338138"/>
                <a:gd name="connsiteY58" fmla="*/ 172504 h 285751"/>
                <a:gd name="connsiteX59" fmla="*/ 309205 w 338138"/>
                <a:gd name="connsiteY59" fmla="*/ 159335 h 285751"/>
                <a:gd name="connsiteX60" fmla="*/ 309205 w 338138"/>
                <a:gd name="connsiteY60" fmla="*/ 39504 h 285751"/>
                <a:gd name="connsiteX61" fmla="*/ 296054 w 338138"/>
                <a:gd name="connsiteY61" fmla="*/ 27653 h 285751"/>
                <a:gd name="connsiteX62" fmla="*/ 110620 w 338138"/>
                <a:gd name="connsiteY62" fmla="*/ 27653 h 285751"/>
                <a:gd name="connsiteX63" fmla="*/ 98783 w 338138"/>
                <a:gd name="connsiteY63" fmla="*/ 39504 h 285751"/>
                <a:gd name="connsiteX64" fmla="*/ 98783 w 338138"/>
                <a:gd name="connsiteY64" fmla="*/ 65841 h 285751"/>
                <a:gd name="connsiteX65" fmla="*/ 69850 w 338138"/>
                <a:gd name="connsiteY65" fmla="*/ 65841 h 285751"/>
                <a:gd name="connsiteX66" fmla="*/ 69850 w 338138"/>
                <a:gd name="connsiteY66" fmla="*/ 34237 h 285751"/>
                <a:gd name="connsiteX67" fmla="*/ 102729 w 338138"/>
                <a:gd name="connsiteY67" fmla="*/ 0 h 28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38138" h="285751">
                  <a:moveTo>
                    <a:pt x="46038" y="261938"/>
                  </a:moveTo>
                  <a:cubicBezTo>
                    <a:pt x="41654" y="261938"/>
                    <a:pt x="38100" y="265847"/>
                    <a:pt x="38100" y="270670"/>
                  </a:cubicBezTo>
                  <a:cubicBezTo>
                    <a:pt x="38100" y="275493"/>
                    <a:pt x="41654" y="279402"/>
                    <a:pt x="46038" y="279402"/>
                  </a:cubicBezTo>
                  <a:cubicBezTo>
                    <a:pt x="50422" y="279402"/>
                    <a:pt x="53976" y="275493"/>
                    <a:pt x="53976" y="270670"/>
                  </a:cubicBezTo>
                  <a:cubicBezTo>
                    <a:pt x="53976" y="265847"/>
                    <a:pt x="50422" y="261938"/>
                    <a:pt x="46038" y="261938"/>
                  </a:cubicBezTo>
                  <a:close/>
                  <a:moveTo>
                    <a:pt x="288131" y="184150"/>
                  </a:moveTo>
                  <a:cubicBezTo>
                    <a:pt x="282432" y="184150"/>
                    <a:pt x="277812" y="188770"/>
                    <a:pt x="277812" y="194469"/>
                  </a:cubicBezTo>
                  <a:cubicBezTo>
                    <a:pt x="277812" y="200168"/>
                    <a:pt x="282432" y="204788"/>
                    <a:pt x="288131" y="204788"/>
                  </a:cubicBezTo>
                  <a:cubicBezTo>
                    <a:pt x="293830" y="204788"/>
                    <a:pt x="298450" y="200168"/>
                    <a:pt x="298450" y="194469"/>
                  </a:cubicBezTo>
                  <a:cubicBezTo>
                    <a:pt x="298450" y="188770"/>
                    <a:pt x="293830" y="184150"/>
                    <a:pt x="288131" y="184150"/>
                  </a:cubicBezTo>
                  <a:close/>
                  <a:moveTo>
                    <a:pt x="19050" y="165100"/>
                  </a:moveTo>
                  <a:lnTo>
                    <a:pt x="19050" y="242888"/>
                  </a:lnTo>
                  <a:lnTo>
                    <a:pt x="73025" y="242888"/>
                  </a:lnTo>
                  <a:lnTo>
                    <a:pt x="73025" y="165100"/>
                  </a:lnTo>
                  <a:close/>
                  <a:moveTo>
                    <a:pt x="12010" y="141288"/>
                  </a:moveTo>
                  <a:cubicBezTo>
                    <a:pt x="12010" y="141288"/>
                    <a:pt x="12010" y="141288"/>
                    <a:pt x="81400" y="141288"/>
                  </a:cubicBezTo>
                  <a:cubicBezTo>
                    <a:pt x="86738" y="141288"/>
                    <a:pt x="92075" y="146541"/>
                    <a:pt x="92075" y="153107"/>
                  </a:cubicBezTo>
                  <a:cubicBezTo>
                    <a:pt x="92075" y="153107"/>
                    <a:pt x="92075" y="153107"/>
                    <a:pt x="92075" y="273932"/>
                  </a:cubicBezTo>
                  <a:cubicBezTo>
                    <a:pt x="92075" y="280498"/>
                    <a:pt x="86738" y="285751"/>
                    <a:pt x="81400" y="285751"/>
                  </a:cubicBezTo>
                  <a:cubicBezTo>
                    <a:pt x="81400" y="285751"/>
                    <a:pt x="81400" y="285751"/>
                    <a:pt x="12010" y="285751"/>
                  </a:cubicBezTo>
                  <a:cubicBezTo>
                    <a:pt x="5337" y="285751"/>
                    <a:pt x="0" y="280498"/>
                    <a:pt x="0" y="273932"/>
                  </a:cubicBezTo>
                  <a:cubicBezTo>
                    <a:pt x="0" y="273932"/>
                    <a:pt x="0" y="273932"/>
                    <a:pt x="0" y="153107"/>
                  </a:cubicBezTo>
                  <a:cubicBezTo>
                    <a:pt x="0" y="146541"/>
                    <a:pt x="5337" y="141288"/>
                    <a:pt x="12010" y="141288"/>
                  </a:cubicBezTo>
                  <a:close/>
                  <a:moveTo>
                    <a:pt x="55002" y="82550"/>
                  </a:moveTo>
                  <a:cubicBezTo>
                    <a:pt x="55002" y="82550"/>
                    <a:pt x="55002" y="82550"/>
                    <a:pt x="175185" y="82550"/>
                  </a:cubicBezTo>
                  <a:cubicBezTo>
                    <a:pt x="185751" y="82550"/>
                    <a:pt x="193675" y="90467"/>
                    <a:pt x="193675" y="99703"/>
                  </a:cubicBezTo>
                  <a:cubicBezTo>
                    <a:pt x="193675" y="99703"/>
                    <a:pt x="193675" y="99703"/>
                    <a:pt x="193675" y="268597"/>
                  </a:cubicBezTo>
                  <a:cubicBezTo>
                    <a:pt x="193675" y="277833"/>
                    <a:pt x="185751" y="285750"/>
                    <a:pt x="175185" y="285750"/>
                  </a:cubicBezTo>
                  <a:cubicBezTo>
                    <a:pt x="175185" y="285750"/>
                    <a:pt x="175185" y="285750"/>
                    <a:pt x="107830" y="285750"/>
                  </a:cubicBezTo>
                  <a:cubicBezTo>
                    <a:pt x="109151" y="283111"/>
                    <a:pt x="109151" y="280472"/>
                    <a:pt x="109151" y="276514"/>
                  </a:cubicBezTo>
                  <a:cubicBezTo>
                    <a:pt x="109151" y="276514"/>
                    <a:pt x="109151" y="276514"/>
                    <a:pt x="109151" y="273875"/>
                  </a:cubicBezTo>
                  <a:cubicBezTo>
                    <a:pt x="110471" y="273875"/>
                    <a:pt x="113113" y="275194"/>
                    <a:pt x="115754" y="275194"/>
                  </a:cubicBezTo>
                  <a:cubicBezTo>
                    <a:pt x="121037" y="275194"/>
                    <a:pt x="124999" y="271236"/>
                    <a:pt x="124999" y="264639"/>
                  </a:cubicBezTo>
                  <a:cubicBezTo>
                    <a:pt x="124999" y="259361"/>
                    <a:pt x="121037" y="254083"/>
                    <a:pt x="115754" y="254083"/>
                  </a:cubicBezTo>
                  <a:cubicBezTo>
                    <a:pt x="113113" y="254083"/>
                    <a:pt x="110471" y="255402"/>
                    <a:pt x="109151" y="256722"/>
                  </a:cubicBezTo>
                  <a:cubicBezTo>
                    <a:pt x="109151" y="256722"/>
                    <a:pt x="109151" y="256722"/>
                    <a:pt x="109151" y="235610"/>
                  </a:cubicBezTo>
                  <a:cubicBezTo>
                    <a:pt x="109151" y="235610"/>
                    <a:pt x="109151" y="235610"/>
                    <a:pt x="168582" y="235610"/>
                  </a:cubicBezTo>
                  <a:cubicBezTo>
                    <a:pt x="168582" y="235610"/>
                    <a:pt x="168582" y="235610"/>
                    <a:pt x="168582" y="110259"/>
                  </a:cubicBezTo>
                  <a:cubicBezTo>
                    <a:pt x="168582" y="110259"/>
                    <a:pt x="168582" y="110259"/>
                    <a:pt x="61606" y="110259"/>
                  </a:cubicBezTo>
                  <a:cubicBezTo>
                    <a:pt x="61606" y="110259"/>
                    <a:pt x="61606" y="110259"/>
                    <a:pt x="61606" y="126093"/>
                  </a:cubicBezTo>
                  <a:cubicBezTo>
                    <a:pt x="61606" y="126093"/>
                    <a:pt x="61606" y="126093"/>
                    <a:pt x="36512" y="126093"/>
                  </a:cubicBezTo>
                  <a:cubicBezTo>
                    <a:pt x="36512" y="126093"/>
                    <a:pt x="36512" y="126093"/>
                    <a:pt x="36512" y="99703"/>
                  </a:cubicBezTo>
                  <a:cubicBezTo>
                    <a:pt x="36512" y="90467"/>
                    <a:pt x="45757" y="82550"/>
                    <a:pt x="55002" y="82550"/>
                  </a:cubicBezTo>
                  <a:close/>
                  <a:moveTo>
                    <a:pt x="102729" y="0"/>
                  </a:moveTo>
                  <a:cubicBezTo>
                    <a:pt x="102729" y="0"/>
                    <a:pt x="102729" y="0"/>
                    <a:pt x="305260" y="0"/>
                  </a:cubicBezTo>
                  <a:cubicBezTo>
                    <a:pt x="323672" y="0"/>
                    <a:pt x="338138" y="15802"/>
                    <a:pt x="338138" y="34237"/>
                  </a:cubicBezTo>
                  <a:cubicBezTo>
                    <a:pt x="338138" y="34237"/>
                    <a:pt x="338138" y="34237"/>
                    <a:pt x="338138" y="188306"/>
                  </a:cubicBezTo>
                  <a:cubicBezTo>
                    <a:pt x="338138" y="206741"/>
                    <a:pt x="323672" y="221226"/>
                    <a:pt x="305260" y="221226"/>
                  </a:cubicBezTo>
                  <a:cubicBezTo>
                    <a:pt x="305260" y="221226"/>
                    <a:pt x="305260" y="221226"/>
                    <a:pt x="234242" y="221226"/>
                  </a:cubicBezTo>
                  <a:cubicBezTo>
                    <a:pt x="234242" y="221226"/>
                    <a:pt x="234242" y="221226"/>
                    <a:pt x="234242" y="243612"/>
                  </a:cubicBezTo>
                  <a:cubicBezTo>
                    <a:pt x="234242" y="243612"/>
                    <a:pt x="234242" y="243612"/>
                    <a:pt x="265806" y="243612"/>
                  </a:cubicBezTo>
                  <a:cubicBezTo>
                    <a:pt x="272381" y="243612"/>
                    <a:pt x="277642" y="250196"/>
                    <a:pt x="277642" y="256780"/>
                  </a:cubicBezTo>
                  <a:cubicBezTo>
                    <a:pt x="277642" y="256780"/>
                    <a:pt x="277642" y="256780"/>
                    <a:pt x="277642" y="272582"/>
                  </a:cubicBezTo>
                  <a:cubicBezTo>
                    <a:pt x="277642" y="280483"/>
                    <a:pt x="272381" y="285750"/>
                    <a:pt x="265806" y="285750"/>
                  </a:cubicBezTo>
                  <a:cubicBezTo>
                    <a:pt x="265806" y="285750"/>
                    <a:pt x="265806" y="285750"/>
                    <a:pt x="205309" y="285750"/>
                  </a:cubicBezTo>
                  <a:cubicBezTo>
                    <a:pt x="207940" y="280483"/>
                    <a:pt x="209255" y="275216"/>
                    <a:pt x="210570" y="269948"/>
                  </a:cubicBezTo>
                  <a:cubicBezTo>
                    <a:pt x="210570" y="268632"/>
                    <a:pt x="210570" y="213325"/>
                    <a:pt x="210570" y="213325"/>
                  </a:cubicBezTo>
                  <a:cubicBezTo>
                    <a:pt x="210570" y="213325"/>
                    <a:pt x="210570" y="213325"/>
                    <a:pt x="210570" y="172504"/>
                  </a:cubicBezTo>
                  <a:cubicBezTo>
                    <a:pt x="210570" y="172504"/>
                    <a:pt x="210570" y="172504"/>
                    <a:pt x="296054" y="172504"/>
                  </a:cubicBezTo>
                  <a:cubicBezTo>
                    <a:pt x="303945" y="172504"/>
                    <a:pt x="309205" y="165920"/>
                    <a:pt x="309205" y="159335"/>
                  </a:cubicBezTo>
                  <a:cubicBezTo>
                    <a:pt x="309205" y="159335"/>
                    <a:pt x="309205" y="159335"/>
                    <a:pt x="309205" y="39504"/>
                  </a:cubicBezTo>
                  <a:cubicBezTo>
                    <a:pt x="309205" y="32920"/>
                    <a:pt x="303945" y="27653"/>
                    <a:pt x="296054" y="27653"/>
                  </a:cubicBezTo>
                  <a:cubicBezTo>
                    <a:pt x="296054" y="27653"/>
                    <a:pt x="296054" y="27653"/>
                    <a:pt x="110620" y="27653"/>
                  </a:cubicBezTo>
                  <a:cubicBezTo>
                    <a:pt x="104044" y="27653"/>
                    <a:pt x="98783" y="32920"/>
                    <a:pt x="98783" y="39504"/>
                  </a:cubicBezTo>
                  <a:cubicBezTo>
                    <a:pt x="98783" y="39504"/>
                    <a:pt x="98783" y="39504"/>
                    <a:pt x="98783" y="65841"/>
                  </a:cubicBezTo>
                  <a:cubicBezTo>
                    <a:pt x="98783" y="65841"/>
                    <a:pt x="98783" y="65841"/>
                    <a:pt x="69850" y="65841"/>
                  </a:cubicBezTo>
                  <a:cubicBezTo>
                    <a:pt x="69850" y="65841"/>
                    <a:pt x="69850" y="65841"/>
                    <a:pt x="69850" y="34237"/>
                  </a:cubicBezTo>
                  <a:cubicBezTo>
                    <a:pt x="69850" y="15802"/>
                    <a:pt x="84317" y="0"/>
                    <a:pt x="102729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lIns="91440" tIns="45720" rIns="91440" bIns="4572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7" name="iṩ1îḑe"/>
            <p:cNvSpPr/>
            <p:nvPr>
              <p:custDataLst>
                <p:tags r:id="rId11"/>
              </p:custDataLst>
            </p:nvPr>
          </p:nvSpPr>
          <p:spPr bwMode="auto">
            <a:xfrm>
              <a:off x="4134802" y="3204305"/>
              <a:ext cx="824111" cy="696433"/>
            </a:xfrm>
            <a:custGeom>
              <a:avLst/>
              <a:gdLst>
                <a:gd name="connsiteX0" fmla="*/ 46038 w 338138"/>
                <a:gd name="connsiteY0" fmla="*/ 261938 h 285751"/>
                <a:gd name="connsiteX1" fmla="*/ 38100 w 338138"/>
                <a:gd name="connsiteY1" fmla="*/ 270670 h 285751"/>
                <a:gd name="connsiteX2" fmla="*/ 46038 w 338138"/>
                <a:gd name="connsiteY2" fmla="*/ 279402 h 285751"/>
                <a:gd name="connsiteX3" fmla="*/ 53976 w 338138"/>
                <a:gd name="connsiteY3" fmla="*/ 270670 h 285751"/>
                <a:gd name="connsiteX4" fmla="*/ 46038 w 338138"/>
                <a:gd name="connsiteY4" fmla="*/ 261938 h 285751"/>
                <a:gd name="connsiteX5" fmla="*/ 288131 w 338138"/>
                <a:gd name="connsiteY5" fmla="*/ 184150 h 285751"/>
                <a:gd name="connsiteX6" fmla="*/ 277812 w 338138"/>
                <a:gd name="connsiteY6" fmla="*/ 194469 h 285751"/>
                <a:gd name="connsiteX7" fmla="*/ 288131 w 338138"/>
                <a:gd name="connsiteY7" fmla="*/ 204788 h 285751"/>
                <a:gd name="connsiteX8" fmla="*/ 298450 w 338138"/>
                <a:gd name="connsiteY8" fmla="*/ 194469 h 285751"/>
                <a:gd name="connsiteX9" fmla="*/ 288131 w 338138"/>
                <a:gd name="connsiteY9" fmla="*/ 184150 h 285751"/>
                <a:gd name="connsiteX10" fmla="*/ 19050 w 338138"/>
                <a:gd name="connsiteY10" fmla="*/ 165100 h 285751"/>
                <a:gd name="connsiteX11" fmla="*/ 19050 w 338138"/>
                <a:gd name="connsiteY11" fmla="*/ 242888 h 285751"/>
                <a:gd name="connsiteX12" fmla="*/ 73025 w 338138"/>
                <a:gd name="connsiteY12" fmla="*/ 242888 h 285751"/>
                <a:gd name="connsiteX13" fmla="*/ 73025 w 338138"/>
                <a:gd name="connsiteY13" fmla="*/ 165100 h 285751"/>
                <a:gd name="connsiteX14" fmla="*/ 12010 w 338138"/>
                <a:gd name="connsiteY14" fmla="*/ 141288 h 285751"/>
                <a:gd name="connsiteX15" fmla="*/ 81400 w 338138"/>
                <a:gd name="connsiteY15" fmla="*/ 141288 h 285751"/>
                <a:gd name="connsiteX16" fmla="*/ 92075 w 338138"/>
                <a:gd name="connsiteY16" fmla="*/ 153107 h 285751"/>
                <a:gd name="connsiteX17" fmla="*/ 92075 w 338138"/>
                <a:gd name="connsiteY17" fmla="*/ 273932 h 285751"/>
                <a:gd name="connsiteX18" fmla="*/ 81400 w 338138"/>
                <a:gd name="connsiteY18" fmla="*/ 285751 h 285751"/>
                <a:gd name="connsiteX19" fmla="*/ 12010 w 338138"/>
                <a:gd name="connsiteY19" fmla="*/ 285751 h 285751"/>
                <a:gd name="connsiteX20" fmla="*/ 0 w 338138"/>
                <a:gd name="connsiteY20" fmla="*/ 273932 h 285751"/>
                <a:gd name="connsiteX21" fmla="*/ 0 w 338138"/>
                <a:gd name="connsiteY21" fmla="*/ 153107 h 285751"/>
                <a:gd name="connsiteX22" fmla="*/ 12010 w 338138"/>
                <a:gd name="connsiteY22" fmla="*/ 141288 h 285751"/>
                <a:gd name="connsiteX23" fmla="*/ 55002 w 338138"/>
                <a:gd name="connsiteY23" fmla="*/ 82550 h 285751"/>
                <a:gd name="connsiteX24" fmla="*/ 175185 w 338138"/>
                <a:gd name="connsiteY24" fmla="*/ 82550 h 285751"/>
                <a:gd name="connsiteX25" fmla="*/ 193675 w 338138"/>
                <a:gd name="connsiteY25" fmla="*/ 99703 h 285751"/>
                <a:gd name="connsiteX26" fmla="*/ 193675 w 338138"/>
                <a:gd name="connsiteY26" fmla="*/ 268597 h 285751"/>
                <a:gd name="connsiteX27" fmla="*/ 175185 w 338138"/>
                <a:gd name="connsiteY27" fmla="*/ 285750 h 285751"/>
                <a:gd name="connsiteX28" fmla="*/ 107830 w 338138"/>
                <a:gd name="connsiteY28" fmla="*/ 285750 h 285751"/>
                <a:gd name="connsiteX29" fmla="*/ 109151 w 338138"/>
                <a:gd name="connsiteY29" fmla="*/ 276514 h 285751"/>
                <a:gd name="connsiteX30" fmla="*/ 109151 w 338138"/>
                <a:gd name="connsiteY30" fmla="*/ 273875 h 285751"/>
                <a:gd name="connsiteX31" fmla="*/ 115754 w 338138"/>
                <a:gd name="connsiteY31" fmla="*/ 275194 h 285751"/>
                <a:gd name="connsiteX32" fmla="*/ 124999 w 338138"/>
                <a:gd name="connsiteY32" fmla="*/ 264639 h 285751"/>
                <a:gd name="connsiteX33" fmla="*/ 115754 w 338138"/>
                <a:gd name="connsiteY33" fmla="*/ 254083 h 285751"/>
                <a:gd name="connsiteX34" fmla="*/ 109151 w 338138"/>
                <a:gd name="connsiteY34" fmla="*/ 256722 h 285751"/>
                <a:gd name="connsiteX35" fmla="*/ 109151 w 338138"/>
                <a:gd name="connsiteY35" fmla="*/ 235610 h 285751"/>
                <a:gd name="connsiteX36" fmla="*/ 168582 w 338138"/>
                <a:gd name="connsiteY36" fmla="*/ 235610 h 285751"/>
                <a:gd name="connsiteX37" fmla="*/ 168582 w 338138"/>
                <a:gd name="connsiteY37" fmla="*/ 110259 h 285751"/>
                <a:gd name="connsiteX38" fmla="*/ 61606 w 338138"/>
                <a:gd name="connsiteY38" fmla="*/ 110259 h 285751"/>
                <a:gd name="connsiteX39" fmla="*/ 61606 w 338138"/>
                <a:gd name="connsiteY39" fmla="*/ 126093 h 285751"/>
                <a:gd name="connsiteX40" fmla="*/ 36512 w 338138"/>
                <a:gd name="connsiteY40" fmla="*/ 126093 h 285751"/>
                <a:gd name="connsiteX41" fmla="*/ 36512 w 338138"/>
                <a:gd name="connsiteY41" fmla="*/ 99703 h 285751"/>
                <a:gd name="connsiteX42" fmla="*/ 55002 w 338138"/>
                <a:gd name="connsiteY42" fmla="*/ 82550 h 285751"/>
                <a:gd name="connsiteX43" fmla="*/ 102729 w 338138"/>
                <a:gd name="connsiteY43" fmla="*/ 0 h 285751"/>
                <a:gd name="connsiteX44" fmla="*/ 305260 w 338138"/>
                <a:gd name="connsiteY44" fmla="*/ 0 h 285751"/>
                <a:gd name="connsiteX45" fmla="*/ 338138 w 338138"/>
                <a:gd name="connsiteY45" fmla="*/ 34237 h 285751"/>
                <a:gd name="connsiteX46" fmla="*/ 338138 w 338138"/>
                <a:gd name="connsiteY46" fmla="*/ 188306 h 285751"/>
                <a:gd name="connsiteX47" fmla="*/ 305260 w 338138"/>
                <a:gd name="connsiteY47" fmla="*/ 221226 h 285751"/>
                <a:gd name="connsiteX48" fmla="*/ 234242 w 338138"/>
                <a:gd name="connsiteY48" fmla="*/ 221226 h 285751"/>
                <a:gd name="connsiteX49" fmla="*/ 234242 w 338138"/>
                <a:gd name="connsiteY49" fmla="*/ 243612 h 285751"/>
                <a:gd name="connsiteX50" fmla="*/ 265806 w 338138"/>
                <a:gd name="connsiteY50" fmla="*/ 243612 h 285751"/>
                <a:gd name="connsiteX51" fmla="*/ 277642 w 338138"/>
                <a:gd name="connsiteY51" fmla="*/ 256780 h 285751"/>
                <a:gd name="connsiteX52" fmla="*/ 277642 w 338138"/>
                <a:gd name="connsiteY52" fmla="*/ 272582 h 285751"/>
                <a:gd name="connsiteX53" fmla="*/ 265806 w 338138"/>
                <a:gd name="connsiteY53" fmla="*/ 285750 h 285751"/>
                <a:gd name="connsiteX54" fmla="*/ 205309 w 338138"/>
                <a:gd name="connsiteY54" fmla="*/ 285750 h 285751"/>
                <a:gd name="connsiteX55" fmla="*/ 210570 w 338138"/>
                <a:gd name="connsiteY55" fmla="*/ 269948 h 285751"/>
                <a:gd name="connsiteX56" fmla="*/ 210570 w 338138"/>
                <a:gd name="connsiteY56" fmla="*/ 213325 h 285751"/>
                <a:gd name="connsiteX57" fmla="*/ 210570 w 338138"/>
                <a:gd name="connsiteY57" fmla="*/ 172504 h 285751"/>
                <a:gd name="connsiteX58" fmla="*/ 296054 w 338138"/>
                <a:gd name="connsiteY58" fmla="*/ 172504 h 285751"/>
                <a:gd name="connsiteX59" fmla="*/ 309205 w 338138"/>
                <a:gd name="connsiteY59" fmla="*/ 159335 h 285751"/>
                <a:gd name="connsiteX60" fmla="*/ 309205 w 338138"/>
                <a:gd name="connsiteY60" fmla="*/ 39504 h 285751"/>
                <a:gd name="connsiteX61" fmla="*/ 296054 w 338138"/>
                <a:gd name="connsiteY61" fmla="*/ 27653 h 285751"/>
                <a:gd name="connsiteX62" fmla="*/ 110620 w 338138"/>
                <a:gd name="connsiteY62" fmla="*/ 27653 h 285751"/>
                <a:gd name="connsiteX63" fmla="*/ 98783 w 338138"/>
                <a:gd name="connsiteY63" fmla="*/ 39504 h 285751"/>
                <a:gd name="connsiteX64" fmla="*/ 98783 w 338138"/>
                <a:gd name="connsiteY64" fmla="*/ 65841 h 285751"/>
                <a:gd name="connsiteX65" fmla="*/ 69850 w 338138"/>
                <a:gd name="connsiteY65" fmla="*/ 65841 h 285751"/>
                <a:gd name="connsiteX66" fmla="*/ 69850 w 338138"/>
                <a:gd name="connsiteY66" fmla="*/ 34237 h 285751"/>
                <a:gd name="connsiteX67" fmla="*/ 102729 w 338138"/>
                <a:gd name="connsiteY67" fmla="*/ 0 h 28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38138" h="285751">
                  <a:moveTo>
                    <a:pt x="46038" y="261938"/>
                  </a:moveTo>
                  <a:cubicBezTo>
                    <a:pt x="41654" y="261938"/>
                    <a:pt x="38100" y="265847"/>
                    <a:pt x="38100" y="270670"/>
                  </a:cubicBezTo>
                  <a:cubicBezTo>
                    <a:pt x="38100" y="275493"/>
                    <a:pt x="41654" y="279402"/>
                    <a:pt x="46038" y="279402"/>
                  </a:cubicBezTo>
                  <a:cubicBezTo>
                    <a:pt x="50422" y="279402"/>
                    <a:pt x="53976" y="275493"/>
                    <a:pt x="53976" y="270670"/>
                  </a:cubicBezTo>
                  <a:cubicBezTo>
                    <a:pt x="53976" y="265847"/>
                    <a:pt x="50422" y="261938"/>
                    <a:pt x="46038" y="261938"/>
                  </a:cubicBezTo>
                  <a:close/>
                  <a:moveTo>
                    <a:pt x="288131" y="184150"/>
                  </a:moveTo>
                  <a:cubicBezTo>
                    <a:pt x="282432" y="184150"/>
                    <a:pt x="277812" y="188770"/>
                    <a:pt x="277812" y="194469"/>
                  </a:cubicBezTo>
                  <a:cubicBezTo>
                    <a:pt x="277812" y="200168"/>
                    <a:pt x="282432" y="204788"/>
                    <a:pt x="288131" y="204788"/>
                  </a:cubicBezTo>
                  <a:cubicBezTo>
                    <a:pt x="293830" y="204788"/>
                    <a:pt x="298450" y="200168"/>
                    <a:pt x="298450" y="194469"/>
                  </a:cubicBezTo>
                  <a:cubicBezTo>
                    <a:pt x="298450" y="188770"/>
                    <a:pt x="293830" y="184150"/>
                    <a:pt x="288131" y="184150"/>
                  </a:cubicBezTo>
                  <a:close/>
                  <a:moveTo>
                    <a:pt x="19050" y="165100"/>
                  </a:moveTo>
                  <a:lnTo>
                    <a:pt x="19050" y="242888"/>
                  </a:lnTo>
                  <a:lnTo>
                    <a:pt x="73025" y="242888"/>
                  </a:lnTo>
                  <a:lnTo>
                    <a:pt x="73025" y="165100"/>
                  </a:lnTo>
                  <a:close/>
                  <a:moveTo>
                    <a:pt x="12010" y="141288"/>
                  </a:moveTo>
                  <a:cubicBezTo>
                    <a:pt x="12010" y="141288"/>
                    <a:pt x="12010" y="141288"/>
                    <a:pt x="81400" y="141288"/>
                  </a:cubicBezTo>
                  <a:cubicBezTo>
                    <a:pt x="86738" y="141288"/>
                    <a:pt x="92075" y="146541"/>
                    <a:pt x="92075" y="153107"/>
                  </a:cubicBezTo>
                  <a:cubicBezTo>
                    <a:pt x="92075" y="153107"/>
                    <a:pt x="92075" y="153107"/>
                    <a:pt x="92075" y="273932"/>
                  </a:cubicBezTo>
                  <a:cubicBezTo>
                    <a:pt x="92075" y="280498"/>
                    <a:pt x="86738" y="285751"/>
                    <a:pt x="81400" y="285751"/>
                  </a:cubicBezTo>
                  <a:cubicBezTo>
                    <a:pt x="81400" y="285751"/>
                    <a:pt x="81400" y="285751"/>
                    <a:pt x="12010" y="285751"/>
                  </a:cubicBezTo>
                  <a:cubicBezTo>
                    <a:pt x="5337" y="285751"/>
                    <a:pt x="0" y="280498"/>
                    <a:pt x="0" y="273932"/>
                  </a:cubicBezTo>
                  <a:cubicBezTo>
                    <a:pt x="0" y="273932"/>
                    <a:pt x="0" y="273932"/>
                    <a:pt x="0" y="153107"/>
                  </a:cubicBezTo>
                  <a:cubicBezTo>
                    <a:pt x="0" y="146541"/>
                    <a:pt x="5337" y="141288"/>
                    <a:pt x="12010" y="141288"/>
                  </a:cubicBezTo>
                  <a:close/>
                  <a:moveTo>
                    <a:pt x="55002" y="82550"/>
                  </a:moveTo>
                  <a:cubicBezTo>
                    <a:pt x="55002" y="82550"/>
                    <a:pt x="55002" y="82550"/>
                    <a:pt x="175185" y="82550"/>
                  </a:cubicBezTo>
                  <a:cubicBezTo>
                    <a:pt x="185751" y="82550"/>
                    <a:pt x="193675" y="90467"/>
                    <a:pt x="193675" y="99703"/>
                  </a:cubicBezTo>
                  <a:cubicBezTo>
                    <a:pt x="193675" y="99703"/>
                    <a:pt x="193675" y="99703"/>
                    <a:pt x="193675" y="268597"/>
                  </a:cubicBezTo>
                  <a:cubicBezTo>
                    <a:pt x="193675" y="277833"/>
                    <a:pt x="185751" y="285750"/>
                    <a:pt x="175185" y="285750"/>
                  </a:cubicBezTo>
                  <a:cubicBezTo>
                    <a:pt x="175185" y="285750"/>
                    <a:pt x="175185" y="285750"/>
                    <a:pt x="107830" y="285750"/>
                  </a:cubicBezTo>
                  <a:cubicBezTo>
                    <a:pt x="109151" y="283111"/>
                    <a:pt x="109151" y="280472"/>
                    <a:pt x="109151" y="276514"/>
                  </a:cubicBezTo>
                  <a:cubicBezTo>
                    <a:pt x="109151" y="276514"/>
                    <a:pt x="109151" y="276514"/>
                    <a:pt x="109151" y="273875"/>
                  </a:cubicBezTo>
                  <a:cubicBezTo>
                    <a:pt x="110471" y="273875"/>
                    <a:pt x="113113" y="275194"/>
                    <a:pt x="115754" y="275194"/>
                  </a:cubicBezTo>
                  <a:cubicBezTo>
                    <a:pt x="121037" y="275194"/>
                    <a:pt x="124999" y="271236"/>
                    <a:pt x="124999" y="264639"/>
                  </a:cubicBezTo>
                  <a:cubicBezTo>
                    <a:pt x="124999" y="259361"/>
                    <a:pt x="121037" y="254083"/>
                    <a:pt x="115754" y="254083"/>
                  </a:cubicBezTo>
                  <a:cubicBezTo>
                    <a:pt x="113113" y="254083"/>
                    <a:pt x="110471" y="255402"/>
                    <a:pt x="109151" y="256722"/>
                  </a:cubicBezTo>
                  <a:cubicBezTo>
                    <a:pt x="109151" y="256722"/>
                    <a:pt x="109151" y="256722"/>
                    <a:pt x="109151" y="235610"/>
                  </a:cubicBezTo>
                  <a:cubicBezTo>
                    <a:pt x="109151" y="235610"/>
                    <a:pt x="109151" y="235610"/>
                    <a:pt x="168582" y="235610"/>
                  </a:cubicBezTo>
                  <a:cubicBezTo>
                    <a:pt x="168582" y="235610"/>
                    <a:pt x="168582" y="235610"/>
                    <a:pt x="168582" y="110259"/>
                  </a:cubicBezTo>
                  <a:cubicBezTo>
                    <a:pt x="168582" y="110259"/>
                    <a:pt x="168582" y="110259"/>
                    <a:pt x="61606" y="110259"/>
                  </a:cubicBezTo>
                  <a:cubicBezTo>
                    <a:pt x="61606" y="110259"/>
                    <a:pt x="61606" y="110259"/>
                    <a:pt x="61606" y="126093"/>
                  </a:cubicBezTo>
                  <a:cubicBezTo>
                    <a:pt x="61606" y="126093"/>
                    <a:pt x="61606" y="126093"/>
                    <a:pt x="36512" y="126093"/>
                  </a:cubicBezTo>
                  <a:cubicBezTo>
                    <a:pt x="36512" y="126093"/>
                    <a:pt x="36512" y="126093"/>
                    <a:pt x="36512" y="99703"/>
                  </a:cubicBezTo>
                  <a:cubicBezTo>
                    <a:pt x="36512" y="90467"/>
                    <a:pt x="45757" y="82550"/>
                    <a:pt x="55002" y="82550"/>
                  </a:cubicBezTo>
                  <a:close/>
                  <a:moveTo>
                    <a:pt x="102729" y="0"/>
                  </a:moveTo>
                  <a:cubicBezTo>
                    <a:pt x="102729" y="0"/>
                    <a:pt x="102729" y="0"/>
                    <a:pt x="305260" y="0"/>
                  </a:cubicBezTo>
                  <a:cubicBezTo>
                    <a:pt x="323672" y="0"/>
                    <a:pt x="338138" y="15802"/>
                    <a:pt x="338138" y="34237"/>
                  </a:cubicBezTo>
                  <a:cubicBezTo>
                    <a:pt x="338138" y="34237"/>
                    <a:pt x="338138" y="34237"/>
                    <a:pt x="338138" y="188306"/>
                  </a:cubicBezTo>
                  <a:cubicBezTo>
                    <a:pt x="338138" y="206741"/>
                    <a:pt x="323672" y="221226"/>
                    <a:pt x="305260" y="221226"/>
                  </a:cubicBezTo>
                  <a:cubicBezTo>
                    <a:pt x="305260" y="221226"/>
                    <a:pt x="305260" y="221226"/>
                    <a:pt x="234242" y="221226"/>
                  </a:cubicBezTo>
                  <a:cubicBezTo>
                    <a:pt x="234242" y="221226"/>
                    <a:pt x="234242" y="221226"/>
                    <a:pt x="234242" y="243612"/>
                  </a:cubicBezTo>
                  <a:cubicBezTo>
                    <a:pt x="234242" y="243612"/>
                    <a:pt x="234242" y="243612"/>
                    <a:pt x="265806" y="243612"/>
                  </a:cubicBezTo>
                  <a:cubicBezTo>
                    <a:pt x="272381" y="243612"/>
                    <a:pt x="277642" y="250196"/>
                    <a:pt x="277642" y="256780"/>
                  </a:cubicBezTo>
                  <a:cubicBezTo>
                    <a:pt x="277642" y="256780"/>
                    <a:pt x="277642" y="256780"/>
                    <a:pt x="277642" y="272582"/>
                  </a:cubicBezTo>
                  <a:cubicBezTo>
                    <a:pt x="277642" y="280483"/>
                    <a:pt x="272381" y="285750"/>
                    <a:pt x="265806" y="285750"/>
                  </a:cubicBezTo>
                  <a:cubicBezTo>
                    <a:pt x="265806" y="285750"/>
                    <a:pt x="265806" y="285750"/>
                    <a:pt x="205309" y="285750"/>
                  </a:cubicBezTo>
                  <a:cubicBezTo>
                    <a:pt x="207940" y="280483"/>
                    <a:pt x="209255" y="275216"/>
                    <a:pt x="210570" y="269948"/>
                  </a:cubicBezTo>
                  <a:cubicBezTo>
                    <a:pt x="210570" y="268632"/>
                    <a:pt x="210570" y="213325"/>
                    <a:pt x="210570" y="213325"/>
                  </a:cubicBezTo>
                  <a:cubicBezTo>
                    <a:pt x="210570" y="213325"/>
                    <a:pt x="210570" y="213325"/>
                    <a:pt x="210570" y="172504"/>
                  </a:cubicBezTo>
                  <a:cubicBezTo>
                    <a:pt x="210570" y="172504"/>
                    <a:pt x="210570" y="172504"/>
                    <a:pt x="296054" y="172504"/>
                  </a:cubicBezTo>
                  <a:cubicBezTo>
                    <a:pt x="303945" y="172504"/>
                    <a:pt x="309205" y="165920"/>
                    <a:pt x="309205" y="159335"/>
                  </a:cubicBezTo>
                  <a:cubicBezTo>
                    <a:pt x="309205" y="159335"/>
                    <a:pt x="309205" y="159335"/>
                    <a:pt x="309205" y="39504"/>
                  </a:cubicBezTo>
                  <a:cubicBezTo>
                    <a:pt x="309205" y="32920"/>
                    <a:pt x="303945" y="27653"/>
                    <a:pt x="296054" y="27653"/>
                  </a:cubicBezTo>
                  <a:cubicBezTo>
                    <a:pt x="296054" y="27653"/>
                    <a:pt x="296054" y="27653"/>
                    <a:pt x="110620" y="27653"/>
                  </a:cubicBezTo>
                  <a:cubicBezTo>
                    <a:pt x="104044" y="27653"/>
                    <a:pt x="98783" y="32920"/>
                    <a:pt x="98783" y="39504"/>
                  </a:cubicBezTo>
                  <a:cubicBezTo>
                    <a:pt x="98783" y="39504"/>
                    <a:pt x="98783" y="39504"/>
                    <a:pt x="98783" y="65841"/>
                  </a:cubicBezTo>
                  <a:cubicBezTo>
                    <a:pt x="98783" y="65841"/>
                    <a:pt x="98783" y="65841"/>
                    <a:pt x="69850" y="65841"/>
                  </a:cubicBezTo>
                  <a:cubicBezTo>
                    <a:pt x="69850" y="65841"/>
                    <a:pt x="69850" y="65841"/>
                    <a:pt x="69850" y="34237"/>
                  </a:cubicBezTo>
                  <a:cubicBezTo>
                    <a:pt x="69850" y="15802"/>
                    <a:pt x="84317" y="0"/>
                    <a:pt x="10272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91440" tIns="45720" rIns="91440" bIns="4572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 rot="0">
            <a:off x="8422640" y="1934845"/>
            <a:ext cx="3011170" cy="3668395"/>
            <a:chOff x="8661000" y="1781570"/>
            <a:chExt cx="2295000" cy="3668972"/>
          </a:xfrm>
        </p:grpSpPr>
        <p:sp>
          <p:nvSpPr>
            <p:cNvPr id="51" name="Shape 1448"/>
            <p:cNvSpPr txBox="1"/>
            <p:nvPr>
              <p:custDataLst>
                <p:tags r:id="rId12"/>
              </p:custDataLst>
            </p:nvPr>
          </p:nvSpPr>
          <p:spPr>
            <a:xfrm>
              <a:off x="8661000" y="1781570"/>
              <a:ext cx="2295000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cs typeface="+mn-ea"/>
                  <a:sym typeface="+mn-lt"/>
                </a:rPr>
                <a:t>Qwen3.5-122B-A10B</a:t>
              </a:r>
              <a:endPara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2" name="Shape 1450"/>
            <p:cNvSpPr txBox="1"/>
            <p:nvPr>
              <p:custDataLst>
                <p:tags r:id="rId13"/>
              </p:custDataLst>
            </p:nvPr>
          </p:nvSpPr>
          <p:spPr>
            <a:xfrm>
              <a:off x="8661000" y="2174062"/>
              <a:ext cx="2295000" cy="327648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2719F"/>
                  </a:solidFill>
                  <a:effectLst/>
                  <a:uLnTx/>
                  <a:uFillTx/>
                  <a:cs typeface="+mn-ea"/>
                  <a:sym typeface="+mn-lt"/>
                </a:rPr>
                <a:t>主推理模型，支持 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2719F"/>
                  </a:solidFill>
                  <a:effectLst/>
                  <a:uLnTx/>
                  <a:uFillTx/>
                  <a:cs typeface="+mn-ea"/>
                  <a:sym typeface="+mn-lt"/>
                </a:rPr>
                <a:t>vLLM 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2719F"/>
                  </a:solidFill>
                  <a:effectLst/>
                  <a:uLnTx/>
                  <a:uFillTx/>
                  <a:cs typeface="+mn-ea"/>
                  <a:sym typeface="+mn-lt"/>
                </a:rPr>
                <a:t>流式生成；运行时按 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2719F"/>
                  </a:solidFill>
                  <a:effectLst/>
                  <a:uLnTx/>
                  <a:uFillTx/>
                  <a:cs typeface="+mn-ea"/>
                  <a:sym typeface="+mn-lt"/>
                </a:rPr>
                <a:t>Workspace 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2719F"/>
                  </a:solidFill>
                  <a:effectLst/>
                  <a:uLnTx/>
                  <a:uFillTx/>
                  <a:cs typeface="+mn-ea"/>
                  <a:sym typeface="+mn-lt"/>
                </a:rPr>
                <a:t>组合任务、权限、知识来源与可用工具；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2719F"/>
                  </a:solidFill>
                  <a:effectLst/>
                  <a:uLnTx/>
                  <a:uFillTx/>
                  <a:cs typeface="+mn-ea"/>
                  <a:sym typeface="+mn-lt"/>
                </a:rPr>
                <a:t>LoRA adapter 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2719F"/>
                  </a:solidFill>
                  <a:effectLst/>
                  <a:uLnTx/>
                  <a:uFillTx/>
                  <a:cs typeface="+mn-ea"/>
                  <a:sym typeface="+mn-lt"/>
                </a:rPr>
                <a:t>可按部署配置加载，默认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2719F"/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2719F"/>
                  </a:solidFill>
                  <a:effectLst/>
                  <a:uLnTx/>
                  <a:uFillTx/>
                  <a:cs typeface="+mn-ea"/>
                  <a:sym typeface="+mn-lt"/>
                </a:rPr>
                <a:t>关闭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2719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900430" y="240030"/>
            <a:ext cx="10296525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06 / MODEL STACK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模型不是唯一壁垒，边界才是</a:t>
            </a:r>
            <a:endParaRPr lang="zh-CN" altLang="en-US" sz="1200" dirty="0" smtClean="0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92810" y="1057275"/>
            <a:ext cx="10107930" cy="45593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b="1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方正北魏楷书_GBK" panose="02000000000000000000" charset="-122"/>
                <a:ea typeface="方正北魏楷书_GBK" panose="02000000000000000000" charset="-122"/>
                <a:cs typeface="方正北魏楷书_GBK" panose="02000000000000000000" charset="-122"/>
                <a:sym typeface="+mn-ea"/>
              </a:rPr>
              <a:t>基模已完成 LoRA 适配，自建 RAG 系统</a:t>
            </a:r>
            <a:r>
              <a:rPr lang="zh-CN" b="1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方正北魏楷书_GBK" panose="02000000000000000000" charset="-122"/>
                <a:ea typeface="方正北魏楷书_GBK" panose="02000000000000000000" charset="-122"/>
                <a:cs typeface="方正北魏楷书_GBK" panose="02000000000000000000" charset="-122"/>
                <a:sym typeface="+mn-ea"/>
              </a:rPr>
              <a:t/>
            </a:r>
            <a:r>
              <a:rPr lang="zh-CN" b="1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方正北魏楷书_GBK" panose="02000000000000000000" charset="-122"/>
                <a:ea typeface="方正北魏楷书_GBK" panose="02000000000000000000" charset="-122"/>
                <a:cs typeface="方正北魏楷书_GBK" panose="02000000000000000000" charset="-122"/>
                <a:sym typeface="+mn-ea"/>
              </a:rPr>
              <a:t/>
            </a:r>
            <a:r>
              <a:rPr b="1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方正北魏楷书_GBK" panose="02000000000000000000" charset="-122"/>
                <a:ea typeface="方正北魏楷书_GBK" panose="02000000000000000000" charset="-122"/>
                <a:cs typeface="方正北魏楷书_GBK" panose="02000000000000000000" charset="-122"/>
                <a:sym typeface="+mn-ea"/>
              </a:rPr>
              <a:t/>
            </a:r>
            <a:r>
              <a:rPr lang="zh-CN" b="1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方正北魏楷书_GBK" panose="02000000000000000000" charset="-122"/>
                <a:ea typeface="方正北魏楷书_GBK" panose="02000000000000000000" charset="-122"/>
                <a:cs typeface="方正北魏楷书_GBK" panose="02000000000000000000" charset="-122"/>
                <a:sym typeface="+mn-ea"/>
              </a:rPr>
              <a:t/>
            </a:r>
            <a:r>
              <a:rPr b="1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方正北魏楷书_GBK" panose="02000000000000000000" charset="-122"/>
                <a:ea typeface="方正北魏楷书_GBK" panose="02000000000000000000" charset="-122"/>
                <a:cs typeface="方正北魏楷书_GBK" panose="02000000000000000000" charset="-122"/>
                <a:sym typeface="+mn-ea"/>
              </a:rPr>
              <a:t/>
            </a:r>
            <a:endParaRPr lang="zh-CN" altLang="en-US" b="1" dirty="0" smtClean="0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方正北魏楷书_GBK" panose="02000000000000000000" charset="-122"/>
              <a:ea typeface="方正北魏楷书_GBK" panose="02000000000000000000" charset="-122"/>
              <a:cs typeface="方正北魏楷书_GBK" panose="02000000000000000000" charset="-122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t>覆盖学习、教学与科研场景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043305" y="1687830"/>
            <a:ext cx="3011170" cy="1003300"/>
            <a:chOff x="1643" y="2658"/>
            <a:chExt cx="4742" cy="1580"/>
          </a:xfrm>
        </p:grpSpPr>
        <p:sp>
          <p:nvSpPr>
            <p:cNvPr id="61" name="Shape 1448"/>
            <p:cNvSpPr txBox="1"/>
            <p:nvPr>
              <p:custDataLst>
                <p:tags r:id="rId14"/>
              </p:custDataLst>
            </p:nvPr>
          </p:nvSpPr>
          <p:spPr>
            <a:xfrm>
              <a:off x="1643" y="2658"/>
              <a:ext cx="4742" cy="61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txBody>
            <a:bodyPr wrap="none" lIns="91440" tIns="45720" rIns="91440" bIns="45720" anchor="ctr" anchorCtr="0">
              <a:normAutofit fontScale="900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rPr>
                <a:t>LoRA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2" name="Shape 1450"/>
            <p:cNvSpPr txBox="1"/>
            <p:nvPr>
              <p:custDataLst>
                <p:tags r:id="rId15"/>
              </p:custDataLst>
            </p:nvPr>
          </p:nvSpPr>
          <p:spPr>
            <a:xfrm>
              <a:off x="1643" y="3268"/>
              <a:ext cx="4742" cy="97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rPr>
                <a:t>支持 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rPr>
                <a:t>LoRA adapter；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rPr>
                <a:t>名称为 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rPr>
                <a:t>esa-agent，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rPr>
                <a:t>最大 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rPr>
                <a:t>rank = 16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043305" y="4472940"/>
            <a:ext cx="3011170" cy="1017270"/>
            <a:chOff x="1643" y="7044"/>
            <a:chExt cx="4742" cy="1602"/>
          </a:xfrm>
        </p:grpSpPr>
        <p:sp>
          <p:nvSpPr>
            <p:cNvPr id="58" name="Shape 1450"/>
            <p:cNvSpPr txBox="1"/>
            <p:nvPr>
              <p:custDataLst>
                <p:tags r:id="rId16"/>
              </p:custDataLst>
            </p:nvPr>
          </p:nvSpPr>
          <p:spPr>
            <a:xfrm>
              <a:off x="1643" y="7662"/>
              <a:ext cx="4742" cy="984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rPr>
                <a:t>主模型默认最大上下文长度 131,072 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rPr>
                <a:t>tokens，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rPr>
                <a:t>单次输出上限 16,384 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rPr>
                <a:t>tokens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7" name="Shape 1448"/>
            <p:cNvSpPr txBox="1"/>
            <p:nvPr>
              <p:custDataLst>
                <p:tags r:id="rId17"/>
              </p:custDataLst>
            </p:nvPr>
          </p:nvSpPr>
          <p:spPr>
            <a:xfrm>
              <a:off x="1643" y="7044"/>
              <a:ext cx="4742" cy="618"/>
            </a:xfrm>
            <a:prstGeom prst="rect">
              <a:avLst/>
            </a:prstGeom>
            <a:solidFill>
              <a:srgbClr val="72719F"/>
            </a:solidFill>
            <a:ln>
              <a:noFill/>
            </a:ln>
          </p:spPr>
          <p:txBody>
            <a:bodyPr wrap="none" lIns="91440" tIns="45720" rIns="91440" bIns="45720" anchor="ctr" anchorCtr="0">
              <a:normAutofit fontScale="900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rPr>
                <a:t>TP 2 · PP 3</a:t>
              </a:r>
              <a:endPara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043305" y="2857500"/>
            <a:ext cx="3011170" cy="1377315"/>
            <a:chOff x="1643" y="4500"/>
            <a:chExt cx="4742" cy="2169"/>
          </a:xfrm>
        </p:grpSpPr>
        <p:sp>
          <p:nvSpPr>
            <p:cNvPr id="60" name="Shape 1450"/>
            <p:cNvSpPr txBox="1"/>
            <p:nvPr>
              <p:custDataLst>
                <p:tags r:id="rId18"/>
              </p:custDataLst>
            </p:nvPr>
          </p:nvSpPr>
          <p:spPr>
            <a:xfrm>
              <a:off x="1643" y="5251"/>
              <a:ext cx="4742" cy="1419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lang="zh-CN" altLang="en-US" sz="12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rPr>
                <a:t>由本地 </a:t>
              </a:r>
              <a:r>
                <a:rPr lang="en-US" altLang="zh-CN" sz="12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rPr>
                <a:t>vLLM sidecar </a:t>
              </a:r>
              <a:r>
                <a:rPr lang="zh-CN" altLang="en-US" sz="12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rPr>
                <a:t>提供，服务于文档解析、会话标题生成与离线上下文压缩等辅助任务，不对外暴露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Shape 1448"/>
            <p:cNvSpPr txBox="1"/>
            <p:nvPr>
              <p:custDataLst>
                <p:tags r:id="rId19"/>
              </p:custDataLst>
            </p:nvPr>
          </p:nvSpPr>
          <p:spPr>
            <a:xfrm>
              <a:off x="1643" y="4500"/>
              <a:ext cx="4742" cy="618"/>
            </a:xfrm>
            <a:prstGeom prst="rect">
              <a:avLst/>
            </a:prstGeom>
            <a:solidFill>
              <a:srgbClr val="8C8BB1"/>
            </a:solidFill>
            <a:ln>
              <a:noFill/>
            </a:ln>
          </p:spPr>
          <p:txBody>
            <a:bodyPr wrap="none" lIns="91440" tIns="45720" rIns="91440" bIns="45720" anchor="ctr" anchorCtr="0">
              <a:normAutofit fontScale="900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rPr>
                <a:t>Qwen3.5-9B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</p:spTree>
    <p:custDataLst>
      <p:tags r:id="rId20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part.02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8" name="Evaluation slide title"/>
          <p:cNvSpPr txBox="1"/>
          <p:nvPr/>
        </p:nvSpPr>
        <p:spPr>
          <a:xfrm>
            <a:off x="896112" y="210312"/>
            <a:ext cx="10287000" cy="42354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474479"/>
                </a:solidFill>
                <a:latin typeface="Bahnschrift" panose="020B0502040204020203"/>
              </a:rPr>
              <a:t>0</a:t>
            </a:r>
            <a:r>
              <a:rPr lang="en-US" sz="2400" b="0">
                <a:solidFill>
                  <a:srgbClr val="474479"/>
                </a:solidFill>
                <a:latin typeface="Bahnschrift" panose="020B0502040204020203"/>
              </a:rPr>
              <a:t>7</a:t>
            </a:r>
            <a:r>
              <a:rPr sz="2400" b="0">
                <a:solidFill>
                  <a:srgbClr val="474479"/>
                </a:solidFill>
                <a:latin typeface="Bahnschrift" panose="020B0502040204020203"/>
              </a:rPr>
              <a:t> / PAIRED EVAL  微调效果用同卷配对验证</a:t>
            </a:r>
            <a:endParaRPr sz="2400" b="0">
              <a:solidFill>
                <a:srgbClr val="474479"/>
              </a:solidFill>
              <a:latin typeface="Bahnschrift" panose="020B0502040204020203"/>
            </a:endParaRPr>
          </a:p>
        </p:txBody>
      </p:sp>
      <p:sp>
        <p:nvSpPr>
          <p:cNvPr id="9" name="Evaluation slide subtitle"/>
          <p:cNvSpPr txBox="1"/>
          <p:nvPr/>
        </p:nvSpPr>
        <p:spPr>
          <a:xfrm>
            <a:off x="987552" y="987552"/>
            <a:ext cx="103327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D6B72"/>
                </a:solidFill>
                <a:latin typeface="微软雅黑" panose="020B0503020204020204" charset="-122"/>
              </a:rPr>
              <a:t>440 道题 · 同一判分器 · temperature=0 · 零摘题 · 唯一变量是模型</a:t>
            </a:r>
            <a:endParaRPr sz="1400" b="0">
              <a:solidFill>
                <a:srgbClr val="6D6B72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1627632"/>
            <a:ext cx="297180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2719F"/>
                </a:solidFill>
                <a:latin typeface="Bahnschrift" panose="020B0502040204020203"/>
              </a:rPr>
              <a:t>PAIRED OUTCOME / 逐题配对</a:t>
            </a:r>
            <a:endParaRPr sz="1200" b="1">
              <a:solidFill>
                <a:srgbClr val="72719F"/>
              </a:solidFill>
              <a:latin typeface="Bahnschrift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" y="1938528"/>
            <a:ext cx="1874519" cy="758952"/>
          </a:xfrm>
          <a:prstGeom prst="rect">
            <a:avLst/>
          </a:prstGeom>
          <a:noFill/>
        </p:spPr>
        <p:txBody>
          <a:bodyPr wrap="square" lIns="27432" tIns="27432" rIns="27432" bIns="27432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605E8C"/>
                </a:solidFill>
                <a:latin typeface="Bahnschrift" panose="020B0502040204020203"/>
              </a:rPr>
              <a:t>335</a:t>
            </a:r>
            <a:endParaRPr sz="4600" b="1">
              <a:solidFill>
                <a:srgbClr val="605E8C"/>
              </a:solidFill>
              <a:latin typeface="Bahnschrift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42032" y="2231136"/>
            <a:ext cx="1078992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13135"/>
                </a:solidFill>
                <a:latin typeface="微软雅黑" panose="020B0503020204020204" charset="-122"/>
              </a:rPr>
              <a:t>道仅微调后答对</a:t>
            </a:r>
            <a:endParaRPr sz="1250" b="1">
              <a:solidFill>
                <a:srgbClr val="313135"/>
              </a:solidFill>
              <a:latin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685800" y="2798064"/>
            <a:ext cx="2880360" cy="0"/>
          </a:xfrm>
          <a:prstGeom prst="line">
            <a:avLst/>
          </a:prstGeom>
          <a:ln w="15240">
            <a:solidFill>
              <a:srgbClr val="DA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2971800"/>
            <a:ext cx="1417320" cy="621792"/>
          </a:xfrm>
          <a:prstGeom prst="rect">
            <a:avLst/>
          </a:prstGeom>
          <a:noFill/>
        </p:spPr>
        <p:txBody>
          <a:bodyPr wrap="square" lIns="27432" tIns="27432" rIns="27432" bIns="27432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AFBADD"/>
                </a:solidFill>
                <a:latin typeface="Bahnschrift" panose="020B0502040204020203"/>
              </a:rPr>
              <a:t>40</a:t>
            </a:r>
            <a:endParaRPr sz="3400" b="1">
              <a:solidFill>
                <a:srgbClr val="AFBADD"/>
              </a:solidFill>
              <a:latin typeface="Bahnschrift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84831" y="3209544"/>
            <a:ext cx="1417320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D6B72"/>
                </a:solidFill>
                <a:latin typeface="微软雅黑" panose="020B0503020204020204" charset="-122"/>
              </a:rPr>
              <a:t>道仅 Base 答对</a:t>
            </a:r>
            <a:endParaRPr sz="1300" b="1">
              <a:solidFill>
                <a:srgbClr val="6D6B72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6656" y="3840480"/>
            <a:ext cx="2816352" cy="713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74479"/>
                </a:solidFill>
                <a:latin typeface="微软雅黑" panose="020B0503020204020204" charset="-122"/>
              </a:rPr>
              <a:t>微调后独对题数是 Base 的 8.4 倍</a:t>
            </a:r>
            <a:endParaRPr sz="1700" b="1">
              <a:solidFill>
                <a:srgbClr val="47447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6656" y="4590288"/>
            <a:ext cx="2834640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D6B72"/>
                </a:solidFill>
                <a:latin typeface="微软雅黑" panose="020B0503020204020204" charset="-122"/>
              </a:rPr>
              <a:t>五项核心指标显著改善；误触发率显著退化，下一页单独解释。</a:t>
            </a:r>
            <a:endParaRPr sz="1250" b="0">
              <a:solidFill>
                <a:srgbClr val="6D6B72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078224" y="1581912"/>
            <a:ext cx="6949440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2719F"/>
                </a:solidFill>
                <a:latin typeface="Bahnschrift" panose="020B0502040204020203"/>
              </a:rPr>
              <a:t>BASE（浅紫）  →  LoRA EP10（深紫）</a:t>
            </a:r>
            <a:endParaRPr sz="1200" b="1">
              <a:solidFill>
                <a:srgbClr val="72719F"/>
              </a:solidFill>
              <a:latin typeface="Bahnschrift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96512" y="2075688"/>
            <a:ext cx="1627632" cy="3291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13135"/>
                </a:solidFill>
                <a:latin typeface="微软雅黑" panose="020B0503020204020204" charset="-122"/>
              </a:rPr>
              <a:t>工具选择准确率</a:t>
            </a:r>
            <a:endParaRPr sz="1250" b="1">
              <a:solidFill>
                <a:srgbClr val="313135"/>
              </a:solidFill>
              <a:latin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5806440" y="2240280"/>
            <a:ext cx="5074919" cy="0"/>
          </a:xfrm>
          <a:prstGeom prst="line">
            <a:avLst/>
          </a:prstGeom>
          <a:ln w="25400">
            <a:solidFill>
              <a:srgbClr val="DA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08036" y="2240280"/>
            <a:ext cx="2314164" cy="0"/>
          </a:xfrm>
          <a:prstGeom prst="line">
            <a:avLst/>
          </a:prstGeom>
          <a:ln w="38100">
            <a:solidFill>
              <a:srgbClr val="AFB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544028" y="2176272"/>
            <a:ext cx="128016" cy="128016"/>
          </a:xfrm>
          <a:prstGeom prst="ellipse">
            <a:avLst/>
          </a:prstGeom>
          <a:solidFill>
            <a:srgbClr val="AFB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44476" y="2162556"/>
            <a:ext cx="155448" cy="155448"/>
          </a:xfrm>
          <a:prstGeom prst="ellipse">
            <a:avLst/>
          </a:prstGeom>
          <a:solidFill>
            <a:srgbClr val="60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0564" y="1901952"/>
            <a:ext cx="694944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D6B72"/>
                </a:solidFill>
                <a:latin typeface="微软雅黑" panose="020B0503020204020204" charset="-122"/>
              </a:rPr>
              <a:t>35.5</a:t>
            </a:r>
            <a:endParaRPr sz="1050" b="0">
              <a:solidFill>
                <a:srgbClr val="6D6B72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574728" y="2331720"/>
            <a:ext cx="694944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74479"/>
                </a:solidFill>
                <a:latin typeface="微软雅黑" panose="020B0503020204020204" charset="-122"/>
              </a:rPr>
              <a:t>81.1</a:t>
            </a:r>
            <a:endParaRPr sz="1150" b="1">
              <a:solidFill>
                <a:srgbClr val="474479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096512" y="2743200"/>
            <a:ext cx="1627632" cy="3291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13135"/>
                </a:solidFill>
                <a:latin typeface="微软雅黑" panose="020B0503020204020204" charset="-122"/>
              </a:rPr>
              <a:t>完整工具调用</a:t>
            </a:r>
            <a:endParaRPr sz="1250" b="1">
              <a:solidFill>
                <a:srgbClr val="313135"/>
              </a:solidFill>
              <a:latin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5806440" y="2907792"/>
            <a:ext cx="5074919" cy="0"/>
          </a:xfrm>
          <a:prstGeom prst="line">
            <a:avLst/>
          </a:prstGeom>
          <a:ln w="25400">
            <a:solidFill>
              <a:srgbClr val="DA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125919" y="2907792"/>
            <a:ext cx="2222815" cy="0"/>
          </a:xfrm>
          <a:prstGeom prst="line">
            <a:avLst/>
          </a:prstGeom>
          <a:ln w="38100">
            <a:solidFill>
              <a:srgbClr val="AFB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7061911" y="2843784"/>
            <a:ext cx="128016" cy="128016"/>
          </a:xfrm>
          <a:prstGeom prst="ellipse">
            <a:avLst/>
          </a:prstGeom>
          <a:solidFill>
            <a:srgbClr val="AFB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71010" y="2830068"/>
            <a:ext cx="155448" cy="155448"/>
          </a:xfrm>
          <a:prstGeom prst="ellipse">
            <a:avLst/>
          </a:prstGeom>
          <a:solidFill>
            <a:srgbClr val="60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78447" y="2569464"/>
            <a:ext cx="694944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D6B72"/>
                </a:solidFill>
                <a:latin typeface="微软雅黑" panose="020B0503020204020204" charset="-122"/>
              </a:rPr>
              <a:t>26.0</a:t>
            </a:r>
            <a:endParaRPr sz="1050" b="0">
              <a:solidFill>
                <a:srgbClr val="6D6B72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001262" y="2999232"/>
            <a:ext cx="694944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74479"/>
                </a:solidFill>
                <a:latin typeface="微软雅黑" panose="020B0503020204020204" charset="-122"/>
              </a:rPr>
              <a:t>69.8</a:t>
            </a:r>
            <a:endParaRPr sz="1150" b="1">
              <a:solidFill>
                <a:srgbClr val="474479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096512" y="3410712"/>
            <a:ext cx="1627632" cy="3291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13135"/>
                </a:solidFill>
                <a:latin typeface="微软雅黑" panose="020B0503020204020204" charset="-122"/>
              </a:rPr>
              <a:t>结果忠实度</a:t>
            </a:r>
            <a:endParaRPr sz="1250" b="1">
              <a:solidFill>
                <a:srgbClr val="313135"/>
              </a:solidFill>
              <a:latin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5806440" y="3575304"/>
            <a:ext cx="5074919" cy="0"/>
          </a:xfrm>
          <a:prstGeom prst="line">
            <a:avLst/>
          </a:prstGeom>
          <a:ln w="25400">
            <a:solidFill>
              <a:srgbClr val="DA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536746" y="3575304"/>
            <a:ext cx="2314164" cy="0"/>
          </a:xfrm>
          <a:prstGeom prst="line">
            <a:avLst/>
          </a:prstGeom>
          <a:ln w="38100">
            <a:solidFill>
              <a:srgbClr val="AFB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472738" y="3511296"/>
            <a:ext cx="128016" cy="128016"/>
          </a:xfrm>
          <a:prstGeom prst="ellipse">
            <a:avLst/>
          </a:prstGeom>
          <a:solidFill>
            <a:srgbClr val="AFB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773186" y="3497580"/>
            <a:ext cx="155448" cy="155448"/>
          </a:xfrm>
          <a:prstGeom prst="ellipse">
            <a:avLst/>
          </a:prstGeom>
          <a:solidFill>
            <a:srgbClr val="60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9274" y="3236976"/>
            <a:ext cx="694944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D6B72"/>
                </a:solidFill>
                <a:latin typeface="微软雅黑" panose="020B0503020204020204" charset="-122"/>
              </a:rPr>
              <a:t>53.8</a:t>
            </a:r>
            <a:endParaRPr sz="1050" b="0">
              <a:solidFill>
                <a:srgbClr val="6D6B72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503438" y="3666744"/>
            <a:ext cx="694944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74479"/>
                </a:solidFill>
                <a:latin typeface="微软雅黑" panose="020B0503020204020204" charset="-122"/>
              </a:rPr>
              <a:t>99.4</a:t>
            </a:r>
            <a:endParaRPr sz="1150" b="1">
              <a:solidFill>
                <a:srgbClr val="474479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096512" y="4078224"/>
            <a:ext cx="1627632" cy="3291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13135"/>
                </a:solidFill>
                <a:latin typeface="微软雅黑" panose="020B0503020204020204" charset="-122"/>
              </a:rPr>
              <a:t>参数完全匹配</a:t>
            </a:r>
            <a:endParaRPr sz="1250" b="1">
              <a:solidFill>
                <a:srgbClr val="313135"/>
              </a:solidFill>
              <a:latin typeface="微软雅黑" panose="020B0503020204020204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5806440" y="4242816"/>
            <a:ext cx="5074919" cy="0"/>
          </a:xfrm>
          <a:prstGeom prst="line">
            <a:avLst/>
          </a:prstGeom>
          <a:ln w="25400">
            <a:solidFill>
              <a:srgbClr val="DA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526356" y="4242816"/>
            <a:ext cx="649590" cy="0"/>
          </a:xfrm>
          <a:prstGeom prst="line">
            <a:avLst/>
          </a:prstGeom>
          <a:ln w="38100">
            <a:solidFill>
              <a:srgbClr val="AFB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9462348" y="4178807"/>
            <a:ext cx="128016" cy="128016"/>
          </a:xfrm>
          <a:prstGeom prst="ellipse">
            <a:avLst/>
          </a:prstGeom>
          <a:solidFill>
            <a:srgbClr val="AFB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98222" y="4165091"/>
            <a:ext cx="155448" cy="155448"/>
          </a:xfrm>
          <a:prstGeom prst="ellipse">
            <a:avLst/>
          </a:prstGeom>
          <a:solidFill>
            <a:srgbClr val="60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78884" y="3904487"/>
            <a:ext cx="694944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D6B72"/>
                </a:solidFill>
                <a:latin typeface="微软雅黑" panose="020B0503020204020204" charset="-122"/>
              </a:rPr>
              <a:t>73.3</a:t>
            </a:r>
            <a:endParaRPr sz="1050" b="0">
              <a:solidFill>
                <a:srgbClr val="6D6B72"/>
              </a:solidFill>
              <a:latin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828474" y="4334255"/>
            <a:ext cx="694944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74479"/>
                </a:solidFill>
                <a:latin typeface="微软雅黑" panose="020B0503020204020204" charset="-122"/>
              </a:rPr>
              <a:t>86.1</a:t>
            </a:r>
            <a:endParaRPr sz="1150" b="1">
              <a:solidFill>
                <a:srgbClr val="474479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096512" y="4745736"/>
            <a:ext cx="1627632" cy="3291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13135"/>
                </a:solidFill>
                <a:latin typeface="微软雅黑" panose="020B0503020204020204" charset="-122"/>
              </a:rPr>
              <a:t>漏调率 FNR</a:t>
            </a:r>
            <a:endParaRPr sz="1250" b="1">
              <a:solidFill>
                <a:srgbClr val="313135"/>
              </a:solidFill>
              <a:latin typeface="微软雅黑" panose="020B0503020204020204" charset="-122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5806440" y="4910328"/>
            <a:ext cx="5074919" cy="0"/>
          </a:xfrm>
          <a:prstGeom prst="line">
            <a:avLst/>
          </a:prstGeom>
          <a:ln w="25400">
            <a:solidFill>
              <a:srgbClr val="DA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6075410" y="4910328"/>
            <a:ext cx="2461336" cy="0"/>
          </a:xfrm>
          <a:prstGeom prst="line">
            <a:avLst/>
          </a:prstGeom>
          <a:ln w="38100">
            <a:solidFill>
              <a:srgbClr val="AFB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8472738" y="4846320"/>
            <a:ext cx="128016" cy="128016"/>
          </a:xfrm>
          <a:prstGeom prst="ellipse">
            <a:avLst/>
          </a:prstGeom>
          <a:solidFill>
            <a:srgbClr val="AFB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997686" y="4832604"/>
            <a:ext cx="155448" cy="155448"/>
          </a:xfrm>
          <a:prstGeom prst="ellipse">
            <a:avLst/>
          </a:prstGeom>
          <a:solidFill>
            <a:srgbClr val="60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89274" y="4572000"/>
            <a:ext cx="694944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D6B72"/>
                </a:solidFill>
                <a:latin typeface="微软雅黑" panose="020B0503020204020204" charset="-122"/>
              </a:rPr>
              <a:t>53.8</a:t>
            </a:r>
            <a:endParaRPr sz="1050" b="0">
              <a:solidFill>
                <a:srgbClr val="6D6B72"/>
              </a:solidFill>
              <a:latin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727938" y="5001768"/>
            <a:ext cx="694944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74479"/>
                </a:solidFill>
                <a:latin typeface="微软雅黑" panose="020B0503020204020204" charset="-122"/>
              </a:rPr>
              <a:t>5.3</a:t>
            </a:r>
            <a:endParaRPr sz="1150" b="1">
              <a:solidFill>
                <a:srgbClr val="474479"/>
              </a:solidFill>
              <a:latin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21792" y="5669280"/>
            <a:ext cx="10936224" cy="420624"/>
          </a:xfrm>
          <a:prstGeom prst="rect">
            <a:avLst/>
          </a:prstGeom>
          <a:solidFill>
            <a:srgbClr val="60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4672" y="5715000"/>
            <a:ext cx="1024128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主结论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856231" y="5705856"/>
            <a:ext cx="9281160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</a:rPr>
              <a:t>模型从“很少调用工具”转变为能够完成工具闭环，提升不是由换题或摘题造成。</a:t>
            </a:r>
            <a:endParaRPr sz="12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40080" y="6236208"/>
            <a:ext cx="9107424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D6B72"/>
                </a:solidFill>
                <a:latin typeface="微软雅黑" panose="020B0503020204020204" charset="-122"/>
              </a:rPr>
              <a:t>McNemar 精确检验：上述五项 p&lt;0.05；拒绝/恢复为小样本（n=6/13），只报告方向。</a:t>
            </a:r>
            <a:endParaRPr sz="950" b="0">
              <a:solidFill>
                <a:srgbClr val="6D6B7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part.02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8" name="Evaluation slide title"/>
          <p:cNvSpPr txBox="1"/>
          <p:nvPr/>
        </p:nvSpPr>
        <p:spPr>
          <a:xfrm>
            <a:off x="896112" y="210312"/>
            <a:ext cx="10287000" cy="42354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474479"/>
                </a:solidFill>
                <a:latin typeface="Bahnschrift" panose="020B0502040204020203"/>
              </a:rPr>
              <a:t>0</a:t>
            </a:r>
            <a:r>
              <a:rPr lang="en-US" sz="2400" b="0">
                <a:solidFill>
                  <a:srgbClr val="474479"/>
                </a:solidFill>
                <a:latin typeface="Bahnschrift" panose="020B0502040204020203"/>
              </a:rPr>
              <a:t>8</a:t>
            </a:r>
            <a:r>
              <a:rPr sz="2400" b="0">
                <a:solidFill>
                  <a:srgbClr val="474479"/>
                </a:solidFill>
                <a:latin typeface="Bahnschrift" panose="020B0502040204020203"/>
              </a:rPr>
              <a:t> / GENERALIZATION  未见工具仍能调用，但调用倾向更积极</a:t>
            </a:r>
            <a:endParaRPr sz="2400" b="0">
              <a:solidFill>
                <a:srgbClr val="474479"/>
              </a:solidFill>
              <a:latin typeface="Bahnschrift" panose="020B0502040204020203"/>
            </a:endParaRPr>
          </a:p>
        </p:txBody>
      </p:sp>
      <p:sp>
        <p:nvSpPr>
          <p:cNvPr id="9" name="Evaluation slide subtitle"/>
          <p:cNvSpPr txBox="1"/>
          <p:nvPr/>
        </p:nvSpPr>
        <p:spPr>
          <a:xfrm>
            <a:off x="987552" y="987552"/>
            <a:ext cx="103327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D6B72"/>
                </a:solidFill>
                <a:latin typeface="微软雅黑" panose="020B0503020204020204" charset="-122"/>
              </a:rPr>
              <a:t>分层考卷区分同分布、状态外推和场景外推；提升与代价必须一起报告</a:t>
            </a:r>
            <a:endParaRPr sz="1400" b="0">
              <a:solidFill>
                <a:srgbClr val="6D6B72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" y="1600200"/>
            <a:ext cx="434340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2719F"/>
                </a:solidFill>
                <a:latin typeface="Bahnschrift" panose="020B0502040204020203"/>
              </a:rPr>
              <a:t>TOOL SELECTION / 分层工具选择准确率</a:t>
            </a:r>
            <a:endParaRPr sz="1200" b="1">
              <a:solidFill>
                <a:srgbClr val="72719F"/>
              </a:solidFill>
              <a:latin typeface="Bahnschrift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20640" y="1600200"/>
            <a:ext cx="114300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D6B72"/>
                </a:solidFill>
                <a:latin typeface="Bahnschrift" panose="020B0502040204020203"/>
              </a:rPr>
              <a:t>0 — 100%</a:t>
            </a:r>
            <a:endParaRPr sz="1000" b="0">
              <a:solidFill>
                <a:srgbClr val="6D6B72"/>
              </a:solidFill>
              <a:latin typeface="Bahnschrift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16752" y="1600200"/>
            <a:ext cx="896112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D6B72"/>
                </a:solidFill>
                <a:latin typeface="Bahnschrift" panose="020B0502040204020203"/>
              </a:rPr>
              <a:t>LoRA/总数</a:t>
            </a:r>
            <a:endParaRPr sz="950" b="0">
              <a:solidFill>
                <a:srgbClr val="6D6B72"/>
              </a:solidFill>
              <a:latin typeface="Bahnschrift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2148839"/>
            <a:ext cx="1325880" cy="3291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13135"/>
                </a:solidFill>
                <a:latin typeface="微软雅黑" panose="020B0503020204020204" charset="-122"/>
              </a:rPr>
              <a:t>L1 同分布</a:t>
            </a:r>
            <a:endParaRPr sz="1400" b="1">
              <a:solidFill>
                <a:srgbClr val="313135"/>
              </a:solidFill>
              <a:latin typeface="微软雅黑" panose="020B0503020204020204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2148840" y="2313432"/>
            <a:ext cx="3840480" cy="0"/>
          </a:xfrm>
          <a:prstGeom prst="line">
            <a:avLst/>
          </a:prstGeom>
          <a:ln w="27940">
            <a:solidFill>
              <a:srgbClr val="DA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069080" y="2313432"/>
            <a:ext cx="1451701" cy="0"/>
          </a:xfrm>
          <a:prstGeom prst="line">
            <a:avLst/>
          </a:prstGeom>
          <a:ln w="38100">
            <a:solidFill>
              <a:srgbClr val="AFB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000500" y="2244851"/>
            <a:ext cx="137160" cy="137160"/>
          </a:xfrm>
          <a:prstGeom prst="ellipse">
            <a:avLst/>
          </a:prstGeom>
          <a:solidFill>
            <a:srgbClr val="AFB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38485" y="2231136"/>
            <a:ext cx="164592" cy="164592"/>
          </a:xfrm>
          <a:prstGeom prst="ellipse">
            <a:avLst/>
          </a:prstGeom>
          <a:solidFill>
            <a:srgbClr val="60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1608" y="1947672"/>
            <a:ext cx="694944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D6B72"/>
                </a:solidFill>
                <a:latin typeface="微软雅黑" panose="020B0503020204020204" charset="-122"/>
              </a:rPr>
              <a:t>50.0</a:t>
            </a:r>
            <a:endParaRPr sz="1050" b="0">
              <a:solidFill>
                <a:srgbClr val="6D6B72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73309" y="2414015"/>
            <a:ext cx="694944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74479"/>
                </a:solidFill>
                <a:latin typeface="微软雅黑" panose="020B0503020204020204" charset="-122"/>
              </a:rPr>
              <a:t>87.8</a:t>
            </a:r>
            <a:endParaRPr sz="1150" b="1">
              <a:solidFill>
                <a:srgbClr val="474479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80760" y="2148839"/>
            <a:ext cx="804672" cy="3291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D6B72"/>
                </a:solidFill>
                <a:latin typeface="Bahnschrift" panose="020B0502040204020203"/>
              </a:rPr>
              <a:t>79/90</a:t>
            </a:r>
            <a:endParaRPr sz="1150" b="0">
              <a:solidFill>
                <a:srgbClr val="6D6B72"/>
              </a:solidFill>
              <a:latin typeface="Bahnschrift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3026664"/>
            <a:ext cx="1325880" cy="3291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13135"/>
                </a:solidFill>
                <a:latin typeface="微软雅黑" panose="020B0503020204020204" charset="-122"/>
              </a:rPr>
              <a:t>L2 状态外推</a:t>
            </a:r>
            <a:endParaRPr sz="1400" b="1">
              <a:solidFill>
                <a:srgbClr val="313135"/>
              </a:solidFill>
              <a:latin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2148840" y="3191256"/>
            <a:ext cx="3840480" cy="0"/>
          </a:xfrm>
          <a:prstGeom prst="line">
            <a:avLst/>
          </a:prstGeom>
          <a:ln w="27940">
            <a:solidFill>
              <a:srgbClr val="DA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069080" y="3191256"/>
            <a:ext cx="1098377" cy="0"/>
          </a:xfrm>
          <a:prstGeom prst="line">
            <a:avLst/>
          </a:prstGeom>
          <a:ln w="38100">
            <a:solidFill>
              <a:srgbClr val="AFB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000500" y="3122676"/>
            <a:ext cx="137160" cy="137160"/>
          </a:xfrm>
          <a:prstGeom prst="ellipse">
            <a:avLst/>
          </a:prstGeom>
          <a:solidFill>
            <a:srgbClr val="AFB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85161" y="3108960"/>
            <a:ext cx="164592" cy="164592"/>
          </a:xfrm>
          <a:prstGeom prst="ellipse">
            <a:avLst/>
          </a:prstGeom>
          <a:solidFill>
            <a:srgbClr val="60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21608" y="2825496"/>
            <a:ext cx="694944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D6B72"/>
                </a:solidFill>
                <a:latin typeface="微软雅黑" panose="020B0503020204020204" charset="-122"/>
              </a:rPr>
              <a:t>50.0</a:t>
            </a:r>
            <a:endParaRPr sz="1050" b="0">
              <a:solidFill>
                <a:srgbClr val="6D6B72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19985" y="3291840"/>
            <a:ext cx="694944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74479"/>
                </a:solidFill>
                <a:latin typeface="微软雅黑" panose="020B0503020204020204" charset="-122"/>
              </a:rPr>
              <a:t>78.6</a:t>
            </a:r>
            <a:endParaRPr sz="1150" b="1">
              <a:solidFill>
                <a:srgbClr val="474479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80760" y="3026664"/>
            <a:ext cx="804672" cy="3291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D6B72"/>
                </a:solidFill>
                <a:latin typeface="Bahnschrift" panose="020B0502040204020203"/>
              </a:rPr>
              <a:t>22/28</a:t>
            </a:r>
            <a:endParaRPr sz="1150" b="0">
              <a:solidFill>
                <a:srgbClr val="6D6B72"/>
              </a:solidFill>
              <a:latin typeface="Bahnschrift" panose="020B0502040204020203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5800" y="3904488"/>
            <a:ext cx="1325880" cy="3291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13135"/>
                </a:solidFill>
                <a:latin typeface="微软雅黑" panose="020B0503020204020204" charset="-122"/>
              </a:rPr>
              <a:t>L3 场景外推</a:t>
            </a:r>
            <a:endParaRPr sz="1400" b="1">
              <a:solidFill>
                <a:srgbClr val="313135"/>
              </a:solidFill>
              <a:latin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2148840" y="4069080"/>
            <a:ext cx="3840480" cy="0"/>
          </a:xfrm>
          <a:prstGeom prst="line">
            <a:avLst/>
          </a:prstGeom>
          <a:ln w="27940">
            <a:solidFill>
              <a:srgbClr val="DA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225649" y="4069080"/>
            <a:ext cx="2634569" cy="0"/>
          </a:xfrm>
          <a:prstGeom prst="line">
            <a:avLst/>
          </a:prstGeom>
          <a:ln w="38100">
            <a:solidFill>
              <a:srgbClr val="AFB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157069" y="4000500"/>
            <a:ext cx="137160" cy="137160"/>
          </a:xfrm>
          <a:prstGeom prst="ellipse">
            <a:avLst/>
          </a:prstGeom>
          <a:solidFill>
            <a:srgbClr val="AFB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77922" y="3986784"/>
            <a:ext cx="164592" cy="164592"/>
          </a:xfrm>
          <a:prstGeom prst="ellipse">
            <a:avLst/>
          </a:prstGeom>
          <a:solidFill>
            <a:srgbClr val="60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78177" y="3703320"/>
            <a:ext cx="694944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D6B72"/>
                </a:solidFill>
                <a:latin typeface="微软雅黑" panose="020B0503020204020204" charset="-122"/>
              </a:rPr>
              <a:t>2.0</a:t>
            </a:r>
            <a:endParaRPr sz="1050" b="0">
              <a:solidFill>
                <a:srgbClr val="6D6B72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512746" y="4169664"/>
            <a:ext cx="694944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74479"/>
                </a:solidFill>
                <a:latin typeface="微软雅黑" panose="020B0503020204020204" charset="-122"/>
              </a:rPr>
              <a:t>70.6</a:t>
            </a:r>
            <a:endParaRPr sz="1150" b="1">
              <a:solidFill>
                <a:srgbClr val="474479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080760" y="3904488"/>
            <a:ext cx="804672" cy="3291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D6B72"/>
                </a:solidFill>
                <a:latin typeface="Bahnschrift" panose="020B0502040204020203"/>
              </a:rPr>
              <a:t>36/51</a:t>
            </a:r>
            <a:endParaRPr sz="1150" b="0">
              <a:solidFill>
                <a:srgbClr val="6D6B72"/>
              </a:solidFill>
              <a:latin typeface="Bahnschrift" panose="020B0502040204020203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58368" y="4663440"/>
            <a:ext cx="6199632" cy="713232"/>
          </a:xfrm>
          <a:prstGeom prst="rect">
            <a:avLst/>
          </a:prstGeom>
          <a:solidFill>
            <a:srgbClr val="F2F1F6"/>
          </a:solidFill>
          <a:ln w="10160">
            <a:solidFill>
              <a:srgbClr val="D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4745736"/>
            <a:ext cx="1115568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05E8C"/>
                </a:solidFill>
                <a:latin typeface="Bahnschrift" panose="020B0502040204020203"/>
              </a:rPr>
              <a:t>ZERO-SHOT</a:t>
            </a:r>
            <a:endParaRPr sz="1100" b="1">
              <a:solidFill>
                <a:srgbClr val="605E8C"/>
              </a:solidFill>
              <a:latin typeface="Bahnschrift" panose="020B0502040204020203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901952" y="4709160"/>
            <a:ext cx="4681728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13135"/>
                </a:solidFill>
                <a:latin typeface="微软雅黑" panose="020B0503020204020204" charset="-122"/>
              </a:rPr>
              <a:t>L3 的 get_review_timing 整组留出，训练池没有该工具调用样本。</a:t>
            </a:r>
            <a:endParaRPr sz="1250" b="1">
              <a:solidFill>
                <a:srgbClr val="313135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205472" y="1600200"/>
            <a:ext cx="420624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2719F"/>
                </a:solidFill>
                <a:latin typeface="Bahnschrift" panose="020B0502040204020203"/>
              </a:rPr>
              <a:t>CALL PROPENSITY / 调用倾向的真实交易</a:t>
            </a:r>
            <a:endParaRPr sz="1200" b="1">
              <a:solidFill>
                <a:srgbClr val="72719F"/>
              </a:solidFill>
              <a:latin typeface="Bahnschrift" panose="020B0502040204020203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7205472" y="1956816"/>
            <a:ext cx="4096512" cy="0"/>
          </a:xfrm>
          <a:prstGeom prst="line">
            <a:avLst/>
          </a:prstGeom>
          <a:ln w="15240">
            <a:solidFill>
              <a:srgbClr val="DA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242048" y="2148840"/>
            <a:ext cx="109728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13135"/>
                </a:solidFill>
                <a:latin typeface="微软雅黑" panose="020B0503020204020204" charset="-122"/>
              </a:rPr>
              <a:t>漏调 FNR</a:t>
            </a:r>
            <a:endParaRPr sz="1400" b="1">
              <a:solidFill>
                <a:srgbClr val="313135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394192" y="2011680"/>
            <a:ext cx="269748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4C7868"/>
                </a:solidFill>
                <a:latin typeface="Bahnschrift" panose="020B0502040204020203"/>
              </a:rPr>
              <a:t>53.8%  →  5.3%</a:t>
            </a:r>
            <a:endParaRPr sz="2500" b="1">
              <a:solidFill>
                <a:srgbClr val="4C7868"/>
              </a:solidFill>
              <a:latin typeface="Bahnschrift" panose="020B0502040204020203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242048" y="2596896"/>
            <a:ext cx="3794760" cy="4754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D6B72"/>
                </a:solidFill>
                <a:latin typeface="微软雅黑" panose="020B0503020204020204" charset="-122"/>
              </a:rPr>
              <a:t>该调工具时，模型不再保持沉默。</a:t>
            </a:r>
            <a:endParaRPr sz="1200" b="0">
              <a:solidFill>
                <a:srgbClr val="6D6B72"/>
              </a:solidFill>
              <a:latin typeface="微软雅黑" panose="020B0503020204020204" charset="-122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7205472" y="3200400"/>
            <a:ext cx="4096512" cy="0"/>
          </a:xfrm>
          <a:prstGeom prst="line">
            <a:avLst/>
          </a:prstGeom>
          <a:ln w="15240">
            <a:solidFill>
              <a:srgbClr val="DA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242048" y="3401568"/>
            <a:ext cx="109728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13135"/>
                </a:solidFill>
                <a:latin typeface="微软雅黑" panose="020B0503020204020204" charset="-122"/>
              </a:rPr>
              <a:t>误触发 FPR</a:t>
            </a:r>
            <a:endParaRPr sz="1400" b="1">
              <a:solidFill>
                <a:srgbClr val="313135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394192" y="3264408"/>
            <a:ext cx="269748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B64E3B"/>
                </a:solidFill>
                <a:latin typeface="Bahnschrift" panose="020B0502040204020203"/>
              </a:rPr>
              <a:t>0.0%  →  30.5%</a:t>
            </a:r>
            <a:endParaRPr sz="2500" b="1">
              <a:solidFill>
                <a:srgbClr val="B64E3B"/>
              </a:solidFill>
              <a:latin typeface="Bahnschrift" panose="020B0502040204020203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242048" y="3849624"/>
            <a:ext cx="3794760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D6B72"/>
                </a:solidFill>
                <a:latin typeface="微软雅黑" panose="020B0503020204020204" charset="-122"/>
              </a:rPr>
              <a:t>Base 的 0% 来自极少调用，并不代表判断更准。</a:t>
            </a:r>
            <a:endParaRPr sz="1200" b="0">
              <a:solidFill>
                <a:srgbClr val="6D6B72"/>
              </a:solidFill>
              <a:latin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205472" y="4663440"/>
            <a:ext cx="4096512" cy="713232"/>
          </a:xfrm>
          <a:prstGeom prst="rect">
            <a:avLst/>
          </a:prstGeom>
          <a:solidFill>
            <a:srgbClr val="F7EFEA"/>
          </a:solidFill>
          <a:ln w="10160">
            <a:solidFill>
              <a:srgbClr val="E4C3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88352" y="4727448"/>
            <a:ext cx="3712463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64E3B"/>
                </a:solidFill>
                <a:latin typeface="微软雅黑" panose="020B0503020204020204" charset="-122"/>
              </a:rPr>
              <a:t>增强行动能力的同时，必须治理过度调用。</a:t>
            </a:r>
            <a:endParaRPr sz="1400" b="1">
              <a:solidFill>
                <a:srgbClr val="B64E3B"/>
              </a:solidFill>
              <a:latin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21792" y="5669280"/>
            <a:ext cx="10936224" cy="420624"/>
          </a:xfrm>
          <a:prstGeom prst="rect">
            <a:avLst/>
          </a:prstGeom>
          <a:solidFill>
            <a:srgbClr val="60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4672" y="5715000"/>
            <a:ext cx="1024128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主结论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856231" y="5705856"/>
            <a:ext cx="9281160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</a:rPr>
              <a:t>微调获得了跨状态、跨工具的外推能力；FPR 是明确的工程问题，不被隐藏。</a:t>
            </a:r>
            <a:endParaRPr sz="12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40080" y="6236208"/>
            <a:ext cx="9107424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D6B72"/>
                </a:solidFill>
                <a:latin typeface="微软雅黑" panose="020B0503020204020204" charset="-122"/>
              </a:rPr>
              <a:t>L3 按分层评测口径统计 51 道；工具选择整体口径与分层口径不混用。</a:t>
            </a:r>
            <a:endParaRPr sz="950" b="0">
              <a:solidFill>
                <a:srgbClr val="6D6B7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part.02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8" name="Evaluation slide title"/>
          <p:cNvSpPr txBox="1"/>
          <p:nvPr/>
        </p:nvSpPr>
        <p:spPr>
          <a:xfrm>
            <a:off x="896112" y="210312"/>
            <a:ext cx="10287000" cy="42354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474479"/>
                </a:solidFill>
                <a:latin typeface="Bahnschrift" panose="020B0502040204020203"/>
              </a:rPr>
              <a:t>0</a:t>
            </a:r>
            <a:r>
              <a:rPr lang="en-US" sz="2400" b="0">
                <a:solidFill>
                  <a:srgbClr val="474479"/>
                </a:solidFill>
                <a:latin typeface="Bahnschrift" panose="020B0502040204020203"/>
              </a:rPr>
              <a:t>9</a:t>
            </a:r>
            <a:r>
              <a:rPr sz="2400" b="0">
                <a:solidFill>
                  <a:srgbClr val="474479"/>
                </a:solidFill>
                <a:latin typeface="Bahnschrift" panose="020B0502040204020203"/>
              </a:rPr>
              <a:t> / INFERENCE GATE  推理期闸门实验将过度调用压低 72%</a:t>
            </a:r>
            <a:endParaRPr sz="2400" b="0">
              <a:solidFill>
                <a:srgbClr val="474479"/>
              </a:solidFill>
              <a:latin typeface="Bahnschrift" panose="020B0502040204020203"/>
            </a:endParaRPr>
          </a:p>
        </p:txBody>
      </p:sp>
      <p:sp>
        <p:nvSpPr>
          <p:cNvPr id="9" name="Evaluation slide subtitle"/>
          <p:cNvSpPr txBox="1"/>
          <p:nvPr/>
        </p:nvSpPr>
        <p:spPr>
          <a:xfrm>
            <a:off x="987552" y="987552"/>
            <a:ext cx="103327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D6B72"/>
                </a:solidFill>
                <a:latin typeface="微软雅黑" panose="020B0503020204020204" charset="-122"/>
              </a:rPr>
              <a:t>不回炉训练：读取最后层隐状态，以一次 3,072 维点积判断本轮是否应调用工具</a:t>
            </a:r>
            <a:endParaRPr sz="1400" b="0">
              <a:solidFill>
                <a:srgbClr val="6D6B72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" y="1572768"/>
            <a:ext cx="3703320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2719F"/>
                </a:solidFill>
                <a:latin typeface="Bahnschrift" panose="020B0502040204020203"/>
              </a:rPr>
              <a:t>END-TO-END RESULT / 440 道实测</a:t>
            </a:r>
            <a:endParaRPr sz="1200" b="1">
              <a:solidFill>
                <a:srgbClr val="72719F"/>
              </a:solidFill>
              <a:latin typeface="Bahnschrift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" y="1938528"/>
            <a:ext cx="1609344" cy="6949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B64E3B"/>
                </a:solidFill>
                <a:latin typeface="Bahnschrift" panose="020B0502040204020203"/>
              </a:rPr>
              <a:t>30.5%</a:t>
            </a:r>
            <a:endParaRPr sz="3800" b="1">
              <a:solidFill>
                <a:srgbClr val="B64E3B"/>
              </a:solidFill>
              <a:latin typeface="Bahnschrift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40280" y="2029968"/>
            <a:ext cx="603504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AFBADD"/>
                </a:solidFill>
                <a:latin typeface="Bahnschrift" panose="020B0502040204020203"/>
              </a:rPr>
              <a:t>→</a:t>
            </a:r>
            <a:endParaRPr sz="3000" b="1">
              <a:solidFill>
                <a:srgbClr val="AFBADD"/>
              </a:solidFill>
              <a:latin typeface="Bahnschrift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34640" y="1938528"/>
            <a:ext cx="1554480" cy="6949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605E8C"/>
                </a:solidFill>
                <a:latin typeface="Bahnschrift" panose="020B0502040204020203"/>
              </a:rPr>
              <a:t>8.5%</a:t>
            </a:r>
            <a:endParaRPr sz="3800" b="1">
              <a:solidFill>
                <a:srgbClr val="605E8C"/>
              </a:solidFill>
              <a:latin typeface="Bahnschrift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" y="2624328"/>
            <a:ext cx="3767328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13135"/>
                </a:solidFill>
                <a:latin typeface="Bahnschrift" panose="020B0502040204020203"/>
              </a:rPr>
              <a:t>FPR：18/59 → 5/59</a:t>
            </a:r>
            <a:endParaRPr sz="1500" b="1">
              <a:solidFill>
                <a:srgbClr val="313135"/>
              </a:solidFill>
              <a:latin typeface="Bahnschrift" panose="020B0502040204020203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58368" y="3182112"/>
            <a:ext cx="3767328" cy="621792"/>
          </a:xfrm>
          <a:prstGeom prst="rect">
            <a:avLst/>
          </a:prstGeom>
          <a:solidFill>
            <a:srgbClr val="60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255264"/>
            <a:ext cx="3401568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</a:rPr>
              <a:t>相对减少 72% 的误触发</a:t>
            </a:r>
            <a:endParaRPr sz="1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" y="4041648"/>
            <a:ext cx="3767328" cy="96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64E3B"/>
                </a:solidFill>
                <a:latin typeface="微软雅黑" panose="020B0503020204020204" charset="-122"/>
              </a:rPr>
              <a:t>仍高于 ≤5% 目标：这是把大问题变成小问题，不宣称已经解决。</a:t>
            </a:r>
            <a:endParaRPr sz="1500" b="1">
              <a:solidFill>
                <a:srgbClr val="B64E3B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28032" y="1572768"/>
            <a:ext cx="6473952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2719F"/>
                </a:solidFill>
                <a:latin typeface="Bahnschrift" panose="020B0502040204020203"/>
              </a:rPr>
              <a:t>RUNTIME PATH / 推理侧判定路径</a:t>
            </a:r>
            <a:endParaRPr sz="1200" b="1">
              <a:solidFill>
                <a:srgbClr val="72719F"/>
              </a:solidFill>
              <a:latin typeface="Bahnschrift" panose="020B0502040204020203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864608" y="2103120"/>
            <a:ext cx="1481328" cy="822960"/>
          </a:xfrm>
          <a:prstGeom prst="roundRect">
            <a:avLst/>
          </a:prstGeom>
          <a:solidFill>
            <a:srgbClr val="F2F1F6"/>
          </a:solidFill>
          <a:ln w="10160">
            <a:solidFill>
              <a:srgbClr val="D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2176272"/>
            <a:ext cx="1335024" cy="6583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13135"/>
                </a:solidFill>
                <a:latin typeface="Bahnschrift" panose="020B0502040204020203"/>
              </a:rPr>
              <a:t>LAYER 48
最后 token</a:t>
            </a:r>
            <a:endParaRPr sz="1200" b="1">
              <a:solidFill>
                <a:srgbClr val="313135"/>
              </a:solidFill>
              <a:latin typeface="Bahnschrift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55664" y="2286000"/>
            <a:ext cx="274320" cy="4206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FBADD"/>
                </a:solidFill>
                <a:latin typeface="Bahnschrift" panose="020B0502040204020203"/>
              </a:rPr>
              <a:t>→</a:t>
            </a:r>
            <a:endParaRPr sz="1800" b="1">
              <a:solidFill>
                <a:srgbClr val="AFBADD"/>
              </a:solidFill>
              <a:latin typeface="Bahnschrift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720840" y="2103120"/>
            <a:ext cx="1572768" cy="822960"/>
          </a:xfrm>
          <a:prstGeom prst="roundRect">
            <a:avLst/>
          </a:prstGeom>
          <a:solidFill>
            <a:srgbClr val="F2F1F6"/>
          </a:solidFill>
          <a:ln w="10160">
            <a:solidFill>
              <a:srgbClr val="D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2176272"/>
            <a:ext cx="1426464" cy="6583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13135"/>
                </a:solidFill>
                <a:latin typeface="Bahnschrift" panose="020B0502040204020203"/>
              </a:rPr>
              <a:t>DOT PRODUCT
3,072 维</a:t>
            </a:r>
            <a:endParaRPr sz="1200" b="1">
              <a:solidFill>
                <a:srgbClr val="313135"/>
              </a:solidFill>
              <a:latin typeface="Bahnschrift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403336" y="2286000"/>
            <a:ext cx="274320" cy="4206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FBADD"/>
                </a:solidFill>
                <a:latin typeface="Bahnschrift" panose="020B0502040204020203"/>
              </a:rPr>
              <a:t>→</a:t>
            </a:r>
            <a:endParaRPr sz="1800" b="1">
              <a:solidFill>
                <a:srgbClr val="AFBADD"/>
              </a:solidFill>
              <a:latin typeface="Bahnschrift" panose="020B0502040204020203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668512" y="2103120"/>
            <a:ext cx="1444752" cy="822960"/>
          </a:xfrm>
          <a:prstGeom prst="roundRect">
            <a:avLst/>
          </a:prstGeom>
          <a:solidFill>
            <a:srgbClr val="F2F1F6"/>
          </a:solidFill>
          <a:ln w="10160">
            <a:solidFill>
              <a:srgbClr val="D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41664" y="2176272"/>
            <a:ext cx="1298448" cy="6583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13135"/>
                </a:solidFill>
                <a:latin typeface="Bahnschrift" panose="020B0502040204020203"/>
              </a:rPr>
              <a:t>THRESHOLD
−3.354</a:t>
            </a:r>
            <a:endParaRPr sz="1200" b="1">
              <a:solidFill>
                <a:srgbClr val="313135"/>
              </a:solidFill>
              <a:latin typeface="Bahnschrift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222992" y="2286000"/>
            <a:ext cx="274320" cy="4206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FBADD"/>
                </a:solidFill>
                <a:latin typeface="Bahnschrift" panose="020B0502040204020203"/>
              </a:rPr>
              <a:t>→</a:t>
            </a:r>
            <a:endParaRPr sz="1800" b="1">
              <a:solidFill>
                <a:srgbClr val="AFBADD"/>
              </a:solidFill>
              <a:latin typeface="Bahnschrift" panose="020B0502040204020203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0451592" y="2103120"/>
            <a:ext cx="987552" cy="822960"/>
          </a:xfrm>
          <a:prstGeom prst="roundRect">
            <a:avLst/>
          </a:prstGeom>
          <a:solidFill>
            <a:srgbClr val="605E8C"/>
          </a:solidFill>
          <a:ln w="10160">
            <a:solidFill>
              <a:srgbClr val="D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24744" y="2176272"/>
            <a:ext cx="841248" cy="6583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Bahnschrift" panose="020B0502040204020203"/>
              </a:rPr>
              <a:t>ALLOW /
SUPPRESS</a:t>
            </a:r>
            <a:endParaRPr sz="1100" b="1">
              <a:solidFill>
                <a:srgbClr val="FFFFFF"/>
              </a:solidFill>
              <a:latin typeface="Bahnschrift" panose="020B05020402040202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46320" y="3310128"/>
            <a:ext cx="6446520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2719F"/>
                </a:solidFill>
                <a:latin typeface="Bahnschrift" panose="020B0502040204020203"/>
              </a:rPr>
              <a:t>MEASURED COST / 默认阈值的账面代价</a:t>
            </a:r>
            <a:endParaRPr sz="1200" b="1">
              <a:solidFill>
                <a:srgbClr val="72719F"/>
              </a:solidFill>
              <a:latin typeface="Bahnschrift" panose="020B0502040204020203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846320" y="3730752"/>
            <a:ext cx="1444752" cy="10607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19472" y="3822191"/>
            <a:ext cx="129844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D6B72"/>
                </a:solidFill>
                <a:latin typeface="微软雅黑" panose="020B0503020204020204" charset="-122"/>
              </a:rPr>
              <a:t>工具选择</a:t>
            </a:r>
            <a:endParaRPr sz="1150" b="1">
              <a:solidFill>
                <a:srgbClr val="6D6B72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19472" y="4160520"/>
            <a:ext cx="1298448" cy="40233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2719F"/>
                </a:solidFill>
                <a:latin typeface="Bahnschrift" panose="020B0502040204020203"/>
              </a:rPr>
              <a:t>−1.2 pp</a:t>
            </a:r>
            <a:endParaRPr sz="1800" b="1">
              <a:solidFill>
                <a:srgbClr val="72719F"/>
              </a:solidFill>
              <a:latin typeface="Bahnschrift" panose="020B0502040204020203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492240" y="3730752"/>
            <a:ext cx="1444752" cy="10607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65392" y="3822191"/>
            <a:ext cx="129844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D6B72"/>
                </a:solidFill>
                <a:latin typeface="微软雅黑" panose="020B0503020204020204" charset="-122"/>
              </a:rPr>
              <a:t>完整调用</a:t>
            </a:r>
            <a:endParaRPr sz="1150" b="1">
              <a:solidFill>
                <a:srgbClr val="6D6B72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65392" y="4160520"/>
            <a:ext cx="1298448" cy="40233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2719F"/>
                </a:solidFill>
                <a:latin typeface="Bahnschrift" panose="020B0502040204020203"/>
              </a:rPr>
              <a:t>−0.6 pp</a:t>
            </a:r>
            <a:endParaRPr sz="1800" b="1">
              <a:solidFill>
                <a:srgbClr val="72719F"/>
              </a:solidFill>
              <a:latin typeface="Bahnschrift" panose="020B0502040204020203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138160" y="3730752"/>
            <a:ext cx="1444752" cy="10607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3822191"/>
            <a:ext cx="129844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D6B72"/>
                </a:solidFill>
                <a:latin typeface="微软雅黑" panose="020B0503020204020204" charset="-122"/>
              </a:rPr>
              <a:t>漏调 FNR</a:t>
            </a:r>
            <a:endParaRPr sz="1150" b="1">
              <a:solidFill>
                <a:srgbClr val="6D6B72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211312" y="4160520"/>
            <a:ext cx="1298448" cy="40233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64E3B"/>
                </a:solidFill>
                <a:latin typeface="Bahnschrift" panose="020B0502040204020203"/>
              </a:rPr>
              <a:t>+2.4 pp</a:t>
            </a:r>
            <a:endParaRPr sz="1800" b="1">
              <a:solidFill>
                <a:srgbClr val="B64E3B"/>
              </a:solidFill>
              <a:latin typeface="Bahnschrift" panose="020B0502040204020203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784080" y="3730752"/>
            <a:ext cx="1444752" cy="10607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57232" y="3822191"/>
            <a:ext cx="129844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D6B72"/>
                </a:solidFill>
                <a:latin typeface="微软雅黑" panose="020B0503020204020204" charset="-122"/>
              </a:rPr>
              <a:t>其余核心项</a:t>
            </a:r>
            <a:endParaRPr sz="1150" b="1">
              <a:solidFill>
                <a:srgbClr val="6D6B72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857232" y="4160520"/>
            <a:ext cx="1298448" cy="40233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C7868"/>
                </a:solidFill>
                <a:latin typeface="Bahnschrift" panose="020B0502040204020203"/>
              </a:rPr>
              <a:t>0.0 pp</a:t>
            </a:r>
            <a:endParaRPr sz="1800" b="1">
              <a:solidFill>
                <a:srgbClr val="4C7868"/>
              </a:solidFill>
              <a:latin typeface="Bahnschrift" panose="020B0502040204020203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846320" y="5010912"/>
            <a:ext cx="6492240" cy="4206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74479"/>
                </a:solidFill>
                <a:latin typeface="Bahnschrift" panose="020B0502040204020203"/>
              </a:rPr>
              <a:t>AUROC 0.959 · 一次点积 · 无需再次训练</a:t>
            </a:r>
            <a:endParaRPr sz="1600" b="1">
              <a:solidFill>
                <a:srgbClr val="474479"/>
              </a:solidFill>
              <a:latin typeface="Bahnschrift" panose="020B0502040204020203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21792" y="5669280"/>
            <a:ext cx="10936224" cy="420624"/>
          </a:xfrm>
          <a:prstGeom prst="rect">
            <a:avLst/>
          </a:prstGeom>
          <a:solidFill>
            <a:srgbClr val="60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5715000"/>
            <a:ext cx="1024128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部署边界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856231" y="5705856"/>
            <a:ext cx="9281160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</a:rPr>
              <a:t>需要 output_hidden_states；方向与 Adapter 绑定；尚未接入默认线上路径。</a:t>
            </a:r>
            <a:endParaRPr sz="12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40080" y="6236208"/>
            <a:ext cx="9107424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D6B72"/>
                </a:solidFill>
                <a:latin typeface="微软雅黑" panose="020B0503020204020204" charset="-122"/>
              </a:rPr>
              <a:t>端到端实测默认档；更激进阈值仅有离线估算，未写入主结论。</a:t>
            </a:r>
            <a:endParaRPr sz="950" b="0">
              <a:solidFill>
                <a:srgbClr val="6D6B7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part.02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69" name="右箭头 32"/>
          <p:cNvSpPr/>
          <p:nvPr>
            <p:custDataLst>
              <p:tags r:id="rId1"/>
            </p:custDataLst>
          </p:nvPr>
        </p:nvSpPr>
        <p:spPr>
          <a:xfrm>
            <a:off x="8952865" y="1762125"/>
            <a:ext cx="1721485" cy="838835"/>
          </a:xfrm>
          <a:prstGeom prst="rightArrow">
            <a:avLst/>
          </a:prstGeom>
          <a:solidFill>
            <a:srgbClr val="72719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4875" tIns="0" rIns="188942" bIns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05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PROJECT</a:t>
            </a:r>
            <a:endParaRPr lang="en-US" altLang="zh-CN" sz="105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72" name="TextBox 76"/>
          <p:cNvSpPr txBox="1"/>
          <p:nvPr>
            <p:custDataLst>
              <p:tags r:id="rId2"/>
            </p:custDataLst>
          </p:nvPr>
        </p:nvSpPr>
        <p:spPr>
          <a:xfrm>
            <a:off x="6549944" y="3208966"/>
            <a:ext cx="16159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8C8BB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候选</a:t>
            </a:r>
            <a:endParaRPr lang="zh-CN" altLang="en-US" sz="2400" b="1" dirty="0">
              <a:solidFill>
                <a:srgbClr val="8C8BB1"/>
              </a:solidFill>
              <a:latin typeface="华文新魏" panose="02010800040101010101" charset="-122"/>
              <a:ea typeface="华文新魏" panose="02010800040101010101" charset="-122"/>
              <a:cs typeface="+mn-ea"/>
              <a:sym typeface="+mn-lt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8C8BB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治理</a:t>
            </a:r>
            <a:endParaRPr lang="zh-CN" altLang="en-US" sz="2400" b="1" dirty="0">
              <a:solidFill>
                <a:srgbClr val="8C8BB1"/>
              </a:solidFill>
              <a:latin typeface="华文新魏" panose="02010800040101010101" charset="-122"/>
              <a:ea typeface="华文新魏" panose="02010800040101010101" charset="-122"/>
              <a:cs typeface="+mn-ea"/>
              <a:sym typeface="+mn-lt"/>
            </a:endParaRPr>
          </a:p>
        </p:txBody>
      </p:sp>
      <p:sp>
        <p:nvSpPr>
          <p:cNvPr id="80" name="右箭头 47"/>
          <p:cNvSpPr/>
          <p:nvPr>
            <p:custDataLst>
              <p:tags r:id="rId3"/>
            </p:custDataLst>
          </p:nvPr>
        </p:nvSpPr>
        <p:spPr>
          <a:xfrm>
            <a:off x="3977640" y="2739390"/>
            <a:ext cx="1902460" cy="839470"/>
          </a:xfrm>
          <a:prstGeom prst="rightArrow">
            <a:avLst/>
          </a:prstGeom>
          <a:solidFill>
            <a:srgbClr val="DADAE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4875" tIns="0" rIns="188942" bIns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RETRIEVE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81" name="椭圆 80"/>
          <p:cNvSpPr/>
          <p:nvPr>
            <p:custDataLst>
              <p:tags r:id="rId4"/>
            </p:custDataLst>
          </p:nvPr>
        </p:nvSpPr>
        <p:spPr>
          <a:xfrm>
            <a:off x="3860800" y="2907030"/>
            <a:ext cx="527050" cy="49466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350" b="1" dirty="0">
                <a:solidFill>
                  <a:srgbClr val="123E6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01</a:t>
            </a:r>
            <a:endParaRPr lang="zh-CN" altLang="en-US" sz="1350" b="1" dirty="0">
              <a:solidFill>
                <a:srgbClr val="123E6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82" name="右箭头 49"/>
          <p:cNvSpPr/>
          <p:nvPr>
            <p:custDataLst>
              <p:tags r:id="rId5"/>
            </p:custDataLst>
          </p:nvPr>
        </p:nvSpPr>
        <p:spPr>
          <a:xfrm>
            <a:off x="6376670" y="2280920"/>
            <a:ext cx="1854835" cy="831850"/>
          </a:xfrm>
          <a:prstGeom prst="rightArrow">
            <a:avLst/>
          </a:prstGeom>
          <a:solidFill>
            <a:srgbClr val="8C8BB1">
              <a:alpha val="87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4875" tIns="0" rIns="188942" bIns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050" dirty="0">
                <a:ln>
                  <a:noFill/>
                </a:ln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GOVERN</a:t>
            </a:r>
            <a:endParaRPr lang="en-US" altLang="zh-CN" sz="1050" dirty="0">
              <a:ln>
                <a:noFill/>
              </a:ln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83" name="椭圆 82"/>
          <p:cNvSpPr/>
          <p:nvPr>
            <p:custDataLst>
              <p:tags r:id="rId6"/>
            </p:custDataLst>
          </p:nvPr>
        </p:nvSpPr>
        <p:spPr>
          <a:xfrm>
            <a:off x="6235700" y="2444750"/>
            <a:ext cx="572135" cy="49022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350" b="1" dirty="0">
                <a:solidFill>
                  <a:srgbClr val="123E6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02</a:t>
            </a:r>
            <a:endParaRPr lang="zh-CN" altLang="en-US" sz="1350" b="1" dirty="0">
              <a:solidFill>
                <a:srgbClr val="123E6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84" name="椭圆 83"/>
          <p:cNvSpPr/>
          <p:nvPr>
            <p:custDataLst>
              <p:tags r:id="rId7"/>
            </p:custDataLst>
          </p:nvPr>
        </p:nvSpPr>
        <p:spPr>
          <a:xfrm>
            <a:off x="8728075" y="1955800"/>
            <a:ext cx="490855" cy="43307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350" b="1" dirty="0">
                <a:solidFill>
                  <a:srgbClr val="123E6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03</a:t>
            </a:r>
            <a:endParaRPr lang="zh-CN" altLang="en-US" sz="1350" b="1" dirty="0">
              <a:solidFill>
                <a:srgbClr val="123E6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892810" y="240030"/>
            <a:ext cx="4396105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10 / RETRIEVAL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en-US" altLang="zh-CN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RAG </a:t>
            </a: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的职责是把答案绑回证据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  <a:buClrTx/>
              <a:buSzTx/>
              <a:buFontTx/>
            </a:pP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  <a:buClrTx/>
              <a:buSzTx/>
              <a:buFontTx/>
            </a:pPr>
            <a:endParaRPr lang="en-US" altLang="zh-CN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88" name="TextBox 6"/>
          <p:cNvSpPr txBox="1"/>
          <p:nvPr/>
        </p:nvSpPr>
        <p:spPr>
          <a:xfrm>
            <a:off x="957580" y="1722755"/>
            <a:ext cx="732155" cy="4540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1200" b="0" i="0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梯形 8"/>
          <p:cNvSpPr/>
          <p:nvPr/>
        </p:nvSpPr>
        <p:spPr>
          <a:xfrm>
            <a:off x="1075690" y="1370965"/>
            <a:ext cx="1972310" cy="5487035"/>
          </a:xfrm>
          <a:prstGeom prst="trapezoid">
            <a:avLst/>
          </a:prstGeom>
          <a:gradFill>
            <a:gsLst>
              <a:gs pos="52000">
                <a:srgbClr val="8C8BB1"/>
              </a:gs>
              <a:gs pos="0">
                <a:schemeClr val="accent1">
                  <a:lumMod val="65000"/>
                  <a:lumOff val="35000"/>
                  <a:alpha val="54000"/>
                </a:schemeClr>
              </a:gs>
              <a:gs pos="22000">
                <a:schemeClr val="bg1">
                  <a:lumMod val="7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400175" y="2044065"/>
            <a:ext cx="1323975" cy="4164330"/>
          </a:xfrm>
          <a:prstGeom prst="rect">
            <a:avLst/>
          </a:prstGeom>
          <a:ln>
            <a:noFill/>
          </a:ln>
        </p:spPr>
        <p:txBody>
          <a:bodyPr anchor="b" anchorCtr="0">
            <a:noAutofit/>
            <a:scene3d>
              <a:camera prst="orthographicFront"/>
              <a:lightRig rig="threePt" dir="t"/>
            </a:scene3d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ctr" fontAlgn="auto">
              <a:lnSpc>
                <a:spcPct val="150000"/>
              </a:lnSpc>
            </a:pPr>
            <a:endParaRPr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短视频字剪大标宋" panose="02010604000000000000" charset="-122"/>
              <a:ea typeface="短视频字剪大标宋" panose="02010604000000000000" charset="-122"/>
              <a:cs typeface="短视频字剪大标宋" panose="02010604000000000000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endParaRPr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短视频字剪大标宋" panose="02010604000000000000" charset="-122"/>
              <a:ea typeface="短视频字剪大标宋" panose="02010604000000000000" charset="-122"/>
              <a:cs typeface="短视频字剪大标宋" panose="02010604000000000000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endParaRPr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短视频字剪大标宋" panose="02010604000000000000" charset="-122"/>
              <a:ea typeface="短视频字剪大标宋" panose="02010604000000000000" charset="-122"/>
              <a:cs typeface="短视频字剪大标宋" panose="02010604000000000000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endParaRPr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短视频字剪大标宋" panose="02010604000000000000" charset="-122"/>
              <a:ea typeface="短视频字剪大标宋" panose="02010604000000000000" charset="-122"/>
              <a:cs typeface="短视频字剪大标宋" panose="02010604000000000000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endParaRPr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短视频字剪大标宋" panose="02010604000000000000" charset="-122"/>
              <a:ea typeface="短视频字剪大标宋" panose="02010604000000000000" charset="-122"/>
              <a:cs typeface="短视频字剪大标宋" panose="02010604000000000000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r>
              <a:rPr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短视频字剪大标宋" panose="02010604000000000000" charset="-122"/>
                <a:ea typeface="短视频字剪大标宋" panose="02010604000000000000" charset="-122"/>
                <a:cs typeface="短视频字剪大标宋" panose="02010604000000000000" charset="-122"/>
                <a:sym typeface="+mn-ea"/>
              </a:rPr>
              <a:t>默认路线是 Dense-only；</a:t>
            </a:r>
            <a:endParaRPr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短视频字剪大标宋" panose="02010604000000000000" charset="-122"/>
              <a:ea typeface="短视频字剪大标宋" panose="02010604000000000000" charset="-122"/>
              <a:cs typeface="短视频字剪大标宋" panose="02010604000000000000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r>
              <a:rPr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短视频字剪大标宋" panose="02010604000000000000" charset="-122"/>
                <a:ea typeface="短视频字剪大标宋" panose="02010604000000000000" charset="-122"/>
                <a:cs typeface="短视频字剪大标宋" panose="02010604000000000000" charset="-122"/>
                <a:sym typeface="+mn-ea"/>
              </a:rPr>
              <a:t>实验结论决定模块是否启用，不由功能清单决定架构</a:t>
            </a:r>
            <a:endParaRPr b="0" i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短视频字剪大标宋" panose="02010604000000000000" charset="-122"/>
              <a:ea typeface="短视频字剪大标宋" panose="02010604000000000000" charset="-122"/>
              <a:cs typeface="短视频字剪大标宋" panose="02010604000000000000" charset="-122"/>
            </a:endParaRPr>
          </a:p>
          <a:p>
            <a:pPr indent="0" algn="ctr" fontAlgn="auto">
              <a:lnSpc>
                <a:spcPct val="150000"/>
              </a:lnSpc>
            </a:pPr>
            <a:endParaRPr lang="zh-CN" altLang="en-US" sz="1800" b="0" i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短视频字剪大标宋" panose="02010604000000000000" charset="-122"/>
              <a:ea typeface="短视频字剪大标宋" panose="02010604000000000000" charset="-122"/>
              <a:cs typeface="短视频字剪大标宋" panose="02010604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09110" y="4497705"/>
            <a:ext cx="1661160" cy="1874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超清舒适清雅楷体" panose="02000503000000000000" charset="-122"/>
                <a:ea typeface="超清舒适清雅楷体" panose="02000503000000000000" charset="-122"/>
                <a:cs typeface="超清舒适清雅楷体" panose="02000503000000000000" charset="-122"/>
              </a:rPr>
              <a:t>Qwen3-Embedding-4B · 2,560 维 ·Qdrant · Dense Top-100</a:t>
            </a:r>
            <a:endParaRPr sz="2000" b="0" i="0">
              <a:solidFill>
                <a:schemeClr val="tx1">
                  <a:lumMod val="65000"/>
                  <a:lumOff val="35000"/>
                </a:schemeClr>
              </a:solidFill>
              <a:latin typeface="超清舒适清雅楷体" panose="02000503000000000000" charset="-122"/>
              <a:ea typeface="超清舒适清雅楷体" panose="02000503000000000000" charset="-122"/>
              <a:cs typeface="超清舒适清雅楷体" panose="02000503000000000000" charset="-122"/>
            </a:endParaRPr>
          </a:p>
        </p:txBody>
      </p:sp>
      <p:sp>
        <p:nvSpPr>
          <p:cNvPr id="12" name="TextBox 76"/>
          <p:cNvSpPr txBox="1"/>
          <p:nvPr>
            <p:custDataLst>
              <p:tags r:id="rId8"/>
            </p:custDataLst>
          </p:nvPr>
        </p:nvSpPr>
        <p:spPr>
          <a:xfrm>
            <a:off x="4121150" y="3578860"/>
            <a:ext cx="1616075" cy="8293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8C8BB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Dense </a:t>
            </a:r>
            <a:endParaRPr lang="en-US" altLang="zh-CN" sz="2400" b="1" dirty="0">
              <a:solidFill>
                <a:srgbClr val="8C8BB1"/>
              </a:solidFill>
              <a:latin typeface="华文新魏" panose="02010800040101010101" charset="-122"/>
              <a:ea typeface="华文新魏" panose="02010800040101010101" charset="-122"/>
              <a:cs typeface="+mn-ea"/>
              <a:sym typeface="+mn-lt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8C8BB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主召回</a:t>
            </a:r>
            <a:endParaRPr lang="zh-CN" altLang="en-US" sz="2400" b="1" dirty="0">
              <a:solidFill>
                <a:srgbClr val="8C8BB1"/>
              </a:solidFill>
              <a:latin typeface="华文新魏" panose="02010800040101010101" charset="-122"/>
              <a:ea typeface="华文新魏" panose="02010800040101010101" charset="-122"/>
              <a:cs typeface="+mn-ea"/>
              <a:sym typeface="+mn-lt"/>
            </a:endParaRPr>
          </a:p>
        </p:txBody>
      </p:sp>
      <p:sp>
        <p:nvSpPr>
          <p:cNvPr id="16" name="TextBox 76"/>
          <p:cNvSpPr txBox="1"/>
          <p:nvPr>
            <p:custDataLst>
              <p:tags r:id="rId9"/>
            </p:custDataLst>
          </p:nvPr>
        </p:nvSpPr>
        <p:spPr>
          <a:xfrm>
            <a:off x="8918494" y="2829871"/>
            <a:ext cx="16159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8C8BB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证据</a:t>
            </a:r>
            <a:endParaRPr lang="zh-CN" altLang="en-US" sz="2400" b="1" dirty="0">
              <a:solidFill>
                <a:srgbClr val="8C8BB1"/>
              </a:solidFill>
              <a:latin typeface="华文新魏" panose="02010800040101010101" charset="-122"/>
              <a:ea typeface="华文新魏" panose="02010800040101010101" charset="-122"/>
              <a:cs typeface="+mn-ea"/>
              <a:sym typeface="+mn-lt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8C8BB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投影</a:t>
            </a:r>
            <a:endParaRPr lang="zh-CN" altLang="en-US" sz="2400" b="1" dirty="0">
              <a:solidFill>
                <a:srgbClr val="8C8BB1"/>
              </a:solidFill>
              <a:latin typeface="华文新魏" panose="02010800040101010101" charset="-122"/>
              <a:ea typeface="华文新魏" panose="02010800040101010101" charset="-122"/>
              <a:cs typeface="+mn-ea"/>
              <a:sym typeface="+mn-lt"/>
            </a:endParaRPr>
          </a:p>
        </p:txBody>
      </p:sp>
      <p:sp>
        <p:nvSpPr>
          <p:cNvPr id="17" name="TextBox 13"/>
          <p:cNvSpPr txBox="1"/>
          <p:nvPr/>
        </p:nvSpPr>
        <p:spPr>
          <a:xfrm>
            <a:off x="6570345" y="4188460"/>
            <a:ext cx="1661160" cy="1874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超清舒适清雅楷体" panose="02000503000000000000" charset="-122"/>
                <a:ea typeface="超清舒适清雅楷体" panose="02000503000000000000" charset="-122"/>
                <a:cs typeface="超清舒适清雅楷体" panose="02000503000000000000" charset="-122"/>
              </a:rPr>
              <a:t>多样性预选 </a:t>
            </a:r>
            <a:r>
              <a:rPr lang="en-US" altLang="zh-CN"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超清舒适清雅楷体" panose="02000503000000000000" charset="-122"/>
                <a:ea typeface="超清舒适清雅楷体" panose="02000503000000000000" charset="-122"/>
                <a:cs typeface="超清舒适清雅楷体" panose="02000503000000000000" charset="-122"/>
              </a:rPr>
              <a:t>Top-50；BM25 </a:t>
            </a:r>
            <a:r>
              <a:rPr lang="zh-CN" altLang="en-US"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超清舒适清雅楷体" panose="02000503000000000000" charset="-122"/>
                <a:ea typeface="超清舒适清雅楷体" panose="02000503000000000000" charset="-122"/>
                <a:cs typeface="超清舒适清雅楷体" panose="02000503000000000000" charset="-122"/>
              </a:rPr>
              <a:t>受控补充；</a:t>
            </a:r>
            <a:r>
              <a:rPr lang="en-US" altLang="zh-CN"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超清舒适清雅楷体" panose="02000503000000000000" charset="-122"/>
                <a:ea typeface="超清舒适清雅楷体" panose="02000503000000000000" charset="-122"/>
                <a:cs typeface="超清舒适清雅楷体" panose="02000503000000000000" charset="-122"/>
              </a:rPr>
              <a:t>Reranker </a:t>
            </a:r>
            <a:r>
              <a:rPr lang="zh-CN" altLang="en-US"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超清舒适清雅楷体" panose="02000503000000000000" charset="-122"/>
                <a:ea typeface="超清舒适清雅楷体" panose="02000503000000000000" charset="-122"/>
                <a:cs typeface="超清舒适清雅楷体" panose="02000503000000000000" charset="-122"/>
              </a:rPr>
              <a:t>默认关闭</a:t>
            </a:r>
            <a:endParaRPr lang="zh-CN" altLang="en-US" sz="2000" b="0" i="0">
              <a:solidFill>
                <a:schemeClr val="tx1">
                  <a:lumMod val="65000"/>
                  <a:lumOff val="35000"/>
                </a:schemeClr>
              </a:solidFill>
              <a:latin typeface="超清舒适清雅楷体" panose="02000503000000000000" charset="-122"/>
              <a:ea typeface="超清舒适清雅楷体" panose="02000503000000000000" charset="-122"/>
              <a:cs typeface="超清舒适清雅楷体" panose="02000503000000000000" charset="-122"/>
            </a:endParaRPr>
          </a:p>
        </p:txBody>
      </p:sp>
      <p:sp>
        <p:nvSpPr>
          <p:cNvPr id="18" name="TextBox 13"/>
          <p:cNvSpPr txBox="1"/>
          <p:nvPr/>
        </p:nvSpPr>
        <p:spPr>
          <a:xfrm>
            <a:off x="8978900" y="3856355"/>
            <a:ext cx="1661160" cy="1874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超清舒适清雅楷体" panose="02000503000000000000" charset="-122"/>
                <a:ea typeface="超清舒适清雅楷体" panose="02000503000000000000" charset="-122"/>
                <a:cs typeface="超清舒适清雅楷体" panose="02000503000000000000" charset="-122"/>
              </a:rPr>
              <a:t>最终 </a:t>
            </a:r>
            <a:r>
              <a:rPr lang="en-US" altLang="zh-CN"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超清舒适清雅楷体" panose="02000503000000000000" charset="-122"/>
                <a:ea typeface="超清舒适清雅楷体" panose="02000503000000000000" charset="-122"/>
                <a:cs typeface="超清舒适清雅楷体" panose="02000503000000000000" charset="-122"/>
              </a:rPr>
              <a:t>Top-5；Agent-facing </a:t>
            </a:r>
            <a:r>
              <a:rPr lang="zh-CN" altLang="en-US"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超清舒适清雅楷体" panose="02000503000000000000" charset="-122"/>
                <a:ea typeface="超清舒适清雅楷体" panose="02000503000000000000" charset="-122"/>
                <a:cs typeface="超清舒适清雅楷体" panose="02000503000000000000" charset="-122"/>
              </a:rPr>
              <a:t>预算 2,048 </a:t>
            </a:r>
            <a:r>
              <a:rPr lang="en-US" altLang="zh-CN"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超清舒适清雅楷体" panose="02000503000000000000" charset="-122"/>
                <a:ea typeface="超清舒适清雅楷体" panose="02000503000000000000" charset="-122"/>
                <a:cs typeface="超清舒适清雅楷体" panose="02000503000000000000" charset="-122"/>
              </a:rPr>
              <a:t>tokens；</a:t>
            </a:r>
            <a:r>
              <a:rPr lang="zh-CN" altLang="en-US"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超清舒适清雅楷体" panose="02000503000000000000" charset="-122"/>
                <a:ea typeface="超清舒适清雅楷体" panose="02000503000000000000" charset="-122"/>
                <a:cs typeface="超清舒适清雅楷体" panose="02000503000000000000" charset="-122"/>
              </a:rPr>
              <a:t>来源与审计数据分层</a:t>
            </a:r>
            <a:endParaRPr lang="zh-CN" altLang="en-US" sz="2000" b="0" i="0">
              <a:solidFill>
                <a:schemeClr val="tx1">
                  <a:lumMod val="65000"/>
                  <a:lumOff val="35000"/>
                </a:schemeClr>
              </a:solidFill>
              <a:latin typeface="超清舒适清雅楷体" panose="02000503000000000000" charset="-122"/>
              <a:ea typeface="超清舒适清雅楷体" panose="02000503000000000000" charset="-122"/>
              <a:cs typeface="超清舒适清雅楷体" panose="02000503000000000000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0" i="0">
              <a:solidFill>
                <a:schemeClr val="tx1">
                  <a:lumMod val="65000"/>
                  <a:lumOff val="35000"/>
                </a:schemeClr>
              </a:solidFill>
              <a:latin typeface="超清舒适清雅楷体" panose="02000503000000000000" charset="-122"/>
              <a:ea typeface="超清舒适清雅楷体" panose="02000503000000000000" charset="-122"/>
              <a:cs typeface="超清舒适清雅楷体" panose="02000503000000000000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0" i="0">
              <a:solidFill>
                <a:schemeClr val="tx1">
                  <a:lumMod val="65000"/>
                  <a:lumOff val="35000"/>
                </a:schemeClr>
              </a:solidFill>
              <a:latin typeface="超清舒适清雅楷体" panose="02000503000000000000" charset="-122"/>
              <a:ea typeface="超清舒适清雅楷体" panose="02000503000000000000" charset="-122"/>
              <a:cs typeface="超清舒适清雅楷体" panose="02000503000000000000" charset="-122"/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bldLvl="0" animBg="1"/>
      <p:bldP spid="72" grpId="0"/>
      <p:bldP spid="80" grpId="0" bldLvl="0" animBg="1"/>
      <p:bldP spid="81" grpId="0" bldLvl="0" animBg="1"/>
      <p:bldP spid="82" grpId="0" bldLvl="0" animBg="1"/>
      <p:bldP spid="83" grpId="0" bldLvl="0" animBg="1"/>
      <p:bldP spid="84" grpId="0" bldLvl="0" animBg="1"/>
      <p:bldP spid="12" grpId="0"/>
      <p:bldP spid="16" grpId="0"/>
      <p:bldP spid="14" grpId="0"/>
      <p:bldP spid="17" grpId="0"/>
      <p:bldP spid="18" grpId="0"/>
      <p:bldP spid="9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 descr="C:\Users\Administrator\Desktop\12974.jpg12974"/>
          <p:cNvPicPr>
            <a:picLocks noChangeAspect="1"/>
          </p:cNvPicPr>
          <p:nvPr/>
        </p:nvPicPr>
        <p:blipFill rotWithShape="1">
          <a:blip r:embed="rId1" cstate="screen"/>
          <a:srcRect/>
          <a:stretch>
            <a:fillRect/>
          </a:stretch>
        </p:blipFill>
        <p:spPr>
          <a:xfrm>
            <a:off x="8492490" y="0"/>
            <a:ext cx="3724910" cy="6858635"/>
          </a:xfrm>
          <a:prstGeom prst="rect">
            <a:avLst/>
          </a:prstGeom>
          <a:solidFill>
            <a:srgbClr val="474479">
              <a:alpha val="65000"/>
            </a:srgbClr>
          </a:solidFill>
        </p:spPr>
      </p:pic>
      <p:sp>
        <p:nvSpPr>
          <p:cNvPr id="27" name="矩形 26"/>
          <p:cNvSpPr/>
          <p:nvPr/>
        </p:nvSpPr>
        <p:spPr>
          <a:xfrm>
            <a:off x="8467253" y="0"/>
            <a:ext cx="3724945" cy="6858000"/>
          </a:xfrm>
          <a:prstGeom prst="rect">
            <a:avLst/>
          </a:prstGeom>
          <a:solidFill>
            <a:srgbClr val="4744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椭圆 10"/>
          <p:cNvSpPr/>
          <p:nvPr>
            <p:custDataLst>
              <p:tags r:id="rId2"/>
            </p:custDataLst>
          </p:nvPr>
        </p:nvSpPr>
        <p:spPr>
          <a:xfrm>
            <a:off x="1025728" y="1997362"/>
            <a:ext cx="580744" cy="580744"/>
          </a:xfrm>
          <a:prstGeom prst="ellipse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>
            <p:custDataLst>
              <p:tags r:id="rId3"/>
            </p:custDataLst>
          </p:nvPr>
        </p:nvSpPr>
        <p:spPr>
          <a:xfrm>
            <a:off x="1025728" y="3498559"/>
            <a:ext cx="580744" cy="580744"/>
          </a:xfrm>
          <a:prstGeom prst="ellipse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椭圆 19"/>
          <p:cNvSpPr/>
          <p:nvPr>
            <p:custDataLst>
              <p:tags r:id="rId4"/>
            </p:custDataLst>
          </p:nvPr>
        </p:nvSpPr>
        <p:spPr>
          <a:xfrm>
            <a:off x="1028229" y="5021514"/>
            <a:ext cx="580744" cy="580744"/>
          </a:xfrm>
          <a:prstGeom prst="ellipse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Freeform 48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>
            <a:off x="1067321" y="2037434"/>
            <a:ext cx="500599" cy="500599"/>
          </a:xfrm>
          <a:custGeom>
            <a:avLst/>
            <a:gdLst>
              <a:gd name="T0" fmla="*/ 1462 w 3405"/>
              <a:gd name="T1" fmla="*/ 1863 h 3405"/>
              <a:gd name="T2" fmla="*/ 659 w 3405"/>
              <a:gd name="T3" fmla="*/ 1703 h 3405"/>
              <a:gd name="T4" fmla="*/ 2746 w 3405"/>
              <a:gd name="T5" fmla="*/ 1222 h 3405"/>
              <a:gd name="T6" fmla="*/ 1703 w 3405"/>
              <a:gd name="T7" fmla="*/ 0 h 3405"/>
              <a:gd name="T8" fmla="*/ 1908 w 3405"/>
              <a:gd name="T9" fmla="*/ 12 h 3405"/>
              <a:gd name="T10" fmla="*/ 2107 w 3405"/>
              <a:gd name="T11" fmla="*/ 48 h 3405"/>
              <a:gd name="T12" fmla="*/ 2297 w 3405"/>
              <a:gd name="T13" fmla="*/ 106 h 3405"/>
              <a:gd name="T14" fmla="*/ 2476 w 3405"/>
              <a:gd name="T15" fmla="*/ 186 h 3405"/>
              <a:gd name="T16" fmla="*/ 2645 w 3405"/>
              <a:gd name="T17" fmla="*/ 284 h 3405"/>
              <a:gd name="T18" fmla="*/ 2799 w 3405"/>
              <a:gd name="T19" fmla="*/ 400 h 3405"/>
              <a:gd name="T20" fmla="*/ 2940 w 3405"/>
              <a:gd name="T21" fmla="*/ 533 h 3405"/>
              <a:gd name="T22" fmla="*/ 3065 w 3405"/>
              <a:gd name="T23" fmla="*/ 682 h 3405"/>
              <a:gd name="T24" fmla="*/ 3173 w 3405"/>
              <a:gd name="T25" fmla="*/ 843 h 3405"/>
              <a:gd name="T26" fmla="*/ 3262 w 3405"/>
              <a:gd name="T27" fmla="*/ 1017 h 3405"/>
              <a:gd name="T28" fmla="*/ 3331 w 3405"/>
              <a:gd name="T29" fmla="*/ 1202 h 3405"/>
              <a:gd name="T30" fmla="*/ 3377 w 3405"/>
              <a:gd name="T31" fmla="*/ 1397 h 3405"/>
              <a:gd name="T32" fmla="*/ 3402 w 3405"/>
              <a:gd name="T33" fmla="*/ 1599 h 3405"/>
              <a:gd name="T34" fmla="*/ 3402 w 3405"/>
              <a:gd name="T35" fmla="*/ 1806 h 3405"/>
              <a:gd name="T36" fmla="*/ 3377 w 3405"/>
              <a:gd name="T37" fmla="*/ 2008 h 3405"/>
              <a:gd name="T38" fmla="*/ 3331 w 3405"/>
              <a:gd name="T39" fmla="*/ 2203 h 3405"/>
              <a:gd name="T40" fmla="*/ 3262 w 3405"/>
              <a:gd name="T41" fmla="*/ 2388 h 3405"/>
              <a:gd name="T42" fmla="*/ 3173 w 3405"/>
              <a:gd name="T43" fmla="*/ 2562 h 3405"/>
              <a:gd name="T44" fmla="*/ 3065 w 3405"/>
              <a:gd name="T45" fmla="*/ 2723 h 3405"/>
              <a:gd name="T46" fmla="*/ 2940 w 3405"/>
              <a:gd name="T47" fmla="*/ 2872 h 3405"/>
              <a:gd name="T48" fmla="*/ 2799 w 3405"/>
              <a:gd name="T49" fmla="*/ 3005 h 3405"/>
              <a:gd name="T50" fmla="*/ 2645 w 3405"/>
              <a:gd name="T51" fmla="*/ 3121 h 3405"/>
              <a:gd name="T52" fmla="*/ 2476 w 3405"/>
              <a:gd name="T53" fmla="*/ 3219 h 3405"/>
              <a:gd name="T54" fmla="*/ 2297 w 3405"/>
              <a:gd name="T55" fmla="*/ 3299 h 3405"/>
              <a:gd name="T56" fmla="*/ 2107 w 3405"/>
              <a:gd name="T57" fmla="*/ 3357 h 3405"/>
              <a:gd name="T58" fmla="*/ 1908 w 3405"/>
              <a:gd name="T59" fmla="*/ 3393 h 3405"/>
              <a:gd name="T60" fmla="*/ 1703 w 3405"/>
              <a:gd name="T61" fmla="*/ 3405 h 3405"/>
              <a:gd name="T62" fmla="*/ 1497 w 3405"/>
              <a:gd name="T63" fmla="*/ 3393 h 3405"/>
              <a:gd name="T64" fmla="*/ 1298 w 3405"/>
              <a:gd name="T65" fmla="*/ 3357 h 3405"/>
              <a:gd name="T66" fmla="*/ 1108 w 3405"/>
              <a:gd name="T67" fmla="*/ 3299 h 3405"/>
              <a:gd name="T68" fmla="*/ 929 w 3405"/>
              <a:gd name="T69" fmla="*/ 3219 h 3405"/>
              <a:gd name="T70" fmla="*/ 760 w 3405"/>
              <a:gd name="T71" fmla="*/ 3121 h 3405"/>
              <a:gd name="T72" fmla="*/ 606 w 3405"/>
              <a:gd name="T73" fmla="*/ 3005 h 3405"/>
              <a:gd name="T74" fmla="*/ 465 w 3405"/>
              <a:gd name="T75" fmla="*/ 2872 h 3405"/>
              <a:gd name="T76" fmla="*/ 341 w 3405"/>
              <a:gd name="T77" fmla="*/ 2723 h 3405"/>
              <a:gd name="T78" fmla="*/ 232 w 3405"/>
              <a:gd name="T79" fmla="*/ 2562 h 3405"/>
              <a:gd name="T80" fmla="*/ 143 w 3405"/>
              <a:gd name="T81" fmla="*/ 2388 h 3405"/>
              <a:gd name="T82" fmla="*/ 74 w 3405"/>
              <a:gd name="T83" fmla="*/ 2203 h 3405"/>
              <a:gd name="T84" fmla="*/ 28 w 3405"/>
              <a:gd name="T85" fmla="*/ 2008 h 3405"/>
              <a:gd name="T86" fmla="*/ 3 w 3405"/>
              <a:gd name="T87" fmla="*/ 1806 h 3405"/>
              <a:gd name="T88" fmla="*/ 3 w 3405"/>
              <a:gd name="T89" fmla="*/ 1599 h 3405"/>
              <a:gd name="T90" fmla="*/ 28 w 3405"/>
              <a:gd name="T91" fmla="*/ 1397 h 3405"/>
              <a:gd name="T92" fmla="*/ 74 w 3405"/>
              <a:gd name="T93" fmla="*/ 1202 h 3405"/>
              <a:gd name="T94" fmla="*/ 143 w 3405"/>
              <a:gd name="T95" fmla="*/ 1017 h 3405"/>
              <a:gd name="T96" fmla="*/ 232 w 3405"/>
              <a:gd name="T97" fmla="*/ 843 h 3405"/>
              <a:gd name="T98" fmla="*/ 341 w 3405"/>
              <a:gd name="T99" fmla="*/ 682 h 3405"/>
              <a:gd name="T100" fmla="*/ 465 w 3405"/>
              <a:gd name="T101" fmla="*/ 533 h 3405"/>
              <a:gd name="T102" fmla="*/ 606 w 3405"/>
              <a:gd name="T103" fmla="*/ 400 h 3405"/>
              <a:gd name="T104" fmla="*/ 760 w 3405"/>
              <a:gd name="T105" fmla="*/ 284 h 3405"/>
              <a:gd name="T106" fmla="*/ 929 w 3405"/>
              <a:gd name="T107" fmla="*/ 186 h 3405"/>
              <a:gd name="T108" fmla="*/ 1108 w 3405"/>
              <a:gd name="T109" fmla="*/ 106 h 3405"/>
              <a:gd name="T110" fmla="*/ 1298 w 3405"/>
              <a:gd name="T111" fmla="*/ 48 h 3405"/>
              <a:gd name="T112" fmla="*/ 1497 w 3405"/>
              <a:gd name="T113" fmla="*/ 12 h 3405"/>
              <a:gd name="T114" fmla="*/ 1703 w 3405"/>
              <a:gd name="T115" fmla="*/ 0 h 3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405" h="3405">
                <a:moveTo>
                  <a:pt x="2424" y="900"/>
                </a:moveTo>
                <a:lnTo>
                  <a:pt x="1462" y="1863"/>
                </a:lnTo>
                <a:lnTo>
                  <a:pt x="980" y="1381"/>
                </a:lnTo>
                <a:lnTo>
                  <a:pt x="659" y="1703"/>
                </a:lnTo>
                <a:lnTo>
                  <a:pt x="1462" y="2505"/>
                </a:lnTo>
                <a:lnTo>
                  <a:pt x="2746" y="1222"/>
                </a:lnTo>
                <a:lnTo>
                  <a:pt x="2424" y="900"/>
                </a:lnTo>
                <a:close/>
                <a:moveTo>
                  <a:pt x="1703" y="0"/>
                </a:moveTo>
                <a:lnTo>
                  <a:pt x="1806" y="3"/>
                </a:lnTo>
                <a:lnTo>
                  <a:pt x="1908" y="12"/>
                </a:lnTo>
                <a:lnTo>
                  <a:pt x="2008" y="28"/>
                </a:lnTo>
                <a:lnTo>
                  <a:pt x="2107" y="48"/>
                </a:lnTo>
                <a:lnTo>
                  <a:pt x="2203" y="74"/>
                </a:lnTo>
                <a:lnTo>
                  <a:pt x="2297" y="106"/>
                </a:lnTo>
                <a:lnTo>
                  <a:pt x="2388" y="143"/>
                </a:lnTo>
                <a:lnTo>
                  <a:pt x="2476" y="186"/>
                </a:lnTo>
                <a:lnTo>
                  <a:pt x="2562" y="232"/>
                </a:lnTo>
                <a:lnTo>
                  <a:pt x="2645" y="284"/>
                </a:lnTo>
                <a:lnTo>
                  <a:pt x="2723" y="341"/>
                </a:lnTo>
                <a:lnTo>
                  <a:pt x="2799" y="400"/>
                </a:lnTo>
                <a:lnTo>
                  <a:pt x="2872" y="465"/>
                </a:lnTo>
                <a:lnTo>
                  <a:pt x="2940" y="533"/>
                </a:lnTo>
                <a:lnTo>
                  <a:pt x="3005" y="606"/>
                </a:lnTo>
                <a:lnTo>
                  <a:pt x="3065" y="682"/>
                </a:lnTo>
                <a:lnTo>
                  <a:pt x="3121" y="760"/>
                </a:lnTo>
                <a:lnTo>
                  <a:pt x="3173" y="843"/>
                </a:lnTo>
                <a:lnTo>
                  <a:pt x="3219" y="929"/>
                </a:lnTo>
                <a:lnTo>
                  <a:pt x="3262" y="1017"/>
                </a:lnTo>
                <a:lnTo>
                  <a:pt x="3299" y="1108"/>
                </a:lnTo>
                <a:lnTo>
                  <a:pt x="3331" y="1202"/>
                </a:lnTo>
                <a:lnTo>
                  <a:pt x="3357" y="1298"/>
                </a:lnTo>
                <a:lnTo>
                  <a:pt x="3377" y="1397"/>
                </a:lnTo>
                <a:lnTo>
                  <a:pt x="3393" y="1497"/>
                </a:lnTo>
                <a:lnTo>
                  <a:pt x="3402" y="1599"/>
                </a:lnTo>
                <a:lnTo>
                  <a:pt x="3405" y="1703"/>
                </a:lnTo>
                <a:lnTo>
                  <a:pt x="3402" y="1806"/>
                </a:lnTo>
                <a:lnTo>
                  <a:pt x="3393" y="1908"/>
                </a:lnTo>
                <a:lnTo>
                  <a:pt x="3377" y="2008"/>
                </a:lnTo>
                <a:lnTo>
                  <a:pt x="3357" y="2107"/>
                </a:lnTo>
                <a:lnTo>
                  <a:pt x="3331" y="2203"/>
                </a:lnTo>
                <a:lnTo>
                  <a:pt x="3299" y="2297"/>
                </a:lnTo>
                <a:lnTo>
                  <a:pt x="3262" y="2388"/>
                </a:lnTo>
                <a:lnTo>
                  <a:pt x="3219" y="2476"/>
                </a:lnTo>
                <a:lnTo>
                  <a:pt x="3173" y="2562"/>
                </a:lnTo>
                <a:lnTo>
                  <a:pt x="3121" y="2645"/>
                </a:lnTo>
                <a:lnTo>
                  <a:pt x="3065" y="2723"/>
                </a:lnTo>
                <a:lnTo>
                  <a:pt x="3005" y="2799"/>
                </a:lnTo>
                <a:lnTo>
                  <a:pt x="2940" y="2872"/>
                </a:lnTo>
                <a:lnTo>
                  <a:pt x="2872" y="2940"/>
                </a:lnTo>
                <a:lnTo>
                  <a:pt x="2799" y="3005"/>
                </a:lnTo>
                <a:lnTo>
                  <a:pt x="2723" y="3065"/>
                </a:lnTo>
                <a:lnTo>
                  <a:pt x="2645" y="3121"/>
                </a:lnTo>
                <a:lnTo>
                  <a:pt x="2562" y="3173"/>
                </a:lnTo>
                <a:lnTo>
                  <a:pt x="2476" y="3219"/>
                </a:lnTo>
                <a:lnTo>
                  <a:pt x="2388" y="3262"/>
                </a:lnTo>
                <a:lnTo>
                  <a:pt x="2297" y="3299"/>
                </a:lnTo>
                <a:lnTo>
                  <a:pt x="2203" y="3331"/>
                </a:lnTo>
                <a:lnTo>
                  <a:pt x="2107" y="3357"/>
                </a:lnTo>
                <a:lnTo>
                  <a:pt x="2008" y="3377"/>
                </a:lnTo>
                <a:lnTo>
                  <a:pt x="1908" y="3393"/>
                </a:lnTo>
                <a:lnTo>
                  <a:pt x="1806" y="3402"/>
                </a:lnTo>
                <a:lnTo>
                  <a:pt x="1703" y="3405"/>
                </a:lnTo>
                <a:lnTo>
                  <a:pt x="1599" y="3402"/>
                </a:lnTo>
                <a:lnTo>
                  <a:pt x="1497" y="3393"/>
                </a:lnTo>
                <a:lnTo>
                  <a:pt x="1397" y="3377"/>
                </a:lnTo>
                <a:lnTo>
                  <a:pt x="1298" y="3357"/>
                </a:lnTo>
                <a:lnTo>
                  <a:pt x="1202" y="3331"/>
                </a:lnTo>
                <a:lnTo>
                  <a:pt x="1108" y="3299"/>
                </a:lnTo>
                <a:lnTo>
                  <a:pt x="1017" y="3262"/>
                </a:lnTo>
                <a:lnTo>
                  <a:pt x="929" y="3219"/>
                </a:lnTo>
                <a:lnTo>
                  <a:pt x="843" y="3173"/>
                </a:lnTo>
                <a:lnTo>
                  <a:pt x="760" y="3121"/>
                </a:lnTo>
                <a:lnTo>
                  <a:pt x="682" y="3065"/>
                </a:lnTo>
                <a:lnTo>
                  <a:pt x="606" y="3005"/>
                </a:lnTo>
                <a:lnTo>
                  <a:pt x="533" y="2940"/>
                </a:lnTo>
                <a:lnTo>
                  <a:pt x="465" y="2872"/>
                </a:lnTo>
                <a:lnTo>
                  <a:pt x="400" y="2799"/>
                </a:lnTo>
                <a:lnTo>
                  <a:pt x="341" y="2723"/>
                </a:lnTo>
                <a:lnTo>
                  <a:pt x="284" y="2645"/>
                </a:lnTo>
                <a:lnTo>
                  <a:pt x="232" y="2562"/>
                </a:lnTo>
                <a:lnTo>
                  <a:pt x="186" y="2476"/>
                </a:lnTo>
                <a:lnTo>
                  <a:pt x="143" y="2388"/>
                </a:lnTo>
                <a:lnTo>
                  <a:pt x="106" y="2297"/>
                </a:lnTo>
                <a:lnTo>
                  <a:pt x="74" y="2203"/>
                </a:lnTo>
                <a:lnTo>
                  <a:pt x="48" y="2107"/>
                </a:lnTo>
                <a:lnTo>
                  <a:pt x="28" y="2008"/>
                </a:lnTo>
                <a:lnTo>
                  <a:pt x="12" y="1908"/>
                </a:lnTo>
                <a:lnTo>
                  <a:pt x="3" y="1806"/>
                </a:lnTo>
                <a:lnTo>
                  <a:pt x="0" y="1703"/>
                </a:lnTo>
                <a:lnTo>
                  <a:pt x="3" y="1599"/>
                </a:lnTo>
                <a:lnTo>
                  <a:pt x="12" y="1497"/>
                </a:lnTo>
                <a:lnTo>
                  <a:pt x="28" y="1397"/>
                </a:lnTo>
                <a:lnTo>
                  <a:pt x="48" y="1298"/>
                </a:lnTo>
                <a:lnTo>
                  <a:pt x="74" y="1202"/>
                </a:lnTo>
                <a:lnTo>
                  <a:pt x="106" y="1108"/>
                </a:lnTo>
                <a:lnTo>
                  <a:pt x="143" y="1017"/>
                </a:lnTo>
                <a:lnTo>
                  <a:pt x="186" y="929"/>
                </a:lnTo>
                <a:lnTo>
                  <a:pt x="232" y="843"/>
                </a:lnTo>
                <a:lnTo>
                  <a:pt x="284" y="760"/>
                </a:lnTo>
                <a:lnTo>
                  <a:pt x="341" y="682"/>
                </a:lnTo>
                <a:lnTo>
                  <a:pt x="400" y="606"/>
                </a:lnTo>
                <a:lnTo>
                  <a:pt x="465" y="533"/>
                </a:lnTo>
                <a:lnTo>
                  <a:pt x="533" y="465"/>
                </a:lnTo>
                <a:lnTo>
                  <a:pt x="606" y="400"/>
                </a:lnTo>
                <a:lnTo>
                  <a:pt x="682" y="341"/>
                </a:lnTo>
                <a:lnTo>
                  <a:pt x="760" y="284"/>
                </a:lnTo>
                <a:lnTo>
                  <a:pt x="843" y="232"/>
                </a:lnTo>
                <a:lnTo>
                  <a:pt x="929" y="186"/>
                </a:lnTo>
                <a:lnTo>
                  <a:pt x="1017" y="143"/>
                </a:lnTo>
                <a:lnTo>
                  <a:pt x="1108" y="106"/>
                </a:lnTo>
                <a:lnTo>
                  <a:pt x="1202" y="74"/>
                </a:lnTo>
                <a:lnTo>
                  <a:pt x="1298" y="48"/>
                </a:lnTo>
                <a:lnTo>
                  <a:pt x="1397" y="28"/>
                </a:lnTo>
                <a:lnTo>
                  <a:pt x="1497" y="12"/>
                </a:lnTo>
                <a:lnTo>
                  <a:pt x="1599" y="3"/>
                </a:lnTo>
                <a:lnTo>
                  <a:pt x="1703" y="0"/>
                </a:lnTo>
                <a:close/>
              </a:path>
            </a:pathLst>
          </a:custGeom>
          <a:solidFill>
            <a:srgbClr val="72719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>
              <a:cs typeface="+mn-ea"/>
              <a:sym typeface="+mn-lt"/>
            </a:endParaRPr>
          </a:p>
        </p:txBody>
      </p:sp>
      <p:grpSp>
        <p:nvGrpSpPr>
          <p:cNvPr id="22" name="Group 56"/>
          <p:cNvGrpSpPr/>
          <p:nvPr>
            <p:custDataLst>
              <p:tags r:id="rId6"/>
            </p:custDataLst>
          </p:nvPr>
        </p:nvGrpSpPr>
        <p:grpSpPr>
          <a:xfrm>
            <a:off x="1130387" y="3580536"/>
            <a:ext cx="409825" cy="367750"/>
            <a:chOff x="8367713" y="1762125"/>
            <a:chExt cx="376238" cy="327026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23" name="Freeform 34"/>
            <p:cNvSpPr/>
            <p:nvPr>
              <p:custDataLst>
                <p:tags r:id="rId7"/>
              </p:custDataLst>
            </p:nvPr>
          </p:nvSpPr>
          <p:spPr bwMode="auto">
            <a:xfrm>
              <a:off x="8475663" y="1762125"/>
              <a:ext cx="268288" cy="296863"/>
            </a:xfrm>
            <a:custGeom>
              <a:avLst/>
              <a:gdLst>
                <a:gd name="T0" fmla="*/ 455 w 2374"/>
                <a:gd name="T1" fmla="*/ 0 h 2614"/>
                <a:gd name="T2" fmla="*/ 468 w 2374"/>
                <a:gd name="T3" fmla="*/ 4 h 2614"/>
                <a:gd name="T4" fmla="*/ 2350 w 2374"/>
                <a:gd name="T5" fmla="*/ 903 h 2614"/>
                <a:gd name="T6" fmla="*/ 2362 w 2374"/>
                <a:gd name="T7" fmla="*/ 911 h 2614"/>
                <a:gd name="T8" fmla="*/ 2370 w 2374"/>
                <a:gd name="T9" fmla="*/ 921 h 2614"/>
                <a:gd name="T10" fmla="*/ 2374 w 2374"/>
                <a:gd name="T11" fmla="*/ 934 h 2614"/>
                <a:gd name="T12" fmla="*/ 2374 w 2374"/>
                <a:gd name="T13" fmla="*/ 948 h 2614"/>
                <a:gd name="T14" fmla="*/ 2370 w 2374"/>
                <a:gd name="T15" fmla="*/ 961 h 2614"/>
                <a:gd name="T16" fmla="*/ 1593 w 2374"/>
                <a:gd name="T17" fmla="*/ 2589 h 2614"/>
                <a:gd name="T18" fmla="*/ 1585 w 2374"/>
                <a:gd name="T19" fmla="*/ 2601 h 2614"/>
                <a:gd name="T20" fmla="*/ 1574 w 2374"/>
                <a:gd name="T21" fmla="*/ 2609 h 2614"/>
                <a:gd name="T22" fmla="*/ 1562 w 2374"/>
                <a:gd name="T23" fmla="*/ 2613 h 2614"/>
                <a:gd name="T24" fmla="*/ 1549 w 2374"/>
                <a:gd name="T25" fmla="*/ 2614 h 2614"/>
                <a:gd name="T26" fmla="*/ 1534 w 2374"/>
                <a:gd name="T27" fmla="*/ 2610 h 2614"/>
                <a:gd name="T28" fmla="*/ 1358 w 2374"/>
                <a:gd name="T29" fmla="*/ 2526 h 2614"/>
                <a:gd name="T30" fmla="*/ 1358 w 2374"/>
                <a:gd name="T31" fmla="*/ 1962 h 2614"/>
                <a:gd name="T32" fmla="*/ 1645 w 2374"/>
                <a:gd name="T33" fmla="*/ 2098 h 2614"/>
                <a:gd name="T34" fmla="*/ 2155 w 2374"/>
                <a:gd name="T35" fmla="*/ 1031 h 2614"/>
                <a:gd name="T36" fmla="*/ 524 w 2374"/>
                <a:gd name="T37" fmla="*/ 251 h 2614"/>
                <a:gd name="T38" fmla="*/ 224 w 2374"/>
                <a:gd name="T39" fmla="*/ 881 h 2614"/>
                <a:gd name="T40" fmla="*/ 0 w 2374"/>
                <a:gd name="T41" fmla="*/ 881 h 2614"/>
                <a:gd name="T42" fmla="*/ 410 w 2374"/>
                <a:gd name="T43" fmla="*/ 24 h 2614"/>
                <a:gd name="T44" fmla="*/ 417 w 2374"/>
                <a:gd name="T45" fmla="*/ 13 h 2614"/>
                <a:gd name="T46" fmla="*/ 429 w 2374"/>
                <a:gd name="T47" fmla="*/ 5 h 2614"/>
                <a:gd name="T48" fmla="*/ 442 w 2374"/>
                <a:gd name="T49" fmla="*/ 1 h 2614"/>
                <a:gd name="T50" fmla="*/ 455 w 2374"/>
                <a:gd name="T5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374" h="2614">
                  <a:moveTo>
                    <a:pt x="455" y="0"/>
                  </a:moveTo>
                  <a:lnTo>
                    <a:pt x="468" y="4"/>
                  </a:lnTo>
                  <a:lnTo>
                    <a:pt x="2350" y="903"/>
                  </a:lnTo>
                  <a:lnTo>
                    <a:pt x="2362" y="911"/>
                  </a:lnTo>
                  <a:lnTo>
                    <a:pt x="2370" y="921"/>
                  </a:lnTo>
                  <a:lnTo>
                    <a:pt x="2374" y="934"/>
                  </a:lnTo>
                  <a:lnTo>
                    <a:pt x="2374" y="948"/>
                  </a:lnTo>
                  <a:lnTo>
                    <a:pt x="2370" y="961"/>
                  </a:lnTo>
                  <a:lnTo>
                    <a:pt x="1593" y="2589"/>
                  </a:lnTo>
                  <a:lnTo>
                    <a:pt x="1585" y="2601"/>
                  </a:lnTo>
                  <a:lnTo>
                    <a:pt x="1574" y="2609"/>
                  </a:lnTo>
                  <a:lnTo>
                    <a:pt x="1562" y="2613"/>
                  </a:lnTo>
                  <a:lnTo>
                    <a:pt x="1549" y="2614"/>
                  </a:lnTo>
                  <a:lnTo>
                    <a:pt x="1534" y="2610"/>
                  </a:lnTo>
                  <a:lnTo>
                    <a:pt x="1358" y="2526"/>
                  </a:lnTo>
                  <a:lnTo>
                    <a:pt x="1358" y="1962"/>
                  </a:lnTo>
                  <a:lnTo>
                    <a:pt x="1645" y="2098"/>
                  </a:lnTo>
                  <a:lnTo>
                    <a:pt x="2155" y="1031"/>
                  </a:lnTo>
                  <a:lnTo>
                    <a:pt x="524" y="251"/>
                  </a:lnTo>
                  <a:lnTo>
                    <a:pt x="224" y="881"/>
                  </a:lnTo>
                  <a:lnTo>
                    <a:pt x="0" y="881"/>
                  </a:lnTo>
                  <a:lnTo>
                    <a:pt x="410" y="24"/>
                  </a:lnTo>
                  <a:lnTo>
                    <a:pt x="417" y="13"/>
                  </a:lnTo>
                  <a:lnTo>
                    <a:pt x="429" y="5"/>
                  </a:lnTo>
                  <a:lnTo>
                    <a:pt x="442" y="1"/>
                  </a:lnTo>
                  <a:lnTo>
                    <a:pt x="45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>
                <a:cs typeface="+mn-ea"/>
                <a:sym typeface="+mn-lt"/>
              </a:endParaRPr>
            </a:p>
          </p:txBody>
        </p:sp>
        <p:sp>
          <p:nvSpPr>
            <p:cNvPr id="24" name="Freeform 35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8367713" y="1874838"/>
              <a:ext cx="246063" cy="214313"/>
            </a:xfrm>
            <a:custGeom>
              <a:avLst/>
              <a:gdLst>
                <a:gd name="T0" fmla="*/ 202 w 2173"/>
                <a:gd name="T1" fmla="*/ 1383 h 1892"/>
                <a:gd name="T2" fmla="*/ 517 w 2173"/>
                <a:gd name="T3" fmla="*/ 1380 h 1892"/>
                <a:gd name="T4" fmla="*/ 523 w 2173"/>
                <a:gd name="T5" fmla="*/ 1357 h 1892"/>
                <a:gd name="T6" fmla="*/ 535 w 2173"/>
                <a:gd name="T7" fmla="*/ 1316 h 1892"/>
                <a:gd name="T8" fmla="*/ 551 w 2173"/>
                <a:gd name="T9" fmla="*/ 1259 h 1892"/>
                <a:gd name="T10" fmla="*/ 572 w 2173"/>
                <a:gd name="T11" fmla="*/ 1190 h 1892"/>
                <a:gd name="T12" fmla="*/ 598 w 2173"/>
                <a:gd name="T13" fmla="*/ 1114 h 1892"/>
                <a:gd name="T14" fmla="*/ 628 w 2173"/>
                <a:gd name="T15" fmla="*/ 1034 h 1892"/>
                <a:gd name="T16" fmla="*/ 661 w 2173"/>
                <a:gd name="T17" fmla="*/ 952 h 1892"/>
                <a:gd name="T18" fmla="*/ 697 w 2173"/>
                <a:gd name="T19" fmla="*/ 875 h 1892"/>
                <a:gd name="T20" fmla="*/ 737 w 2173"/>
                <a:gd name="T21" fmla="*/ 804 h 1892"/>
                <a:gd name="T22" fmla="*/ 778 w 2173"/>
                <a:gd name="T23" fmla="*/ 743 h 1892"/>
                <a:gd name="T24" fmla="*/ 822 w 2173"/>
                <a:gd name="T25" fmla="*/ 697 h 1892"/>
                <a:gd name="T26" fmla="*/ 867 w 2173"/>
                <a:gd name="T27" fmla="*/ 668 h 1892"/>
                <a:gd name="T28" fmla="*/ 913 w 2173"/>
                <a:gd name="T29" fmla="*/ 662 h 1892"/>
                <a:gd name="T30" fmla="*/ 960 w 2173"/>
                <a:gd name="T31" fmla="*/ 680 h 1892"/>
                <a:gd name="T32" fmla="*/ 1019 w 2173"/>
                <a:gd name="T33" fmla="*/ 737 h 1892"/>
                <a:gd name="T34" fmla="*/ 1081 w 2173"/>
                <a:gd name="T35" fmla="*/ 819 h 1892"/>
                <a:gd name="T36" fmla="*/ 1135 w 2173"/>
                <a:gd name="T37" fmla="*/ 907 h 1892"/>
                <a:gd name="T38" fmla="*/ 1181 w 2173"/>
                <a:gd name="T39" fmla="*/ 998 h 1892"/>
                <a:gd name="T40" fmla="*/ 1220 w 2173"/>
                <a:gd name="T41" fmla="*/ 1088 h 1892"/>
                <a:gd name="T42" fmla="*/ 1250 w 2173"/>
                <a:gd name="T43" fmla="*/ 1172 h 1892"/>
                <a:gd name="T44" fmla="*/ 1274 w 2173"/>
                <a:gd name="T45" fmla="*/ 1247 h 1892"/>
                <a:gd name="T46" fmla="*/ 1291 w 2173"/>
                <a:gd name="T47" fmla="*/ 1310 h 1892"/>
                <a:gd name="T48" fmla="*/ 1302 w 2173"/>
                <a:gd name="T49" fmla="*/ 1355 h 1892"/>
                <a:gd name="T50" fmla="*/ 1308 w 2173"/>
                <a:gd name="T51" fmla="*/ 1380 h 1892"/>
                <a:gd name="T52" fmla="*/ 1309 w 2173"/>
                <a:gd name="T53" fmla="*/ 1380 h 1892"/>
                <a:gd name="T54" fmla="*/ 1314 w 2173"/>
                <a:gd name="T55" fmla="*/ 1356 h 1892"/>
                <a:gd name="T56" fmla="*/ 1326 w 2173"/>
                <a:gd name="T57" fmla="*/ 1315 h 1892"/>
                <a:gd name="T58" fmla="*/ 1343 w 2173"/>
                <a:gd name="T59" fmla="*/ 1260 h 1892"/>
                <a:gd name="T60" fmla="*/ 1365 w 2173"/>
                <a:gd name="T61" fmla="*/ 1197 h 1892"/>
                <a:gd name="T62" fmla="*/ 1393 w 2173"/>
                <a:gd name="T63" fmla="*/ 1131 h 1892"/>
                <a:gd name="T64" fmla="*/ 1426 w 2173"/>
                <a:gd name="T65" fmla="*/ 1068 h 1892"/>
                <a:gd name="T66" fmla="*/ 1466 w 2173"/>
                <a:gd name="T67" fmla="*/ 1012 h 1892"/>
                <a:gd name="T68" fmla="*/ 1511 w 2173"/>
                <a:gd name="T69" fmla="*/ 971 h 1892"/>
                <a:gd name="T70" fmla="*/ 1561 w 2173"/>
                <a:gd name="T71" fmla="*/ 946 h 1892"/>
                <a:gd name="T72" fmla="*/ 1610 w 2173"/>
                <a:gd name="T73" fmla="*/ 945 h 1892"/>
                <a:gd name="T74" fmla="*/ 1655 w 2173"/>
                <a:gd name="T75" fmla="*/ 966 h 1892"/>
                <a:gd name="T76" fmla="*/ 1696 w 2173"/>
                <a:gd name="T77" fmla="*/ 1006 h 1892"/>
                <a:gd name="T78" fmla="*/ 1735 w 2173"/>
                <a:gd name="T79" fmla="*/ 1061 h 1892"/>
                <a:gd name="T80" fmla="*/ 1771 w 2173"/>
                <a:gd name="T81" fmla="*/ 1126 h 1892"/>
                <a:gd name="T82" fmla="*/ 1803 w 2173"/>
                <a:gd name="T83" fmla="*/ 1199 h 1892"/>
                <a:gd name="T84" fmla="*/ 1835 w 2173"/>
                <a:gd name="T85" fmla="*/ 1273 h 1892"/>
                <a:gd name="T86" fmla="*/ 1863 w 2173"/>
                <a:gd name="T87" fmla="*/ 1347 h 1892"/>
                <a:gd name="T88" fmla="*/ 2009 w 2173"/>
                <a:gd name="T89" fmla="*/ 1383 h 1892"/>
                <a:gd name="T90" fmla="*/ 202 w 2173"/>
                <a:gd name="T91" fmla="*/ 200 h 1892"/>
                <a:gd name="T92" fmla="*/ 2129 w 2173"/>
                <a:gd name="T93" fmla="*/ 0 h 1892"/>
                <a:gd name="T94" fmla="*/ 2155 w 2173"/>
                <a:gd name="T95" fmla="*/ 8 h 1892"/>
                <a:gd name="T96" fmla="*/ 2171 w 2173"/>
                <a:gd name="T97" fmla="*/ 30 h 1892"/>
                <a:gd name="T98" fmla="*/ 2173 w 2173"/>
                <a:gd name="T99" fmla="*/ 1848 h 1892"/>
                <a:gd name="T100" fmla="*/ 2165 w 2173"/>
                <a:gd name="T101" fmla="*/ 1874 h 1892"/>
                <a:gd name="T102" fmla="*/ 2143 w 2173"/>
                <a:gd name="T103" fmla="*/ 1890 h 1892"/>
                <a:gd name="T104" fmla="*/ 44 w 2173"/>
                <a:gd name="T105" fmla="*/ 1892 h 1892"/>
                <a:gd name="T106" fmla="*/ 18 w 2173"/>
                <a:gd name="T107" fmla="*/ 1884 h 1892"/>
                <a:gd name="T108" fmla="*/ 2 w 2173"/>
                <a:gd name="T109" fmla="*/ 1861 h 1892"/>
                <a:gd name="T110" fmla="*/ 0 w 2173"/>
                <a:gd name="T111" fmla="*/ 44 h 1892"/>
                <a:gd name="T112" fmla="*/ 8 w 2173"/>
                <a:gd name="T113" fmla="*/ 18 h 1892"/>
                <a:gd name="T114" fmla="*/ 31 w 2173"/>
                <a:gd name="T115" fmla="*/ 2 h 1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73" h="1892">
                  <a:moveTo>
                    <a:pt x="202" y="200"/>
                  </a:moveTo>
                  <a:lnTo>
                    <a:pt x="202" y="1383"/>
                  </a:lnTo>
                  <a:lnTo>
                    <a:pt x="516" y="1383"/>
                  </a:lnTo>
                  <a:lnTo>
                    <a:pt x="517" y="1380"/>
                  </a:lnTo>
                  <a:lnTo>
                    <a:pt x="519" y="1371"/>
                  </a:lnTo>
                  <a:lnTo>
                    <a:pt x="523" y="1357"/>
                  </a:lnTo>
                  <a:lnTo>
                    <a:pt x="528" y="1338"/>
                  </a:lnTo>
                  <a:lnTo>
                    <a:pt x="535" y="1316"/>
                  </a:lnTo>
                  <a:lnTo>
                    <a:pt x="542" y="1289"/>
                  </a:lnTo>
                  <a:lnTo>
                    <a:pt x="551" y="1259"/>
                  </a:lnTo>
                  <a:lnTo>
                    <a:pt x="561" y="1226"/>
                  </a:lnTo>
                  <a:lnTo>
                    <a:pt x="572" y="1190"/>
                  </a:lnTo>
                  <a:lnTo>
                    <a:pt x="584" y="1153"/>
                  </a:lnTo>
                  <a:lnTo>
                    <a:pt x="598" y="1114"/>
                  </a:lnTo>
                  <a:lnTo>
                    <a:pt x="613" y="1074"/>
                  </a:lnTo>
                  <a:lnTo>
                    <a:pt x="628" y="1034"/>
                  </a:lnTo>
                  <a:lnTo>
                    <a:pt x="643" y="993"/>
                  </a:lnTo>
                  <a:lnTo>
                    <a:pt x="661" y="952"/>
                  </a:lnTo>
                  <a:lnTo>
                    <a:pt x="679" y="913"/>
                  </a:lnTo>
                  <a:lnTo>
                    <a:pt x="697" y="875"/>
                  </a:lnTo>
                  <a:lnTo>
                    <a:pt x="717" y="838"/>
                  </a:lnTo>
                  <a:lnTo>
                    <a:pt x="737" y="804"/>
                  </a:lnTo>
                  <a:lnTo>
                    <a:pt x="758" y="772"/>
                  </a:lnTo>
                  <a:lnTo>
                    <a:pt x="778" y="743"/>
                  </a:lnTo>
                  <a:lnTo>
                    <a:pt x="800" y="718"/>
                  </a:lnTo>
                  <a:lnTo>
                    <a:pt x="822" y="697"/>
                  </a:lnTo>
                  <a:lnTo>
                    <a:pt x="844" y="680"/>
                  </a:lnTo>
                  <a:lnTo>
                    <a:pt x="867" y="668"/>
                  </a:lnTo>
                  <a:lnTo>
                    <a:pt x="890" y="662"/>
                  </a:lnTo>
                  <a:lnTo>
                    <a:pt x="913" y="662"/>
                  </a:lnTo>
                  <a:lnTo>
                    <a:pt x="937" y="668"/>
                  </a:lnTo>
                  <a:lnTo>
                    <a:pt x="960" y="680"/>
                  </a:lnTo>
                  <a:lnTo>
                    <a:pt x="985" y="701"/>
                  </a:lnTo>
                  <a:lnTo>
                    <a:pt x="1019" y="737"/>
                  </a:lnTo>
                  <a:lnTo>
                    <a:pt x="1052" y="777"/>
                  </a:lnTo>
                  <a:lnTo>
                    <a:pt x="1081" y="819"/>
                  </a:lnTo>
                  <a:lnTo>
                    <a:pt x="1110" y="863"/>
                  </a:lnTo>
                  <a:lnTo>
                    <a:pt x="1135" y="907"/>
                  </a:lnTo>
                  <a:lnTo>
                    <a:pt x="1160" y="953"/>
                  </a:lnTo>
                  <a:lnTo>
                    <a:pt x="1181" y="998"/>
                  </a:lnTo>
                  <a:lnTo>
                    <a:pt x="1201" y="1044"/>
                  </a:lnTo>
                  <a:lnTo>
                    <a:pt x="1220" y="1088"/>
                  </a:lnTo>
                  <a:lnTo>
                    <a:pt x="1236" y="1130"/>
                  </a:lnTo>
                  <a:lnTo>
                    <a:pt x="1250" y="1172"/>
                  </a:lnTo>
                  <a:lnTo>
                    <a:pt x="1263" y="1211"/>
                  </a:lnTo>
                  <a:lnTo>
                    <a:pt x="1274" y="1247"/>
                  </a:lnTo>
                  <a:lnTo>
                    <a:pt x="1284" y="1280"/>
                  </a:lnTo>
                  <a:lnTo>
                    <a:pt x="1291" y="1310"/>
                  </a:lnTo>
                  <a:lnTo>
                    <a:pt x="1298" y="1335"/>
                  </a:lnTo>
                  <a:lnTo>
                    <a:pt x="1302" y="1355"/>
                  </a:lnTo>
                  <a:lnTo>
                    <a:pt x="1306" y="1370"/>
                  </a:lnTo>
                  <a:lnTo>
                    <a:pt x="1308" y="1380"/>
                  </a:lnTo>
                  <a:lnTo>
                    <a:pt x="1308" y="1383"/>
                  </a:lnTo>
                  <a:lnTo>
                    <a:pt x="1309" y="1380"/>
                  </a:lnTo>
                  <a:lnTo>
                    <a:pt x="1311" y="1371"/>
                  </a:lnTo>
                  <a:lnTo>
                    <a:pt x="1314" y="1356"/>
                  </a:lnTo>
                  <a:lnTo>
                    <a:pt x="1320" y="1337"/>
                  </a:lnTo>
                  <a:lnTo>
                    <a:pt x="1326" y="1315"/>
                  </a:lnTo>
                  <a:lnTo>
                    <a:pt x="1334" y="1288"/>
                  </a:lnTo>
                  <a:lnTo>
                    <a:pt x="1343" y="1260"/>
                  </a:lnTo>
                  <a:lnTo>
                    <a:pt x="1353" y="1229"/>
                  </a:lnTo>
                  <a:lnTo>
                    <a:pt x="1365" y="1197"/>
                  </a:lnTo>
                  <a:lnTo>
                    <a:pt x="1379" y="1164"/>
                  </a:lnTo>
                  <a:lnTo>
                    <a:pt x="1393" y="1131"/>
                  </a:lnTo>
                  <a:lnTo>
                    <a:pt x="1409" y="1099"/>
                  </a:lnTo>
                  <a:lnTo>
                    <a:pt x="1426" y="1068"/>
                  </a:lnTo>
                  <a:lnTo>
                    <a:pt x="1446" y="1039"/>
                  </a:lnTo>
                  <a:lnTo>
                    <a:pt x="1466" y="1012"/>
                  </a:lnTo>
                  <a:lnTo>
                    <a:pt x="1488" y="990"/>
                  </a:lnTo>
                  <a:lnTo>
                    <a:pt x="1511" y="971"/>
                  </a:lnTo>
                  <a:lnTo>
                    <a:pt x="1535" y="955"/>
                  </a:lnTo>
                  <a:lnTo>
                    <a:pt x="1561" y="946"/>
                  </a:lnTo>
                  <a:lnTo>
                    <a:pt x="1586" y="942"/>
                  </a:lnTo>
                  <a:lnTo>
                    <a:pt x="1610" y="945"/>
                  </a:lnTo>
                  <a:lnTo>
                    <a:pt x="1633" y="953"/>
                  </a:lnTo>
                  <a:lnTo>
                    <a:pt x="1655" y="966"/>
                  </a:lnTo>
                  <a:lnTo>
                    <a:pt x="1676" y="985"/>
                  </a:lnTo>
                  <a:lnTo>
                    <a:pt x="1696" y="1006"/>
                  </a:lnTo>
                  <a:lnTo>
                    <a:pt x="1716" y="1033"/>
                  </a:lnTo>
                  <a:lnTo>
                    <a:pt x="1735" y="1061"/>
                  </a:lnTo>
                  <a:lnTo>
                    <a:pt x="1753" y="1093"/>
                  </a:lnTo>
                  <a:lnTo>
                    <a:pt x="1771" y="1126"/>
                  </a:lnTo>
                  <a:lnTo>
                    <a:pt x="1787" y="1162"/>
                  </a:lnTo>
                  <a:lnTo>
                    <a:pt x="1803" y="1199"/>
                  </a:lnTo>
                  <a:lnTo>
                    <a:pt x="1819" y="1235"/>
                  </a:lnTo>
                  <a:lnTo>
                    <a:pt x="1835" y="1273"/>
                  </a:lnTo>
                  <a:lnTo>
                    <a:pt x="1849" y="1311"/>
                  </a:lnTo>
                  <a:lnTo>
                    <a:pt x="1863" y="1347"/>
                  </a:lnTo>
                  <a:lnTo>
                    <a:pt x="1877" y="1383"/>
                  </a:lnTo>
                  <a:lnTo>
                    <a:pt x="2009" y="1383"/>
                  </a:lnTo>
                  <a:lnTo>
                    <a:pt x="2009" y="200"/>
                  </a:lnTo>
                  <a:lnTo>
                    <a:pt x="202" y="200"/>
                  </a:lnTo>
                  <a:close/>
                  <a:moveTo>
                    <a:pt x="44" y="0"/>
                  </a:moveTo>
                  <a:lnTo>
                    <a:pt x="2129" y="0"/>
                  </a:lnTo>
                  <a:lnTo>
                    <a:pt x="2143" y="2"/>
                  </a:lnTo>
                  <a:lnTo>
                    <a:pt x="2155" y="8"/>
                  </a:lnTo>
                  <a:lnTo>
                    <a:pt x="2165" y="18"/>
                  </a:lnTo>
                  <a:lnTo>
                    <a:pt x="2171" y="30"/>
                  </a:lnTo>
                  <a:lnTo>
                    <a:pt x="2173" y="44"/>
                  </a:lnTo>
                  <a:lnTo>
                    <a:pt x="2173" y="1848"/>
                  </a:lnTo>
                  <a:lnTo>
                    <a:pt x="2171" y="1861"/>
                  </a:lnTo>
                  <a:lnTo>
                    <a:pt x="2165" y="1874"/>
                  </a:lnTo>
                  <a:lnTo>
                    <a:pt x="2155" y="1884"/>
                  </a:lnTo>
                  <a:lnTo>
                    <a:pt x="2143" y="1890"/>
                  </a:lnTo>
                  <a:lnTo>
                    <a:pt x="2129" y="1892"/>
                  </a:lnTo>
                  <a:lnTo>
                    <a:pt x="44" y="1892"/>
                  </a:lnTo>
                  <a:lnTo>
                    <a:pt x="31" y="1890"/>
                  </a:lnTo>
                  <a:lnTo>
                    <a:pt x="18" y="1884"/>
                  </a:lnTo>
                  <a:lnTo>
                    <a:pt x="8" y="1874"/>
                  </a:lnTo>
                  <a:lnTo>
                    <a:pt x="2" y="1861"/>
                  </a:lnTo>
                  <a:lnTo>
                    <a:pt x="0" y="1848"/>
                  </a:lnTo>
                  <a:lnTo>
                    <a:pt x="0" y="44"/>
                  </a:lnTo>
                  <a:lnTo>
                    <a:pt x="2" y="30"/>
                  </a:lnTo>
                  <a:lnTo>
                    <a:pt x="8" y="18"/>
                  </a:lnTo>
                  <a:lnTo>
                    <a:pt x="18" y="8"/>
                  </a:lnTo>
                  <a:lnTo>
                    <a:pt x="31" y="2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>
                <a:cs typeface="+mn-ea"/>
                <a:sym typeface="+mn-lt"/>
              </a:endParaRPr>
            </a:p>
          </p:txBody>
        </p:sp>
        <p:sp>
          <p:nvSpPr>
            <p:cNvPr id="25" name="Freeform 36"/>
            <p:cNvSpPr/>
            <p:nvPr>
              <p:custDataLst>
                <p:tags r:id="rId9"/>
              </p:custDataLst>
            </p:nvPr>
          </p:nvSpPr>
          <p:spPr bwMode="auto">
            <a:xfrm>
              <a:off x="8407401" y="1909763"/>
              <a:ext cx="33338" cy="33338"/>
            </a:xfrm>
            <a:custGeom>
              <a:avLst/>
              <a:gdLst>
                <a:gd name="T0" fmla="*/ 148 w 295"/>
                <a:gd name="T1" fmla="*/ 0 h 295"/>
                <a:gd name="T2" fmla="*/ 177 w 295"/>
                <a:gd name="T3" fmla="*/ 3 h 295"/>
                <a:gd name="T4" fmla="*/ 206 w 295"/>
                <a:gd name="T5" fmla="*/ 11 h 295"/>
                <a:gd name="T6" fmla="*/ 230 w 295"/>
                <a:gd name="T7" fmla="*/ 25 h 295"/>
                <a:gd name="T8" fmla="*/ 253 w 295"/>
                <a:gd name="T9" fmla="*/ 42 h 295"/>
                <a:gd name="T10" fmla="*/ 270 w 295"/>
                <a:gd name="T11" fmla="*/ 65 h 295"/>
                <a:gd name="T12" fmla="*/ 284 w 295"/>
                <a:gd name="T13" fmla="*/ 89 h 295"/>
                <a:gd name="T14" fmla="*/ 292 w 295"/>
                <a:gd name="T15" fmla="*/ 118 h 295"/>
                <a:gd name="T16" fmla="*/ 295 w 295"/>
                <a:gd name="T17" fmla="*/ 147 h 295"/>
                <a:gd name="T18" fmla="*/ 292 w 295"/>
                <a:gd name="T19" fmla="*/ 177 h 295"/>
                <a:gd name="T20" fmla="*/ 284 w 295"/>
                <a:gd name="T21" fmla="*/ 204 h 295"/>
                <a:gd name="T22" fmla="*/ 270 w 295"/>
                <a:gd name="T23" fmla="*/ 230 h 295"/>
                <a:gd name="T24" fmla="*/ 253 w 295"/>
                <a:gd name="T25" fmla="*/ 252 h 295"/>
                <a:gd name="T26" fmla="*/ 230 w 295"/>
                <a:gd name="T27" fmla="*/ 269 h 295"/>
                <a:gd name="T28" fmla="*/ 206 w 295"/>
                <a:gd name="T29" fmla="*/ 284 h 295"/>
                <a:gd name="T30" fmla="*/ 177 w 295"/>
                <a:gd name="T31" fmla="*/ 292 h 295"/>
                <a:gd name="T32" fmla="*/ 148 w 295"/>
                <a:gd name="T33" fmla="*/ 295 h 295"/>
                <a:gd name="T34" fmla="*/ 118 w 295"/>
                <a:gd name="T35" fmla="*/ 292 h 295"/>
                <a:gd name="T36" fmla="*/ 91 w 295"/>
                <a:gd name="T37" fmla="*/ 284 h 295"/>
                <a:gd name="T38" fmla="*/ 65 w 295"/>
                <a:gd name="T39" fmla="*/ 269 h 295"/>
                <a:gd name="T40" fmla="*/ 44 w 295"/>
                <a:gd name="T41" fmla="*/ 252 h 295"/>
                <a:gd name="T42" fmla="*/ 26 w 295"/>
                <a:gd name="T43" fmla="*/ 230 h 295"/>
                <a:gd name="T44" fmla="*/ 12 w 295"/>
                <a:gd name="T45" fmla="*/ 204 h 295"/>
                <a:gd name="T46" fmla="*/ 3 w 295"/>
                <a:gd name="T47" fmla="*/ 177 h 295"/>
                <a:gd name="T48" fmla="*/ 0 w 295"/>
                <a:gd name="T49" fmla="*/ 147 h 295"/>
                <a:gd name="T50" fmla="*/ 3 w 295"/>
                <a:gd name="T51" fmla="*/ 118 h 295"/>
                <a:gd name="T52" fmla="*/ 12 w 295"/>
                <a:gd name="T53" fmla="*/ 89 h 295"/>
                <a:gd name="T54" fmla="*/ 26 w 295"/>
                <a:gd name="T55" fmla="*/ 65 h 295"/>
                <a:gd name="T56" fmla="*/ 44 w 295"/>
                <a:gd name="T57" fmla="*/ 42 h 295"/>
                <a:gd name="T58" fmla="*/ 65 w 295"/>
                <a:gd name="T59" fmla="*/ 25 h 295"/>
                <a:gd name="T60" fmla="*/ 91 w 295"/>
                <a:gd name="T61" fmla="*/ 11 h 295"/>
                <a:gd name="T62" fmla="*/ 118 w 295"/>
                <a:gd name="T63" fmla="*/ 3 h 295"/>
                <a:gd name="T64" fmla="*/ 148 w 295"/>
                <a:gd name="T65" fmla="*/ 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95" h="295">
                  <a:moveTo>
                    <a:pt x="148" y="0"/>
                  </a:moveTo>
                  <a:lnTo>
                    <a:pt x="177" y="3"/>
                  </a:lnTo>
                  <a:lnTo>
                    <a:pt x="206" y="11"/>
                  </a:lnTo>
                  <a:lnTo>
                    <a:pt x="230" y="25"/>
                  </a:lnTo>
                  <a:lnTo>
                    <a:pt x="253" y="42"/>
                  </a:lnTo>
                  <a:lnTo>
                    <a:pt x="270" y="65"/>
                  </a:lnTo>
                  <a:lnTo>
                    <a:pt x="284" y="89"/>
                  </a:lnTo>
                  <a:lnTo>
                    <a:pt x="292" y="118"/>
                  </a:lnTo>
                  <a:lnTo>
                    <a:pt x="295" y="147"/>
                  </a:lnTo>
                  <a:lnTo>
                    <a:pt x="292" y="177"/>
                  </a:lnTo>
                  <a:lnTo>
                    <a:pt x="284" y="204"/>
                  </a:lnTo>
                  <a:lnTo>
                    <a:pt x="270" y="230"/>
                  </a:lnTo>
                  <a:lnTo>
                    <a:pt x="253" y="252"/>
                  </a:lnTo>
                  <a:lnTo>
                    <a:pt x="230" y="269"/>
                  </a:lnTo>
                  <a:lnTo>
                    <a:pt x="206" y="284"/>
                  </a:lnTo>
                  <a:lnTo>
                    <a:pt x="177" y="292"/>
                  </a:lnTo>
                  <a:lnTo>
                    <a:pt x="148" y="295"/>
                  </a:lnTo>
                  <a:lnTo>
                    <a:pt x="118" y="292"/>
                  </a:lnTo>
                  <a:lnTo>
                    <a:pt x="91" y="284"/>
                  </a:lnTo>
                  <a:lnTo>
                    <a:pt x="65" y="269"/>
                  </a:lnTo>
                  <a:lnTo>
                    <a:pt x="44" y="252"/>
                  </a:lnTo>
                  <a:lnTo>
                    <a:pt x="26" y="230"/>
                  </a:lnTo>
                  <a:lnTo>
                    <a:pt x="12" y="204"/>
                  </a:lnTo>
                  <a:lnTo>
                    <a:pt x="3" y="177"/>
                  </a:lnTo>
                  <a:lnTo>
                    <a:pt x="0" y="147"/>
                  </a:lnTo>
                  <a:lnTo>
                    <a:pt x="3" y="118"/>
                  </a:lnTo>
                  <a:lnTo>
                    <a:pt x="12" y="89"/>
                  </a:lnTo>
                  <a:lnTo>
                    <a:pt x="26" y="65"/>
                  </a:lnTo>
                  <a:lnTo>
                    <a:pt x="44" y="42"/>
                  </a:lnTo>
                  <a:lnTo>
                    <a:pt x="65" y="25"/>
                  </a:lnTo>
                  <a:lnTo>
                    <a:pt x="91" y="11"/>
                  </a:lnTo>
                  <a:lnTo>
                    <a:pt x="118" y="3"/>
                  </a:lnTo>
                  <a:lnTo>
                    <a:pt x="14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>
                <a:cs typeface="+mn-ea"/>
                <a:sym typeface="+mn-lt"/>
              </a:endParaRPr>
            </a:p>
          </p:txBody>
        </p:sp>
        <p:sp>
          <p:nvSpPr>
            <p:cNvPr id="26" name="Freeform 37"/>
            <p:cNvSpPr/>
            <p:nvPr>
              <p:custDataLst>
                <p:tags r:id="rId10"/>
              </p:custDataLst>
            </p:nvPr>
          </p:nvSpPr>
          <p:spPr bwMode="auto">
            <a:xfrm>
              <a:off x="8512176" y="1912938"/>
              <a:ext cx="69850" cy="26988"/>
            </a:xfrm>
            <a:custGeom>
              <a:avLst/>
              <a:gdLst>
                <a:gd name="T0" fmla="*/ 223 w 608"/>
                <a:gd name="T1" fmla="*/ 0 h 237"/>
                <a:gd name="T2" fmla="*/ 251 w 608"/>
                <a:gd name="T3" fmla="*/ 0 h 237"/>
                <a:gd name="T4" fmla="*/ 270 w 608"/>
                <a:gd name="T5" fmla="*/ 2 h 237"/>
                <a:gd name="T6" fmla="*/ 287 w 608"/>
                <a:gd name="T7" fmla="*/ 9 h 237"/>
                <a:gd name="T8" fmla="*/ 300 w 608"/>
                <a:gd name="T9" fmla="*/ 21 h 237"/>
                <a:gd name="T10" fmla="*/ 334 w 608"/>
                <a:gd name="T11" fmla="*/ 9 h 237"/>
                <a:gd name="T12" fmla="*/ 371 w 608"/>
                <a:gd name="T13" fmla="*/ 2 h 237"/>
                <a:gd name="T14" fmla="*/ 411 w 608"/>
                <a:gd name="T15" fmla="*/ 0 h 237"/>
                <a:gd name="T16" fmla="*/ 446 w 608"/>
                <a:gd name="T17" fmla="*/ 2 h 237"/>
                <a:gd name="T18" fmla="*/ 479 w 608"/>
                <a:gd name="T19" fmla="*/ 7 h 237"/>
                <a:gd name="T20" fmla="*/ 510 w 608"/>
                <a:gd name="T21" fmla="*/ 16 h 237"/>
                <a:gd name="T22" fmla="*/ 537 w 608"/>
                <a:gd name="T23" fmla="*/ 28 h 237"/>
                <a:gd name="T24" fmla="*/ 562 w 608"/>
                <a:gd name="T25" fmla="*/ 42 h 237"/>
                <a:gd name="T26" fmla="*/ 581 w 608"/>
                <a:gd name="T27" fmla="*/ 59 h 237"/>
                <a:gd name="T28" fmla="*/ 595 w 608"/>
                <a:gd name="T29" fmla="*/ 78 h 237"/>
                <a:gd name="T30" fmla="*/ 605 w 608"/>
                <a:gd name="T31" fmla="*/ 98 h 237"/>
                <a:gd name="T32" fmla="*/ 608 w 608"/>
                <a:gd name="T33" fmla="*/ 119 h 237"/>
                <a:gd name="T34" fmla="*/ 605 w 608"/>
                <a:gd name="T35" fmla="*/ 140 h 237"/>
                <a:gd name="T36" fmla="*/ 595 w 608"/>
                <a:gd name="T37" fmla="*/ 160 h 237"/>
                <a:gd name="T38" fmla="*/ 581 w 608"/>
                <a:gd name="T39" fmla="*/ 178 h 237"/>
                <a:gd name="T40" fmla="*/ 562 w 608"/>
                <a:gd name="T41" fmla="*/ 196 h 237"/>
                <a:gd name="T42" fmla="*/ 537 w 608"/>
                <a:gd name="T43" fmla="*/ 210 h 237"/>
                <a:gd name="T44" fmla="*/ 510 w 608"/>
                <a:gd name="T45" fmla="*/ 221 h 237"/>
                <a:gd name="T46" fmla="*/ 479 w 608"/>
                <a:gd name="T47" fmla="*/ 230 h 237"/>
                <a:gd name="T48" fmla="*/ 446 w 608"/>
                <a:gd name="T49" fmla="*/ 235 h 237"/>
                <a:gd name="T50" fmla="*/ 411 w 608"/>
                <a:gd name="T51" fmla="*/ 237 h 237"/>
                <a:gd name="T52" fmla="*/ 380 w 608"/>
                <a:gd name="T53" fmla="*/ 235 h 237"/>
                <a:gd name="T54" fmla="*/ 350 w 608"/>
                <a:gd name="T55" fmla="*/ 231 h 237"/>
                <a:gd name="T56" fmla="*/ 323 w 608"/>
                <a:gd name="T57" fmla="*/ 224 h 237"/>
                <a:gd name="T58" fmla="*/ 297 w 608"/>
                <a:gd name="T59" fmla="*/ 215 h 237"/>
                <a:gd name="T60" fmla="*/ 269 w 608"/>
                <a:gd name="T61" fmla="*/ 220 h 237"/>
                <a:gd name="T62" fmla="*/ 238 w 608"/>
                <a:gd name="T63" fmla="*/ 223 h 237"/>
                <a:gd name="T64" fmla="*/ 205 w 608"/>
                <a:gd name="T65" fmla="*/ 224 h 237"/>
                <a:gd name="T66" fmla="*/ 169 w 608"/>
                <a:gd name="T67" fmla="*/ 223 h 237"/>
                <a:gd name="T68" fmla="*/ 133 w 608"/>
                <a:gd name="T69" fmla="*/ 219 h 237"/>
                <a:gd name="T70" fmla="*/ 102 w 608"/>
                <a:gd name="T71" fmla="*/ 213 h 237"/>
                <a:gd name="T72" fmla="*/ 73 w 608"/>
                <a:gd name="T73" fmla="*/ 205 h 237"/>
                <a:gd name="T74" fmla="*/ 48 w 608"/>
                <a:gd name="T75" fmla="*/ 195 h 237"/>
                <a:gd name="T76" fmla="*/ 27 w 608"/>
                <a:gd name="T77" fmla="*/ 183 h 237"/>
                <a:gd name="T78" fmla="*/ 12 w 608"/>
                <a:gd name="T79" fmla="*/ 170 h 237"/>
                <a:gd name="T80" fmla="*/ 3 w 608"/>
                <a:gd name="T81" fmla="*/ 157 h 237"/>
                <a:gd name="T82" fmla="*/ 0 w 608"/>
                <a:gd name="T83" fmla="*/ 142 h 237"/>
                <a:gd name="T84" fmla="*/ 3 w 608"/>
                <a:gd name="T85" fmla="*/ 128 h 237"/>
                <a:gd name="T86" fmla="*/ 11 w 608"/>
                <a:gd name="T87" fmla="*/ 115 h 237"/>
                <a:gd name="T88" fmla="*/ 25 w 608"/>
                <a:gd name="T89" fmla="*/ 103 h 237"/>
                <a:gd name="T90" fmla="*/ 44 w 608"/>
                <a:gd name="T91" fmla="*/ 92 h 237"/>
                <a:gd name="T92" fmla="*/ 66 w 608"/>
                <a:gd name="T93" fmla="*/ 83 h 237"/>
                <a:gd name="T94" fmla="*/ 92 w 608"/>
                <a:gd name="T95" fmla="*/ 74 h 237"/>
                <a:gd name="T96" fmla="*/ 121 w 608"/>
                <a:gd name="T97" fmla="*/ 67 h 237"/>
                <a:gd name="T98" fmla="*/ 154 w 608"/>
                <a:gd name="T99" fmla="*/ 63 h 237"/>
                <a:gd name="T100" fmla="*/ 158 w 608"/>
                <a:gd name="T101" fmla="*/ 46 h 237"/>
                <a:gd name="T102" fmla="*/ 165 w 608"/>
                <a:gd name="T103" fmla="*/ 31 h 237"/>
                <a:gd name="T104" fmla="*/ 176 w 608"/>
                <a:gd name="T105" fmla="*/ 18 h 237"/>
                <a:gd name="T106" fmla="*/ 189 w 608"/>
                <a:gd name="T107" fmla="*/ 8 h 237"/>
                <a:gd name="T108" fmla="*/ 205 w 608"/>
                <a:gd name="T109" fmla="*/ 2 h 237"/>
                <a:gd name="T110" fmla="*/ 223 w 608"/>
                <a:gd name="T111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08" h="237">
                  <a:moveTo>
                    <a:pt x="223" y="0"/>
                  </a:moveTo>
                  <a:lnTo>
                    <a:pt x="251" y="0"/>
                  </a:lnTo>
                  <a:lnTo>
                    <a:pt x="270" y="2"/>
                  </a:lnTo>
                  <a:lnTo>
                    <a:pt x="287" y="9"/>
                  </a:lnTo>
                  <a:lnTo>
                    <a:pt x="300" y="21"/>
                  </a:lnTo>
                  <a:lnTo>
                    <a:pt x="334" y="9"/>
                  </a:lnTo>
                  <a:lnTo>
                    <a:pt x="371" y="2"/>
                  </a:lnTo>
                  <a:lnTo>
                    <a:pt x="411" y="0"/>
                  </a:lnTo>
                  <a:lnTo>
                    <a:pt x="446" y="2"/>
                  </a:lnTo>
                  <a:lnTo>
                    <a:pt x="479" y="7"/>
                  </a:lnTo>
                  <a:lnTo>
                    <a:pt x="510" y="16"/>
                  </a:lnTo>
                  <a:lnTo>
                    <a:pt x="537" y="28"/>
                  </a:lnTo>
                  <a:lnTo>
                    <a:pt x="562" y="42"/>
                  </a:lnTo>
                  <a:lnTo>
                    <a:pt x="581" y="59"/>
                  </a:lnTo>
                  <a:lnTo>
                    <a:pt x="595" y="78"/>
                  </a:lnTo>
                  <a:lnTo>
                    <a:pt x="605" y="98"/>
                  </a:lnTo>
                  <a:lnTo>
                    <a:pt x="608" y="119"/>
                  </a:lnTo>
                  <a:lnTo>
                    <a:pt x="605" y="140"/>
                  </a:lnTo>
                  <a:lnTo>
                    <a:pt x="595" y="160"/>
                  </a:lnTo>
                  <a:lnTo>
                    <a:pt x="581" y="178"/>
                  </a:lnTo>
                  <a:lnTo>
                    <a:pt x="562" y="196"/>
                  </a:lnTo>
                  <a:lnTo>
                    <a:pt x="537" y="210"/>
                  </a:lnTo>
                  <a:lnTo>
                    <a:pt x="510" y="221"/>
                  </a:lnTo>
                  <a:lnTo>
                    <a:pt x="479" y="230"/>
                  </a:lnTo>
                  <a:lnTo>
                    <a:pt x="446" y="235"/>
                  </a:lnTo>
                  <a:lnTo>
                    <a:pt x="411" y="237"/>
                  </a:lnTo>
                  <a:lnTo>
                    <a:pt x="380" y="235"/>
                  </a:lnTo>
                  <a:lnTo>
                    <a:pt x="350" y="231"/>
                  </a:lnTo>
                  <a:lnTo>
                    <a:pt x="323" y="224"/>
                  </a:lnTo>
                  <a:lnTo>
                    <a:pt x="297" y="215"/>
                  </a:lnTo>
                  <a:lnTo>
                    <a:pt x="269" y="220"/>
                  </a:lnTo>
                  <a:lnTo>
                    <a:pt x="238" y="223"/>
                  </a:lnTo>
                  <a:lnTo>
                    <a:pt x="205" y="224"/>
                  </a:lnTo>
                  <a:lnTo>
                    <a:pt x="169" y="223"/>
                  </a:lnTo>
                  <a:lnTo>
                    <a:pt x="133" y="219"/>
                  </a:lnTo>
                  <a:lnTo>
                    <a:pt x="102" y="213"/>
                  </a:lnTo>
                  <a:lnTo>
                    <a:pt x="73" y="205"/>
                  </a:lnTo>
                  <a:lnTo>
                    <a:pt x="48" y="195"/>
                  </a:lnTo>
                  <a:lnTo>
                    <a:pt x="27" y="183"/>
                  </a:lnTo>
                  <a:lnTo>
                    <a:pt x="12" y="170"/>
                  </a:lnTo>
                  <a:lnTo>
                    <a:pt x="3" y="157"/>
                  </a:lnTo>
                  <a:lnTo>
                    <a:pt x="0" y="142"/>
                  </a:lnTo>
                  <a:lnTo>
                    <a:pt x="3" y="128"/>
                  </a:lnTo>
                  <a:lnTo>
                    <a:pt x="11" y="115"/>
                  </a:lnTo>
                  <a:lnTo>
                    <a:pt x="25" y="103"/>
                  </a:lnTo>
                  <a:lnTo>
                    <a:pt x="44" y="92"/>
                  </a:lnTo>
                  <a:lnTo>
                    <a:pt x="66" y="83"/>
                  </a:lnTo>
                  <a:lnTo>
                    <a:pt x="92" y="74"/>
                  </a:lnTo>
                  <a:lnTo>
                    <a:pt x="121" y="67"/>
                  </a:lnTo>
                  <a:lnTo>
                    <a:pt x="154" y="63"/>
                  </a:lnTo>
                  <a:lnTo>
                    <a:pt x="158" y="46"/>
                  </a:lnTo>
                  <a:lnTo>
                    <a:pt x="165" y="31"/>
                  </a:lnTo>
                  <a:lnTo>
                    <a:pt x="176" y="18"/>
                  </a:lnTo>
                  <a:lnTo>
                    <a:pt x="189" y="8"/>
                  </a:lnTo>
                  <a:lnTo>
                    <a:pt x="205" y="2"/>
                  </a:lnTo>
                  <a:lnTo>
                    <a:pt x="2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>
                <a:cs typeface="+mn-ea"/>
                <a:sym typeface="+mn-lt"/>
              </a:endParaRPr>
            </a:p>
          </p:txBody>
        </p:sp>
      </p:grpSp>
      <p:sp>
        <p:nvSpPr>
          <p:cNvPr id="12" name="Freeform 60"/>
          <p:cNvSpPr>
            <a:spLocks noEditPoints="1"/>
          </p:cNvSpPr>
          <p:nvPr>
            <p:custDataLst>
              <p:tags r:id="rId11"/>
            </p:custDataLst>
          </p:nvPr>
        </p:nvSpPr>
        <p:spPr bwMode="auto">
          <a:xfrm>
            <a:off x="1103721" y="5078798"/>
            <a:ext cx="436491" cy="391677"/>
          </a:xfrm>
          <a:custGeom>
            <a:avLst/>
            <a:gdLst>
              <a:gd name="T0" fmla="*/ 1562 w 3584"/>
              <a:gd name="T1" fmla="*/ 2055 h 3573"/>
              <a:gd name="T2" fmla="*/ 1544 w 3584"/>
              <a:gd name="T3" fmla="*/ 2368 h 3573"/>
              <a:gd name="T4" fmla="*/ 1848 w 3584"/>
              <a:gd name="T5" fmla="*/ 2581 h 3573"/>
              <a:gd name="T6" fmla="*/ 1895 w 3584"/>
              <a:gd name="T7" fmla="*/ 2785 h 3573"/>
              <a:gd name="T8" fmla="*/ 1715 w 3584"/>
              <a:gd name="T9" fmla="*/ 2800 h 3573"/>
              <a:gd name="T10" fmla="*/ 1492 w 3584"/>
              <a:gd name="T11" fmla="*/ 2764 h 3573"/>
              <a:gd name="T12" fmla="*/ 1754 w 3584"/>
              <a:gd name="T13" fmla="*/ 2989 h 3573"/>
              <a:gd name="T14" fmla="*/ 2043 w 3584"/>
              <a:gd name="T15" fmla="*/ 2902 h 3573"/>
              <a:gd name="T16" fmla="*/ 2093 w 3584"/>
              <a:gd name="T17" fmla="*/ 2593 h 3573"/>
              <a:gd name="T18" fmla="*/ 1802 w 3584"/>
              <a:gd name="T19" fmla="*/ 2363 h 3573"/>
              <a:gd name="T20" fmla="*/ 1721 w 3584"/>
              <a:gd name="T21" fmla="*/ 2170 h 3573"/>
              <a:gd name="T22" fmla="*/ 1869 w 3584"/>
              <a:gd name="T23" fmla="*/ 2116 h 3573"/>
              <a:gd name="T24" fmla="*/ 2096 w 3584"/>
              <a:gd name="T25" fmla="*/ 2136 h 3573"/>
              <a:gd name="T26" fmla="*/ 1872 w 3584"/>
              <a:gd name="T27" fmla="*/ 1942 h 3573"/>
              <a:gd name="T28" fmla="*/ 2657 w 3584"/>
              <a:gd name="T29" fmla="*/ 1446 h 3573"/>
              <a:gd name="T30" fmla="*/ 3302 w 3584"/>
              <a:gd name="T31" fmla="*/ 2055 h 3573"/>
              <a:gd name="T32" fmla="*/ 3582 w 3584"/>
              <a:gd name="T33" fmla="*/ 2756 h 3573"/>
              <a:gd name="T34" fmla="*/ 3436 w 3584"/>
              <a:gd name="T35" fmla="*/ 3232 h 3573"/>
              <a:gd name="T36" fmla="*/ 2962 w 3584"/>
              <a:gd name="T37" fmla="*/ 3476 h 3573"/>
              <a:gd name="T38" fmla="*/ 2254 w 3584"/>
              <a:gd name="T39" fmla="*/ 3565 h 3573"/>
              <a:gd name="T40" fmla="*/ 1420 w 3584"/>
              <a:gd name="T41" fmla="*/ 3568 h 3573"/>
              <a:gd name="T42" fmla="*/ 692 w 3584"/>
              <a:gd name="T43" fmla="*/ 3492 h 3573"/>
              <a:gd name="T44" fmla="*/ 187 w 3584"/>
              <a:gd name="T45" fmla="*/ 3269 h 3573"/>
              <a:gd name="T46" fmla="*/ 0 w 3584"/>
              <a:gd name="T47" fmla="*/ 2829 h 3573"/>
              <a:gd name="T48" fmla="*/ 222 w 3584"/>
              <a:gd name="T49" fmla="*/ 2149 h 3573"/>
              <a:gd name="T50" fmla="*/ 810 w 3584"/>
              <a:gd name="T51" fmla="*/ 1524 h 3573"/>
              <a:gd name="T52" fmla="*/ 1480 w 3584"/>
              <a:gd name="T53" fmla="*/ 1290 h 3573"/>
              <a:gd name="T54" fmla="*/ 1759 w 3584"/>
              <a:gd name="T55" fmla="*/ 1304 h 3573"/>
              <a:gd name="T56" fmla="*/ 1645 w 3584"/>
              <a:gd name="T57" fmla="*/ 148 h 3573"/>
              <a:gd name="T58" fmla="*/ 1540 w 3584"/>
              <a:gd name="T59" fmla="*/ 268 h 3573"/>
              <a:gd name="T60" fmla="*/ 1292 w 3584"/>
              <a:gd name="T61" fmla="*/ 435 h 3573"/>
              <a:gd name="T62" fmla="*/ 1098 w 3584"/>
              <a:gd name="T63" fmla="*/ 471 h 3573"/>
              <a:gd name="T64" fmla="*/ 1350 w 3584"/>
              <a:gd name="T65" fmla="*/ 683 h 3573"/>
              <a:gd name="T66" fmla="*/ 1548 w 3584"/>
              <a:gd name="T67" fmla="*/ 610 h 3573"/>
              <a:gd name="T68" fmla="*/ 1685 w 3584"/>
              <a:gd name="T69" fmla="*/ 559 h 3573"/>
              <a:gd name="T70" fmla="*/ 1803 w 3584"/>
              <a:gd name="T71" fmla="*/ 698 h 3573"/>
              <a:gd name="T72" fmla="*/ 2020 w 3584"/>
              <a:gd name="T73" fmla="*/ 657 h 3573"/>
              <a:gd name="T74" fmla="*/ 2212 w 3584"/>
              <a:gd name="T75" fmla="*/ 313 h 3573"/>
              <a:gd name="T76" fmla="*/ 2006 w 3584"/>
              <a:gd name="T77" fmla="*/ 414 h 3573"/>
              <a:gd name="T78" fmla="*/ 1811 w 3584"/>
              <a:gd name="T79" fmla="*/ 350 h 3573"/>
              <a:gd name="T80" fmla="*/ 1665 w 3584"/>
              <a:gd name="T81" fmla="*/ 151 h 3573"/>
              <a:gd name="T82" fmla="*/ 1745 w 3584"/>
              <a:gd name="T83" fmla="*/ 24 h 3573"/>
              <a:gd name="T84" fmla="*/ 1926 w 3584"/>
              <a:gd name="T85" fmla="*/ 254 h 3573"/>
              <a:gd name="T86" fmla="*/ 2105 w 3584"/>
              <a:gd name="T87" fmla="*/ 199 h 3573"/>
              <a:gd name="T88" fmla="*/ 2326 w 3584"/>
              <a:gd name="T89" fmla="*/ 176 h 3573"/>
              <a:gd name="T90" fmla="*/ 2384 w 3584"/>
              <a:gd name="T91" fmla="*/ 339 h 3573"/>
              <a:gd name="T92" fmla="*/ 2316 w 3584"/>
              <a:gd name="T93" fmla="*/ 455 h 3573"/>
              <a:gd name="T94" fmla="*/ 2150 w 3584"/>
              <a:gd name="T95" fmla="*/ 764 h 3573"/>
              <a:gd name="T96" fmla="*/ 2078 w 3584"/>
              <a:gd name="T97" fmla="*/ 1050 h 3573"/>
              <a:gd name="T98" fmla="*/ 1785 w 3584"/>
              <a:gd name="T99" fmla="*/ 1152 h 3573"/>
              <a:gd name="T100" fmla="*/ 1623 w 3584"/>
              <a:gd name="T101" fmla="*/ 1156 h 3573"/>
              <a:gd name="T102" fmla="*/ 1479 w 3584"/>
              <a:gd name="T103" fmla="*/ 1138 h 3573"/>
              <a:gd name="T104" fmla="*/ 1349 w 3584"/>
              <a:gd name="T105" fmla="*/ 1104 h 3573"/>
              <a:gd name="T106" fmla="*/ 1277 w 3584"/>
              <a:gd name="T107" fmla="*/ 1064 h 3573"/>
              <a:gd name="T108" fmla="*/ 1205 w 3584"/>
              <a:gd name="T109" fmla="*/ 958 h 3573"/>
              <a:gd name="T110" fmla="*/ 1027 w 3584"/>
              <a:gd name="T111" fmla="*/ 660 h 3573"/>
              <a:gd name="T112" fmla="*/ 919 w 3584"/>
              <a:gd name="T113" fmla="*/ 482 h 3573"/>
              <a:gd name="T114" fmla="*/ 963 w 3584"/>
              <a:gd name="T115" fmla="*/ 313 h 3573"/>
              <a:gd name="T116" fmla="*/ 1277 w 3584"/>
              <a:gd name="T117" fmla="*/ 287 h 3573"/>
              <a:gd name="T118" fmla="*/ 1451 w 3584"/>
              <a:gd name="T119" fmla="*/ 106 h 35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584" h="3573">
                <a:moveTo>
                  <a:pt x="1768" y="1791"/>
                </a:moveTo>
                <a:lnTo>
                  <a:pt x="1768" y="1940"/>
                </a:lnTo>
                <a:lnTo>
                  <a:pt x="1731" y="1945"/>
                </a:lnTo>
                <a:lnTo>
                  <a:pt x="1696" y="1955"/>
                </a:lnTo>
                <a:lnTo>
                  <a:pt x="1664" y="1969"/>
                </a:lnTo>
                <a:lnTo>
                  <a:pt x="1634" y="1985"/>
                </a:lnTo>
                <a:lnTo>
                  <a:pt x="1607" y="2005"/>
                </a:lnTo>
                <a:lnTo>
                  <a:pt x="1583" y="2029"/>
                </a:lnTo>
                <a:lnTo>
                  <a:pt x="1562" y="2055"/>
                </a:lnTo>
                <a:lnTo>
                  <a:pt x="1544" y="2084"/>
                </a:lnTo>
                <a:lnTo>
                  <a:pt x="1531" y="2115"/>
                </a:lnTo>
                <a:lnTo>
                  <a:pt x="1522" y="2149"/>
                </a:lnTo>
                <a:lnTo>
                  <a:pt x="1516" y="2184"/>
                </a:lnTo>
                <a:lnTo>
                  <a:pt x="1515" y="2223"/>
                </a:lnTo>
                <a:lnTo>
                  <a:pt x="1516" y="2263"/>
                </a:lnTo>
                <a:lnTo>
                  <a:pt x="1521" y="2302"/>
                </a:lnTo>
                <a:lnTo>
                  <a:pt x="1531" y="2337"/>
                </a:lnTo>
                <a:lnTo>
                  <a:pt x="1544" y="2368"/>
                </a:lnTo>
                <a:lnTo>
                  <a:pt x="1561" y="2396"/>
                </a:lnTo>
                <a:lnTo>
                  <a:pt x="1582" y="2422"/>
                </a:lnTo>
                <a:lnTo>
                  <a:pt x="1612" y="2449"/>
                </a:lnTo>
                <a:lnTo>
                  <a:pt x="1648" y="2475"/>
                </a:lnTo>
                <a:lnTo>
                  <a:pt x="1690" y="2500"/>
                </a:lnTo>
                <a:lnTo>
                  <a:pt x="1739" y="2524"/>
                </a:lnTo>
                <a:lnTo>
                  <a:pt x="1793" y="2546"/>
                </a:lnTo>
                <a:lnTo>
                  <a:pt x="1823" y="2564"/>
                </a:lnTo>
                <a:lnTo>
                  <a:pt x="1848" y="2581"/>
                </a:lnTo>
                <a:lnTo>
                  <a:pt x="1869" y="2598"/>
                </a:lnTo>
                <a:lnTo>
                  <a:pt x="1883" y="2615"/>
                </a:lnTo>
                <a:lnTo>
                  <a:pt x="1894" y="2634"/>
                </a:lnTo>
                <a:lnTo>
                  <a:pt x="1903" y="2657"/>
                </a:lnTo>
                <a:lnTo>
                  <a:pt x="1907" y="2681"/>
                </a:lnTo>
                <a:lnTo>
                  <a:pt x="1909" y="2710"/>
                </a:lnTo>
                <a:lnTo>
                  <a:pt x="1907" y="2739"/>
                </a:lnTo>
                <a:lnTo>
                  <a:pt x="1903" y="2763"/>
                </a:lnTo>
                <a:lnTo>
                  <a:pt x="1895" y="2785"/>
                </a:lnTo>
                <a:lnTo>
                  <a:pt x="1884" y="2803"/>
                </a:lnTo>
                <a:lnTo>
                  <a:pt x="1870" y="2819"/>
                </a:lnTo>
                <a:lnTo>
                  <a:pt x="1852" y="2830"/>
                </a:lnTo>
                <a:lnTo>
                  <a:pt x="1831" y="2836"/>
                </a:lnTo>
                <a:lnTo>
                  <a:pt x="1806" y="2839"/>
                </a:lnTo>
                <a:lnTo>
                  <a:pt x="1779" y="2836"/>
                </a:lnTo>
                <a:lnTo>
                  <a:pt x="1755" y="2829"/>
                </a:lnTo>
                <a:lnTo>
                  <a:pt x="1733" y="2817"/>
                </a:lnTo>
                <a:lnTo>
                  <a:pt x="1715" y="2800"/>
                </a:lnTo>
                <a:lnTo>
                  <a:pt x="1703" y="2781"/>
                </a:lnTo>
                <a:lnTo>
                  <a:pt x="1693" y="2759"/>
                </a:lnTo>
                <a:lnTo>
                  <a:pt x="1687" y="2733"/>
                </a:lnTo>
                <a:lnTo>
                  <a:pt x="1682" y="2702"/>
                </a:lnTo>
                <a:lnTo>
                  <a:pt x="1681" y="2668"/>
                </a:lnTo>
                <a:lnTo>
                  <a:pt x="1486" y="2668"/>
                </a:lnTo>
                <a:lnTo>
                  <a:pt x="1484" y="2671"/>
                </a:lnTo>
                <a:lnTo>
                  <a:pt x="1486" y="2720"/>
                </a:lnTo>
                <a:lnTo>
                  <a:pt x="1492" y="2764"/>
                </a:lnTo>
                <a:lnTo>
                  <a:pt x="1501" y="2803"/>
                </a:lnTo>
                <a:lnTo>
                  <a:pt x="1516" y="2840"/>
                </a:lnTo>
                <a:lnTo>
                  <a:pt x="1535" y="2872"/>
                </a:lnTo>
                <a:lnTo>
                  <a:pt x="1558" y="2899"/>
                </a:lnTo>
                <a:lnTo>
                  <a:pt x="1590" y="2928"/>
                </a:lnTo>
                <a:lnTo>
                  <a:pt x="1626" y="2951"/>
                </a:lnTo>
                <a:lnTo>
                  <a:pt x="1665" y="2968"/>
                </a:lnTo>
                <a:lnTo>
                  <a:pt x="1708" y="2982"/>
                </a:lnTo>
                <a:lnTo>
                  <a:pt x="1754" y="2989"/>
                </a:lnTo>
                <a:lnTo>
                  <a:pt x="1754" y="3129"/>
                </a:lnTo>
                <a:lnTo>
                  <a:pt x="1859" y="3129"/>
                </a:lnTo>
                <a:lnTo>
                  <a:pt x="1859" y="2989"/>
                </a:lnTo>
                <a:lnTo>
                  <a:pt x="1896" y="2983"/>
                </a:lnTo>
                <a:lnTo>
                  <a:pt x="1931" y="2974"/>
                </a:lnTo>
                <a:lnTo>
                  <a:pt x="1963" y="2961"/>
                </a:lnTo>
                <a:lnTo>
                  <a:pt x="1992" y="2945"/>
                </a:lnTo>
                <a:lnTo>
                  <a:pt x="2019" y="2926"/>
                </a:lnTo>
                <a:lnTo>
                  <a:pt x="2043" y="2902"/>
                </a:lnTo>
                <a:lnTo>
                  <a:pt x="2064" y="2877"/>
                </a:lnTo>
                <a:lnTo>
                  <a:pt x="2081" y="2849"/>
                </a:lnTo>
                <a:lnTo>
                  <a:pt x="2094" y="2818"/>
                </a:lnTo>
                <a:lnTo>
                  <a:pt x="2103" y="2785"/>
                </a:lnTo>
                <a:lnTo>
                  <a:pt x="2108" y="2748"/>
                </a:lnTo>
                <a:lnTo>
                  <a:pt x="2110" y="2709"/>
                </a:lnTo>
                <a:lnTo>
                  <a:pt x="2108" y="2667"/>
                </a:lnTo>
                <a:lnTo>
                  <a:pt x="2103" y="2629"/>
                </a:lnTo>
                <a:lnTo>
                  <a:pt x="2093" y="2593"/>
                </a:lnTo>
                <a:lnTo>
                  <a:pt x="2080" y="2561"/>
                </a:lnTo>
                <a:lnTo>
                  <a:pt x="2062" y="2533"/>
                </a:lnTo>
                <a:lnTo>
                  <a:pt x="2041" y="2506"/>
                </a:lnTo>
                <a:lnTo>
                  <a:pt x="2011" y="2479"/>
                </a:lnTo>
                <a:lnTo>
                  <a:pt x="1975" y="2451"/>
                </a:lnTo>
                <a:lnTo>
                  <a:pt x="1933" y="2427"/>
                </a:lnTo>
                <a:lnTo>
                  <a:pt x="1887" y="2404"/>
                </a:lnTo>
                <a:lnTo>
                  <a:pt x="1834" y="2383"/>
                </a:lnTo>
                <a:lnTo>
                  <a:pt x="1802" y="2363"/>
                </a:lnTo>
                <a:lnTo>
                  <a:pt x="1775" y="2346"/>
                </a:lnTo>
                <a:lnTo>
                  <a:pt x="1755" y="2328"/>
                </a:lnTo>
                <a:lnTo>
                  <a:pt x="1740" y="2311"/>
                </a:lnTo>
                <a:lnTo>
                  <a:pt x="1730" y="2293"/>
                </a:lnTo>
                <a:lnTo>
                  <a:pt x="1722" y="2272"/>
                </a:lnTo>
                <a:lnTo>
                  <a:pt x="1718" y="2249"/>
                </a:lnTo>
                <a:lnTo>
                  <a:pt x="1715" y="2223"/>
                </a:lnTo>
                <a:lnTo>
                  <a:pt x="1717" y="2195"/>
                </a:lnTo>
                <a:lnTo>
                  <a:pt x="1721" y="2170"/>
                </a:lnTo>
                <a:lnTo>
                  <a:pt x="1728" y="2148"/>
                </a:lnTo>
                <a:lnTo>
                  <a:pt x="1738" y="2128"/>
                </a:lnTo>
                <a:lnTo>
                  <a:pt x="1750" y="2113"/>
                </a:lnTo>
                <a:lnTo>
                  <a:pt x="1766" y="2102"/>
                </a:lnTo>
                <a:lnTo>
                  <a:pt x="1786" y="2095"/>
                </a:lnTo>
                <a:lnTo>
                  <a:pt x="1809" y="2093"/>
                </a:lnTo>
                <a:lnTo>
                  <a:pt x="1831" y="2095"/>
                </a:lnTo>
                <a:lnTo>
                  <a:pt x="1852" y="2103"/>
                </a:lnTo>
                <a:lnTo>
                  <a:pt x="1869" y="2116"/>
                </a:lnTo>
                <a:lnTo>
                  <a:pt x="1884" y="2135"/>
                </a:lnTo>
                <a:lnTo>
                  <a:pt x="1896" y="2158"/>
                </a:lnTo>
                <a:lnTo>
                  <a:pt x="1904" y="2185"/>
                </a:lnTo>
                <a:lnTo>
                  <a:pt x="1910" y="2218"/>
                </a:lnTo>
                <a:lnTo>
                  <a:pt x="1911" y="2255"/>
                </a:lnTo>
                <a:lnTo>
                  <a:pt x="2112" y="2255"/>
                </a:lnTo>
                <a:lnTo>
                  <a:pt x="2110" y="2212"/>
                </a:lnTo>
                <a:lnTo>
                  <a:pt x="2105" y="2172"/>
                </a:lnTo>
                <a:lnTo>
                  <a:pt x="2096" y="2136"/>
                </a:lnTo>
                <a:lnTo>
                  <a:pt x="2084" y="2102"/>
                </a:lnTo>
                <a:lnTo>
                  <a:pt x="2067" y="2071"/>
                </a:lnTo>
                <a:lnTo>
                  <a:pt x="2048" y="2042"/>
                </a:lnTo>
                <a:lnTo>
                  <a:pt x="2026" y="2017"/>
                </a:lnTo>
                <a:lnTo>
                  <a:pt x="2000" y="1995"/>
                </a:lnTo>
                <a:lnTo>
                  <a:pt x="1973" y="1976"/>
                </a:lnTo>
                <a:lnTo>
                  <a:pt x="1942" y="1962"/>
                </a:lnTo>
                <a:lnTo>
                  <a:pt x="1909" y="1951"/>
                </a:lnTo>
                <a:lnTo>
                  <a:pt x="1872" y="1942"/>
                </a:lnTo>
                <a:lnTo>
                  <a:pt x="1872" y="1791"/>
                </a:lnTo>
                <a:lnTo>
                  <a:pt x="1768" y="1791"/>
                </a:lnTo>
                <a:close/>
                <a:moveTo>
                  <a:pt x="2085" y="1222"/>
                </a:moveTo>
                <a:lnTo>
                  <a:pt x="2185" y="1245"/>
                </a:lnTo>
                <a:lnTo>
                  <a:pt x="2285" y="1273"/>
                </a:lnTo>
                <a:lnTo>
                  <a:pt x="2382" y="1309"/>
                </a:lnTo>
                <a:lnTo>
                  <a:pt x="2476" y="1349"/>
                </a:lnTo>
                <a:lnTo>
                  <a:pt x="2567" y="1395"/>
                </a:lnTo>
                <a:lnTo>
                  <a:pt x="2657" y="1446"/>
                </a:lnTo>
                <a:lnTo>
                  <a:pt x="2742" y="1501"/>
                </a:lnTo>
                <a:lnTo>
                  <a:pt x="2824" y="1559"/>
                </a:lnTo>
                <a:lnTo>
                  <a:pt x="2904" y="1622"/>
                </a:lnTo>
                <a:lnTo>
                  <a:pt x="2980" y="1688"/>
                </a:lnTo>
                <a:lnTo>
                  <a:pt x="3053" y="1757"/>
                </a:lnTo>
                <a:lnTo>
                  <a:pt x="3121" y="1829"/>
                </a:lnTo>
                <a:lnTo>
                  <a:pt x="3185" y="1903"/>
                </a:lnTo>
                <a:lnTo>
                  <a:pt x="3246" y="1978"/>
                </a:lnTo>
                <a:lnTo>
                  <a:pt x="3302" y="2055"/>
                </a:lnTo>
                <a:lnTo>
                  <a:pt x="3353" y="2134"/>
                </a:lnTo>
                <a:lnTo>
                  <a:pt x="3400" y="2212"/>
                </a:lnTo>
                <a:lnTo>
                  <a:pt x="3442" y="2292"/>
                </a:lnTo>
                <a:lnTo>
                  <a:pt x="3479" y="2371"/>
                </a:lnTo>
                <a:lnTo>
                  <a:pt x="3511" y="2450"/>
                </a:lnTo>
                <a:lnTo>
                  <a:pt x="3537" y="2528"/>
                </a:lnTo>
                <a:lnTo>
                  <a:pt x="3558" y="2607"/>
                </a:lnTo>
                <a:lnTo>
                  <a:pt x="3572" y="2682"/>
                </a:lnTo>
                <a:lnTo>
                  <a:pt x="3582" y="2756"/>
                </a:lnTo>
                <a:lnTo>
                  <a:pt x="3584" y="2829"/>
                </a:lnTo>
                <a:lnTo>
                  <a:pt x="3582" y="2890"/>
                </a:lnTo>
                <a:lnTo>
                  <a:pt x="3576" y="2949"/>
                </a:lnTo>
                <a:lnTo>
                  <a:pt x="3562" y="3004"/>
                </a:lnTo>
                <a:lnTo>
                  <a:pt x="3546" y="3055"/>
                </a:lnTo>
                <a:lnTo>
                  <a:pt x="3525" y="3105"/>
                </a:lnTo>
                <a:lnTo>
                  <a:pt x="3499" y="3150"/>
                </a:lnTo>
                <a:lnTo>
                  <a:pt x="3470" y="3193"/>
                </a:lnTo>
                <a:lnTo>
                  <a:pt x="3436" y="3232"/>
                </a:lnTo>
                <a:lnTo>
                  <a:pt x="3397" y="3269"/>
                </a:lnTo>
                <a:lnTo>
                  <a:pt x="3355" y="3303"/>
                </a:lnTo>
                <a:lnTo>
                  <a:pt x="3310" y="3335"/>
                </a:lnTo>
                <a:lnTo>
                  <a:pt x="3260" y="3364"/>
                </a:lnTo>
                <a:lnTo>
                  <a:pt x="3207" y="3391"/>
                </a:lnTo>
                <a:lnTo>
                  <a:pt x="3151" y="3415"/>
                </a:lnTo>
                <a:lnTo>
                  <a:pt x="3091" y="3437"/>
                </a:lnTo>
                <a:lnTo>
                  <a:pt x="3028" y="3458"/>
                </a:lnTo>
                <a:lnTo>
                  <a:pt x="2962" y="3476"/>
                </a:lnTo>
                <a:lnTo>
                  <a:pt x="2894" y="3492"/>
                </a:lnTo>
                <a:lnTo>
                  <a:pt x="2822" y="3506"/>
                </a:lnTo>
                <a:lnTo>
                  <a:pt x="2748" y="3518"/>
                </a:lnTo>
                <a:lnTo>
                  <a:pt x="2671" y="3529"/>
                </a:lnTo>
                <a:lnTo>
                  <a:pt x="2593" y="3539"/>
                </a:lnTo>
                <a:lnTo>
                  <a:pt x="2511" y="3547"/>
                </a:lnTo>
                <a:lnTo>
                  <a:pt x="2427" y="3555"/>
                </a:lnTo>
                <a:lnTo>
                  <a:pt x="2342" y="3560"/>
                </a:lnTo>
                <a:lnTo>
                  <a:pt x="2254" y="3565"/>
                </a:lnTo>
                <a:lnTo>
                  <a:pt x="2165" y="3568"/>
                </a:lnTo>
                <a:lnTo>
                  <a:pt x="2074" y="3570"/>
                </a:lnTo>
                <a:lnTo>
                  <a:pt x="1981" y="3572"/>
                </a:lnTo>
                <a:lnTo>
                  <a:pt x="1888" y="3573"/>
                </a:lnTo>
                <a:lnTo>
                  <a:pt x="1793" y="3573"/>
                </a:lnTo>
                <a:lnTo>
                  <a:pt x="1698" y="3573"/>
                </a:lnTo>
                <a:lnTo>
                  <a:pt x="1603" y="3572"/>
                </a:lnTo>
                <a:lnTo>
                  <a:pt x="1511" y="3570"/>
                </a:lnTo>
                <a:lnTo>
                  <a:pt x="1420" y="3568"/>
                </a:lnTo>
                <a:lnTo>
                  <a:pt x="1330" y="3565"/>
                </a:lnTo>
                <a:lnTo>
                  <a:pt x="1243" y="3560"/>
                </a:lnTo>
                <a:lnTo>
                  <a:pt x="1157" y="3555"/>
                </a:lnTo>
                <a:lnTo>
                  <a:pt x="1074" y="3547"/>
                </a:lnTo>
                <a:lnTo>
                  <a:pt x="993" y="3539"/>
                </a:lnTo>
                <a:lnTo>
                  <a:pt x="913" y="3529"/>
                </a:lnTo>
                <a:lnTo>
                  <a:pt x="837" y="3518"/>
                </a:lnTo>
                <a:lnTo>
                  <a:pt x="763" y="3506"/>
                </a:lnTo>
                <a:lnTo>
                  <a:pt x="692" y="3492"/>
                </a:lnTo>
                <a:lnTo>
                  <a:pt x="622" y="3476"/>
                </a:lnTo>
                <a:lnTo>
                  <a:pt x="557" y="3458"/>
                </a:lnTo>
                <a:lnTo>
                  <a:pt x="494" y="3437"/>
                </a:lnTo>
                <a:lnTo>
                  <a:pt x="435" y="3415"/>
                </a:lnTo>
                <a:lnTo>
                  <a:pt x="378" y="3391"/>
                </a:lnTo>
                <a:lnTo>
                  <a:pt x="325" y="3364"/>
                </a:lnTo>
                <a:lnTo>
                  <a:pt x="276" y="3335"/>
                </a:lnTo>
                <a:lnTo>
                  <a:pt x="229" y="3303"/>
                </a:lnTo>
                <a:lnTo>
                  <a:pt x="187" y="3269"/>
                </a:lnTo>
                <a:lnTo>
                  <a:pt x="150" y="3232"/>
                </a:lnTo>
                <a:lnTo>
                  <a:pt x="116" y="3193"/>
                </a:lnTo>
                <a:lnTo>
                  <a:pt x="86" y="3150"/>
                </a:lnTo>
                <a:lnTo>
                  <a:pt x="61" y="3105"/>
                </a:lnTo>
                <a:lnTo>
                  <a:pt x="39" y="3055"/>
                </a:lnTo>
                <a:lnTo>
                  <a:pt x="22" y="3004"/>
                </a:lnTo>
                <a:lnTo>
                  <a:pt x="10" y="2949"/>
                </a:lnTo>
                <a:lnTo>
                  <a:pt x="2" y="2890"/>
                </a:lnTo>
                <a:lnTo>
                  <a:pt x="0" y="2829"/>
                </a:lnTo>
                <a:lnTo>
                  <a:pt x="3" y="2758"/>
                </a:lnTo>
                <a:lnTo>
                  <a:pt x="12" y="2686"/>
                </a:lnTo>
                <a:lnTo>
                  <a:pt x="26" y="2611"/>
                </a:lnTo>
                <a:lnTo>
                  <a:pt x="46" y="2535"/>
                </a:lnTo>
                <a:lnTo>
                  <a:pt x="72" y="2459"/>
                </a:lnTo>
                <a:lnTo>
                  <a:pt x="101" y="2382"/>
                </a:lnTo>
                <a:lnTo>
                  <a:pt x="137" y="2304"/>
                </a:lnTo>
                <a:lnTo>
                  <a:pt x="178" y="2226"/>
                </a:lnTo>
                <a:lnTo>
                  <a:pt x="222" y="2149"/>
                </a:lnTo>
                <a:lnTo>
                  <a:pt x="271" y="2072"/>
                </a:lnTo>
                <a:lnTo>
                  <a:pt x="325" y="1997"/>
                </a:lnTo>
                <a:lnTo>
                  <a:pt x="383" y="1922"/>
                </a:lnTo>
                <a:lnTo>
                  <a:pt x="445" y="1850"/>
                </a:lnTo>
                <a:lnTo>
                  <a:pt x="511" y="1779"/>
                </a:lnTo>
                <a:lnTo>
                  <a:pt x="580" y="1711"/>
                </a:lnTo>
                <a:lnTo>
                  <a:pt x="653" y="1645"/>
                </a:lnTo>
                <a:lnTo>
                  <a:pt x="730" y="1584"/>
                </a:lnTo>
                <a:lnTo>
                  <a:pt x="810" y="1524"/>
                </a:lnTo>
                <a:lnTo>
                  <a:pt x="892" y="1469"/>
                </a:lnTo>
                <a:lnTo>
                  <a:pt x="977" y="1417"/>
                </a:lnTo>
                <a:lnTo>
                  <a:pt x="1066" y="1370"/>
                </a:lnTo>
                <a:lnTo>
                  <a:pt x="1157" y="1328"/>
                </a:lnTo>
                <a:lnTo>
                  <a:pt x="1251" y="1291"/>
                </a:lnTo>
                <a:lnTo>
                  <a:pt x="1346" y="1259"/>
                </a:lnTo>
                <a:lnTo>
                  <a:pt x="1391" y="1272"/>
                </a:lnTo>
                <a:lnTo>
                  <a:pt x="1436" y="1282"/>
                </a:lnTo>
                <a:lnTo>
                  <a:pt x="1480" y="1290"/>
                </a:lnTo>
                <a:lnTo>
                  <a:pt x="1522" y="1295"/>
                </a:lnTo>
                <a:lnTo>
                  <a:pt x="1562" y="1300"/>
                </a:lnTo>
                <a:lnTo>
                  <a:pt x="1599" y="1303"/>
                </a:lnTo>
                <a:lnTo>
                  <a:pt x="1631" y="1305"/>
                </a:lnTo>
                <a:lnTo>
                  <a:pt x="1657" y="1306"/>
                </a:lnTo>
                <a:lnTo>
                  <a:pt x="1677" y="1306"/>
                </a:lnTo>
                <a:lnTo>
                  <a:pt x="1689" y="1307"/>
                </a:lnTo>
                <a:lnTo>
                  <a:pt x="1721" y="1306"/>
                </a:lnTo>
                <a:lnTo>
                  <a:pt x="1759" y="1304"/>
                </a:lnTo>
                <a:lnTo>
                  <a:pt x="1799" y="1300"/>
                </a:lnTo>
                <a:lnTo>
                  <a:pt x="1845" y="1294"/>
                </a:lnTo>
                <a:lnTo>
                  <a:pt x="1892" y="1285"/>
                </a:lnTo>
                <a:lnTo>
                  <a:pt x="1942" y="1273"/>
                </a:lnTo>
                <a:lnTo>
                  <a:pt x="1990" y="1259"/>
                </a:lnTo>
                <a:lnTo>
                  <a:pt x="2039" y="1243"/>
                </a:lnTo>
                <a:lnTo>
                  <a:pt x="2085" y="1222"/>
                </a:lnTo>
                <a:close/>
                <a:moveTo>
                  <a:pt x="1645" y="49"/>
                </a:moveTo>
                <a:lnTo>
                  <a:pt x="1645" y="148"/>
                </a:lnTo>
                <a:lnTo>
                  <a:pt x="1634" y="148"/>
                </a:lnTo>
                <a:lnTo>
                  <a:pt x="1622" y="149"/>
                </a:lnTo>
                <a:lnTo>
                  <a:pt x="1611" y="152"/>
                </a:lnTo>
                <a:lnTo>
                  <a:pt x="1600" y="159"/>
                </a:lnTo>
                <a:lnTo>
                  <a:pt x="1590" y="168"/>
                </a:lnTo>
                <a:lnTo>
                  <a:pt x="1579" y="183"/>
                </a:lnTo>
                <a:lnTo>
                  <a:pt x="1568" y="203"/>
                </a:lnTo>
                <a:lnTo>
                  <a:pt x="1557" y="229"/>
                </a:lnTo>
                <a:lnTo>
                  <a:pt x="1540" y="268"/>
                </a:lnTo>
                <a:lnTo>
                  <a:pt x="1520" y="301"/>
                </a:lnTo>
                <a:lnTo>
                  <a:pt x="1498" y="331"/>
                </a:lnTo>
                <a:lnTo>
                  <a:pt x="1473" y="355"/>
                </a:lnTo>
                <a:lnTo>
                  <a:pt x="1446" y="376"/>
                </a:lnTo>
                <a:lnTo>
                  <a:pt x="1418" y="393"/>
                </a:lnTo>
                <a:lnTo>
                  <a:pt x="1387" y="408"/>
                </a:lnTo>
                <a:lnTo>
                  <a:pt x="1356" y="419"/>
                </a:lnTo>
                <a:lnTo>
                  <a:pt x="1324" y="427"/>
                </a:lnTo>
                <a:lnTo>
                  <a:pt x="1292" y="435"/>
                </a:lnTo>
                <a:lnTo>
                  <a:pt x="1261" y="440"/>
                </a:lnTo>
                <a:lnTo>
                  <a:pt x="1230" y="443"/>
                </a:lnTo>
                <a:lnTo>
                  <a:pt x="1199" y="445"/>
                </a:lnTo>
                <a:lnTo>
                  <a:pt x="1172" y="446"/>
                </a:lnTo>
                <a:lnTo>
                  <a:pt x="1144" y="446"/>
                </a:lnTo>
                <a:lnTo>
                  <a:pt x="1120" y="446"/>
                </a:lnTo>
                <a:lnTo>
                  <a:pt x="1082" y="446"/>
                </a:lnTo>
                <a:lnTo>
                  <a:pt x="1077" y="446"/>
                </a:lnTo>
                <a:lnTo>
                  <a:pt x="1098" y="471"/>
                </a:lnTo>
                <a:lnTo>
                  <a:pt x="1120" y="498"/>
                </a:lnTo>
                <a:lnTo>
                  <a:pt x="1144" y="525"/>
                </a:lnTo>
                <a:lnTo>
                  <a:pt x="1169" y="554"/>
                </a:lnTo>
                <a:lnTo>
                  <a:pt x="1196" y="580"/>
                </a:lnTo>
                <a:lnTo>
                  <a:pt x="1225" y="607"/>
                </a:lnTo>
                <a:lnTo>
                  <a:pt x="1254" y="630"/>
                </a:lnTo>
                <a:lnTo>
                  <a:pt x="1285" y="652"/>
                </a:lnTo>
                <a:lnTo>
                  <a:pt x="1317" y="669"/>
                </a:lnTo>
                <a:lnTo>
                  <a:pt x="1350" y="683"/>
                </a:lnTo>
                <a:lnTo>
                  <a:pt x="1386" y="690"/>
                </a:lnTo>
                <a:lnTo>
                  <a:pt x="1422" y="694"/>
                </a:lnTo>
                <a:lnTo>
                  <a:pt x="1458" y="690"/>
                </a:lnTo>
                <a:lnTo>
                  <a:pt x="1478" y="684"/>
                </a:lnTo>
                <a:lnTo>
                  <a:pt x="1495" y="674"/>
                </a:lnTo>
                <a:lnTo>
                  <a:pt x="1509" y="661"/>
                </a:lnTo>
                <a:lnTo>
                  <a:pt x="1524" y="645"/>
                </a:lnTo>
                <a:lnTo>
                  <a:pt x="1536" y="628"/>
                </a:lnTo>
                <a:lnTo>
                  <a:pt x="1548" y="610"/>
                </a:lnTo>
                <a:lnTo>
                  <a:pt x="1560" y="594"/>
                </a:lnTo>
                <a:lnTo>
                  <a:pt x="1573" y="577"/>
                </a:lnTo>
                <a:lnTo>
                  <a:pt x="1588" y="563"/>
                </a:lnTo>
                <a:lnTo>
                  <a:pt x="1604" y="552"/>
                </a:lnTo>
                <a:lnTo>
                  <a:pt x="1622" y="544"/>
                </a:lnTo>
                <a:lnTo>
                  <a:pt x="1643" y="541"/>
                </a:lnTo>
                <a:lnTo>
                  <a:pt x="1658" y="543"/>
                </a:lnTo>
                <a:lnTo>
                  <a:pt x="1672" y="550"/>
                </a:lnTo>
                <a:lnTo>
                  <a:pt x="1685" y="559"/>
                </a:lnTo>
                <a:lnTo>
                  <a:pt x="1697" y="572"/>
                </a:lnTo>
                <a:lnTo>
                  <a:pt x="1708" y="586"/>
                </a:lnTo>
                <a:lnTo>
                  <a:pt x="1719" y="602"/>
                </a:lnTo>
                <a:lnTo>
                  <a:pt x="1731" y="619"/>
                </a:lnTo>
                <a:lnTo>
                  <a:pt x="1743" y="636"/>
                </a:lnTo>
                <a:lnTo>
                  <a:pt x="1755" y="654"/>
                </a:lnTo>
                <a:lnTo>
                  <a:pt x="1770" y="671"/>
                </a:lnTo>
                <a:lnTo>
                  <a:pt x="1785" y="685"/>
                </a:lnTo>
                <a:lnTo>
                  <a:pt x="1803" y="698"/>
                </a:lnTo>
                <a:lnTo>
                  <a:pt x="1823" y="708"/>
                </a:lnTo>
                <a:lnTo>
                  <a:pt x="1845" y="716"/>
                </a:lnTo>
                <a:lnTo>
                  <a:pt x="1870" y="718"/>
                </a:lnTo>
                <a:lnTo>
                  <a:pt x="1900" y="717"/>
                </a:lnTo>
                <a:lnTo>
                  <a:pt x="1927" y="711"/>
                </a:lnTo>
                <a:lnTo>
                  <a:pt x="1953" y="702"/>
                </a:lnTo>
                <a:lnTo>
                  <a:pt x="1977" y="689"/>
                </a:lnTo>
                <a:lnTo>
                  <a:pt x="2000" y="675"/>
                </a:lnTo>
                <a:lnTo>
                  <a:pt x="2020" y="657"/>
                </a:lnTo>
                <a:lnTo>
                  <a:pt x="2040" y="639"/>
                </a:lnTo>
                <a:lnTo>
                  <a:pt x="2069" y="577"/>
                </a:lnTo>
                <a:lnTo>
                  <a:pt x="2103" y="514"/>
                </a:lnTo>
                <a:lnTo>
                  <a:pt x="2141" y="451"/>
                </a:lnTo>
                <a:lnTo>
                  <a:pt x="2184" y="383"/>
                </a:lnTo>
                <a:lnTo>
                  <a:pt x="2233" y="315"/>
                </a:lnTo>
                <a:lnTo>
                  <a:pt x="2238" y="308"/>
                </a:lnTo>
                <a:lnTo>
                  <a:pt x="2226" y="310"/>
                </a:lnTo>
                <a:lnTo>
                  <a:pt x="2212" y="313"/>
                </a:lnTo>
                <a:lnTo>
                  <a:pt x="2194" y="317"/>
                </a:lnTo>
                <a:lnTo>
                  <a:pt x="2183" y="325"/>
                </a:lnTo>
                <a:lnTo>
                  <a:pt x="2171" y="334"/>
                </a:lnTo>
                <a:lnTo>
                  <a:pt x="2150" y="349"/>
                </a:lnTo>
                <a:lnTo>
                  <a:pt x="2127" y="365"/>
                </a:lnTo>
                <a:lnTo>
                  <a:pt x="2101" y="381"/>
                </a:lnTo>
                <a:lnTo>
                  <a:pt x="2071" y="396"/>
                </a:lnTo>
                <a:lnTo>
                  <a:pt x="2040" y="407"/>
                </a:lnTo>
                <a:lnTo>
                  <a:pt x="2006" y="414"/>
                </a:lnTo>
                <a:lnTo>
                  <a:pt x="1969" y="418"/>
                </a:lnTo>
                <a:lnTo>
                  <a:pt x="1956" y="418"/>
                </a:lnTo>
                <a:lnTo>
                  <a:pt x="1939" y="415"/>
                </a:lnTo>
                <a:lnTo>
                  <a:pt x="1921" y="412"/>
                </a:lnTo>
                <a:lnTo>
                  <a:pt x="1901" y="407"/>
                </a:lnTo>
                <a:lnTo>
                  <a:pt x="1879" y="398"/>
                </a:lnTo>
                <a:lnTo>
                  <a:pt x="1857" y="386"/>
                </a:lnTo>
                <a:lnTo>
                  <a:pt x="1834" y="370"/>
                </a:lnTo>
                <a:lnTo>
                  <a:pt x="1811" y="350"/>
                </a:lnTo>
                <a:lnTo>
                  <a:pt x="1791" y="325"/>
                </a:lnTo>
                <a:lnTo>
                  <a:pt x="1771" y="295"/>
                </a:lnTo>
                <a:lnTo>
                  <a:pt x="1752" y="259"/>
                </a:lnTo>
                <a:lnTo>
                  <a:pt x="1742" y="237"/>
                </a:lnTo>
                <a:lnTo>
                  <a:pt x="1730" y="215"/>
                </a:lnTo>
                <a:lnTo>
                  <a:pt x="1715" y="194"/>
                </a:lnTo>
                <a:lnTo>
                  <a:pt x="1700" y="176"/>
                </a:lnTo>
                <a:lnTo>
                  <a:pt x="1684" y="161"/>
                </a:lnTo>
                <a:lnTo>
                  <a:pt x="1665" y="151"/>
                </a:lnTo>
                <a:lnTo>
                  <a:pt x="1645" y="148"/>
                </a:lnTo>
                <a:lnTo>
                  <a:pt x="1645" y="49"/>
                </a:lnTo>
                <a:close/>
                <a:moveTo>
                  <a:pt x="1643" y="0"/>
                </a:moveTo>
                <a:lnTo>
                  <a:pt x="1645" y="0"/>
                </a:lnTo>
                <a:lnTo>
                  <a:pt x="1645" y="0"/>
                </a:lnTo>
                <a:lnTo>
                  <a:pt x="1669" y="1"/>
                </a:lnTo>
                <a:lnTo>
                  <a:pt x="1695" y="5"/>
                </a:lnTo>
                <a:lnTo>
                  <a:pt x="1720" y="13"/>
                </a:lnTo>
                <a:lnTo>
                  <a:pt x="1745" y="24"/>
                </a:lnTo>
                <a:lnTo>
                  <a:pt x="1771" y="40"/>
                </a:lnTo>
                <a:lnTo>
                  <a:pt x="1796" y="61"/>
                </a:lnTo>
                <a:lnTo>
                  <a:pt x="1821" y="86"/>
                </a:lnTo>
                <a:lnTo>
                  <a:pt x="1845" y="118"/>
                </a:lnTo>
                <a:lnTo>
                  <a:pt x="1868" y="156"/>
                </a:lnTo>
                <a:lnTo>
                  <a:pt x="1889" y="200"/>
                </a:lnTo>
                <a:lnTo>
                  <a:pt x="1901" y="223"/>
                </a:lnTo>
                <a:lnTo>
                  <a:pt x="1913" y="240"/>
                </a:lnTo>
                <a:lnTo>
                  <a:pt x="1926" y="254"/>
                </a:lnTo>
                <a:lnTo>
                  <a:pt x="1941" y="262"/>
                </a:lnTo>
                <a:lnTo>
                  <a:pt x="1955" y="267"/>
                </a:lnTo>
                <a:lnTo>
                  <a:pt x="1969" y="269"/>
                </a:lnTo>
                <a:lnTo>
                  <a:pt x="1992" y="266"/>
                </a:lnTo>
                <a:lnTo>
                  <a:pt x="2016" y="257"/>
                </a:lnTo>
                <a:lnTo>
                  <a:pt x="2040" y="244"/>
                </a:lnTo>
                <a:lnTo>
                  <a:pt x="2062" y="228"/>
                </a:lnTo>
                <a:lnTo>
                  <a:pt x="2084" y="213"/>
                </a:lnTo>
                <a:lnTo>
                  <a:pt x="2105" y="199"/>
                </a:lnTo>
                <a:lnTo>
                  <a:pt x="2124" y="187"/>
                </a:lnTo>
                <a:lnTo>
                  <a:pt x="2140" y="179"/>
                </a:lnTo>
                <a:lnTo>
                  <a:pt x="2170" y="170"/>
                </a:lnTo>
                <a:lnTo>
                  <a:pt x="2199" y="163"/>
                </a:lnTo>
                <a:lnTo>
                  <a:pt x="2225" y="160"/>
                </a:lnTo>
                <a:lnTo>
                  <a:pt x="2248" y="159"/>
                </a:lnTo>
                <a:lnTo>
                  <a:pt x="2278" y="160"/>
                </a:lnTo>
                <a:lnTo>
                  <a:pt x="2304" y="167"/>
                </a:lnTo>
                <a:lnTo>
                  <a:pt x="2326" y="176"/>
                </a:lnTo>
                <a:lnTo>
                  <a:pt x="2344" y="188"/>
                </a:lnTo>
                <a:lnTo>
                  <a:pt x="2359" y="203"/>
                </a:lnTo>
                <a:lnTo>
                  <a:pt x="2371" y="220"/>
                </a:lnTo>
                <a:lnTo>
                  <a:pt x="2380" y="238"/>
                </a:lnTo>
                <a:lnTo>
                  <a:pt x="2386" y="258"/>
                </a:lnTo>
                <a:lnTo>
                  <a:pt x="2390" y="278"/>
                </a:lnTo>
                <a:lnTo>
                  <a:pt x="2390" y="299"/>
                </a:lnTo>
                <a:lnTo>
                  <a:pt x="2388" y="320"/>
                </a:lnTo>
                <a:lnTo>
                  <a:pt x="2384" y="339"/>
                </a:lnTo>
                <a:lnTo>
                  <a:pt x="2379" y="358"/>
                </a:lnTo>
                <a:lnTo>
                  <a:pt x="2371" y="376"/>
                </a:lnTo>
                <a:lnTo>
                  <a:pt x="2361" y="391"/>
                </a:lnTo>
                <a:lnTo>
                  <a:pt x="2361" y="392"/>
                </a:lnTo>
                <a:lnTo>
                  <a:pt x="2362" y="391"/>
                </a:lnTo>
                <a:lnTo>
                  <a:pt x="2354" y="401"/>
                </a:lnTo>
                <a:lnTo>
                  <a:pt x="2344" y="415"/>
                </a:lnTo>
                <a:lnTo>
                  <a:pt x="2331" y="433"/>
                </a:lnTo>
                <a:lnTo>
                  <a:pt x="2316" y="455"/>
                </a:lnTo>
                <a:lnTo>
                  <a:pt x="2299" y="480"/>
                </a:lnTo>
                <a:lnTo>
                  <a:pt x="2280" y="508"/>
                </a:lnTo>
                <a:lnTo>
                  <a:pt x="2261" y="539"/>
                </a:lnTo>
                <a:lnTo>
                  <a:pt x="2241" y="573"/>
                </a:lnTo>
                <a:lnTo>
                  <a:pt x="2221" y="608"/>
                </a:lnTo>
                <a:lnTo>
                  <a:pt x="2201" y="645"/>
                </a:lnTo>
                <a:lnTo>
                  <a:pt x="2182" y="684"/>
                </a:lnTo>
                <a:lnTo>
                  <a:pt x="2166" y="723"/>
                </a:lnTo>
                <a:lnTo>
                  <a:pt x="2150" y="764"/>
                </a:lnTo>
                <a:lnTo>
                  <a:pt x="2137" y="805"/>
                </a:lnTo>
                <a:lnTo>
                  <a:pt x="2127" y="845"/>
                </a:lnTo>
                <a:lnTo>
                  <a:pt x="2120" y="885"/>
                </a:lnTo>
                <a:lnTo>
                  <a:pt x="2118" y="925"/>
                </a:lnTo>
                <a:lnTo>
                  <a:pt x="2119" y="964"/>
                </a:lnTo>
                <a:lnTo>
                  <a:pt x="2118" y="988"/>
                </a:lnTo>
                <a:lnTo>
                  <a:pt x="2110" y="1010"/>
                </a:lnTo>
                <a:lnTo>
                  <a:pt x="2097" y="1031"/>
                </a:lnTo>
                <a:lnTo>
                  <a:pt x="2078" y="1050"/>
                </a:lnTo>
                <a:lnTo>
                  <a:pt x="2055" y="1068"/>
                </a:lnTo>
                <a:lnTo>
                  <a:pt x="2029" y="1084"/>
                </a:lnTo>
                <a:lnTo>
                  <a:pt x="1998" y="1098"/>
                </a:lnTo>
                <a:lnTo>
                  <a:pt x="1965" y="1112"/>
                </a:lnTo>
                <a:lnTo>
                  <a:pt x="1931" y="1123"/>
                </a:lnTo>
                <a:lnTo>
                  <a:pt x="1894" y="1133"/>
                </a:lnTo>
                <a:lnTo>
                  <a:pt x="1858" y="1140"/>
                </a:lnTo>
                <a:lnTo>
                  <a:pt x="1820" y="1147"/>
                </a:lnTo>
                <a:lnTo>
                  <a:pt x="1785" y="1152"/>
                </a:lnTo>
                <a:lnTo>
                  <a:pt x="1750" y="1156"/>
                </a:lnTo>
                <a:lnTo>
                  <a:pt x="1717" y="1158"/>
                </a:lnTo>
                <a:lnTo>
                  <a:pt x="1715" y="1158"/>
                </a:lnTo>
                <a:lnTo>
                  <a:pt x="1689" y="1158"/>
                </a:lnTo>
                <a:lnTo>
                  <a:pt x="1687" y="1158"/>
                </a:lnTo>
                <a:lnTo>
                  <a:pt x="1678" y="1158"/>
                </a:lnTo>
                <a:lnTo>
                  <a:pt x="1655" y="1158"/>
                </a:lnTo>
                <a:lnTo>
                  <a:pt x="1645" y="1157"/>
                </a:lnTo>
                <a:lnTo>
                  <a:pt x="1623" y="1156"/>
                </a:lnTo>
                <a:lnTo>
                  <a:pt x="1611" y="1155"/>
                </a:lnTo>
                <a:lnTo>
                  <a:pt x="1589" y="1153"/>
                </a:lnTo>
                <a:lnTo>
                  <a:pt x="1576" y="1152"/>
                </a:lnTo>
                <a:lnTo>
                  <a:pt x="1554" y="1149"/>
                </a:lnTo>
                <a:lnTo>
                  <a:pt x="1541" y="1148"/>
                </a:lnTo>
                <a:lnTo>
                  <a:pt x="1520" y="1145"/>
                </a:lnTo>
                <a:lnTo>
                  <a:pt x="1507" y="1142"/>
                </a:lnTo>
                <a:lnTo>
                  <a:pt x="1486" y="1139"/>
                </a:lnTo>
                <a:lnTo>
                  <a:pt x="1479" y="1138"/>
                </a:lnTo>
                <a:lnTo>
                  <a:pt x="1473" y="1137"/>
                </a:lnTo>
                <a:lnTo>
                  <a:pt x="1453" y="1133"/>
                </a:lnTo>
                <a:lnTo>
                  <a:pt x="1440" y="1130"/>
                </a:lnTo>
                <a:lnTo>
                  <a:pt x="1421" y="1126"/>
                </a:lnTo>
                <a:lnTo>
                  <a:pt x="1408" y="1123"/>
                </a:lnTo>
                <a:lnTo>
                  <a:pt x="1390" y="1117"/>
                </a:lnTo>
                <a:lnTo>
                  <a:pt x="1378" y="1113"/>
                </a:lnTo>
                <a:lnTo>
                  <a:pt x="1361" y="1107"/>
                </a:lnTo>
                <a:lnTo>
                  <a:pt x="1349" y="1104"/>
                </a:lnTo>
                <a:lnTo>
                  <a:pt x="1335" y="1097"/>
                </a:lnTo>
                <a:lnTo>
                  <a:pt x="1324" y="1093"/>
                </a:lnTo>
                <a:lnTo>
                  <a:pt x="1317" y="1090"/>
                </a:lnTo>
                <a:lnTo>
                  <a:pt x="1311" y="1086"/>
                </a:lnTo>
                <a:lnTo>
                  <a:pt x="1302" y="1081"/>
                </a:lnTo>
                <a:lnTo>
                  <a:pt x="1290" y="1073"/>
                </a:lnTo>
                <a:lnTo>
                  <a:pt x="1286" y="1071"/>
                </a:lnTo>
                <a:lnTo>
                  <a:pt x="1283" y="1069"/>
                </a:lnTo>
                <a:lnTo>
                  <a:pt x="1277" y="1064"/>
                </a:lnTo>
                <a:lnTo>
                  <a:pt x="1272" y="1060"/>
                </a:lnTo>
                <a:lnTo>
                  <a:pt x="1270" y="1058"/>
                </a:lnTo>
                <a:lnTo>
                  <a:pt x="1268" y="1054"/>
                </a:lnTo>
                <a:lnTo>
                  <a:pt x="1261" y="1048"/>
                </a:lnTo>
                <a:lnTo>
                  <a:pt x="1255" y="1040"/>
                </a:lnTo>
                <a:lnTo>
                  <a:pt x="1247" y="1026"/>
                </a:lnTo>
                <a:lnTo>
                  <a:pt x="1236" y="1007"/>
                </a:lnTo>
                <a:lnTo>
                  <a:pt x="1221" y="984"/>
                </a:lnTo>
                <a:lnTo>
                  <a:pt x="1205" y="958"/>
                </a:lnTo>
                <a:lnTo>
                  <a:pt x="1188" y="928"/>
                </a:lnTo>
                <a:lnTo>
                  <a:pt x="1169" y="897"/>
                </a:lnTo>
                <a:lnTo>
                  <a:pt x="1150" y="864"/>
                </a:lnTo>
                <a:lnTo>
                  <a:pt x="1130" y="830"/>
                </a:lnTo>
                <a:lnTo>
                  <a:pt x="1109" y="795"/>
                </a:lnTo>
                <a:lnTo>
                  <a:pt x="1088" y="761"/>
                </a:lnTo>
                <a:lnTo>
                  <a:pt x="1067" y="726"/>
                </a:lnTo>
                <a:lnTo>
                  <a:pt x="1047" y="691"/>
                </a:lnTo>
                <a:lnTo>
                  <a:pt x="1027" y="660"/>
                </a:lnTo>
                <a:lnTo>
                  <a:pt x="1008" y="629"/>
                </a:lnTo>
                <a:lnTo>
                  <a:pt x="991" y="599"/>
                </a:lnTo>
                <a:lnTo>
                  <a:pt x="975" y="574"/>
                </a:lnTo>
                <a:lnTo>
                  <a:pt x="961" y="551"/>
                </a:lnTo>
                <a:lnTo>
                  <a:pt x="949" y="531"/>
                </a:lnTo>
                <a:lnTo>
                  <a:pt x="940" y="517"/>
                </a:lnTo>
                <a:lnTo>
                  <a:pt x="932" y="506"/>
                </a:lnTo>
                <a:lnTo>
                  <a:pt x="932" y="506"/>
                </a:lnTo>
                <a:lnTo>
                  <a:pt x="919" y="482"/>
                </a:lnTo>
                <a:lnTo>
                  <a:pt x="908" y="459"/>
                </a:lnTo>
                <a:lnTo>
                  <a:pt x="902" y="436"/>
                </a:lnTo>
                <a:lnTo>
                  <a:pt x="899" y="414"/>
                </a:lnTo>
                <a:lnTo>
                  <a:pt x="900" y="393"/>
                </a:lnTo>
                <a:lnTo>
                  <a:pt x="906" y="374"/>
                </a:lnTo>
                <a:lnTo>
                  <a:pt x="915" y="355"/>
                </a:lnTo>
                <a:lnTo>
                  <a:pt x="927" y="338"/>
                </a:lnTo>
                <a:lnTo>
                  <a:pt x="943" y="324"/>
                </a:lnTo>
                <a:lnTo>
                  <a:pt x="963" y="313"/>
                </a:lnTo>
                <a:lnTo>
                  <a:pt x="986" y="304"/>
                </a:lnTo>
                <a:lnTo>
                  <a:pt x="1014" y="299"/>
                </a:lnTo>
                <a:lnTo>
                  <a:pt x="1046" y="297"/>
                </a:lnTo>
                <a:lnTo>
                  <a:pt x="1119" y="298"/>
                </a:lnTo>
                <a:lnTo>
                  <a:pt x="1153" y="297"/>
                </a:lnTo>
                <a:lnTo>
                  <a:pt x="1186" y="297"/>
                </a:lnTo>
                <a:lnTo>
                  <a:pt x="1218" y="294"/>
                </a:lnTo>
                <a:lnTo>
                  <a:pt x="1249" y="291"/>
                </a:lnTo>
                <a:lnTo>
                  <a:pt x="1277" y="287"/>
                </a:lnTo>
                <a:lnTo>
                  <a:pt x="1305" y="279"/>
                </a:lnTo>
                <a:lnTo>
                  <a:pt x="1329" y="270"/>
                </a:lnTo>
                <a:lnTo>
                  <a:pt x="1353" y="259"/>
                </a:lnTo>
                <a:lnTo>
                  <a:pt x="1372" y="244"/>
                </a:lnTo>
                <a:lnTo>
                  <a:pt x="1390" y="226"/>
                </a:lnTo>
                <a:lnTo>
                  <a:pt x="1404" y="205"/>
                </a:lnTo>
                <a:lnTo>
                  <a:pt x="1415" y="180"/>
                </a:lnTo>
                <a:lnTo>
                  <a:pt x="1432" y="139"/>
                </a:lnTo>
                <a:lnTo>
                  <a:pt x="1451" y="106"/>
                </a:lnTo>
                <a:lnTo>
                  <a:pt x="1471" y="78"/>
                </a:lnTo>
                <a:lnTo>
                  <a:pt x="1493" y="55"/>
                </a:lnTo>
                <a:lnTo>
                  <a:pt x="1515" y="36"/>
                </a:lnTo>
                <a:lnTo>
                  <a:pt x="1539" y="22"/>
                </a:lnTo>
                <a:lnTo>
                  <a:pt x="1564" y="12"/>
                </a:lnTo>
                <a:lnTo>
                  <a:pt x="1590" y="4"/>
                </a:lnTo>
                <a:lnTo>
                  <a:pt x="1616" y="1"/>
                </a:lnTo>
                <a:lnTo>
                  <a:pt x="1643" y="0"/>
                </a:lnTo>
                <a:close/>
              </a:path>
            </a:pathLst>
          </a:custGeom>
          <a:solidFill>
            <a:srgbClr val="72719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>
            <p:custDataLst>
              <p:tags r:id="rId12"/>
            </p:custDataLst>
          </p:nvPr>
        </p:nvSpPr>
        <p:spPr>
          <a:xfrm>
            <a:off x="1795780" y="1842135"/>
            <a:ext cx="225615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dirty="0">
                <a:cs typeface="+mn-ea"/>
                <a:sym typeface="+mn-lt"/>
              </a:rPr>
              <a:t>16 </a:t>
            </a:r>
            <a:r>
              <a:rPr lang="en-US" altLang="zh-CN" sz="2000" dirty="0">
                <a:cs typeface="+mn-ea"/>
                <a:sym typeface="+mn-lt"/>
              </a:rPr>
              <a:t> COURSES</a:t>
            </a:r>
            <a:endParaRPr lang="en-US" altLang="zh-CN" sz="2000" dirty="0">
              <a:cs typeface="+mn-ea"/>
              <a:sym typeface="+mn-lt"/>
            </a:endParaRPr>
          </a:p>
          <a:p>
            <a:endParaRPr lang="en-US" altLang="zh-CN" sz="2000" dirty="0">
              <a:cs typeface="+mn-ea"/>
              <a:sym typeface="+mn-lt"/>
            </a:endParaRPr>
          </a:p>
        </p:txBody>
      </p:sp>
      <p:sp>
        <p:nvSpPr>
          <p:cNvPr id="29" name="文本框 28"/>
          <p:cNvSpPr txBox="1"/>
          <p:nvPr>
            <p:custDataLst>
              <p:tags r:id="rId13"/>
            </p:custDataLst>
          </p:nvPr>
        </p:nvSpPr>
        <p:spPr>
          <a:xfrm>
            <a:off x="1795586" y="2302000"/>
            <a:ext cx="442995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spc="150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程序设计、数据结构、系统、网络、数据库、编译、软件工程、</a:t>
            </a:r>
            <a:r>
              <a:rPr lang="en-US" altLang="zh-CN" sz="1400" spc="150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AI</a:t>
            </a:r>
            <a:r>
              <a:rPr lang="zh-CN" altLang="en-US" sz="1400" spc="150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导论等</a:t>
            </a:r>
            <a:endParaRPr lang="zh-CN" altLang="en-US" sz="1400" spc="150" dirty="0" smtClean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0" name="文本框 29"/>
          <p:cNvSpPr txBox="1"/>
          <p:nvPr>
            <p:custDataLst>
              <p:tags r:id="rId14"/>
            </p:custDataLst>
          </p:nvPr>
        </p:nvSpPr>
        <p:spPr>
          <a:xfrm>
            <a:off x="1795900" y="3380387"/>
            <a:ext cx="350393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dirty="0" smtClean="0">
                <a:cs typeface="+mn-ea"/>
                <a:sym typeface="+mn-lt"/>
              </a:rPr>
              <a:t>215</a:t>
            </a:r>
            <a:r>
              <a:rPr lang="en-US" altLang="zh-CN" sz="2000" dirty="0" smtClean="0">
                <a:cs typeface="+mn-ea"/>
                <a:sym typeface="+mn-lt"/>
              </a:rPr>
              <a:t>  KNOWLEDGE POINTS</a:t>
            </a:r>
            <a:endParaRPr lang="en-US" altLang="zh-CN" sz="2000" dirty="0" smtClean="0">
              <a:cs typeface="+mn-ea"/>
              <a:sym typeface="+mn-lt"/>
            </a:endParaRPr>
          </a:p>
          <a:p>
            <a:pPr algn="l"/>
            <a:endParaRPr lang="en-US" altLang="zh-CN" sz="2000" dirty="0" smtClean="0"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>
            <p:custDataLst>
              <p:tags r:id="rId15"/>
            </p:custDataLst>
          </p:nvPr>
        </p:nvSpPr>
        <p:spPr>
          <a:xfrm>
            <a:off x="1795586" y="3840168"/>
            <a:ext cx="442995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spc="150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可映射题目、对话与学习证据，带显式权重</a:t>
            </a:r>
            <a:endParaRPr lang="zh-CN" altLang="en-US" sz="1400" spc="150" dirty="0" smtClean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文本框 31"/>
          <p:cNvSpPr txBox="1"/>
          <p:nvPr>
            <p:custDataLst>
              <p:tags r:id="rId16"/>
            </p:custDataLst>
          </p:nvPr>
        </p:nvSpPr>
        <p:spPr>
          <a:xfrm>
            <a:off x="1769234" y="4808774"/>
            <a:ext cx="352679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dirty="0">
                <a:cs typeface="+mn-ea"/>
                <a:sym typeface="+mn-lt"/>
              </a:rPr>
              <a:t>186  </a:t>
            </a:r>
            <a:r>
              <a:rPr lang="en-US" altLang="zh-CN" sz="2000" dirty="0">
                <a:cs typeface="+mn-ea"/>
                <a:sym typeface="+mn-lt"/>
              </a:rPr>
              <a:t>PREREQUISITE EDGES</a:t>
            </a:r>
            <a:endParaRPr lang="en-US" altLang="zh-CN" sz="2000" dirty="0">
              <a:cs typeface="+mn-ea"/>
              <a:sym typeface="+mn-lt"/>
            </a:endParaRPr>
          </a:p>
          <a:p>
            <a:pPr algn="l"/>
            <a:endParaRPr lang="en-US" altLang="zh-CN" sz="2000" dirty="0">
              <a:cs typeface="+mn-ea"/>
              <a:sym typeface="+mn-lt"/>
            </a:endParaRPr>
          </a:p>
        </p:txBody>
      </p:sp>
      <p:sp>
        <p:nvSpPr>
          <p:cNvPr id="33" name="文本框 32"/>
          <p:cNvSpPr txBox="1"/>
          <p:nvPr>
            <p:custDataLst>
              <p:tags r:id="rId17"/>
            </p:custDataLst>
          </p:nvPr>
        </p:nvSpPr>
        <p:spPr>
          <a:xfrm>
            <a:off x="1768920" y="5298400"/>
            <a:ext cx="442995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spc="150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解释“为什么卡住”，推荐下一步，不替代教师判断</a:t>
            </a:r>
            <a:endParaRPr lang="zh-CN" altLang="en-US" sz="1400" spc="150" dirty="0" smtClean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6264275" y="1582420"/>
            <a:ext cx="5805170" cy="4074160"/>
            <a:chOff x="9865" y="2492"/>
            <a:chExt cx="9142" cy="6416"/>
          </a:xfrm>
        </p:grpSpPr>
        <p:grpSp>
          <p:nvGrpSpPr>
            <p:cNvPr id="14" name="组合 13"/>
            <p:cNvGrpSpPr/>
            <p:nvPr/>
          </p:nvGrpSpPr>
          <p:grpSpPr>
            <a:xfrm>
              <a:off x="9865" y="2492"/>
              <a:ext cx="9142" cy="6416"/>
              <a:chOff x="9865" y="2492"/>
              <a:chExt cx="9142" cy="6416"/>
            </a:xfrm>
          </p:grpSpPr>
          <p:pic>
            <p:nvPicPr>
              <p:cNvPr id="8" name="图片 7" descr="黑色的笔记本电脑&#10;&#10;描述已自动生成"/>
              <p:cNvPicPr>
                <a:picLocks noChangeAspect="1"/>
              </p:cNvPicPr>
              <p:nvPr/>
            </p:nvPicPr>
            <p:blipFill>
              <a:blip r:embed="rId18" cstate="screen"/>
              <a:stretch>
                <a:fillRect/>
              </a:stretch>
            </p:blipFill>
            <p:spPr>
              <a:xfrm>
                <a:off x="9865" y="2492"/>
                <a:ext cx="9142" cy="6417"/>
              </a:xfrm>
              <a:prstGeom prst="rect">
                <a:avLst/>
              </a:prstGeom>
            </p:spPr>
          </p:pic>
          <p:sp>
            <p:nvSpPr>
              <p:cNvPr id="9" name="矩形 8"/>
              <p:cNvSpPr/>
              <p:nvPr/>
            </p:nvSpPr>
            <p:spPr>
              <a:xfrm>
                <a:off x="11173" y="2666"/>
                <a:ext cx="6491" cy="433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pic>
          <p:nvPicPr>
            <p:cNvPr id="16" name="图片 15" descr="ChatGPT Image 2026年9月4日 20_51_40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1086" y="2647"/>
              <a:ext cx="6705" cy="4471"/>
            </a:xfrm>
            <a:prstGeom prst="rect">
              <a:avLst/>
            </a:prstGeom>
          </p:spPr>
        </p:pic>
      </p:grpSp>
      <p:sp>
        <p:nvSpPr>
          <p:cNvPr id="13" name="文本框 12"/>
          <p:cNvSpPr txBox="1"/>
          <p:nvPr/>
        </p:nvSpPr>
        <p:spPr>
          <a:xfrm>
            <a:off x="892810" y="240030"/>
            <a:ext cx="4396105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11 / DOMAIN MODEL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先把学科结构显式化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  <a:buClrTx/>
              <a:buSzTx/>
              <a:buFontTx/>
            </a:pPr>
            <a:endParaRPr lang="zh-CN" altLang="en-US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l">
              <a:lnSpc>
                <a:spcPct val="150000"/>
              </a:lnSpc>
            </a:pP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92810" y="1071245"/>
            <a:ext cx="10107930" cy="45593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b="1" dirty="0" smtClean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方正北魏楷书_GBK" panose="02000000000000000000" charset="-122"/>
                <a:ea typeface="方正北魏楷书_GBK" panose="02000000000000000000" charset="-122"/>
                <a:cs typeface="方正北魏楷书_GBK" panose="02000000000000000000" charset="-122"/>
                <a:sym typeface="+mn-lt"/>
              </a:rPr>
              <a:t>不是把教材简单切块，</a:t>
            </a:r>
            <a:endParaRPr lang="zh-CN" altLang="en-US" b="1" dirty="0" smtClean="0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方正北魏楷书_GBK" panose="02000000000000000000" charset="-122"/>
              <a:ea typeface="方正北魏楷书_GBK" panose="02000000000000000000" charset="-122"/>
              <a:cs typeface="方正北魏楷书_GBK" panose="02000000000000000000" charset="-122"/>
              <a:sym typeface="+mn-lt"/>
            </a:endParaRPr>
          </a:p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b="1" dirty="0" smtClean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方正北魏楷书_GBK" panose="02000000000000000000" charset="-122"/>
                <a:ea typeface="方正北魏楷书_GBK" panose="02000000000000000000" charset="-122"/>
                <a:cs typeface="方正北魏楷书_GBK" panose="02000000000000000000" charset="-122"/>
                <a:sym typeface="+mn-lt"/>
              </a:rPr>
              <a:t>而是让课程、知识点、前置关系和学习证据共同约束智能体</a:t>
            </a:r>
            <a:endParaRPr lang="zh-CN" altLang="en-US" b="1" dirty="0" smtClean="0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方正北魏楷书_GBK" panose="02000000000000000000" charset="-122"/>
              <a:ea typeface="方正北魏楷书_GBK" panose="02000000000000000000" charset="-122"/>
              <a:cs typeface="方正北魏楷书_GBK" panose="02000000000000000000" charset="-122"/>
              <a:sym typeface="+mn-lt"/>
            </a:endParaRPr>
          </a:p>
          <a:p>
            <a:pPr algn="l">
              <a:lnSpc>
                <a:spcPct val="150000"/>
              </a:lnSpc>
            </a:pP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20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part.02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892810" y="240030"/>
            <a:ext cx="515112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12 / EVALUATION SCOPE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5,849 个公开问题上的文档级检索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  <a:buClrTx/>
              <a:buSzTx/>
              <a:buFontTx/>
            </a:pPr>
            <a:endParaRPr lang="zh-CN" altLang="en-US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  <a:buClrTx/>
              <a:buSzTx/>
              <a:buFontTx/>
            </a:pPr>
            <a:endParaRPr lang="en-US" altLang="zh-CN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56" name="PA-任意多边形 5"/>
          <p:cNvSpPr>
            <a:spLocks noChangeAspect="1"/>
          </p:cNvSpPr>
          <p:nvPr>
            <p:custDataLst>
              <p:tags r:id="rId1"/>
            </p:custDataLst>
          </p:nvPr>
        </p:nvSpPr>
        <p:spPr>
          <a:xfrm rot="10800000">
            <a:off x="1470024" y="1676400"/>
            <a:ext cx="2447925" cy="2783498"/>
          </a:xfrm>
          <a:custGeom>
            <a:avLst/>
            <a:gdLst>
              <a:gd name="connsiteX0" fmla="*/ 2682494 w 2836097"/>
              <a:gd name="connsiteY0" fmla="*/ 3067706 h 3067706"/>
              <a:gd name="connsiteX1" fmla="*/ 876045 w 2836097"/>
              <a:gd name="connsiteY1" fmla="*/ 3067706 h 3067706"/>
              <a:gd name="connsiteX2" fmla="*/ 0 w 2836097"/>
              <a:gd name="connsiteY2" fmla="*/ 1533853 h 3067706"/>
              <a:gd name="connsiteX3" fmla="*/ 876045 w 2836097"/>
              <a:gd name="connsiteY3" fmla="*/ 0 h 3067706"/>
              <a:gd name="connsiteX4" fmla="*/ 2682494 w 2836097"/>
              <a:gd name="connsiteY4" fmla="*/ 0 h 3067706"/>
              <a:gd name="connsiteX5" fmla="*/ 2836097 w 2836097"/>
              <a:gd name="connsiteY5" fmla="*/ 268941 h 3067706"/>
              <a:gd name="connsiteX6" fmla="*/ 1473384 w 2836097"/>
              <a:gd name="connsiteY6" fmla="*/ 268941 h 3067706"/>
              <a:gd name="connsiteX7" fmla="*/ 747356 w 2836097"/>
              <a:gd name="connsiteY7" fmla="*/ 1540132 h 3067706"/>
              <a:gd name="connsiteX8" fmla="*/ 1473384 w 2836097"/>
              <a:gd name="connsiteY8" fmla="*/ 2811322 h 3067706"/>
              <a:gd name="connsiteX9" fmla="*/ 2828925 w 2836097"/>
              <a:gd name="connsiteY9" fmla="*/ 2811322 h 3067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36097" h="3067706">
                <a:moveTo>
                  <a:pt x="2682494" y="3067706"/>
                </a:moveTo>
                <a:lnTo>
                  <a:pt x="876045" y="3067706"/>
                </a:lnTo>
                <a:lnTo>
                  <a:pt x="0" y="1533853"/>
                </a:lnTo>
                <a:lnTo>
                  <a:pt x="876045" y="0"/>
                </a:lnTo>
                <a:lnTo>
                  <a:pt x="2682494" y="0"/>
                </a:lnTo>
                <a:lnTo>
                  <a:pt x="2836097" y="268941"/>
                </a:lnTo>
                <a:lnTo>
                  <a:pt x="1473384" y="268941"/>
                </a:lnTo>
                <a:lnTo>
                  <a:pt x="747356" y="1540132"/>
                </a:lnTo>
                <a:lnTo>
                  <a:pt x="1473384" y="2811322"/>
                </a:lnTo>
                <a:lnTo>
                  <a:pt x="2828925" y="2811322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58" name="PA-文本框 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262313" y="2701925"/>
            <a:ext cx="66556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EFEFE"/>
                </a:solidFill>
                <a:latin typeface="+mn-lt"/>
                <a:ea typeface="+mn-ea"/>
                <a:cs typeface="+mn-ea"/>
                <a:sym typeface="+mn-lt"/>
              </a:rPr>
              <a:t>01</a:t>
            </a:r>
            <a:endParaRPr lang="zh-CN" altLang="en-US" sz="3200">
              <a:solidFill>
                <a:srgbClr val="FEFEFE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9" name="矩形 58"/>
          <p:cNvSpPr/>
          <p:nvPr>
            <p:custDataLst>
              <p:tags r:id="rId3"/>
            </p:custDataLst>
          </p:nvPr>
        </p:nvSpPr>
        <p:spPr>
          <a:xfrm>
            <a:off x="962635" y="2044054"/>
            <a:ext cx="1498966" cy="1136015"/>
          </a:xfrm>
          <a:prstGeom prst="rect">
            <a:avLst/>
          </a:prstGeom>
        </p:spPr>
        <p:txBody>
          <a:bodyPr wrap="square" lIns="91431" tIns="45716" rIns="91431" bIns="45716">
            <a:spAutoFit/>
          </a:bodyPr>
          <a:lstStyle/>
          <a:p>
            <a:pPr algn="ctr"/>
            <a:r>
              <a:rPr lang="en-US" altLang="zh-CN" sz="3600" dirty="0">
                <a:cs typeface="+mn-ea"/>
                <a:sym typeface="+mn-lt"/>
              </a:rPr>
              <a:t>5,849</a:t>
            </a:r>
            <a:endParaRPr lang="en-US" altLang="zh-CN" sz="3600" dirty="0">
              <a:cs typeface="+mn-ea"/>
              <a:sym typeface="+mn-lt"/>
            </a:endParaRPr>
          </a:p>
          <a:p>
            <a:pPr algn="dist"/>
            <a:r>
              <a:rPr lang="en-US" altLang="zh-CN" sz="1600" dirty="0">
                <a:solidFill>
                  <a:srgbClr val="C00000"/>
                </a:solidFill>
                <a:cs typeface="+mn-ea"/>
                <a:sym typeface="+mn-lt"/>
              </a:rPr>
              <a:t>QUERIES</a:t>
            </a:r>
            <a:endParaRPr lang="en-US" altLang="zh-CN" sz="1600" dirty="0">
              <a:solidFill>
                <a:srgbClr val="C00000"/>
              </a:solidFill>
              <a:cs typeface="+mn-ea"/>
              <a:sym typeface="+mn-lt"/>
            </a:endParaRPr>
          </a:p>
          <a:p>
            <a:pPr algn="ctr"/>
            <a:endParaRPr lang="en-US" altLang="zh-CN" sz="1600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61" name="矩形 47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45795" y="2895600"/>
            <a:ext cx="2301875" cy="1208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1400" spc="300" dirty="0">
                <a:latin typeface="Bahnschrift" panose="020B0502040204020203" charset="0"/>
                <a:ea typeface="+mn-ea"/>
                <a:cs typeface="Bahnschrift" panose="020B0502040204020203" charset="0"/>
                <a:sym typeface="+mn-lt"/>
              </a:rPr>
              <a:t>SciFact 300 · XOR-TyDi 3,108 · M3DocVQA 2,441</a:t>
            </a:r>
            <a:endParaRPr lang="zh-CN" altLang="en-US" sz="1400" spc="300" dirty="0">
              <a:latin typeface="Bahnschrift" panose="020B0502040204020203" charset="0"/>
              <a:ea typeface="+mn-ea"/>
              <a:cs typeface="Bahnschrift" panose="020B0502040204020203" charset="0"/>
              <a:sym typeface="+mn-lt"/>
            </a:endParaRPr>
          </a:p>
        </p:txBody>
      </p:sp>
      <p:sp>
        <p:nvSpPr>
          <p:cNvPr id="62" name="PA-任意多边形 5"/>
          <p:cNvSpPr>
            <a:spLocks noChangeAspect="1"/>
          </p:cNvSpPr>
          <p:nvPr>
            <p:custDataLst>
              <p:tags r:id="rId5"/>
            </p:custDataLst>
          </p:nvPr>
        </p:nvSpPr>
        <p:spPr>
          <a:xfrm rot="10800000">
            <a:off x="5356224" y="1676400"/>
            <a:ext cx="2447925" cy="2783498"/>
          </a:xfrm>
          <a:custGeom>
            <a:avLst/>
            <a:gdLst>
              <a:gd name="connsiteX0" fmla="*/ 2682494 w 2836097"/>
              <a:gd name="connsiteY0" fmla="*/ 3067706 h 3067706"/>
              <a:gd name="connsiteX1" fmla="*/ 876045 w 2836097"/>
              <a:gd name="connsiteY1" fmla="*/ 3067706 h 3067706"/>
              <a:gd name="connsiteX2" fmla="*/ 0 w 2836097"/>
              <a:gd name="connsiteY2" fmla="*/ 1533853 h 3067706"/>
              <a:gd name="connsiteX3" fmla="*/ 876045 w 2836097"/>
              <a:gd name="connsiteY3" fmla="*/ 0 h 3067706"/>
              <a:gd name="connsiteX4" fmla="*/ 2682494 w 2836097"/>
              <a:gd name="connsiteY4" fmla="*/ 0 h 3067706"/>
              <a:gd name="connsiteX5" fmla="*/ 2836097 w 2836097"/>
              <a:gd name="connsiteY5" fmla="*/ 268941 h 3067706"/>
              <a:gd name="connsiteX6" fmla="*/ 1473384 w 2836097"/>
              <a:gd name="connsiteY6" fmla="*/ 268941 h 3067706"/>
              <a:gd name="connsiteX7" fmla="*/ 747356 w 2836097"/>
              <a:gd name="connsiteY7" fmla="*/ 1540132 h 3067706"/>
              <a:gd name="connsiteX8" fmla="*/ 1473384 w 2836097"/>
              <a:gd name="connsiteY8" fmla="*/ 2811322 h 3067706"/>
              <a:gd name="connsiteX9" fmla="*/ 2828925 w 2836097"/>
              <a:gd name="connsiteY9" fmla="*/ 2811322 h 3067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36097" h="3067706">
                <a:moveTo>
                  <a:pt x="2682494" y="3067706"/>
                </a:moveTo>
                <a:lnTo>
                  <a:pt x="876045" y="3067706"/>
                </a:lnTo>
                <a:lnTo>
                  <a:pt x="0" y="1533853"/>
                </a:lnTo>
                <a:lnTo>
                  <a:pt x="876045" y="0"/>
                </a:lnTo>
                <a:lnTo>
                  <a:pt x="2682494" y="0"/>
                </a:lnTo>
                <a:lnTo>
                  <a:pt x="2836097" y="268941"/>
                </a:lnTo>
                <a:lnTo>
                  <a:pt x="1473384" y="268941"/>
                </a:lnTo>
                <a:lnTo>
                  <a:pt x="747356" y="1540132"/>
                </a:lnTo>
                <a:lnTo>
                  <a:pt x="1473384" y="2811322"/>
                </a:lnTo>
                <a:lnTo>
                  <a:pt x="2828925" y="2811322"/>
                </a:lnTo>
                <a:close/>
              </a:path>
            </a:pathLst>
          </a:custGeom>
          <a:solidFill>
            <a:srgbClr val="8C8BB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64" name="PA-文本框 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148513" y="2701925"/>
            <a:ext cx="66556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rgbClr val="FEFEFE"/>
                </a:solidFill>
                <a:latin typeface="+mn-lt"/>
                <a:ea typeface="+mn-ea"/>
                <a:cs typeface="+mn-ea"/>
                <a:sym typeface="+mn-lt"/>
              </a:rPr>
              <a:t>02</a:t>
            </a:r>
            <a:endParaRPr lang="zh-CN" altLang="en-US" sz="3200" dirty="0">
              <a:solidFill>
                <a:srgbClr val="FEFEFE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5" name="矩形 64"/>
          <p:cNvSpPr/>
          <p:nvPr>
            <p:custDataLst>
              <p:tags r:id="rId7"/>
            </p:custDataLst>
          </p:nvPr>
        </p:nvSpPr>
        <p:spPr>
          <a:xfrm>
            <a:off x="4742815" y="2044065"/>
            <a:ext cx="1968500" cy="890270"/>
          </a:xfrm>
          <a:prstGeom prst="rect">
            <a:avLst/>
          </a:prstGeom>
        </p:spPr>
        <p:txBody>
          <a:bodyPr wrap="square" lIns="91431" tIns="45716" rIns="91431" bIns="45716">
            <a:spAutoFit/>
          </a:bodyPr>
          <a:lstStyle/>
          <a:p>
            <a:pPr algn="ctr"/>
            <a:r>
              <a:rPr lang="en-US" altLang="zh-CN" sz="3600" dirty="0">
                <a:cs typeface="+mn-ea"/>
                <a:sym typeface="+mn-lt"/>
              </a:rPr>
              <a:t>10,778</a:t>
            </a:r>
            <a:endParaRPr lang="en-US" altLang="zh-CN" sz="3600" dirty="0">
              <a:cs typeface="+mn-ea"/>
              <a:sym typeface="+mn-lt"/>
            </a:endParaRPr>
          </a:p>
          <a:p>
            <a:pPr algn="dist"/>
            <a:r>
              <a:rPr lang="en-US" altLang="zh-CN" sz="1600" spc="3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Bahnschrift" panose="020B0502040204020203" charset="0"/>
                <a:sym typeface="+mn-lt"/>
              </a:rPr>
              <a:t> DOCUMENTS</a:t>
            </a:r>
            <a:endParaRPr lang="en-US" altLang="zh-CN" sz="2200" dirty="0">
              <a:cs typeface="+mn-ea"/>
              <a:sym typeface="+mn-lt"/>
            </a:endParaRPr>
          </a:p>
        </p:txBody>
      </p:sp>
      <p:sp>
        <p:nvSpPr>
          <p:cNvPr id="67" name="矩形 47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632325" y="2934335"/>
            <a:ext cx="1966595" cy="1174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no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9pPr>
          </a:lstStyle>
          <a:p>
            <a:pPr algn="dist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1400" spc="300" dirty="0"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lang="zh-CN" altLang="en-US" sz="1400" spc="300" dirty="0">
                <a:latin typeface="+mn-lt"/>
                <a:ea typeface="+mn-ea"/>
                <a:cs typeface="+mn-ea"/>
                <a:sym typeface="+mn-lt"/>
              </a:rPr>
              <a:t>在此三个公开</a:t>
            </a:r>
            <a:endParaRPr lang="zh-CN" altLang="en-US" sz="1400" spc="300" dirty="0">
              <a:latin typeface="+mn-lt"/>
              <a:ea typeface="+mn-ea"/>
              <a:cs typeface="+mn-ea"/>
              <a:sym typeface="+mn-lt"/>
            </a:endParaRPr>
          </a:p>
          <a:p>
            <a:pPr algn="dist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1400" spc="300" dirty="0"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lang="zh-CN" altLang="en-US" sz="1400" spc="300" dirty="0">
                <a:latin typeface="+mn-lt"/>
                <a:ea typeface="+mn-ea"/>
                <a:cs typeface="+mn-ea"/>
                <a:sym typeface="+mn-lt"/>
              </a:rPr>
              <a:t>评测集合的</a:t>
            </a:r>
            <a:endParaRPr lang="zh-CN" altLang="en-US" sz="1400" spc="300" dirty="0">
              <a:latin typeface="+mn-lt"/>
              <a:ea typeface="+mn-ea"/>
              <a:cs typeface="+mn-ea"/>
              <a:sym typeface="+mn-lt"/>
            </a:endParaRPr>
          </a:p>
          <a:p>
            <a:pPr algn="dist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1400" spc="300" dirty="0"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lang="zh-CN" altLang="en-US" sz="1400" spc="300" dirty="0">
                <a:latin typeface="+mn-lt"/>
                <a:ea typeface="+mn-ea"/>
                <a:cs typeface="+mn-ea"/>
                <a:sym typeface="+mn-lt"/>
              </a:rPr>
              <a:t>文档范围</a:t>
            </a:r>
            <a:endParaRPr lang="zh-CN" altLang="en-US" sz="1400" spc="300" dirty="0">
              <a:latin typeface="+mn-lt"/>
              <a:ea typeface="+mn-ea"/>
              <a:cs typeface="+mn-ea"/>
              <a:sym typeface="+mn-lt"/>
            </a:endParaRPr>
          </a:p>
          <a:p>
            <a:pPr algn="dist">
              <a:lnSpc>
                <a:spcPct val="130000"/>
              </a:lnSpc>
              <a:spcBef>
                <a:spcPct val="0"/>
              </a:spcBef>
              <a:buNone/>
            </a:pPr>
            <a:endParaRPr lang="zh-CN" altLang="en-US" sz="1400" spc="3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A-任意多边形 5"/>
          <p:cNvSpPr>
            <a:spLocks noChangeAspect="1"/>
          </p:cNvSpPr>
          <p:nvPr>
            <p:custDataLst>
              <p:tags r:id="rId9"/>
            </p:custDataLst>
          </p:nvPr>
        </p:nvSpPr>
        <p:spPr>
          <a:xfrm rot="10800000">
            <a:off x="9013824" y="1676400"/>
            <a:ext cx="2447925" cy="2783498"/>
          </a:xfrm>
          <a:custGeom>
            <a:avLst/>
            <a:gdLst>
              <a:gd name="connsiteX0" fmla="*/ 2682494 w 2836097"/>
              <a:gd name="connsiteY0" fmla="*/ 3067706 h 3067706"/>
              <a:gd name="connsiteX1" fmla="*/ 876045 w 2836097"/>
              <a:gd name="connsiteY1" fmla="*/ 3067706 h 3067706"/>
              <a:gd name="connsiteX2" fmla="*/ 0 w 2836097"/>
              <a:gd name="connsiteY2" fmla="*/ 1533853 h 3067706"/>
              <a:gd name="connsiteX3" fmla="*/ 876045 w 2836097"/>
              <a:gd name="connsiteY3" fmla="*/ 0 h 3067706"/>
              <a:gd name="connsiteX4" fmla="*/ 2682494 w 2836097"/>
              <a:gd name="connsiteY4" fmla="*/ 0 h 3067706"/>
              <a:gd name="connsiteX5" fmla="*/ 2836097 w 2836097"/>
              <a:gd name="connsiteY5" fmla="*/ 268941 h 3067706"/>
              <a:gd name="connsiteX6" fmla="*/ 1473384 w 2836097"/>
              <a:gd name="connsiteY6" fmla="*/ 268941 h 3067706"/>
              <a:gd name="connsiteX7" fmla="*/ 747356 w 2836097"/>
              <a:gd name="connsiteY7" fmla="*/ 1540132 h 3067706"/>
              <a:gd name="connsiteX8" fmla="*/ 1473384 w 2836097"/>
              <a:gd name="connsiteY8" fmla="*/ 2811322 h 3067706"/>
              <a:gd name="connsiteX9" fmla="*/ 2828925 w 2836097"/>
              <a:gd name="connsiteY9" fmla="*/ 2811322 h 3067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36097" h="3067706">
                <a:moveTo>
                  <a:pt x="2682494" y="3067706"/>
                </a:moveTo>
                <a:lnTo>
                  <a:pt x="876045" y="3067706"/>
                </a:lnTo>
                <a:lnTo>
                  <a:pt x="0" y="1533853"/>
                </a:lnTo>
                <a:lnTo>
                  <a:pt x="876045" y="0"/>
                </a:lnTo>
                <a:lnTo>
                  <a:pt x="2682494" y="0"/>
                </a:lnTo>
                <a:lnTo>
                  <a:pt x="2836097" y="268941"/>
                </a:lnTo>
                <a:lnTo>
                  <a:pt x="1473384" y="268941"/>
                </a:lnTo>
                <a:lnTo>
                  <a:pt x="747356" y="1540132"/>
                </a:lnTo>
                <a:lnTo>
                  <a:pt x="1473384" y="2811322"/>
                </a:lnTo>
                <a:lnTo>
                  <a:pt x="2828925" y="2811322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70" name="PA-文本框 8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0806113" y="2701925"/>
            <a:ext cx="66556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rgbClr val="FEFEFE"/>
                </a:solidFill>
                <a:latin typeface="+mn-lt"/>
                <a:ea typeface="+mn-ea"/>
                <a:cs typeface="+mn-ea"/>
                <a:sym typeface="+mn-lt"/>
              </a:rPr>
              <a:t>03</a:t>
            </a:r>
            <a:endParaRPr lang="zh-CN" altLang="en-US" sz="3200" dirty="0">
              <a:solidFill>
                <a:srgbClr val="FEFEFE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7" name="矩形 47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8189595" y="2895600"/>
            <a:ext cx="2131695" cy="1174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no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9pPr>
          </a:lstStyle>
          <a:p>
            <a:pPr algn="dist">
              <a:lnSpc>
                <a:spcPct val="130000"/>
              </a:lnSpc>
              <a:buClrTx/>
              <a:buSzTx/>
              <a:buNone/>
            </a:pPr>
            <a:r>
              <a:rPr lang="zh-CN" altLang="en-US" sz="1400" spc="300" dirty="0">
                <a:latin typeface="+mn-lt"/>
                <a:ea typeface="+mn-ea"/>
                <a:cs typeface="+mn-ea"/>
                <a:sym typeface="+mn-lt"/>
              </a:rPr>
              <a:t>三套数据集经文本切分后形成的</a:t>
            </a:r>
            <a:endParaRPr lang="zh-CN" altLang="en-US" sz="1400" spc="300" dirty="0">
              <a:latin typeface="+mn-lt"/>
              <a:ea typeface="+mn-ea"/>
              <a:cs typeface="+mn-ea"/>
              <a:sym typeface="+mn-lt"/>
            </a:endParaRPr>
          </a:p>
          <a:p>
            <a:pPr algn="dist">
              <a:lnSpc>
                <a:spcPct val="130000"/>
              </a:lnSpc>
              <a:buClrTx/>
              <a:buSzTx/>
              <a:buNone/>
            </a:pPr>
            <a:r>
              <a:rPr lang="zh-CN" altLang="en-US" sz="1400" spc="300" dirty="0">
                <a:latin typeface="+mn-lt"/>
                <a:ea typeface="+mn-ea"/>
                <a:cs typeface="+mn-ea"/>
                <a:sym typeface="+mn-lt"/>
              </a:rPr>
              <a:t>可检索单元总量</a:t>
            </a:r>
            <a:endParaRPr lang="zh-CN" altLang="en-US" sz="1400" spc="300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09599" y="4686300"/>
          <a:ext cx="10972797" cy="116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599"/>
                <a:gridCol w="3657599"/>
                <a:gridCol w="3657599"/>
              </a:tblGrid>
              <a:tr h="290512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Bahnschrift" panose="020B0502040204020203" charset="0"/>
                          <a:cs typeface="Bahnschrift" panose="020B0502040204020203" charset="0"/>
                        </a:rPr>
                        <a:t>DATASET</a:t>
                      </a:r>
                      <a:endParaRPr sz="1600" b="1">
                        <a:solidFill>
                          <a:srgbClr val="FFFFFF"/>
                        </a:solidFill>
                        <a:latin typeface="Bahnschrift" panose="020B0502040204020203" charset="0"/>
                        <a:cs typeface="Bahnschrift" panose="020B0502040204020203" charset="0"/>
                      </a:endParaRPr>
                    </a:p>
                  </a:txBody>
                  <a:tcPr marL="95249" marR="57149" marT="57150">
                    <a:solidFill>
                      <a:srgbClr val="7271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Bahnschrift" panose="020B0502040204020203" charset="0"/>
                          <a:cs typeface="Bahnschrift" panose="020B0502040204020203" charset="0"/>
                        </a:rPr>
                        <a:t>SCENARIO</a:t>
                      </a:r>
                      <a:endParaRPr sz="1600" b="1">
                        <a:solidFill>
                          <a:srgbClr val="FFFFFF"/>
                        </a:solidFill>
                        <a:latin typeface="Bahnschrift" panose="020B0502040204020203" charset="0"/>
                        <a:cs typeface="Bahnschrift" panose="020B0502040204020203" charset="0"/>
                      </a:endParaRPr>
                    </a:p>
                  </a:txBody>
                  <a:tcPr marL="95249" marR="57149" marT="57150">
                    <a:solidFill>
                      <a:srgbClr val="AFBA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Bahnschrift" panose="020B0502040204020203" charset="0"/>
                          <a:cs typeface="Bahnschrift" panose="020B0502040204020203" charset="0"/>
                        </a:rPr>
                        <a:t>QUERY / DOC / CHUNK</a:t>
                      </a:r>
                      <a:endParaRPr sz="1600" b="1">
                        <a:solidFill>
                          <a:srgbClr val="FFFFFF"/>
                        </a:solidFill>
                        <a:latin typeface="Bahnschrift" panose="020B0502040204020203" charset="0"/>
                        <a:cs typeface="Bahnschrift" panose="020B0502040204020203" charset="0"/>
                      </a:endParaRPr>
                    </a:p>
                  </a:txBody>
                  <a:tcPr marL="95249" marR="57149" marT="57150">
                    <a:solidFill>
                      <a:srgbClr val="72719F"/>
                    </a:solidFill>
                  </a:tcPr>
                </a:tc>
              </a:tr>
              <a:tr h="2905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5B625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SciFact</a:t>
                      </a:r>
                      <a:endParaRPr sz="1400" b="0">
                        <a:solidFill>
                          <a:srgbClr val="5B625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5B625F"/>
                          </a:solidFill>
                          <a:latin typeface="Arial" panose="020B0604020202020204" pitchFamily="34" charset="0"/>
                        </a:rPr>
                        <a:t>科学论断与证据检索</a:t>
                      </a:r>
                      <a:endParaRPr sz="1400" b="0">
                        <a:solidFill>
                          <a:srgbClr val="5B625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5B625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 / 5,183 / 6,192</a:t>
                      </a:r>
                      <a:endParaRPr sz="1400" b="0">
                        <a:solidFill>
                          <a:srgbClr val="5B625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</a:tr>
              <a:tr h="2905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5B625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XOR-TyDi</a:t>
                      </a:r>
                      <a:endParaRPr sz="1400" b="0">
                        <a:solidFill>
                          <a:srgbClr val="5B625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5B625F"/>
                          </a:solidFill>
                          <a:latin typeface="Arial" panose="020B0604020202020204" pitchFamily="34" charset="0"/>
                        </a:rPr>
                        <a:t>跨语言问题与英文证据</a:t>
                      </a:r>
                      <a:endParaRPr sz="1400" b="0">
                        <a:solidFill>
                          <a:srgbClr val="5B625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5B625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3,108 / 2,229 / 2,261</a:t>
                      </a:r>
                      <a:endParaRPr sz="1400" b="0">
                        <a:solidFill>
                          <a:srgbClr val="5B625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</a:tr>
              <a:tr h="2905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5B625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M3DocVQA Text</a:t>
                      </a:r>
                      <a:endParaRPr sz="1400" b="0">
                        <a:solidFill>
                          <a:srgbClr val="5B625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5B625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多文档 PDF 文本检索</a:t>
                      </a:r>
                      <a:endParaRPr sz="1400" b="0">
                        <a:solidFill>
                          <a:srgbClr val="5B625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5B625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2,441 / 3,366 / 87,116</a:t>
                      </a:r>
                      <a:endParaRPr sz="1400" b="0">
                        <a:solidFill>
                          <a:srgbClr val="5B625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矩形 23"/>
          <p:cNvSpPr/>
          <p:nvPr>
            <p:custDataLst>
              <p:tags r:id="rId12"/>
            </p:custDataLst>
          </p:nvPr>
        </p:nvSpPr>
        <p:spPr>
          <a:xfrm>
            <a:off x="8251825" y="2044065"/>
            <a:ext cx="1968500" cy="890270"/>
          </a:xfrm>
          <a:prstGeom prst="rect">
            <a:avLst/>
          </a:prstGeom>
        </p:spPr>
        <p:txBody>
          <a:bodyPr wrap="square" lIns="91431" tIns="45716" rIns="91431" bIns="45716">
            <a:spAutoFit/>
          </a:bodyPr>
          <a:lstStyle/>
          <a:p>
            <a:pPr algn="ctr"/>
            <a:r>
              <a:rPr lang="en-US" altLang="zh-CN" sz="3600" dirty="0">
                <a:cs typeface="+mn-ea"/>
                <a:sym typeface="+mn-lt"/>
              </a:rPr>
              <a:t>95,569</a:t>
            </a:r>
            <a:endParaRPr lang="en-US" altLang="zh-CN" sz="3600" dirty="0">
              <a:cs typeface="+mn-ea"/>
              <a:sym typeface="+mn-lt"/>
            </a:endParaRPr>
          </a:p>
          <a:p>
            <a:pPr algn="dist"/>
            <a:r>
              <a:rPr lang="en-US" altLang="zh-CN" sz="1600" spc="3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Bahnschrift" panose="020B0502040204020203" charset="0"/>
                <a:sym typeface="+mn-lt"/>
              </a:rPr>
              <a:t> CHUNKS</a:t>
            </a:r>
            <a:endParaRPr lang="en-US" altLang="zh-CN" sz="1600" spc="3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Bahnschrift" panose="020B0502040204020203" charset="0"/>
              <a:sym typeface="+mn-lt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1" grpId="0"/>
      <p:bldP spid="65" grpId="0"/>
      <p:bldP spid="67" grpId="0"/>
      <p:bldP spid="77" grpId="0"/>
      <p:bldP spid="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part.02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" name="Rounded Rectangle 43"/>
          <p:cNvSpPr/>
          <p:nvPr/>
        </p:nvSpPr>
        <p:spPr>
          <a:xfrm>
            <a:off x="5421630" y="5298440"/>
            <a:ext cx="806450" cy="807085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Rounded Rectangle 44"/>
          <p:cNvSpPr/>
          <p:nvPr/>
        </p:nvSpPr>
        <p:spPr>
          <a:xfrm>
            <a:off x="5356860" y="3916680"/>
            <a:ext cx="861695" cy="806450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Rounded Rectangle 46"/>
          <p:cNvSpPr/>
          <p:nvPr/>
        </p:nvSpPr>
        <p:spPr>
          <a:xfrm>
            <a:off x="5383530" y="1242060"/>
            <a:ext cx="807085" cy="812165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Rounded Rectangle 42"/>
          <p:cNvSpPr/>
          <p:nvPr/>
        </p:nvSpPr>
        <p:spPr>
          <a:xfrm>
            <a:off x="4660490" y="5298247"/>
            <a:ext cx="761221" cy="806824"/>
          </a:xfrm>
          <a:prstGeom prst="roundRect">
            <a:avLst>
              <a:gd name="adj" fmla="val 6000"/>
            </a:avLst>
          </a:prstGeom>
          <a:solidFill>
            <a:schemeClr val="bg2">
              <a:lumMod val="65000"/>
            </a:schemeClr>
          </a:solidFill>
          <a:ln>
            <a:noFill/>
          </a:ln>
          <a:effectLst>
            <a:outerShdw blurRad="152400" dist="38100" algn="l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1" name="Rounded Rectangle 40"/>
          <p:cNvSpPr/>
          <p:nvPr/>
        </p:nvSpPr>
        <p:spPr>
          <a:xfrm>
            <a:off x="4628105" y="3916885"/>
            <a:ext cx="761221" cy="806824"/>
          </a:xfrm>
          <a:prstGeom prst="roundRect">
            <a:avLst>
              <a:gd name="adj" fmla="val 6000"/>
            </a:avLst>
          </a:prstGeom>
          <a:solidFill>
            <a:srgbClr val="72719F"/>
          </a:solidFill>
          <a:ln>
            <a:noFill/>
          </a:ln>
          <a:effectLst>
            <a:outerShdw blurRad="152400" dist="38100" algn="l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2" name="Rounded Rectangle 38"/>
          <p:cNvSpPr/>
          <p:nvPr/>
        </p:nvSpPr>
        <p:spPr>
          <a:xfrm>
            <a:off x="4622390" y="2567365"/>
            <a:ext cx="761221" cy="806824"/>
          </a:xfrm>
          <a:prstGeom prst="roundRect">
            <a:avLst>
              <a:gd name="adj" fmla="val 6000"/>
            </a:avLst>
          </a:prstGeom>
          <a:solidFill>
            <a:schemeClr val="bg2">
              <a:lumMod val="65000"/>
            </a:schemeClr>
          </a:solidFill>
          <a:ln>
            <a:noFill/>
          </a:ln>
          <a:effectLst>
            <a:outerShdw blurRad="152400" dist="38100" algn="l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3" name="Rounded Rectangle 3"/>
          <p:cNvSpPr/>
          <p:nvPr/>
        </p:nvSpPr>
        <p:spPr>
          <a:xfrm>
            <a:off x="4622390" y="1241744"/>
            <a:ext cx="761221" cy="806824"/>
          </a:xfrm>
          <a:prstGeom prst="roundRect">
            <a:avLst>
              <a:gd name="adj" fmla="val 6000"/>
            </a:avLst>
          </a:prstGeom>
          <a:solidFill>
            <a:srgbClr val="72719F"/>
          </a:solidFill>
          <a:ln>
            <a:noFill/>
          </a:ln>
          <a:effectLst>
            <a:outerShdw blurRad="152400" dist="38100" algn="l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4" name="TextBox 9"/>
          <p:cNvSpPr txBox="1"/>
          <p:nvPr/>
        </p:nvSpPr>
        <p:spPr>
          <a:xfrm>
            <a:off x="5507355" y="1424305"/>
            <a:ext cx="586740" cy="271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 1</a:t>
            </a:r>
            <a:endParaRPr lang="en-US"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TextBox 11"/>
          <p:cNvSpPr txBox="1"/>
          <p:nvPr/>
        </p:nvSpPr>
        <p:spPr>
          <a:xfrm>
            <a:off x="5443220" y="4131310"/>
            <a:ext cx="688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 3</a:t>
            </a:r>
            <a:endParaRPr lang="en-US"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TextBox 12"/>
          <p:cNvSpPr txBox="1"/>
          <p:nvPr/>
        </p:nvSpPr>
        <p:spPr>
          <a:xfrm>
            <a:off x="5545455" y="5514975"/>
            <a:ext cx="645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 4</a:t>
            </a:r>
            <a:endParaRPr lang="en-US"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9" name="Group 13"/>
          <p:cNvGrpSpPr/>
          <p:nvPr/>
        </p:nvGrpSpPr>
        <p:grpSpPr>
          <a:xfrm>
            <a:off x="4935158" y="2884586"/>
            <a:ext cx="181116" cy="181861"/>
            <a:chOff x="7938" y="928688"/>
            <a:chExt cx="385763" cy="387350"/>
          </a:xfrm>
          <a:solidFill>
            <a:schemeClr val="bg2"/>
          </a:solidFill>
        </p:grpSpPr>
        <p:sp>
          <p:nvSpPr>
            <p:cNvPr id="20" name="Freeform 5"/>
            <p:cNvSpPr/>
            <p:nvPr/>
          </p:nvSpPr>
          <p:spPr bwMode="auto">
            <a:xfrm>
              <a:off x="7938" y="947738"/>
              <a:ext cx="369888" cy="368300"/>
            </a:xfrm>
            <a:custGeom>
              <a:avLst/>
              <a:gdLst>
                <a:gd name="T0" fmla="*/ 68 w 135"/>
                <a:gd name="T1" fmla="*/ 0 h 135"/>
                <a:gd name="T2" fmla="*/ 0 w 135"/>
                <a:gd name="T3" fmla="*/ 68 h 135"/>
                <a:gd name="T4" fmla="*/ 68 w 135"/>
                <a:gd name="T5" fmla="*/ 135 h 135"/>
                <a:gd name="T6" fmla="*/ 135 w 135"/>
                <a:gd name="T7" fmla="*/ 68 h 135"/>
                <a:gd name="T8" fmla="*/ 68 w 135"/>
                <a:gd name="T9" fmla="*/ 68 h 135"/>
                <a:gd name="T10" fmla="*/ 68 w 135"/>
                <a:gd name="T11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135">
                  <a:moveTo>
                    <a:pt x="68" y="0"/>
                  </a:moveTo>
                  <a:cubicBezTo>
                    <a:pt x="30" y="0"/>
                    <a:pt x="0" y="30"/>
                    <a:pt x="0" y="68"/>
                  </a:cubicBezTo>
                  <a:cubicBezTo>
                    <a:pt x="0" y="105"/>
                    <a:pt x="30" y="135"/>
                    <a:pt x="68" y="135"/>
                  </a:cubicBezTo>
                  <a:cubicBezTo>
                    <a:pt x="105" y="135"/>
                    <a:pt x="135" y="105"/>
                    <a:pt x="135" y="68"/>
                  </a:cubicBezTo>
                  <a:cubicBezTo>
                    <a:pt x="68" y="68"/>
                    <a:pt x="68" y="68"/>
                    <a:pt x="68" y="68"/>
                  </a:cubicBezTo>
                  <a:lnTo>
                    <a:pt x="6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1" name="Freeform 6"/>
            <p:cNvSpPr>
              <a:spLocks noEditPoints="1"/>
            </p:cNvSpPr>
            <p:nvPr/>
          </p:nvSpPr>
          <p:spPr bwMode="auto">
            <a:xfrm>
              <a:off x="207963" y="928688"/>
              <a:ext cx="185738" cy="188913"/>
            </a:xfrm>
            <a:custGeom>
              <a:avLst/>
              <a:gdLst>
                <a:gd name="T0" fmla="*/ 48 w 68"/>
                <a:gd name="T1" fmla="*/ 16 h 69"/>
                <a:gd name="T2" fmla="*/ 48 w 68"/>
                <a:gd name="T3" fmla="*/ 15 h 69"/>
                <a:gd name="T4" fmla="*/ 47 w 68"/>
                <a:gd name="T5" fmla="*/ 15 h 69"/>
                <a:gd name="T6" fmla="*/ 47 w 68"/>
                <a:gd name="T7" fmla="*/ 15 h 69"/>
                <a:gd name="T8" fmla="*/ 47 w 68"/>
                <a:gd name="T9" fmla="*/ 15 h 69"/>
                <a:gd name="T10" fmla="*/ 4 w 68"/>
                <a:gd name="T11" fmla="*/ 0 h 69"/>
                <a:gd name="T12" fmla="*/ 0 w 68"/>
                <a:gd name="T13" fmla="*/ 4 h 69"/>
                <a:gd name="T14" fmla="*/ 0 w 68"/>
                <a:gd name="T15" fmla="*/ 65 h 69"/>
                <a:gd name="T16" fmla="*/ 3 w 68"/>
                <a:gd name="T17" fmla="*/ 69 h 69"/>
                <a:gd name="T18" fmla="*/ 4 w 68"/>
                <a:gd name="T19" fmla="*/ 69 h 69"/>
                <a:gd name="T20" fmla="*/ 4 w 68"/>
                <a:gd name="T21" fmla="*/ 69 h 69"/>
                <a:gd name="T22" fmla="*/ 4 w 68"/>
                <a:gd name="T23" fmla="*/ 69 h 69"/>
                <a:gd name="T24" fmla="*/ 64 w 68"/>
                <a:gd name="T25" fmla="*/ 69 h 69"/>
                <a:gd name="T26" fmla="*/ 68 w 68"/>
                <a:gd name="T27" fmla="*/ 65 h 69"/>
                <a:gd name="T28" fmla="*/ 48 w 68"/>
                <a:gd name="T29" fmla="*/ 16 h 69"/>
                <a:gd name="T30" fmla="*/ 8 w 68"/>
                <a:gd name="T31" fmla="*/ 55 h 69"/>
                <a:gd name="T32" fmla="*/ 8 w 68"/>
                <a:gd name="T33" fmla="*/ 8 h 69"/>
                <a:gd name="T34" fmla="*/ 40 w 68"/>
                <a:gd name="T35" fmla="*/ 19 h 69"/>
                <a:gd name="T36" fmla="*/ 8 w 68"/>
                <a:gd name="T37" fmla="*/ 55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8" h="69">
                  <a:moveTo>
                    <a:pt x="48" y="16"/>
                  </a:moveTo>
                  <a:cubicBezTo>
                    <a:pt x="48" y="16"/>
                    <a:pt x="48" y="15"/>
                    <a:pt x="48" y="15"/>
                  </a:cubicBezTo>
                  <a:cubicBezTo>
                    <a:pt x="48" y="15"/>
                    <a:pt x="48" y="15"/>
                    <a:pt x="47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35" y="5"/>
                    <a:pt x="20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67"/>
                    <a:pt x="1" y="68"/>
                    <a:pt x="3" y="69"/>
                  </a:cubicBezTo>
                  <a:cubicBezTo>
                    <a:pt x="3" y="69"/>
                    <a:pt x="3" y="69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64" y="69"/>
                    <a:pt x="64" y="69"/>
                    <a:pt x="64" y="69"/>
                  </a:cubicBezTo>
                  <a:cubicBezTo>
                    <a:pt x="66" y="69"/>
                    <a:pt x="68" y="67"/>
                    <a:pt x="68" y="65"/>
                  </a:cubicBezTo>
                  <a:cubicBezTo>
                    <a:pt x="68" y="47"/>
                    <a:pt x="61" y="29"/>
                    <a:pt x="48" y="16"/>
                  </a:cubicBezTo>
                  <a:close/>
                  <a:moveTo>
                    <a:pt x="8" y="55"/>
                  </a:moveTo>
                  <a:cubicBezTo>
                    <a:pt x="8" y="8"/>
                    <a:pt x="8" y="8"/>
                    <a:pt x="8" y="8"/>
                  </a:cubicBezTo>
                  <a:cubicBezTo>
                    <a:pt x="19" y="8"/>
                    <a:pt x="30" y="12"/>
                    <a:pt x="40" y="19"/>
                  </a:cubicBezTo>
                  <a:lnTo>
                    <a:pt x="8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2" name="Group 16"/>
          <p:cNvGrpSpPr/>
          <p:nvPr/>
        </p:nvGrpSpPr>
        <p:grpSpPr>
          <a:xfrm>
            <a:off x="4973258" y="5609386"/>
            <a:ext cx="181861" cy="171427"/>
            <a:chOff x="20638" y="1901825"/>
            <a:chExt cx="387350" cy="365126"/>
          </a:xfrm>
          <a:solidFill>
            <a:schemeClr val="bg2"/>
          </a:solidFill>
        </p:grpSpPr>
        <p:sp>
          <p:nvSpPr>
            <p:cNvPr id="23" name="Freeform 7"/>
            <p:cNvSpPr/>
            <p:nvPr/>
          </p:nvSpPr>
          <p:spPr bwMode="auto">
            <a:xfrm>
              <a:off x="20638" y="2236788"/>
              <a:ext cx="350838" cy="30163"/>
            </a:xfrm>
            <a:custGeom>
              <a:avLst/>
              <a:gdLst>
                <a:gd name="T0" fmla="*/ 123 w 128"/>
                <a:gd name="T1" fmla="*/ 0 h 11"/>
                <a:gd name="T2" fmla="*/ 6 w 128"/>
                <a:gd name="T3" fmla="*/ 0 h 11"/>
                <a:gd name="T4" fmla="*/ 0 w 128"/>
                <a:gd name="T5" fmla="*/ 6 h 11"/>
                <a:gd name="T6" fmla="*/ 6 w 128"/>
                <a:gd name="T7" fmla="*/ 11 h 11"/>
                <a:gd name="T8" fmla="*/ 123 w 128"/>
                <a:gd name="T9" fmla="*/ 11 h 11"/>
                <a:gd name="T10" fmla="*/ 128 w 128"/>
                <a:gd name="T11" fmla="*/ 6 h 11"/>
                <a:gd name="T12" fmla="*/ 123 w 128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11">
                  <a:moveTo>
                    <a:pt x="123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6" y="11"/>
                    <a:pt x="128" y="9"/>
                    <a:pt x="128" y="6"/>
                  </a:cubicBezTo>
                  <a:cubicBezTo>
                    <a:pt x="128" y="3"/>
                    <a:pt x="126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4" name="Freeform 8"/>
            <p:cNvSpPr>
              <a:spLocks noEditPoints="1"/>
            </p:cNvSpPr>
            <p:nvPr/>
          </p:nvSpPr>
          <p:spPr bwMode="auto">
            <a:xfrm>
              <a:off x="46038" y="2032000"/>
              <a:ext cx="361950" cy="188913"/>
            </a:xfrm>
            <a:custGeom>
              <a:avLst/>
              <a:gdLst>
                <a:gd name="T0" fmla="*/ 132 w 132"/>
                <a:gd name="T1" fmla="*/ 20 h 69"/>
                <a:gd name="T2" fmla="*/ 129 w 132"/>
                <a:gd name="T3" fmla="*/ 17 h 69"/>
                <a:gd name="T4" fmla="*/ 117 w 132"/>
                <a:gd name="T5" fmla="*/ 13 h 69"/>
                <a:gd name="T6" fmla="*/ 110 w 132"/>
                <a:gd name="T7" fmla="*/ 9 h 69"/>
                <a:gd name="T8" fmla="*/ 108 w 132"/>
                <a:gd name="T9" fmla="*/ 3 h 69"/>
                <a:gd name="T10" fmla="*/ 102 w 132"/>
                <a:gd name="T11" fmla="*/ 0 h 69"/>
                <a:gd name="T12" fmla="*/ 8 w 132"/>
                <a:gd name="T13" fmla="*/ 0 h 69"/>
                <a:gd name="T14" fmla="*/ 3 w 132"/>
                <a:gd name="T15" fmla="*/ 3 h 69"/>
                <a:gd name="T16" fmla="*/ 3 w 132"/>
                <a:gd name="T17" fmla="*/ 16 h 69"/>
                <a:gd name="T18" fmla="*/ 14 w 132"/>
                <a:gd name="T19" fmla="*/ 53 h 69"/>
                <a:gd name="T20" fmla="*/ 19 w 132"/>
                <a:gd name="T21" fmla="*/ 66 h 69"/>
                <a:gd name="T22" fmla="*/ 24 w 132"/>
                <a:gd name="T23" fmla="*/ 69 h 69"/>
                <a:gd name="T24" fmla="*/ 89 w 132"/>
                <a:gd name="T25" fmla="*/ 69 h 69"/>
                <a:gd name="T26" fmla="*/ 95 w 132"/>
                <a:gd name="T27" fmla="*/ 66 h 69"/>
                <a:gd name="T28" fmla="*/ 98 w 132"/>
                <a:gd name="T29" fmla="*/ 59 h 69"/>
                <a:gd name="T30" fmla="*/ 106 w 132"/>
                <a:gd name="T31" fmla="*/ 56 h 69"/>
                <a:gd name="T32" fmla="*/ 114 w 132"/>
                <a:gd name="T33" fmla="*/ 56 h 69"/>
                <a:gd name="T34" fmla="*/ 119 w 132"/>
                <a:gd name="T35" fmla="*/ 53 h 69"/>
                <a:gd name="T36" fmla="*/ 132 w 132"/>
                <a:gd name="T37" fmla="*/ 24 h 69"/>
                <a:gd name="T38" fmla="*/ 132 w 132"/>
                <a:gd name="T39" fmla="*/ 20 h 69"/>
                <a:gd name="T40" fmla="*/ 116 w 132"/>
                <a:gd name="T41" fmla="*/ 32 h 69"/>
                <a:gd name="T42" fmla="*/ 114 w 132"/>
                <a:gd name="T43" fmla="*/ 38 h 69"/>
                <a:gd name="T44" fmla="*/ 106 w 132"/>
                <a:gd name="T45" fmla="*/ 46 h 69"/>
                <a:gd name="T46" fmla="*/ 103 w 132"/>
                <a:gd name="T47" fmla="*/ 38 h 69"/>
                <a:gd name="T48" fmla="*/ 105 w 132"/>
                <a:gd name="T49" fmla="*/ 28 h 69"/>
                <a:gd name="T50" fmla="*/ 113 w 132"/>
                <a:gd name="T51" fmla="*/ 23 h 69"/>
                <a:gd name="T52" fmla="*/ 116 w 132"/>
                <a:gd name="T53" fmla="*/ 3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2" h="69">
                  <a:moveTo>
                    <a:pt x="132" y="20"/>
                  </a:moveTo>
                  <a:cubicBezTo>
                    <a:pt x="131" y="19"/>
                    <a:pt x="130" y="18"/>
                    <a:pt x="129" y="17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3" y="11"/>
                    <a:pt x="110" y="9"/>
                    <a:pt x="110" y="9"/>
                  </a:cubicBezTo>
                  <a:cubicBezTo>
                    <a:pt x="110" y="9"/>
                    <a:pt x="110" y="5"/>
                    <a:pt x="108" y="3"/>
                  </a:cubicBezTo>
                  <a:cubicBezTo>
                    <a:pt x="107" y="1"/>
                    <a:pt x="105" y="0"/>
                    <a:pt x="10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0" y="5"/>
                    <a:pt x="1" y="12"/>
                    <a:pt x="3" y="16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5" y="57"/>
                    <a:pt x="16" y="64"/>
                    <a:pt x="19" y="66"/>
                  </a:cubicBezTo>
                  <a:cubicBezTo>
                    <a:pt x="20" y="68"/>
                    <a:pt x="22" y="69"/>
                    <a:pt x="24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91" y="69"/>
                    <a:pt x="93" y="68"/>
                    <a:pt x="95" y="66"/>
                  </a:cubicBezTo>
                  <a:cubicBezTo>
                    <a:pt x="97" y="64"/>
                    <a:pt x="97" y="60"/>
                    <a:pt x="98" y="59"/>
                  </a:cubicBezTo>
                  <a:cubicBezTo>
                    <a:pt x="98" y="57"/>
                    <a:pt x="102" y="56"/>
                    <a:pt x="106" y="56"/>
                  </a:cubicBezTo>
                  <a:cubicBezTo>
                    <a:pt x="114" y="56"/>
                    <a:pt x="114" y="56"/>
                    <a:pt x="114" y="56"/>
                  </a:cubicBezTo>
                  <a:cubicBezTo>
                    <a:pt x="116" y="56"/>
                    <a:pt x="118" y="55"/>
                    <a:pt x="119" y="53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2" y="23"/>
                    <a:pt x="132" y="21"/>
                    <a:pt x="132" y="20"/>
                  </a:cubicBezTo>
                  <a:close/>
                  <a:moveTo>
                    <a:pt x="116" y="32"/>
                  </a:moveTo>
                  <a:cubicBezTo>
                    <a:pt x="114" y="38"/>
                    <a:pt x="114" y="38"/>
                    <a:pt x="114" y="38"/>
                  </a:cubicBezTo>
                  <a:cubicBezTo>
                    <a:pt x="112" y="42"/>
                    <a:pt x="108" y="45"/>
                    <a:pt x="106" y="46"/>
                  </a:cubicBezTo>
                  <a:cubicBezTo>
                    <a:pt x="103" y="46"/>
                    <a:pt x="102" y="42"/>
                    <a:pt x="103" y="3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4"/>
                    <a:pt x="110" y="21"/>
                    <a:pt x="113" y="23"/>
                  </a:cubicBezTo>
                  <a:cubicBezTo>
                    <a:pt x="117" y="24"/>
                    <a:pt x="118" y="28"/>
                    <a:pt x="116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5" name="Freeform 9"/>
            <p:cNvSpPr/>
            <p:nvPr/>
          </p:nvSpPr>
          <p:spPr bwMode="auto">
            <a:xfrm>
              <a:off x="141288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6" name="Freeform 10"/>
            <p:cNvSpPr/>
            <p:nvPr/>
          </p:nvSpPr>
          <p:spPr bwMode="auto">
            <a:xfrm>
              <a:off x="209551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7" name="Group 21"/>
          <p:cNvGrpSpPr/>
          <p:nvPr/>
        </p:nvGrpSpPr>
        <p:grpSpPr>
          <a:xfrm>
            <a:off x="4943854" y="4236319"/>
            <a:ext cx="181861" cy="158756"/>
            <a:chOff x="20638" y="2970213"/>
            <a:chExt cx="387350" cy="338137"/>
          </a:xfrm>
          <a:solidFill>
            <a:schemeClr val="bg2"/>
          </a:solidFill>
        </p:grpSpPr>
        <p:sp>
          <p:nvSpPr>
            <p:cNvPr id="28" name="Freeform 11"/>
            <p:cNvSpPr/>
            <p:nvPr/>
          </p:nvSpPr>
          <p:spPr bwMode="auto">
            <a:xfrm>
              <a:off x="73026" y="3032125"/>
              <a:ext cx="279400" cy="276225"/>
            </a:xfrm>
            <a:custGeom>
              <a:avLst/>
              <a:gdLst>
                <a:gd name="T0" fmla="*/ 0 w 102"/>
                <a:gd name="T1" fmla="*/ 98 h 101"/>
                <a:gd name="T2" fmla="*/ 3 w 102"/>
                <a:gd name="T3" fmla="*/ 101 h 101"/>
                <a:gd name="T4" fmla="*/ 39 w 102"/>
                <a:gd name="T5" fmla="*/ 101 h 101"/>
                <a:gd name="T6" fmla="*/ 39 w 102"/>
                <a:gd name="T7" fmla="*/ 72 h 101"/>
                <a:gd name="T8" fmla="*/ 43 w 102"/>
                <a:gd name="T9" fmla="*/ 68 h 101"/>
                <a:gd name="T10" fmla="*/ 58 w 102"/>
                <a:gd name="T11" fmla="*/ 68 h 101"/>
                <a:gd name="T12" fmla="*/ 63 w 102"/>
                <a:gd name="T13" fmla="*/ 72 h 101"/>
                <a:gd name="T14" fmla="*/ 63 w 102"/>
                <a:gd name="T15" fmla="*/ 101 h 101"/>
                <a:gd name="T16" fmla="*/ 98 w 102"/>
                <a:gd name="T17" fmla="*/ 101 h 101"/>
                <a:gd name="T18" fmla="*/ 101 w 102"/>
                <a:gd name="T19" fmla="*/ 97 h 101"/>
                <a:gd name="T20" fmla="*/ 101 w 102"/>
                <a:gd name="T21" fmla="*/ 44 h 101"/>
                <a:gd name="T22" fmla="*/ 52 w 102"/>
                <a:gd name="T23" fmla="*/ 0 h 101"/>
                <a:gd name="T24" fmla="*/ 0 w 102"/>
                <a:gd name="T25" fmla="*/ 44 h 101"/>
                <a:gd name="T26" fmla="*/ 0 w 102"/>
                <a:gd name="T27" fmla="*/ 9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2" h="101">
                  <a:moveTo>
                    <a:pt x="0" y="98"/>
                  </a:moveTo>
                  <a:cubicBezTo>
                    <a:pt x="0" y="98"/>
                    <a:pt x="0" y="101"/>
                    <a:pt x="3" y="101"/>
                  </a:cubicBezTo>
                  <a:cubicBezTo>
                    <a:pt x="7" y="101"/>
                    <a:pt x="39" y="101"/>
                    <a:pt x="39" y="101"/>
                  </a:cubicBezTo>
                  <a:cubicBezTo>
                    <a:pt x="39" y="72"/>
                    <a:pt x="39" y="72"/>
                    <a:pt x="39" y="72"/>
                  </a:cubicBezTo>
                  <a:cubicBezTo>
                    <a:pt x="39" y="72"/>
                    <a:pt x="38" y="68"/>
                    <a:pt x="43" y="68"/>
                  </a:cubicBezTo>
                  <a:cubicBezTo>
                    <a:pt x="58" y="68"/>
                    <a:pt x="58" y="68"/>
                    <a:pt x="58" y="68"/>
                  </a:cubicBezTo>
                  <a:cubicBezTo>
                    <a:pt x="63" y="68"/>
                    <a:pt x="63" y="72"/>
                    <a:pt x="63" y="72"/>
                  </a:cubicBezTo>
                  <a:cubicBezTo>
                    <a:pt x="63" y="101"/>
                    <a:pt x="63" y="101"/>
                    <a:pt x="63" y="101"/>
                  </a:cubicBezTo>
                  <a:cubicBezTo>
                    <a:pt x="63" y="101"/>
                    <a:pt x="93" y="101"/>
                    <a:pt x="98" y="101"/>
                  </a:cubicBezTo>
                  <a:cubicBezTo>
                    <a:pt x="102" y="101"/>
                    <a:pt x="101" y="97"/>
                    <a:pt x="101" y="97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0" y="44"/>
                    <a:pt x="0" y="44"/>
                    <a:pt x="0" y="44"/>
                  </a:cubicBezTo>
                  <a:lnTo>
                    <a:pt x="0" y="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9" name="Freeform 12"/>
            <p:cNvSpPr/>
            <p:nvPr/>
          </p:nvSpPr>
          <p:spPr bwMode="auto">
            <a:xfrm>
              <a:off x="20638" y="2970213"/>
              <a:ext cx="387350" cy="193675"/>
            </a:xfrm>
            <a:custGeom>
              <a:avLst/>
              <a:gdLst>
                <a:gd name="T0" fmla="*/ 0 w 141"/>
                <a:gd name="T1" fmla="*/ 63 h 71"/>
                <a:gd name="T2" fmla="*/ 14 w 141"/>
                <a:gd name="T3" fmla="*/ 63 h 71"/>
                <a:gd name="T4" fmla="*/ 72 w 141"/>
                <a:gd name="T5" fmla="*/ 14 h 71"/>
                <a:gd name="T6" fmla="*/ 126 w 141"/>
                <a:gd name="T7" fmla="*/ 62 h 71"/>
                <a:gd name="T8" fmla="*/ 141 w 141"/>
                <a:gd name="T9" fmla="*/ 62 h 71"/>
                <a:gd name="T10" fmla="*/ 72 w 141"/>
                <a:gd name="T11" fmla="*/ 0 h 71"/>
                <a:gd name="T12" fmla="*/ 0 w 141"/>
                <a:gd name="T13" fmla="*/ 63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1" h="71">
                  <a:moveTo>
                    <a:pt x="0" y="63"/>
                  </a:moveTo>
                  <a:cubicBezTo>
                    <a:pt x="0" y="63"/>
                    <a:pt x="5" y="71"/>
                    <a:pt x="14" y="63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126" y="62"/>
                    <a:pt x="126" y="62"/>
                    <a:pt x="126" y="62"/>
                  </a:cubicBezTo>
                  <a:cubicBezTo>
                    <a:pt x="137" y="70"/>
                    <a:pt x="141" y="62"/>
                    <a:pt x="141" y="62"/>
                  </a:cubicBezTo>
                  <a:cubicBezTo>
                    <a:pt x="72" y="0"/>
                    <a:pt x="72" y="0"/>
                    <a:pt x="72" y="0"/>
                  </a:cubicBezTo>
                  <a:lnTo>
                    <a:pt x="0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0" name="Freeform 13"/>
            <p:cNvSpPr/>
            <p:nvPr/>
          </p:nvSpPr>
          <p:spPr bwMode="auto">
            <a:xfrm>
              <a:off x="325438" y="3008313"/>
              <a:ext cx="34925" cy="76200"/>
            </a:xfrm>
            <a:custGeom>
              <a:avLst/>
              <a:gdLst>
                <a:gd name="T0" fmla="*/ 22 w 22"/>
                <a:gd name="T1" fmla="*/ 0 h 48"/>
                <a:gd name="T2" fmla="*/ 0 w 22"/>
                <a:gd name="T3" fmla="*/ 0 h 48"/>
                <a:gd name="T4" fmla="*/ 0 w 22"/>
                <a:gd name="T5" fmla="*/ 29 h 48"/>
                <a:gd name="T6" fmla="*/ 22 w 22"/>
                <a:gd name="T7" fmla="*/ 48 h 48"/>
                <a:gd name="T8" fmla="*/ 22 w 22"/>
                <a:gd name="T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48">
                  <a:moveTo>
                    <a:pt x="22" y="0"/>
                  </a:moveTo>
                  <a:lnTo>
                    <a:pt x="0" y="0"/>
                  </a:lnTo>
                  <a:lnTo>
                    <a:pt x="0" y="29"/>
                  </a:lnTo>
                  <a:lnTo>
                    <a:pt x="22" y="48"/>
                  </a:ln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31" name="Group 25"/>
          <p:cNvGrpSpPr/>
          <p:nvPr/>
        </p:nvGrpSpPr>
        <p:grpSpPr>
          <a:xfrm>
            <a:off x="5024313" y="1520549"/>
            <a:ext cx="181116" cy="175153"/>
            <a:chOff x="842963" y="938213"/>
            <a:chExt cx="385763" cy="373062"/>
          </a:xfrm>
          <a:solidFill>
            <a:schemeClr val="bg2"/>
          </a:solidFill>
        </p:grpSpPr>
        <p:sp>
          <p:nvSpPr>
            <p:cNvPr id="32" name="Line 14"/>
            <p:cNvSpPr>
              <a:spLocks noChangeShapeType="1"/>
            </p:cNvSpPr>
            <p:nvPr/>
          </p:nvSpPr>
          <p:spPr bwMode="auto">
            <a:xfrm>
              <a:off x="842963" y="1311275"/>
              <a:ext cx="385763" cy="0"/>
            </a:xfrm>
            <a:prstGeom prst="line">
              <a:avLst/>
            </a:prstGeom>
            <a:grpFill/>
            <a:ln w="61913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3" name="Freeform 15"/>
            <p:cNvSpPr/>
            <p:nvPr/>
          </p:nvSpPr>
          <p:spPr bwMode="auto">
            <a:xfrm>
              <a:off x="842963" y="1141413"/>
              <a:ext cx="117475" cy="125413"/>
            </a:xfrm>
            <a:custGeom>
              <a:avLst/>
              <a:gdLst>
                <a:gd name="T0" fmla="*/ 37 w 43"/>
                <a:gd name="T1" fmla="*/ 0 h 46"/>
                <a:gd name="T2" fmla="*/ 6 w 43"/>
                <a:gd name="T3" fmla="*/ 0 h 46"/>
                <a:gd name="T4" fmla="*/ 0 w 43"/>
                <a:gd name="T5" fmla="*/ 6 h 46"/>
                <a:gd name="T6" fmla="*/ 0 w 43"/>
                <a:gd name="T7" fmla="*/ 40 h 46"/>
                <a:gd name="T8" fmla="*/ 6 w 43"/>
                <a:gd name="T9" fmla="*/ 46 h 46"/>
                <a:gd name="T10" fmla="*/ 37 w 43"/>
                <a:gd name="T11" fmla="*/ 46 h 46"/>
                <a:gd name="T12" fmla="*/ 43 w 43"/>
                <a:gd name="T13" fmla="*/ 40 h 46"/>
                <a:gd name="T14" fmla="*/ 43 w 43"/>
                <a:gd name="T15" fmla="*/ 6 h 46"/>
                <a:gd name="T16" fmla="*/ 37 w 43"/>
                <a:gd name="T1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46">
                  <a:moveTo>
                    <a:pt x="37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3"/>
                    <a:pt x="3" y="46"/>
                    <a:pt x="6" y="46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40" y="46"/>
                    <a:pt x="43" y="43"/>
                    <a:pt x="43" y="40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3"/>
                    <a:pt x="40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4" name="Freeform 16"/>
            <p:cNvSpPr/>
            <p:nvPr/>
          </p:nvSpPr>
          <p:spPr bwMode="auto">
            <a:xfrm>
              <a:off x="977901" y="938213"/>
              <a:ext cx="117475" cy="328613"/>
            </a:xfrm>
            <a:custGeom>
              <a:avLst/>
              <a:gdLst>
                <a:gd name="T0" fmla="*/ 37 w 43"/>
                <a:gd name="T1" fmla="*/ 0 h 121"/>
                <a:gd name="T2" fmla="*/ 6 w 43"/>
                <a:gd name="T3" fmla="*/ 0 h 121"/>
                <a:gd name="T4" fmla="*/ 0 w 43"/>
                <a:gd name="T5" fmla="*/ 6 h 121"/>
                <a:gd name="T6" fmla="*/ 0 w 43"/>
                <a:gd name="T7" fmla="*/ 115 h 121"/>
                <a:gd name="T8" fmla="*/ 6 w 43"/>
                <a:gd name="T9" fmla="*/ 121 h 121"/>
                <a:gd name="T10" fmla="*/ 37 w 43"/>
                <a:gd name="T11" fmla="*/ 121 h 121"/>
                <a:gd name="T12" fmla="*/ 43 w 43"/>
                <a:gd name="T13" fmla="*/ 115 h 121"/>
                <a:gd name="T14" fmla="*/ 43 w 43"/>
                <a:gd name="T15" fmla="*/ 6 h 121"/>
                <a:gd name="T16" fmla="*/ 37 w 43"/>
                <a:gd name="T17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121">
                  <a:moveTo>
                    <a:pt x="37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18"/>
                    <a:pt x="3" y="121"/>
                    <a:pt x="6" y="121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40" y="121"/>
                    <a:pt x="43" y="118"/>
                    <a:pt x="43" y="115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3"/>
                    <a:pt x="40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5" name="Freeform 17"/>
            <p:cNvSpPr/>
            <p:nvPr/>
          </p:nvSpPr>
          <p:spPr bwMode="auto">
            <a:xfrm>
              <a:off x="1111251" y="1057275"/>
              <a:ext cx="117475" cy="209550"/>
            </a:xfrm>
            <a:custGeom>
              <a:avLst/>
              <a:gdLst>
                <a:gd name="T0" fmla="*/ 37 w 43"/>
                <a:gd name="T1" fmla="*/ 0 h 77"/>
                <a:gd name="T2" fmla="*/ 6 w 43"/>
                <a:gd name="T3" fmla="*/ 0 h 77"/>
                <a:gd name="T4" fmla="*/ 0 w 43"/>
                <a:gd name="T5" fmla="*/ 6 h 77"/>
                <a:gd name="T6" fmla="*/ 0 w 43"/>
                <a:gd name="T7" fmla="*/ 71 h 77"/>
                <a:gd name="T8" fmla="*/ 6 w 43"/>
                <a:gd name="T9" fmla="*/ 77 h 77"/>
                <a:gd name="T10" fmla="*/ 37 w 43"/>
                <a:gd name="T11" fmla="*/ 77 h 77"/>
                <a:gd name="T12" fmla="*/ 43 w 43"/>
                <a:gd name="T13" fmla="*/ 71 h 77"/>
                <a:gd name="T14" fmla="*/ 43 w 43"/>
                <a:gd name="T15" fmla="*/ 6 h 77"/>
                <a:gd name="T16" fmla="*/ 37 w 43"/>
                <a:gd name="T17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77">
                  <a:moveTo>
                    <a:pt x="37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74"/>
                    <a:pt x="3" y="77"/>
                    <a:pt x="6" y="77"/>
                  </a:cubicBezTo>
                  <a:cubicBezTo>
                    <a:pt x="37" y="77"/>
                    <a:pt x="37" y="77"/>
                    <a:pt x="37" y="77"/>
                  </a:cubicBezTo>
                  <a:cubicBezTo>
                    <a:pt x="40" y="77"/>
                    <a:pt x="43" y="74"/>
                    <a:pt x="43" y="71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3"/>
                    <a:pt x="40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44" name="TextBox 7"/>
          <p:cNvSpPr txBox="1"/>
          <p:nvPr/>
        </p:nvSpPr>
        <p:spPr>
          <a:xfrm>
            <a:off x="1259840" y="2311400"/>
            <a:ext cx="2348865" cy="1896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b="1" dirty="0">
                <a:solidFill>
                  <a:srgbClr val="474479"/>
                </a:solidFill>
                <a:cs typeface="+mn-ea"/>
                <a:sym typeface="+mn-lt"/>
              </a:rPr>
              <a:t>EVIDENCE</a:t>
            </a:r>
            <a:r>
              <a:rPr lang="en-US" altLang="zh-CN" sz="1200" b="1" dirty="0">
                <a:solidFill>
                  <a:srgbClr val="474479"/>
                </a:solidFill>
                <a:cs typeface="+mn-ea"/>
                <a:sym typeface="+mn-lt"/>
              </a:rPr>
              <a:t> </a:t>
            </a:r>
            <a:r>
              <a:rPr lang="en-US" altLang="zh-CN" sz="1600" b="1" dirty="0">
                <a:solidFill>
                  <a:srgbClr val="474479"/>
                </a:solidFill>
                <a:cs typeface="+mn-ea"/>
                <a:sym typeface="+mn-lt"/>
              </a:rPr>
              <a:t>OBJECT</a:t>
            </a:r>
            <a:endParaRPr lang="en-US" altLang="zh-CN" sz="1200" b="1" dirty="0">
              <a:solidFill>
                <a:srgbClr val="474479"/>
              </a:solidFill>
              <a:cs typeface="+mn-ea"/>
              <a:sym typeface="+mn-lt"/>
            </a:endParaRPr>
          </a:p>
          <a:p>
            <a:endParaRPr lang="en-US" altLang="zh-CN" sz="1200" b="1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46" name="TextBox 24"/>
          <p:cNvSpPr txBox="1"/>
          <p:nvPr/>
        </p:nvSpPr>
        <p:spPr>
          <a:xfrm>
            <a:off x="1259840" y="2734945"/>
            <a:ext cx="2482850" cy="6038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JetBrains Mono" panose="02010600030101010101" charset="-122"/>
              </a:rPr>
              <a:t>{</a:t>
            </a:r>
            <a:endParaRPr sz="1600" b="0" i="0">
              <a:solidFill>
                <a:schemeClr val="tx1">
                  <a:lumMod val="50000"/>
                  <a:lumOff val="50000"/>
                </a:schemeClr>
              </a:solidFill>
              <a:latin typeface="JetBrains Mono" panose="02010600030101010101" charset="-122"/>
            </a:endParaRPr>
          </a:p>
        </p:txBody>
      </p:sp>
      <p:sp>
        <p:nvSpPr>
          <p:cNvPr id="47" name="TextBox 25"/>
          <p:cNvSpPr txBox="1"/>
          <p:nvPr/>
        </p:nvSpPr>
        <p:spPr>
          <a:xfrm>
            <a:off x="1259840" y="3126740"/>
            <a:ext cx="2801620" cy="6038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JetBrains Mono" panose="02010600030101010101" charset="-122"/>
              </a:rPr>
              <a:t>  "source_ref": "course-v1:...",</a:t>
            </a:r>
            <a:endParaRPr sz="1600" b="0" i="0">
              <a:solidFill>
                <a:schemeClr val="tx1">
                  <a:lumMod val="50000"/>
                  <a:lumOff val="50000"/>
                </a:schemeClr>
              </a:solidFill>
              <a:latin typeface="JetBrains Mono" panose="02010600030101010101" charset="-122"/>
            </a:endParaRPr>
          </a:p>
        </p:txBody>
      </p:sp>
      <p:sp>
        <p:nvSpPr>
          <p:cNvPr id="48" name="TextBox 26"/>
          <p:cNvSpPr txBox="1"/>
          <p:nvPr/>
        </p:nvSpPr>
        <p:spPr>
          <a:xfrm>
            <a:off x="1259840" y="3473450"/>
            <a:ext cx="2482850" cy="6038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JetBrains Mono" panose="02010600030101010101" charset="-122"/>
              </a:rPr>
              <a:t>  "quote_eligible": true,</a:t>
            </a:r>
            <a:endParaRPr sz="1600" b="0" i="0">
              <a:solidFill>
                <a:schemeClr val="tx1">
                  <a:lumMod val="50000"/>
                  <a:lumOff val="50000"/>
                </a:schemeClr>
              </a:solidFill>
              <a:latin typeface="JetBrains Mono" panose="02010600030101010101" charset="-122"/>
            </a:endParaRPr>
          </a:p>
        </p:txBody>
      </p:sp>
      <p:sp>
        <p:nvSpPr>
          <p:cNvPr id="49" name="TextBox 27"/>
          <p:cNvSpPr txBox="1"/>
          <p:nvPr/>
        </p:nvSpPr>
        <p:spPr>
          <a:xfrm>
            <a:off x="1259840" y="3828415"/>
            <a:ext cx="2482850" cy="6038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JetBrains Mono" panose="02010600030101010101" charset="-122"/>
              </a:rPr>
              <a:t>  "citation_mode": "locator"</a:t>
            </a:r>
            <a:r>
              <a:rPr lang="en-US" altLang="zh-CN" sz="1200" b="0" i="0" dirty="0">
                <a:solidFill>
                  <a:srgbClr val="474479"/>
                </a:solidFill>
                <a:cs typeface="+mn-ea"/>
              </a:rPr>
              <a:t>,</a:t>
            </a:r>
            <a:endParaRPr sz="1600" b="0" i="0">
              <a:solidFill>
                <a:schemeClr val="tx1">
                  <a:lumMod val="50000"/>
                  <a:lumOff val="50000"/>
                </a:schemeClr>
              </a:solidFill>
              <a:latin typeface="JetBrains Mono" panose="02010600030101010101" charset="-122"/>
            </a:endParaRPr>
          </a:p>
        </p:txBody>
      </p:sp>
      <p:sp>
        <p:nvSpPr>
          <p:cNvPr id="50" name="TextBox 28"/>
          <p:cNvSpPr txBox="1"/>
          <p:nvPr/>
        </p:nvSpPr>
        <p:spPr>
          <a:xfrm>
            <a:off x="1259840" y="4140200"/>
            <a:ext cx="2482850" cy="6038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JetBrains Mono" panose="02010600030101010101" charset="-122"/>
              </a:rPr>
              <a:t>  "locator": {"page": 12,</a:t>
            </a:r>
            <a:endParaRPr sz="1600" b="0" i="0">
              <a:solidFill>
                <a:schemeClr val="tx1">
                  <a:lumMod val="50000"/>
                  <a:lumOff val="50000"/>
                </a:schemeClr>
              </a:solidFill>
              <a:latin typeface="JetBrains Mono" panose="02010600030101010101" charset="-122"/>
            </a:endParaRPr>
          </a:p>
        </p:txBody>
      </p:sp>
      <p:sp>
        <p:nvSpPr>
          <p:cNvPr id="51" name="TextBox 29"/>
          <p:cNvSpPr txBox="1"/>
          <p:nvPr/>
        </p:nvSpPr>
        <p:spPr>
          <a:xfrm>
            <a:off x="1193165" y="4482465"/>
            <a:ext cx="2482850" cy="6038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JetBrains Mono" panose="02010600030101010101" charset="-122"/>
              </a:rPr>
              <a:t>              "element": "p-07"}</a:t>
            </a:r>
            <a:endParaRPr sz="1600" b="0" i="0">
              <a:solidFill>
                <a:schemeClr val="tx1">
                  <a:lumMod val="50000"/>
                  <a:lumOff val="50000"/>
                </a:schemeClr>
              </a:solidFill>
              <a:latin typeface="JetBrains Mono" panose="02010600030101010101" charset="-122"/>
            </a:endParaRPr>
          </a:p>
        </p:txBody>
      </p:sp>
      <p:sp>
        <p:nvSpPr>
          <p:cNvPr id="52" name="TextBox 30"/>
          <p:cNvSpPr txBox="1"/>
          <p:nvPr/>
        </p:nvSpPr>
        <p:spPr>
          <a:xfrm>
            <a:off x="1193165" y="4848860"/>
            <a:ext cx="2482850" cy="7867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JetBrains Mono" panose="02010600030101010101" charset="-122"/>
              </a:rPr>
              <a:t>}</a:t>
            </a:r>
            <a:endParaRPr sz="1600" b="0" i="0">
              <a:solidFill>
                <a:schemeClr val="tx1">
                  <a:lumMod val="50000"/>
                  <a:lumOff val="50000"/>
                </a:schemeClr>
              </a:solidFill>
              <a:latin typeface="JetBrains Mono" panose="02010600030101010101" charset="-122"/>
            </a:endParaRPr>
          </a:p>
        </p:txBody>
      </p:sp>
      <p:sp>
        <p:nvSpPr>
          <p:cNvPr id="53" name="TextBox 31"/>
          <p:cNvSpPr txBox="1"/>
          <p:nvPr/>
        </p:nvSpPr>
        <p:spPr>
          <a:xfrm>
            <a:off x="1327150" y="5409565"/>
            <a:ext cx="2482850" cy="6534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sz="1000" b="0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sz="1000" b="0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</a:rPr>
              <a:t>展示内容与完整来源/审计数据分离</a:t>
            </a:r>
            <a:endParaRPr sz="1200" b="0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7184390" y="1666875"/>
            <a:ext cx="3303905" cy="381635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5B625F"/>
                </a:solidFill>
                <a:latin typeface="微软雅黑" panose="020B0503020204020204" charset="-122"/>
                <a:sym typeface="+mn-ea"/>
              </a:rPr>
              <a:t>来源注册表中的稳定引用标识</a:t>
            </a:r>
            <a:endParaRPr lang="zh-CN" altLang="en-US"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  <a:solidFill>
                <a:srgbClr val="5B625F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4" name="TextBox 7"/>
          <p:cNvSpPr txBox="1"/>
          <p:nvPr/>
        </p:nvSpPr>
        <p:spPr>
          <a:xfrm>
            <a:off x="6728460" y="1242060"/>
            <a:ext cx="23488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source_ref</a:t>
            </a:r>
            <a:endParaRPr lang="en-US" altLang="zh-CN" sz="1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63" name="Rounded Rectangle 46"/>
          <p:cNvSpPr/>
          <p:nvPr/>
        </p:nvSpPr>
        <p:spPr>
          <a:xfrm>
            <a:off x="5383530" y="2567305"/>
            <a:ext cx="807085" cy="812165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TextBox 9"/>
          <p:cNvSpPr txBox="1"/>
          <p:nvPr/>
        </p:nvSpPr>
        <p:spPr>
          <a:xfrm>
            <a:off x="5507355" y="2749550"/>
            <a:ext cx="586740" cy="271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 2</a:t>
            </a:r>
            <a:endParaRPr lang="en-US"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892810" y="240030"/>
            <a:ext cx="4396105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13 / EVIDENCE CONTRACT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证据不是字符串，是契约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  <a:buClrTx/>
              <a:buSzTx/>
              <a:buFontTx/>
            </a:pP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  <a:buClrTx/>
              <a:buSzTx/>
              <a:buFontTx/>
            </a:pPr>
            <a:endParaRPr lang="en-US" altLang="zh-CN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69" name="TextBox 7"/>
          <p:cNvSpPr txBox="1"/>
          <p:nvPr/>
        </p:nvSpPr>
        <p:spPr>
          <a:xfrm>
            <a:off x="6728460" y="2567305"/>
            <a:ext cx="23488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quote_eligible</a:t>
            </a:r>
            <a:endParaRPr lang="en-US" altLang="zh-CN" sz="1600" dirty="0">
              <a:solidFill>
                <a:srgbClr val="474479"/>
              </a:solidFill>
              <a:cs typeface="+mn-ea"/>
              <a:sym typeface="+mn-lt"/>
            </a:endParaRPr>
          </a:p>
          <a:p>
            <a:endParaRPr lang="en-US" altLang="zh-CN" sz="16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7184390" y="4342130"/>
            <a:ext cx="3303905" cy="962660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>
                <a:solidFill>
                  <a:srgbClr val="5B625F"/>
                </a:solidFill>
                <a:latin typeface="微软雅黑" panose="020B0503020204020204" charset="-122"/>
                <a:sym typeface="+mn-ea"/>
              </a:rPr>
              <a:t>按定位能力选择文档、章节或精确位置</a:t>
            </a:r>
            <a:endParaRPr>
              <a:solidFill>
                <a:srgbClr val="5B625F"/>
              </a:solidFill>
              <a:latin typeface="微软雅黑" panose="020B0503020204020204" charset="-122"/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  <a:solidFill>
                <a:srgbClr val="5B625F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1" name="TextBox 7"/>
          <p:cNvSpPr txBox="1"/>
          <p:nvPr/>
        </p:nvSpPr>
        <p:spPr>
          <a:xfrm>
            <a:off x="6786880" y="3936365"/>
            <a:ext cx="23488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citation_mode</a:t>
            </a:r>
            <a:endParaRPr lang="en-US" altLang="zh-CN" sz="1600" dirty="0">
              <a:solidFill>
                <a:srgbClr val="474479"/>
              </a:solidFill>
              <a:cs typeface="+mn-ea"/>
              <a:sym typeface="+mn-lt"/>
            </a:endParaRPr>
          </a:p>
          <a:p>
            <a:endParaRPr lang="en-US" altLang="zh-CN" sz="1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7252970" y="5704205"/>
            <a:ext cx="3303905" cy="962660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>
                <a:solidFill>
                  <a:srgbClr val="5B625F"/>
                </a:solidFill>
                <a:latin typeface="微软雅黑" panose="020B0503020204020204" charset="-122"/>
                <a:sym typeface="+mn-ea"/>
              </a:rPr>
              <a:t>Element、页码、bbox、parser artifact 可追溯</a:t>
            </a:r>
            <a:endParaRPr>
              <a:solidFill>
                <a:srgbClr val="5B625F"/>
              </a:solidFill>
              <a:latin typeface="微软雅黑" panose="020B0503020204020204" charset="-122"/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  <a:solidFill>
                <a:srgbClr val="5B625F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3" name="TextBox 7"/>
          <p:cNvSpPr txBox="1"/>
          <p:nvPr/>
        </p:nvSpPr>
        <p:spPr>
          <a:xfrm>
            <a:off x="6855460" y="5298440"/>
            <a:ext cx="23488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locator / provenance</a:t>
            </a:r>
            <a:endParaRPr lang="en-US" altLang="zh-CN" sz="16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7252970" y="2973070"/>
            <a:ext cx="3303905" cy="9626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5B625F"/>
                </a:solidFill>
                <a:latin typeface="微软雅黑" panose="020B0503020204020204" charset="-122"/>
                <a:sym typeface="+mn-ea"/>
              </a:rPr>
              <a:t>明确区分可引用文本与未知来源文本</a:t>
            </a:r>
            <a:endParaRPr>
              <a:solidFill>
                <a:srgbClr val="5B625F"/>
              </a:solidFill>
              <a:latin typeface="微软雅黑" panose="020B0503020204020204" charset="-122"/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970915" y="1229360"/>
            <a:ext cx="3555365" cy="645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25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来源定位、引用资格和展示策略在 RAG 层就显式表达，避免把不可核验文本包装成</a:t>
            </a:r>
            <a:r>
              <a:rPr sz="1400" b="0" i="0">
                <a:solidFill>
                  <a:srgbClr val="5B625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引用</a:t>
            </a:r>
            <a:endParaRPr sz="1400" b="0" i="0">
              <a:solidFill>
                <a:srgbClr val="5B625F"/>
              </a:solidFill>
              <a:latin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 animBg="1"/>
      <p:bldP spid="3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7" grpId="0"/>
      <p:bldP spid="18" grpId="0"/>
      <p:bldP spid="44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6" grpId="0"/>
      <p:bldP spid="54" grpId="0"/>
      <p:bldP spid="63" grpId="0" animBg="1"/>
      <p:bldP spid="64" grpId="0"/>
      <p:bldP spid="69" grpId="0"/>
      <p:bldP spid="70" grpId="0"/>
      <p:bldP spid="71" grpId="0"/>
      <p:bldP spid="73" grpId="0"/>
      <p:bldP spid="76" grpId="0"/>
      <p:bldP spid="8" grpId="0"/>
      <p:bldP spid="7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part.02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92810" y="240030"/>
            <a:ext cx="515112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14/ DENSE BASELINE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en-US" altLang="zh-CN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Dense </a:t>
            </a: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在三组公开集上稳定领先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21" name="TextBox 6"/>
          <p:cNvSpPr txBox="1"/>
          <p:nvPr/>
        </p:nvSpPr>
        <p:spPr>
          <a:xfrm>
            <a:off x="1007109" y="1146810"/>
            <a:ext cx="10667999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</a:rPr>
              <a:t>HIT@1：同一数据集内，BM25 → Qwen Dense 的真实对照</a:t>
            </a:r>
            <a:endParaRPr sz="1600" b="0">
              <a:solidFill>
                <a:schemeClr val="tx1">
                  <a:lumMod val="65000"/>
                  <a:lumOff val="35000"/>
                </a:schemeClr>
              </a:solidFill>
              <a:latin typeface="方正楷体_GBK" panose="02000000000000000000" charset="-122"/>
              <a:ea typeface="方正楷体_GBK" panose="02000000000000000000" charset="-122"/>
              <a:cs typeface="方正楷体_GBK" panose="02000000000000000000" charset="-122"/>
            </a:endParaRPr>
          </a:p>
        </p:txBody>
      </p:sp>
      <p:sp>
        <p:nvSpPr>
          <p:cNvPr id="22" name="TextBox 7"/>
          <p:cNvSpPr txBox="1"/>
          <p:nvPr/>
        </p:nvSpPr>
        <p:spPr>
          <a:xfrm>
            <a:off x="568324" y="1613535"/>
            <a:ext cx="4762499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RAW SCORE / </a:t>
            </a:r>
            <a:r>
              <a:rPr b="1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BM25 </a:t>
            </a:r>
            <a:r>
              <a:rPr sz="1600" b="1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→ DENSE</a:t>
            </a:r>
            <a:endParaRPr sz="1600" b="1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cxnSp>
        <p:nvCxnSpPr>
          <p:cNvPr id="23" name="Connector 8"/>
          <p:cNvCxnSpPr/>
          <p:nvPr/>
        </p:nvCxnSpPr>
        <p:spPr>
          <a:xfrm>
            <a:off x="609599" y="2571750"/>
            <a:ext cx="4724400" cy="0"/>
          </a:xfrm>
          <a:prstGeom prst="line">
            <a:avLst/>
          </a:prstGeom>
          <a:ln w="9525">
            <a:solidFill>
              <a:srgbClr val="4C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9"/>
          <p:cNvSpPr txBox="1"/>
          <p:nvPr/>
        </p:nvSpPr>
        <p:spPr>
          <a:xfrm>
            <a:off x="609599" y="2657475"/>
            <a:ext cx="1390649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DATASET</a:t>
            </a:r>
            <a:endParaRPr sz="1200" b="1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5" name="TextBox 10"/>
          <p:cNvSpPr txBox="1"/>
          <p:nvPr/>
        </p:nvSpPr>
        <p:spPr>
          <a:xfrm>
            <a:off x="2228849" y="2657475"/>
            <a:ext cx="761999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BM25</a:t>
            </a:r>
            <a:endParaRPr sz="1200" b="1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6" name="TextBox 11"/>
          <p:cNvSpPr txBox="1"/>
          <p:nvPr/>
        </p:nvSpPr>
        <p:spPr>
          <a:xfrm>
            <a:off x="3448049" y="2657475"/>
            <a:ext cx="1123949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DENSE</a:t>
            </a:r>
            <a:endParaRPr sz="1200" b="1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cxnSp>
        <p:nvCxnSpPr>
          <p:cNvPr id="27" name="Connector 12"/>
          <p:cNvCxnSpPr/>
          <p:nvPr/>
        </p:nvCxnSpPr>
        <p:spPr>
          <a:xfrm>
            <a:off x="609599" y="3533774"/>
            <a:ext cx="4724400" cy="0"/>
          </a:xfrm>
          <a:prstGeom prst="line">
            <a:avLst/>
          </a:prstGeom>
          <a:ln w="8255">
            <a:solidFill>
              <a:srgbClr val="4C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13"/>
          <p:cNvSpPr txBox="1"/>
          <p:nvPr/>
        </p:nvSpPr>
        <p:spPr>
          <a:xfrm>
            <a:off x="609599" y="3038475"/>
            <a:ext cx="142874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SciFact</a:t>
            </a:r>
            <a:endParaRPr sz="1300" b="1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9" name="TextBox 14"/>
          <p:cNvSpPr txBox="1"/>
          <p:nvPr/>
        </p:nvSpPr>
        <p:spPr>
          <a:xfrm>
            <a:off x="2114549" y="3067050"/>
            <a:ext cx="876299" cy="190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53.33%</a:t>
            </a:r>
            <a:endParaRPr sz="1300" b="0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0" name="TextBox 15"/>
          <p:cNvSpPr txBox="1"/>
          <p:nvPr/>
        </p:nvSpPr>
        <p:spPr>
          <a:xfrm>
            <a:off x="3028949" y="2981325"/>
            <a:ext cx="1543049" cy="3238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64.33%</a:t>
            </a:r>
            <a:endParaRPr sz="2300" b="1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cxnSp>
        <p:nvCxnSpPr>
          <p:cNvPr id="33" name="Connector 18"/>
          <p:cNvCxnSpPr/>
          <p:nvPr/>
        </p:nvCxnSpPr>
        <p:spPr>
          <a:xfrm>
            <a:off x="609599" y="4257675"/>
            <a:ext cx="4724400" cy="0"/>
          </a:xfrm>
          <a:prstGeom prst="line">
            <a:avLst/>
          </a:prstGeom>
          <a:ln w="8255">
            <a:solidFill>
              <a:srgbClr val="4C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19"/>
          <p:cNvSpPr txBox="1"/>
          <p:nvPr/>
        </p:nvSpPr>
        <p:spPr>
          <a:xfrm>
            <a:off x="609599" y="3762374"/>
            <a:ext cx="142874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XOR-TyDi</a:t>
            </a:r>
            <a:endParaRPr sz="1300" b="1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5" name="TextBox 20"/>
          <p:cNvSpPr txBox="1"/>
          <p:nvPr/>
        </p:nvSpPr>
        <p:spPr>
          <a:xfrm>
            <a:off x="2114549" y="3790949"/>
            <a:ext cx="876299" cy="190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5.66%</a:t>
            </a:r>
            <a:endParaRPr sz="1300" b="0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6" name="TextBox 21"/>
          <p:cNvSpPr txBox="1"/>
          <p:nvPr/>
        </p:nvSpPr>
        <p:spPr>
          <a:xfrm>
            <a:off x="3028949" y="3705224"/>
            <a:ext cx="1543049" cy="3238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76.93%</a:t>
            </a:r>
            <a:endParaRPr sz="2300" b="1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cxnSp>
        <p:nvCxnSpPr>
          <p:cNvPr id="39" name="Connector 24"/>
          <p:cNvCxnSpPr/>
          <p:nvPr/>
        </p:nvCxnSpPr>
        <p:spPr>
          <a:xfrm>
            <a:off x="609599" y="4981574"/>
            <a:ext cx="4724400" cy="0"/>
          </a:xfrm>
          <a:prstGeom prst="line">
            <a:avLst/>
          </a:prstGeom>
          <a:ln w="8255">
            <a:solidFill>
              <a:srgbClr val="4C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25"/>
          <p:cNvSpPr txBox="1"/>
          <p:nvPr/>
        </p:nvSpPr>
        <p:spPr>
          <a:xfrm>
            <a:off x="609599" y="4486275"/>
            <a:ext cx="142874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M3DocVQA</a:t>
            </a:r>
            <a:endParaRPr sz="1300" b="1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1" name="TextBox 26"/>
          <p:cNvSpPr txBox="1"/>
          <p:nvPr/>
        </p:nvSpPr>
        <p:spPr>
          <a:xfrm>
            <a:off x="2114549" y="4514850"/>
            <a:ext cx="876299" cy="190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79.89%</a:t>
            </a:r>
            <a:endParaRPr sz="1300" b="0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2" name="TextBox 27"/>
          <p:cNvSpPr txBox="1"/>
          <p:nvPr/>
        </p:nvSpPr>
        <p:spPr>
          <a:xfrm>
            <a:off x="3028949" y="4429125"/>
            <a:ext cx="1543049" cy="3238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86.52%</a:t>
            </a:r>
            <a:endParaRPr sz="2300" b="1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5" name="Rectangle 30"/>
          <p:cNvSpPr/>
          <p:nvPr/>
        </p:nvSpPr>
        <p:spPr>
          <a:xfrm>
            <a:off x="609599" y="5019675"/>
            <a:ext cx="4724399" cy="542925"/>
          </a:xfrm>
          <a:prstGeom prst="rect">
            <a:avLst/>
          </a:prstGeom>
          <a:solidFill>
            <a:srgbClr val="72719F"/>
          </a:solidFill>
          <a:ln w="8255">
            <a:solidFill>
              <a:srgbClr val="4C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6" name="TextBox 31"/>
          <p:cNvSpPr txBox="1"/>
          <p:nvPr/>
        </p:nvSpPr>
        <p:spPr>
          <a:xfrm>
            <a:off x="761999" y="5124449"/>
            <a:ext cx="1162049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chemeClr val="bg1"/>
                </a:solidFill>
                <a:latin typeface="Bahnschrift SemiBold" panose="020B0502040204020203" charset="0"/>
                <a:cs typeface="Bahnschrift SemiBold" panose="020B0502040204020203" charset="0"/>
              </a:rPr>
              <a:t>ABSOLUTE </a:t>
            </a:r>
            <a:r>
              <a:rPr sz="1000" b="1">
                <a:solidFill>
                  <a:schemeClr val="bg1"/>
                </a:solidFill>
                <a:latin typeface="Bahnschrift SemiBold" panose="020B0502040204020203" charset="0"/>
                <a:cs typeface="Bahnschrift SemiBold" panose="020B0502040204020203" charset="0"/>
              </a:rPr>
              <a:t>GAIN</a:t>
            </a:r>
            <a:endParaRPr sz="1000" b="1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7" name="TextBox 32"/>
          <p:cNvSpPr txBox="1"/>
          <p:nvPr/>
        </p:nvSpPr>
        <p:spPr>
          <a:xfrm>
            <a:off x="761999" y="5324474"/>
            <a:ext cx="4171949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chemeClr val="bg1"/>
                </a:solidFill>
                <a:latin typeface="Bahnschrift SemiBold" panose="020B0502040204020203" charset="0"/>
                <a:cs typeface="Bahnschrift SemiBold" panose="020B0502040204020203" charset="0"/>
              </a:rPr>
              <a:t>SciFact +11.00 pp  ·  XOR-TyDi +71.27 pp  ·  M3DocVQA +6.63 pp</a:t>
            </a:r>
            <a:endParaRPr sz="1000" b="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8" name="TextBox 33"/>
          <p:cNvSpPr txBox="1"/>
          <p:nvPr/>
        </p:nvSpPr>
        <p:spPr>
          <a:xfrm>
            <a:off x="5753099" y="1613535"/>
            <a:ext cx="5333999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RELATIVE </a:t>
            </a:r>
            <a:r>
              <a:rPr sz="1600" b="1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LIFT / VS BM25</a:t>
            </a:r>
            <a:endParaRPr sz="1600" b="1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9" name="TextBox 34"/>
          <p:cNvSpPr txBox="1"/>
          <p:nvPr/>
        </p:nvSpPr>
        <p:spPr>
          <a:xfrm>
            <a:off x="5753099" y="2044065"/>
            <a:ext cx="5333999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>
                    <a:lumMod val="50000"/>
                    <a:lumOff val="50000"/>
                  </a:schemeClr>
                </a:solidFill>
                <a:latin typeface="JetBrains Mono" panose="02010600030101010101" charset="-122"/>
              </a:rPr>
              <a:t>按相对涨幅排序 · arrow height = relative uplift</a:t>
            </a:r>
            <a:endParaRPr sz="1600" b="0">
              <a:solidFill>
                <a:schemeClr val="tx1">
                  <a:lumMod val="50000"/>
                  <a:lumOff val="50000"/>
                </a:schemeClr>
              </a:solidFill>
              <a:latin typeface="JetBrains Mono" panose="02010600030101010101" charset="-122"/>
            </a:endParaRPr>
          </a:p>
        </p:txBody>
      </p:sp>
      <p:cxnSp>
        <p:nvCxnSpPr>
          <p:cNvPr id="50" name="Connector 35"/>
          <p:cNvCxnSpPr/>
          <p:nvPr/>
        </p:nvCxnSpPr>
        <p:spPr>
          <a:xfrm>
            <a:off x="5905499" y="5143500"/>
            <a:ext cx="5562600" cy="0"/>
          </a:xfrm>
          <a:prstGeom prst="line">
            <a:avLst/>
          </a:prstGeom>
          <a:ln w="12700">
            <a:solidFill>
              <a:srgbClr val="4C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Up Arrow 36"/>
          <p:cNvSpPr/>
          <p:nvPr/>
        </p:nvSpPr>
        <p:spPr>
          <a:xfrm>
            <a:off x="6324600" y="4429125"/>
            <a:ext cx="1066800" cy="714375"/>
          </a:xfrm>
          <a:prstGeom prst="upArrow">
            <a:avLst/>
          </a:prstGeom>
          <a:solidFill>
            <a:srgbClr val="8C8BB1"/>
          </a:solidFill>
          <a:ln w="10160">
            <a:solidFill>
              <a:srgbClr val="666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37"/>
          <p:cNvCxnSpPr/>
          <p:nvPr/>
        </p:nvCxnSpPr>
        <p:spPr>
          <a:xfrm>
            <a:off x="6857999" y="4581524"/>
            <a:ext cx="0" cy="381001"/>
          </a:xfrm>
          <a:prstGeom prst="line">
            <a:avLst/>
          </a:prstGeom>
          <a:ln w="10160">
            <a:solidFill>
              <a:srgbClr val="D7D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38"/>
          <p:cNvSpPr txBox="1"/>
          <p:nvPr/>
        </p:nvSpPr>
        <p:spPr>
          <a:xfrm>
            <a:off x="6391274" y="4695824"/>
            <a:ext cx="933449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7F7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+8.3%</a:t>
            </a:r>
            <a:endParaRPr sz="1200" b="1">
              <a:solidFill>
                <a:srgbClr val="F7F7F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39"/>
          <p:cNvSpPr txBox="1"/>
          <p:nvPr/>
        </p:nvSpPr>
        <p:spPr>
          <a:xfrm>
            <a:off x="6134099" y="5238749"/>
            <a:ext cx="1447799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chemeClr val="tx1">
                    <a:lumMod val="75000"/>
                    <a:lumOff val="25000"/>
                  </a:schemeClr>
                </a:solidFill>
                <a:latin typeface="Noto Sans SC" panose="020B0200000000000000" charset="-122"/>
              </a:rPr>
              <a:t>M3DocVQA</a:t>
            </a:r>
            <a:endParaRPr sz="950" b="1">
              <a:solidFill>
                <a:schemeClr val="tx1">
                  <a:lumMod val="75000"/>
                  <a:lumOff val="25000"/>
                </a:schemeClr>
              </a:solidFill>
              <a:latin typeface="Noto Sans SC" panose="020B0200000000000000" charset="-122"/>
            </a:endParaRPr>
          </a:p>
        </p:txBody>
      </p:sp>
      <p:sp>
        <p:nvSpPr>
          <p:cNvPr id="55" name="TextBox 40"/>
          <p:cNvSpPr txBox="1"/>
          <p:nvPr/>
        </p:nvSpPr>
        <p:spPr>
          <a:xfrm>
            <a:off x="6134099" y="5378450"/>
            <a:ext cx="1447799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79.89% → 86.52%</a:t>
            </a:r>
            <a:endParaRPr sz="1200" b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41"/>
          <p:cNvSpPr txBox="1"/>
          <p:nvPr/>
        </p:nvSpPr>
        <p:spPr>
          <a:xfrm>
            <a:off x="6134099" y="4184649"/>
            <a:ext cx="1447799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Bahnschrift" panose="020B0502040204020203" charset="0"/>
                <a:cs typeface="Bahnschrift" panose="020B0502040204020203" charset="0"/>
              </a:rPr>
              <a:t>DENSE</a:t>
            </a:r>
            <a:endParaRPr sz="1400" b="1">
              <a:solidFill>
                <a:schemeClr val="tx1">
                  <a:lumMod val="65000"/>
                  <a:lumOff val="35000"/>
                </a:schemeClr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57" name="Up Arrow 42"/>
          <p:cNvSpPr/>
          <p:nvPr/>
        </p:nvSpPr>
        <p:spPr>
          <a:xfrm>
            <a:off x="7962899" y="3809999"/>
            <a:ext cx="1066799" cy="1333500"/>
          </a:xfrm>
          <a:prstGeom prst="upArrow">
            <a:avLst/>
          </a:prstGeom>
          <a:solidFill>
            <a:srgbClr val="7E7CA2"/>
          </a:solidFill>
          <a:ln w="10160">
            <a:solidFill>
              <a:srgbClr val="666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43"/>
          <p:cNvCxnSpPr/>
          <p:nvPr/>
        </p:nvCxnSpPr>
        <p:spPr>
          <a:xfrm>
            <a:off x="8496299" y="4105274"/>
            <a:ext cx="0" cy="857251"/>
          </a:xfrm>
          <a:prstGeom prst="line">
            <a:avLst/>
          </a:prstGeom>
          <a:ln w="10160">
            <a:solidFill>
              <a:srgbClr val="D7D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44"/>
          <p:cNvSpPr txBox="1"/>
          <p:nvPr/>
        </p:nvSpPr>
        <p:spPr>
          <a:xfrm>
            <a:off x="8029574" y="4219575"/>
            <a:ext cx="933449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7F7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sz="1200" b="1">
                <a:solidFill>
                  <a:srgbClr val="F7F7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20.6%</a:t>
            </a:r>
            <a:endParaRPr sz="1200" b="1">
              <a:solidFill>
                <a:srgbClr val="F7F7F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45"/>
          <p:cNvSpPr txBox="1"/>
          <p:nvPr/>
        </p:nvSpPr>
        <p:spPr>
          <a:xfrm>
            <a:off x="7772399" y="5238749"/>
            <a:ext cx="1447799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chemeClr val="tx1">
                    <a:lumMod val="75000"/>
                    <a:lumOff val="25000"/>
                  </a:schemeClr>
                </a:solidFill>
                <a:latin typeface="Noto Sans SC" panose="020B0200000000000000" charset="-122"/>
              </a:rPr>
              <a:t>SciFact</a:t>
            </a:r>
            <a:endParaRPr sz="950" b="1">
              <a:solidFill>
                <a:schemeClr val="tx1">
                  <a:lumMod val="75000"/>
                  <a:lumOff val="25000"/>
                </a:schemeClr>
              </a:solidFill>
              <a:latin typeface="Noto Sans SC" panose="020B0200000000000000" charset="-122"/>
            </a:endParaRPr>
          </a:p>
        </p:txBody>
      </p:sp>
      <p:sp>
        <p:nvSpPr>
          <p:cNvPr id="61" name="TextBox 46"/>
          <p:cNvSpPr txBox="1"/>
          <p:nvPr/>
        </p:nvSpPr>
        <p:spPr>
          <a:xfrm>
            <a:off x="7772399" y="5378450"/>
            <a:ext cx="1447799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53.33% → 64.33%</a:t>
            </a:r>
            <a:endParaRPr sz="1200" b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47"/>
          <p:cNvSpPr txBox="1"/>
          <p:nvPr/>
        </p:nvSpPr>
        <p:spPr>
          <a:xfrm>
            <a:off x="7772399" y="3575685"/>
            <a:ext cx="1447799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Bahnschrift" panose="020B0502040204020203" charset="0"/>
                <a:cs typeface="Bahnschrift" panose="020B0502040204020203" charset="0"/>
              </a:rPr>
              <a:t>DENSE</a:t>
            </a:r>
            <a:endParaRPr sz="1400" b="1">
              <a:solidFill>
                <a:schemeClr val="tx1">
                  <a:lumMod val="65000"/>
                  <a:lumOff val="35000"/>
                </a:schemeClr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63" name="Up Arrow 48"/>
          <p:cNvSpPr/>
          <p:nvPr/>
        </p:nvSpPr>
        <p:spPr>
          <a:xfrm>
            <a:off x="9410700" y="2447290"/>
            <a:ext cx="1599565" cy="2696210"/>
          </a:xfrm>
          <a:prstGeom prst="upArrow">
            <a:avLst/>
          </a:prstGeom>
          <a:solidFill>
            <a:srgbClr val="72719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49"/>
          <p:cNvCxnSpPr/>
          <p:nvPr/>
        </p:nvCxnSpPr>
        <p:spPr>
          <a:xfrm>
            <a:off x="10210799" y="3152775"/>
            <a:ext cx="0" cy="1809750"/>
          </a:xfrm>
          <a:prstGeom prst="line">
            <a:avLst/>
          </a:prstGeom>
          <a:ln>
            <a:solidFill>
              <a:srgbClr val="AFBADD"/>
            </a:solidFill>
          </a:ln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5" name="TextBox 50"/>
          <p:cNvSpPr txBox="1"/>
          <p:nvPr/>
        </p:nvSpPr>
        <p:spPr>
          <a:xfrm>
            <a:off x="9667874" y="3619499"/>
            <a:ext cx="1085849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F7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13.</a:t>
            </a:r>
            <a:r>
              <a:rPr sz="1400" b="1">
                <a:solidFill>
                  <a:srgbClr val="F7F7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59</a:t>
            </a:r>
            <a:r>
              <a:rPr sz="1600" b="1">
                <a:solidFill>
                  <a:srgbClr val="F7F7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endParaRPr sz="1600" b="1">
              <a:solidFill>
                <a:srgbClr val="F7F7F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Box 51"/>
          <p:cNvSpPr txBox="1"/>
          <p:nvPr/>
        </p:nvSpPr>
        <p:spPr>
          <a:xfrm>
            <a:off x="9648824" y="4000500"/>
            <a:ext cx="1123949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7F7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+1,</a:t>
            </a:r>
            <a:r>
              <a:rPr sz="1200" b="1">
                <a:solidFill>
                  <a:srgbClr val="F7F7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259.2%</a:t>
            </a:r>
            <a:endParaRPr sz="1200" b="1">
              <a:solidFill>
                <a:srgbClr val="F7F7F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52"/>
          <p:cNvSpPr txBox="1"/>
          <p:nvPr/>
        </p:nvSpPr>
        <p:spPr>
          <a:xfrm>
            <a:off x="9410699" y="5238749"/>
            <a:ext cx="1600199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chemeClr val="tx1">
                    <a:lumMod val="75000"/>
                    <a:lumOff val="25000"/>
                  </a:schemeClr>
                </a:solidFill>
                <a:latin typeface="Noto Sans SC" panose="020B0200000000000000" charset="-122"/>
              </a:rPr>
              <a:t>XOR-TyDi</a:t>
            </a:r>
            <a:endParaRPr sz="950" b="1">
              <a:solidFill>
                <a:schemeClr val="tx1">
                  <a:lumMod val="75000"/>
                  <a:lumOff val="25000"/>
                </a:schemeClr>
              </a:solidFill>
              <a:latin typeface="Noto Sans SC" panose="020B0200000000000000" charset="-122"/>
            </a:endParaRPr>
          </a:p>
        </p:txBody>
      </p:sp>
      <p:sp>
        <p:nvSpPr>
          <p:cNvPr id="68" name="TextBox 53"/>
          <p:cNvSpPr txBox="1"/>
          <p:nvPr/>
        </p:nvSpPr>
        <p:spPr>
          <a:xfrm>
            <a:off x="9410699" y="5378450"/>
            <a:ext cx="1600199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5.66% → 76.93%</a:t>
            </a:r>
            <a:endParaRPr sz="1200" b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Box 54"/>
          <p:cNvSpPr txBox="1"/>
          <p:nvPr/>
        </p:nvSpPr>
        <p:spPr>
          <a:xfrm>
            <a:off x="9410699" y="2232024"/>
            <a:ext cx="1600199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Bahnschrift" panose="020B0502040204020203" charset="0"/>
                <a:cs typeface="Bahnschrift" panose="020B0502040204020203" charset="0"/>
              </a:rPr>
              <a:t>DENSE</a:t>
            </a:r>
            <a:endParaRPr sz="1400" b="1">
              <a:solidFill>
                <a:schemeClr val="tx1">
                  <a:lumMod val="65000"/>
                  <a:lumOff val="35000"/>
                </a:schemeClr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70" name="TextBox 55"/>
          <p:cNvSpPr txBox="1"/>
          <p:nvPr/>
        </p:nvSpPr>
        <p:spPr>
          <a:xfrm>
            <a:off x="5905499" y="5562600"/>
            <a:ext cx="5333999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HIT@1 · relative uplift = (Dense - BM25) / BM25</a:t>
            </a:r>
            <a:endParaRPr sz="1200" b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Rectangle 56"/>
          <p:cNvSpPr/>
          <p:nvPr/>
        </p:nvSpPr>
        <p:spPr>
          <a:xfrm>
            <a:off x="609599" y="5791200"/>
            <a:ext cx="10972799" cy="361950"/>
          </a:xfrm>
          <a:prstGeom prst="rect">
            <a:avLst/>
          </a:prstGeom>
          <a:solidFill>
            <a:srgbClr val="727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57"/>
          <p:cNvSpPr txBox="1"/>
          <p:nvPr/>
        </p:nvSpPr>
        <p:spPr>
          <a:xfrm>
            <a:off x="781049" y="5886450"/>
            <a:ext cx="1200149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chemeClr val="bg1"/>
                </a:solidFill>
                <a:latin typeface="Noto Sans SC" panose="020B0200000000000000" charset="-122"/>
              </a:rPr>
              <a:t>主结论</a:t>
            </a:r>
            <a:endParaRPr sz="1400" b="1">
              <a:solidFill>
                <a:schemeClr val="bg1"/>
              </a:solidFill>
              <a:latin typeface="Noto Sans SC" panose="020B0200000000000000" charset="-122"/>
            </a:endParaRPr>
          </a:p>
        </p:txBody>
      </p:sp>
      <p:sp>
        <p:nvSpPr>
          <p:cNvPr id="73" name="TextBox 58"/>
          <p:cNvSpPr txBox="1"/>
          <p:nvPr/>
        </p:nvSpPr>
        <p:spPr>
          <a:xfrm>
            <a:off x="2133599" y="5867399"/>
            <a:ext cx="8953499" cy="2190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7F7F4"/>
                </a:solidFill>
                <a:latin typeface="Noto Sans SC" panose="020B0200000000000000" charset="-122"/>
              </a:rPr>
              <a:t>跨语言场景：Hit@1 从 5.66% 提升到 76.93%，相对 BM25 为 13.59×。</a:t>
            </a:r>
            <a:endParaRPr sz="1150" b="1">
              <a:solidFill>
                <a:srgbClr val="F7F7F4"/>
              </a:solidFill>
              <a:latin typeface="Noto Sans SC" panose="020B0200000000000000" charset="-122"/>
            </a:endParaRPr>
          </a:p>
        </p:txBody>
      </p:sp>
      <p:sp>
        <p:nvSpPr>
          <p:cNvPr id="75" name="TextBox 60"/>
          <p:cNvSpPr txBox="1"/>
          <p:nvPr/>
        </p:nvSpPr>
        <p:spPr>
          <a:xfrm>
            <a:off x="609599" y="6348095"/>
            <a:ext cx="9524999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文档级检索结果；不等同于端到端问答准确率 · XOR-TyDi 使用 GoldParagraph 候选语料</a:t>
            </a:r>
            <a:endParaRPr sz="1000" b="0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3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6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9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8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1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4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500"/>
                            </p:stCondLst>
                            <p:childTnLst>
                              <p:par>
                                <p:cTn id="9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000"/>
                            </p:stCondLst>
                            <p:childTnLst>
                              <p:par>
                                <p:cTn id="9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6" grpId="0"/>
      <p:bldP spid="59" grpId="0"/>
      <p:bldP spid="62" grpId="0"/>
      <p:bldP spid="65" grpId="0"/>
      <p:bldP spid="66" grpId="0"/>
      <p:bldP spid="69" grpId="0"/>
      <p:bldP spid="24" grpId="0"/>
      <p:bldP spid="25" grpId="0"/>
      <p:bldP spid="26" grpId="0"/>
      <p:bldP spid="28" grpId="0"/>
      <p:bldP spid="29" grpId="0"/>
      <p:bldP spid="30" grpId="0"/>
      <p:bldP spid="34" grpId="0"/>
      <p:bldP spid="35" grpId="0"/>
      <p:bldP spid="36" grpId="0"/>
      <p:bldP spid="40" grpId="0"/>
      <p:bldP spid="41" grpId="0"/>
      <p:bldP spid="42" grpId="0"/>
      <p:bldP spid="46" grpId="0"/>
      <p:bldP spid="47" grpId="0"/>
      <p:bldP spid="51" grpId="0" animBg="1"/>
      <p:bldP spid="57" grpId="0" animBg="1"/>
      <p:bldP spid="6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part.02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43305" y="6540386"/>
            <a:ext cx="180020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/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/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/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/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92810" y="240030"/>
            <a:ext cx="3973195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15/ ABLATION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不是模块越多越好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  <a:buClrTx/>
              <a:buSzTx/>
              <a:buFontTx/>
            </a:pP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35000" y="2219325"/>
          <a:ext cx="10737850" cy="2222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7570"/>
                <a:gridCol w="2147570"/>
                <a:gridCol w="2147570"/>
                <a:gridCol w="2147570"/>
                <a:gridCol w="2147570"/>
              </a:tblGrid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nDCG@10</a:t>
                      </a:r>
                      <a:endParaRPr sz="1400" b="1">
                        <a:solidFill>
                          <a:srgbClr val="FFFFF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57150">
                    <a:solidFill>
                      <a:srgbClr val="8C8B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BM25</a:t>
                      </a:r>
                      <a:endParaRPr sz="1400" b="1">
                        <a:solidFill>
                          <a:srgbClr val="FFFFF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57150">
                    <a:solidFill>
                      <a:srgbClr val="8C8B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DENSE</a:t>
                      </a:r>
                      <a:endParaRPr sz="1400" b="1">
                        <a:solidFill>
                          <a:srgbClr val="FFFFF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57150">
                    <a:solidFill>
                      <a:srgbClr val="8C8B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等权 RRF</a:t>
                      </a:r>
                      <a:endParaRPr sz="1400" b="1">
                        <a:solidFill>
                          <a:srgbClr val="FFFFF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57150">
                    <a:solidFill>
                      <a:srgbClr val="8C8B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直接 RERANKER</a:t>
                      </a:r>
                      <a:endParaRPr sz="1400" b="1">
                        <a:solidFill>
                          <a:srgbClr val="FFFFF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57150">
                    <a:solidFill>
                      <a:srgbClr val="8C8BB1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25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SciFact</a:t>
                      </a:r>
                      <a:endParaRPr sz="1400" b="0">
                        <a:solidFill>
                          <a:srgbClr val="5B625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25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0.6565</a:t>
                      </a:r>
                      <a:endParaRPr sz="1400" b="0">
                        <a:solidFill>
                          <a:srgbClr val="5B625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74479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0.7773</a:t>
                      </a:r>
                      <a:endParaRPr sz="1400" b="1">
                        <a:solidFill>
                          <a:srgbClr val="474479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76200" marB="38100">
                    <a:solidFill>
                      <a:srgbClr val="E4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25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0.7263</a:t>
                      </a:r>
                      <a:endParaRPr sz="1400" b="0">
                        <a:solidFill>
                          <a:srgbClr val="5B625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25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0.4046</a:t>
                      </a:r>
                      <a:endParaRPr sz="1400" b="0">
                        <a:solidFill>
                          <a:srgbClr val="5B625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25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XOR-TyDi</a:t>
                      </a:r>
                      <a:endParaRPr sz="1400" b="0">
                        <a:solidFill>
                          <a:srgbClr val="5B625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25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0.0705</a:t>
                      </a:r>
                      <a:endParaRPr sz="1400" b="0">
                        <a:solidFill>
                          <a:srgbClr val="5B625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74479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0.8917</a:t>
                      </a:r>
                      <a:endParaRPr sz="1400" b="1">
                        <a:solidFill>
                          <a:srgbClr val="474479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76200" marB="38100">
                    <a:solidFill>
                      <a:srgbClr val="E4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25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0.8367</a:t>
                      </a:r>
                      <a:endParaRPr sz="1400" b="0">
                        <a:solidFill>
                          <a:srgbClr val="5B625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25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0.4634</a:t>
                      </a:r>
                      <a:endParaRPr sz="1400" b="0">
                        <a:solidFill>
                          <a:srgbClr val="5B625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25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M3DocVQA</a:t>
                      </a:r>
                      <a:endParaRPr sz="1400" b="0">
                        <a:solidFill>
                          <a:srgbClr val="5B625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25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0.8070</a:t>
                      </a:r>
                      <a:endParaRPr sz="1400" b="0">
                        <a:solidFill>
                          <a:srgbClr val="5B625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74479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0.8594</a:t>
                      </a:r>
                      <a:endParaRPr sz="1400" b="1">
                        <a:solidFill>
                          <a:srgbClr val="474479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76200" marB="38100">
                    <a:solidFill>
                      <a:srgbClr val="E4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25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0.8600</a:t>
                      </a:r>
                      <a:endParaRPr sz="1400" b="0">
                        <a:solidFill>
                          <a:srgbClr val="5B625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25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0.6020</a:t>
                      </a:r>
                      <a:endParaRPr sz="1400" b="0">
                        <a:solidFill>
                          <a:srgbClr val="5B625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6"/>
          <p:cNvSpPr txBox="1"/>
          <p:nvPr/>
        </p:nvSpPr>
        <p:spPr>
          <a:xfrm>
            <a:off x="6760210" y="5847080"/>
            <a:ext cx="4612640" cy="340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微软雅黑" panose="020B0503020204020204" charset="-122"/>
              </a:rPr>
              <a:t>实验支持有证据的保守路由，而不支持把所有检索模块默认串起来</a:t>
            </a:r>
            <a:endParaRPr sz="1200" b="0" i="0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67380" y="1598295"/>
            <a:ext cx="5701030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latin typeface="清雅黑体" panose="00000500000000000000" charset="-122"/>
                <a:ea typeface="清雅黑体" panose="00000500000000000000" charset="-122"/>
                <a:cs typeface="清雅黑体" panose="00000500000000000000" charset="-122"/>
              </a:rPr>
              <a:t>检索策略消融结果：三组公开数据集的 </a:t>
            </a:r>
            <a:r>
              <a:rPr lang="en-US" altLang="zh-CN">
                <a:solidFill>
                  <a:schemeClr val="tx1">
                    <a:lumMod val="50000"/>
                    <a:lumOff val="50000"/>
                  </a:schemeClr>
                </a:solidFill>
                <a:latin typeface="清雅黑体" panose="00000500000000000000" charset="-122"/>
                <a:ea typeface="清雅黑体" panose="00000500000000000000" charset="-122"/>
                <a:cs typeface="清雅黑体" panose="00000500000000000000" charset="-122"/>
              </a:rPr>
              <a:t>nDCG@10 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latin typeface="清雅黑体" panose="00000500000000000000" charset="-122"/>
                <a:ea typeface="清雅黑体" panose="00000500000000000000" charset="-122"/>
                <a:cs typeface="清雅黑体" panose="00000500000000000000" charset="-122"/>
              </a:rPr>
              <a:t>对比</a:t>
            </a: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清雅黑体" panose="00000500000000000000" charset="-122"/>
              <a:ea typeface="清雅黑体" panose="00000500000000000000" charset="-122"/>
              <a:cs typeface="清雅黑体" panose="000005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81990" y="4838700"/>
            <a:ext cx="827151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</a:rPr>
              <a:t>Dense </a:t>
            </a:r>
            <a:r>
              <a:rPr lang="zh-CN" alt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在 </a:t>
            </a:r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</a:rPr>
              <a:t>SciFact </a:t>
            </a:r>
            <a:r>
              <a:rPr lang="zh-CN" alt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与 </a:t>
            </a:r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</a:rPr>
              <a:t>XOR-TyDi </a:t>
            </a:r>
            <a:r>
              <a:rPr lang="zh-CN" alt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上最优，在 </a:t>
            </a:r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</a:rPr>
              <a:t>M3DocVQA </a:t>
            </a:r>
            <a:r>
              <a:rPr lang="zh-CN" alt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上与等权 </a:t>
            </a:r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</a:rPr>
              <a:t>RRF </a:t>
            </a:r>
            <a:r>
              <a:rPr lang="zh-CN" alt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基本持平</a:t>
            </a:r>
            <a:endParaRPr lang="zh-CN" altLang="en-US" sz="16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part.02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43305" y="6540386"/>
            <a:ext cx="180020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/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/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/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/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92810" y="240030"/>
            <a:ext cx="475869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14 / NEXT ITERATION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下一步优化有效证据比例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985520" y="5980430"/>
            <a:ext cx="4612640" cy="340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0" i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微软雅黑" panose="020B0503020204020204" charset="-122"/>
              </a:rPr>
              <a:t>每个改动都要通过冻结独立测试集验证</a:t>
            </a:r>
            <a:endParaRPr lang="zh-CN" altLang="en-US" sz="1200" b="0" i="0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200" b="0" i="0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微软雅黑" panose="020B0503020204020204" charset="-122"/>
            </a:endParaRPr>
          </a:p>
        </p:txBody>
      </p:sp>
      <p:grpSp>
        <p:nvGrpSpPr>
          <p:cNvPr id="45" name="Group 14"/>
          <p:cNvGrpSpPr/>
          <p:nvPr>
            <p:custDataLst>
              <p:tags r:id="rId1"/>
            </p:custDataLst>
          </p:nvPr>
        </p:nvGrpSpPr>
        <p:grpSpPr>
          <a:xfrm>
            <a:off x="985520" y="2145030"/>
            <a:ext cx="10219055" cy="2568575"/>
            <a:chOff x="601673" y="2092002"/>
            <a:chExt cx="7940655" cy="1995954"/>
          </a:xfrm>
          <a:solidFill>
            <a:srgbClr val="8C8BB1"/>
          </a:solidFill>
        </p:grpSpPr>
        <p:sp>
          <p:nvSpPr>
            <p:cNvPr id="46" name="Arc 4"/>
            <p:cNvSpPr/>
            <p:nvPr>
              <p:custDataLst>
                <p:tags r:id="rId2"/>
              </p:custDataLst>
            </p:nvPr>
          </p:nvSpPr>
          <p:spPr bwMode="auto">
            <a:xfrm>
              <a:off x="4571754" y="2101871"/>
              <a:ext cx="1985534" cy="1986085"/>
            </a:xfrm>
            <a:prstGeom prst="arc">
              <a:avLst>
                <a:gd name="adj1" fmla="val 6568"/>
                <a:gd name="adj2" fmla="val 10805652"/>
              </a:avLst>
            </a:prstGeom>
            <a:solidFill>
              <a:srgbClr val="AFBADD"/>
            </a:solidFill>
            <a:ln w="127000" cap="rnd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1" name="Arc 5"/>
            <p:cNvSpPr/>
            <p:nvPr>
              <p:custDataLst>
                <p:tags r:id="rId3"/>
              </p:custDataLst>
            </p:nvPr>
          </p:nvSpPr>
          <p:spPr bwMode="auto">
            <a:xfrm>
              <a:off x="601673" y="2101806"/>
              <a:ext cx="1985165" cy="1985163"/>
            </a:xfrm>
            <a:prstGeom prst="arc">
              <a:avLst>
                <a:gd name="adj1" fmla="val 7525"/>
                <a:gd name="adj2" fmla="val 10806263"/>
              </a:avLst>
            </a:prstGeom>
            <a:solidFill>
              <a:srgbClr val="AFBADD"/>
            </a:solidFill>
            <a:ln w="127000" cap="rnd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8" name="Arc 6"/>
            <p:cNvSpPr/>
            <p:nvPr>
              <p:custDataLst>
                <p:tags r:id="rId4"/>
              </p:custDataLst>
            </p:nvPr>
          </p:nvSpPr>
          <p:spPr bwMode="auto">
            <a:xfrm rot="10800000">
              <a:off x="2587207" y="2092002"/>
              <a:ext cx="1985040" cy="1995460"/>
            </a:xfrm>
            <a:prstGeom prst="arc">
              <a:avLst>
                <a:gd name="adj1" fmla="val 21575380"/>
                <a:gd name="adj2" fmla="val 10806753"/>
              </a:avLst>
            </a:prstGeom>
            <a:grpFill/>
            <a:ln w="127000" cap="rnd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00" dirty="0">
                <a:solidFill>
                  <a:srgbClr val="00B485"/>
                </a:solidFill>
                <a:cs typeface="+mn-ea"/>
                <a:sym typeface="+mn-lt"/>
              </a:endParaRPr>
            </a:p>
          </p:txBody>
        </p:sp>
        <p:sp>
          <p:nvSpPr>
            <p:cNvPr id="49" name="Arc 7"/>
            <p:cNvSpPr/>
            <p:nvPr>
              <p:custDataLst>
                <p:tags r:id="rId5"/>
              </p:custDataLst>
            </p:nvPr>
          </p:nvSpPr>
          <p:spPr bwMode="auto">
            <a:xfrm rot="10800000">
              <a:off x="6557165" y="2092002"/>
              <a:ext cx="1985163" cy="1985163"/>
            </a:xfrm>
            <a:prstGeom prst="arc">
              <a:avLst>
                <a:gd name="adj1" fmla="val 21575180"/>
                <a:gd name="adj2" fmla="val 10806263"/>
              </a:avLst>
            </a:prstGeom>
            <a:grpFill/>
            <a:ln w="127000" cap="rnd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00">
                <a:solidFill>
                  <a:srgbClr val="00B485"/>
                </a:solidFill>
                <a:cs typeface="+mn-ea"/>
                <a:sym typeface="+mn-lt"/>
              </a:endParaRPr>
            </a:p>
          </p:txBody>
        </p:sp>
        <p:sp>
          <p:nvSpPr>
            <p:cNvPr id="51" name="Rectangle 13"/>
            <p:cNvSpPr/>
            <p:nvPr>
              <p:custDataLst>
                <p:tags r:id="rId6"/>
              </p:custDataLst>
            </p:nvPr>
          </p:nvSpPr>
          <p:spPr>
            <a:xfrm>
              <a:off x="7313143" y="2454116"/>
              <a:ext cx="143541" cy="263065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endParaRPr lang="id-ID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2" name="文本框 51"/>
          <p:cNvSpPr txBox="1"/>
          <p:nvPr>
            <p:custDataLst>
              <p:tags r:id="rId7"/>
            </p:custDataLst>
          </p:nvPr>
        </p:nvSpPr>
        <p:spPr>
          <a:xfrm>
            <a:off x="1226534" y="2135880"/>
            <a:ext cx="2428480" cy="1522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5B625F"/>
                </a:solidFill>
                <a:latin typeface="微软雅黑" panose="020B0503020204020204" charset="-122"/>
                <a:sym typeface="+mn-ea"/>
              </a:rPr>
              <a:t>动态术语表；Body/Heading 分通道；原文/翻译独立召回</a:t>
            </a:r>
            <a:endParaRPr sz="1400" b="0" i="0">
              <a:solidFill>
                <a:srgbClr val="5B625F"/>
              </a:solidFill>
              <a:latin typeface="微软雅黑" panose="020B0503020204020204" charset="-122"/>
            </a:endParaRPr>
          </a:p>
          <a:p>
            <a:pPr algn="ctr">
              <a:lnSpc>
                <a:spcPct val="150000"/>
              </a:lnSpc>
              <a:defRPr/>
            </a:pP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矩形 52"/>
          <p:cNvSpPr/>
          <p:nvPr>
            <p:custDataLst>
              <p:tags r:id="rId8"/>
            </p:custDataLst>
          </p:nvPr>
        </p:nvSpPr>
        <p:spPr>
          <a:xfrm>
            <a:off x="1576705" y="1781175"/>
            <a:ext cx="1728470" cy="37655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BM25 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补漏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4" name="文本框 53"/>
          <p:cNvSpPr txBox="1"/>
          <p:nvPr>
            <p:custDataLst>
              <p:tags r:id="rId9"/>
            </p:custDataLst>
          </p:nvPr>
        </p:nvSpPr>
        <p:spPr>
          <a:xfrm>
            <a:off x="6179322" y="2241925"/>
            <a:ext cx="242848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Element/section/table；answer-bearing 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ctr">
              <a:lnSpc>
                <a:spcPct val="100000"/>
              </a:lnSpc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evidence；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多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Chunk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文档级判断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矩形 54"/>
          <p:cNvSpPr/>
          <p:nvPr>
            <p:custDataLst>
              <p:tags r:id="rId10"/>
            </p:custDataLst>
          </p:nvPr>
        </p:nvSpPr>
        <p:spPr>
          <a:xfrm>
            <a:off x="6510020" y="1766570"/>
            <a:ext cx="1750060" cy="39179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DocIR 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深化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6" name="文本框 55"/>
          <p:cNvSpPr txBox="1"/>
          <p:nvPr>
            <p:custDataLst>
              <p:tags r:id="rId11"/>
            </p:custDataLst>
          </p:nvPr>
        </p:nvSpPr>
        <p:spPr>
          <a:xfrm>
            <a:off x="3540542" y="4032414"/>
            <a:ext cx="2428480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保留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retrieval prior；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Top-K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保护；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失败回退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Dense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7" name="矩形 56"/>
          <p:cNvSpPr/>
          <p:nvPr>
            <p:custDataLst>
              <p:tags r:id="rId12"/>
            </p:custDataLst>
          </p:nvPr>
        </p:nvSpPr>
        <p:spPr>
          <a:xfrm>
            <a:off x="3901440" y="3663315"/>
            <a:ext cx="1706880" cy="47053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受保护重排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8" name="文本框 57"/>
          <p:cNvSpPr txBox="1"/>
          <p:nvPr>
            <p:custDataLst>
              <p:tags r:id="rId13"/>
            </p:custDataLst>
          </p:nvPr>
        </p:nvSpPr>
        <p:spPr>
          <a:xfrm>
            <a:off x="8485075" y="4032414"/>
            <a:ext cx="2428480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回答性证据筛选；是否检索与如何拒答；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上下文预算保护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9" name="矩形 58"/>
          <p:cNvSpPr/>
          <p:nvPr>
            <p:custDataLst>
              <p:tags r:id="rId14"/>
            </p:custDataLst>
          </p:nvPr>
        </p:nvSpPr>
        <p:spPr>
          <a:xfrm>
            <a:off x="8693785" y="3663315"/>
            <a:ext cx="2011680" cy="47117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后处理与意图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  <p:custDataLst>
      <p:tags r:id="rId1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  <p:bldP spid="57" grpId="0"/>
      <p:bldP spid="56" grpId="0"/>
      <p:bldP spid="55" grpId="0"/>
      <p:bldP spid="54" grpId="0"/>
      <p:bldP spid="59" grpId="0"/>
      <p:bldP spid="5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part.02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43305" y="6540386"/>
            <a:ext cx="180020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/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/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/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/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92810" y="240030"/>
            <a:ext cx="475869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16 / DOMAIN CHECK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领域验证已开始，但还不是终点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6760210" y="5847080"/>
            <a:ext cx="4612640" cy="340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0" i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微软雅黑" panose="020B0503020204020204" charset="-122"/>
              </a:rPr>
              <a:t>这组结果能说明领域可行性，不能被包装为最终回答准确率</a:t>
            </a:r>
            <a:endParaRPr lang="zh-CN" altLang="en-US" sz="1200" b="0" i="0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67380" y="1598295"/>
            <a:ext cx="5701030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latin typeface="清雅黑体" panose="00000500000000000000" charset="-122"/>
                <a:ea typeface="清雅黑体" panose="00000500000000000000" charset="-122"/>
                <a:cs typeface="清雅黑体" panose="00000500000000000000" charset="-122"/>
              </a:rPr>
              <a:t>检索策略消融结果：三组公开数据集的 </a:t>
            </a:r>
            <a:r>
              <a:rPr lang="en-US" altLang="zh-CN">
                <a:solidFill>
                  <a:schemeClr val="tx1">
                    <a:lumMod val="50000"/>
                    <a:lumOff val="50000"/>
                  </a:schemeClr>
                </a:solidFill>
                <a:latin typeface="清雅黑体" panose="00000500000000000000" charset="-122"/>
                <a:ea typeface="清雅黑体" panose="00000500000000000000" charset="-122"/>
                <a:cs typeface="清雅黑体" panose="00000500000000000000" charset="-122"/>
              </a:rPr>
              <a:t>nDCG@10 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latin typeface="清雅黑体" panose="00000500000000000000" charset="-122"/>
                <a:ea typeface="清雅黑体" panose="00000500000000000000" charset="-122"/>
                <a:cs typeface="清雅黑体" panose="00000500000000000000" charset="-122"/>
              </a:rPr>
              <a:t>对比</a:t>
            </a: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清雅黑体" panose="00000500000000000000" charset="-122"/>
              <a:ea typeface="清雅黑体" panose="00000500000000000000" charset="-122"/>
              <a:cs typeface="清雅黑体" panose="000005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88035" y="5407025"/>
            <a:ext cx="827151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下一步：扩到 200-500 题，补 </a:t>
            </a:r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</a:rPr>
              <a:t>chunk/evidence </a:t>
            </a:r>
            <a:r>
              <a:rPr lang="zh-CN" alt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级人工 </a:t>
            </a:r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</a:rPr>
              <a:t>gold</a:t>
            </a:r>
            <a:endParaRPr lang="zh-CN" altLang="en-US" sz="16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Rectangle 10"/>
          <p:cNvSpPr/>
          <p:nvPr/>
        </p:nvSpPr>
        <p:spPr>
          <a:xfrm>
            <a:off x="531495" y="2230755"/>
            <a:ext cx="10972800" cy="467995"/>
          </a:xfrm>
          <a:prstGeom prst="rect">
            <a:avLst/>
          </a:prstGeom>
          <a:solidFill>
            <a:srgbClr val="7E7CA2"/>
          </a:solidFill>
          <a:ln w="9525">
            <a:solidFill>
              <a:srgbClr val="D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2945" y="2345055"/>
            <a:ext cx="2381250" cy="333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bg1"/>
                </a:solidFill>
                <a:latin typeface="Bahnschrift SemiBold" panose="020B0502040204020203" charset="0"/>
              </a:rPr>
              <a:t>题目规模</a:t>
            </a:r>
            <a:endParaRPr sz="1400" b="0" i="0">
              <a:solidFill>
                <a:schemeClr val="bg1"/>
              </a:solidFill>
              <a:latin typeface="Bahnschrift SemiBold" panose="020B0502040204020203" charset="0"/>
            </a:endParaRPr>
          </a:p>
        </p:txBody>
      </p:sp>
      <p:sp>
        <p:nvSpPr>
          <p:cNvPr id="13" name="TextBox 12"/>
          <p:cNvSpPr txBox="1"/>
          <p:nvPr>
            <p:custDataLst>
              <p:tags r:id="rId1"/>
            </p:custDataLst>
          </p:nvPr>
        </p:nvSpPr>
        <p:spPr>
          <a:xfrm>
            <a:off x="4398645" y="2316480"/>
            <a:ext cx="1524000" cy="4241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bg1"/>
                </a:solidFill>
                <a:latin typeface="Bahnschrift SemiBold" panose="020B0502040204020203" charset="0"/>
                <a:cs typeface="Bahnschrift SemiBold" panose="020B0502040204020203" charset="0"/>
              </a:rPr>
              <a:t>50</a:t>
            </a:r>
            <a:endParaRPr sz="1600" b="1" i="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4" name="TextBox 13"/>
          <p:cNvSpPr txBox="1"/>
          <p:nvPr>
            <p:custDataLst>
              <p:tags r:id="rId2"/>
            </p:custDataLst>
          </p:nvPr>
        </p:nvSpPr>
        <p:spPr>
          <a:xfrm>
            <a:off x="6398895" y="2335530"/>
            <a:ext cx="4857750" cy="363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bg1"/>
                </a:solidFill>
                <a:latin typeface="Bahnschrift SemiBold" panose="020B0502040204020203" charset="0"/>
                <a:cs typeface="Bahnschrift SemiBold" panose="020B0502040204020203" charset="0"/>
              </a:rPr>
              <a:t>计算机教材问题 · 文档级 gold</a:t>
            </a:r>
            <a:endParaRPr sz="1400" b="0" i="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31495" y="2783205"/>
            <a:ext cx="10972800" cy="431800"/>
          </a:xfrm>
          <a:prstGeom prst="rect">
            <a:avLst/>
          </a:prstGeom>
          <a:noFill/>
          <a:ln w="9525">
            <a:solidFill>
              <a:srgbClr val="DADAE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2945" y="2897505"/>
            <a:ext cx="2381250" cy="333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Dense Hit@1</a:t>
            </a:r>
            <a:endParaRPr sz="1400" b="0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7" name="TextBox 16"/>
          <p:cNvSpPr txBox="1"/>
          <p:nvPr>
            <p:custDataLst>
              <p:tags r:id="rId3"/>
            </p:custDataLst>
          </p:nvPr>
        </p:nvSpPr>
        <p:spPr>
          <a:xfrm>
            <a:off x="4398645" y="2868930"/>
            <a:ext cx="1524000" cy="4241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72%</a:t>
            </a:r>
            <a:endParaRPr sz="16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" name="TextBox 17"/>
          <p:cNvSpPr txBox="1"/>
          <p:nvPr>
            <p:custDataLst>
              <p:tags r:id="rId4"/>
            </p:custDataLst>
          </p:nvPr>
        </p:nvSpPr>
        <p:spPr>
          <a:xfrm>
            <a:off x="6398895" y="2887980"/>
            <a:ext cx="4857750" cy="363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</a:rPr>
              <a:t>当前领域主基线</a:t>
            </a:r>
            <a:endParaRPr sz="1400" b="0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31495" y="3335655"/>
            <a:ext cx="10972800" cy="509905"/>
          </a:xfrm>
          <a:prstGeom prst="rect">
            <a:avLst/>
          </a:prstGeom>
          <a:solidFill>
            <a:srgbClr val="7E7CA2"/>
          </a:solidFill>
          <a:ln w="9525">
            <a:solidFill>
              <a:srgbClr val="D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2945" y="3449955"/>
            <a:ext cx="2381250" cy="333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bg1"/>
                </a:solidFill>
                <a:latin typeface="Bahnschrift SemiBold" panose="020B0502040204020203" charset="0"/>
                <a:cs typeface="Bahnschrift SemiBold" panose="020B0502040204020203" charset="0"/>
              </a:rPr>
              <a:t>最优加权融合 Hit@1</a:t>
            </a:r>
            <a:endParaRPr sz="1400" b="0" i="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1" name="TextBox 20"/>
          <p:cNvSpPr txBox="1"/>
          <p:nvPr>
            <p:custDataLst>
              <p:tags r:id="rId5"/>
            </p:custDataLst>
          </p:nvPr>
        </p:nvSpPr>
        <p:spPr>
          <a:xfrm>
            <a:off x="4398645" y="3421380"/>
            <a:ext cx="1524000" cy="4241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bg1"/>
                </a:solidFill>
                <a:latin typeface="Bahnschrift SemiBold" panose="020B0502040204020203" charset="0"/>
                <a:cs typeface="Bahnschrift SemiBold" panose="020B0502040204020203" charset="0"/>
              </a:rPr>
              <a:t>74%</a:t>
            </a:r>
            <a:endParaRPr sz="1600" b="1" i="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2" name="TextBox 21"/>
          <p:cNvSpPr txBox="1"/>
          <p:nvPr>
            <p:custDataLst>
              <p:tags r:id="rId6"/>
            </p:custDataLst>
          </p:nvPr>
        </p:nvSpPr>
        <p:spPr>
          <a:xfrm>
            <a:off x="6398895" y="3440430"/>
            <a:ext cx="4857750" cy="363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bg1"/>
                </a:solidFill>
                <a:latin typeface="Bahnschrift SemiBold" panose="020B0502040204020203" charset="0"/>
              </a:rPr>
              <a:t>同集选优的探索性结果</a:t>
            </a:r>
            <a:endParaRPr sz="1400" b="0" i="0">
              <a:solidFill>
                <a:schemeClr val="bg1"/>
              </a:solidFill>
              <a:latin typeface="Bahnschrift SemiBold" panose="020B0502040204020203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1495" y="3940175"/>
            <a:ext cx="10972800" cy="441325"/>
          </a:xfrm>
          <a:prstGeom prst="rect">
            <a:avLst/>
          </a:prstGeom>
          <a:noFill/>
          <a:ln w="9525">
            <a:solidFill>
              <a:srgbClr val="DADAE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02945" y="4054475"/>
            <a:ext cx="2381250" cy="333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Hit@5</a:t>
            </a:r>
            <a:endParaRPr sz="1400" b="0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5" name="TextBox 24"/>
          <p:cNvSpPr txBox="1"/>
          <p:nvPr>
            <p:custDataLst>
              <p:tags r:id="rId7"/>
            </p:custDataLst>
          </p:nvPr>
        </p:nvSpPr>
        <p:spPr>
          <a:xfrm>
            <a:off x="4398645" y="4025900"/>
            <a:ext cx="1524000" cy="4241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100%</a:t>
            </a:r>
            <a:endParaRPr sz="16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6" name="TextBox 25"/>
          <p:cNvSpPr txBox="1"/>
          <p:nvPr>
            <p:custDataLst>
              <p:tags r:id="rId8"/>
            </p:custDataLst>
          </p:nvPr>
        </p:nvSpPr>
        <p:spPr>
          <a:xfrm>
            <a:off x="6398895" y="4044950"/>
            <a:ext cx="4857750" cy="3670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不同方案在 Top-5 已饱和</a:t>
            </a:r>
            <a:endParaRPr sz="1400" b="0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31495" y="4502785"/>
            <a:ext cx="10972800" cy="485140"/>
          </a:xfrm>
          <a:prstGeom prst="rect">
            <a:avLst/>
          </a:prstGeom>
          <a:solidFill>
            <a:srgbClr val="7E7CA2"/>
          </a:solidFill>
          <a:ln w="9525">
            <a:solidFill>
              <a:srgbClr val="D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2945" y="4659630"/>
            <a:ext cx="2381250" cy="333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bg1"/>
                </a:solidFill>
                <a:latin typeface="Bahnschrift SemiBold" panose="020B0502040204020203" charset="0"/>
                <a:cs typeface="Bahnschrift SemiBold" panose="020B0502040204020203" charset="0"/>
              </a:rPr>
              <a:t>MRR@20</a:t>
            </a:r>
            <a:endParaRPr sz="1400" b="0" i="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9" name="TextBox 28"/>
          <p:cNvSpPr txBox="1"/>
          <p:nvPr>
            <p:custDataLst>
              <p:tags r:id="rId9"/>
            </p:custDataLst>
          </p:nvPr>
        </p:nvSpPr>
        <p:spPr>
          <a:xfrm>
            <a:off x="4398645" y="4631055"/>
            <a:ext cx="1524000" cy="4241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bg1"/>
                </a:solidFill>
                <a:latin typeface="Bahnschrift SemiBold" panose="020B0502040204020203" charset="0"/>
                <a:cs typeface="Bahnschrift SemiBold" panose="020B0502040204020203" charset="0"/>
              </a:rPr>
              <a:t>0.8700</a:t>
            </a:r>
            <a:endParaRPr sz="1600" b="1" i="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0" name="TextBox 29"/>
          <p:cNvSpPr txBox="1"/>
          <p:nvPr>
            <p:custDataLst>
              <p:tags r:id="rId10"/>
            </p:custDataLst>
          </p:nvPr>
        </p:nvSpPr>
        <p:spPr>
          <a:xfrm>
            <a:off x="6398895" y="4650105"/>
            <a:ext cx="4857750" cy="363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bg1"/>
                </a:solidFill>
                <a:latin typeface="Bahnschrift SemiBold" panose="020B0502040204020203" charset="0"/>
              </a:rPr>
              <a:t>加权融合；样本较小</a:t>
            </a:r>
            <a:endParaRPr sz="1400" b="0" i="0">
              <a:solidFill>
                <a:schemeClr val="bg1"/>
              </a:solidFill>
              <a:latin typeface="Bahnschrift SemiBold" panose="020B0502040204020203" charset="0"/>
            </a:endParaRPr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part.02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45" name="Group 44"/>
          <p:cNvGrpSpPr/>
          <p:nvPr>
            <p:custDataLst>
              <p:tags r:id="rId1"/>
            </p:custDataLst>
          </p:nvPr>
        </p:nvGrpSpPr>
        <p:grpSpPr>
          <a:xfrm>
            <a:off x="417512" y="2361148"/>
            <a:ext cx="3771265" cy="1002498"/>
            <a:chOff x="874712" y="1952455"/>
            <a:chExt cx="3771265" cy="1002498"/>
          </a:xfrm>
        </p:grpSpPr>
        <p:sp>
          <p:nvSpPr>
            <p:cNvPr id="43" name="TextBox 42"/>
            <p:cNvSpPr txBox="1"/>
            <p:nvPr>
              <p:custDataLst>
                <p:tags r:id="rId2"/>
              </p:custDataLst>
            </p:nvPr>
          </p:nvSpPr>
          <p:spPr>
            <a:xfrm>
              <a:off x="3731577" y="1952455"/>
              <a:ext cx="914400" cy="27813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lvl="0" algn="r">
                <a:defRPr/>
              </a:pPr>
              <a:r>
                <a:rPr b="1">
                  <a:solidFill>
                    <a:srgbClr val="111111"/>
                  </a:solidFill>
                  <a:latin typeface="微软雅黑" panose="020B0503020204020204" charset="-122"/>
                  <a:sym typeface="+mn-lt"/>
                </a:rPr>
                <a:t>学习助手</a:t>
              </a:r>
              <a:endParaRPr lang="zh-CN" altLang="en-US" dirty="0">
                <a:cs typeface="+mn-ea"/>
                <a:sym typeface="+mn-lt"/>
              </a:endParaRPr>
            </a:p>
            <a:p>
              <a:pPr lvl="0" algn="r">
                <a:defRPr/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44" name="TextBox 43"/>
            <p:cNvSpPr txBox="1"/>
            <p:nvPr>
              <p:custDataLst>
                <p:tags r:id="rId3"/>
              </p:custDataLst>
            </p:nvPr>
          </p:nvSpPr>
          <p:spPr>
            <a:xfrm>
              <a:off x="874712" y="2309158"/>
              <a:ext cx="3771099" cy="6457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algn="r">
                <a:lnSpc>
                  <a:spcPct val="150000"/>
                </a:lnSpc>
                <a:defRPr/>
              </a:pPr>
              <a:r>
                <a:rPr lang="en-US" altLang="zh-CN" sz="1400" dirty="0">
                  <a:cs typeface="+mn-ea"/>
                  <a:sym typeface="+mn-lt"/>
                </a:rPr>
                <a:t>SSE </a:t>
              </a:r>
              <a:r>
                <a:rPr lang="zh-CN" altLang="en-US" sz="1400" dirty="0">
                  <a:cs typeface="+mn-ea"/>
                  <a:sym typeface="+mn-lt"/>
                </a:rPr>
                <a:t>多轮对话 · </a:t>
              </a:r>
              <a:r>
                <a:rPr lang="en-US" altLang="zh-CN" sz="1400" dirty="0">
                  <a:cs typeface="+mn-ea"/>
                  <a:sym typeface="+mn-lt"/>
                </a:rPr>
                <a:t>Markdown/LaTeX · </a:t>
              </a:r>
              <a:endParaRPr lang="en-US" altLang="zh-CN" sz="1400" dirty="0">
                <a:cs typeface="+mn-ea"/>
                <a:sym typeface="+mn-lt"/>
              </a:endParaRPr>
            </a:p>
            <a:p>
              <a:pPr lvl="0" algn="r">
                <a:lnSpc>
                  <a:spcPct val="150000"/>
                </a:lnSpc>
                <a:defRPr/>
              </a:pPr>
              <a:r>
                <a:rPr lang="zh-CN" altLang="en-US" sz="1400" dirty="0">
                  <a:cs typeface="+mn-ea"/>
                  <a:sym typeface="+mn-lt"/>
                </a:rPr>
                <a:t>代码块编辑、复制和运行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46" name="Group 45"/>
          <p:cNvGrpSpPr/>
          <p:nvPr>
            <p:custDataLst>
              <p:tags r:id="rId4"/>
            </p:custDataLst>
          </p:nvPr>
        </p:nvGrpSpPr>
        <p:grpSpPr>
          <a:xfrm>
            <a:off x="417512" y="3654128"/>
            <a:ext cx="3771265" cy="1002498"/>
            <a:chOff x="874712" y="1952455"/>
            <a:chExt cx="3771265" cy="1002498"/>
          </a:xfrm>
        </p:grpSpPr>
        <p:sp>
          <p:nvSpPr>
            <p:cNvPr id="47" name="TextBox 46"/>
            <p:cNvSpPr txBox="1"/>
            <p:nvPr>
              <p:custDataLst>
                <p:tags r:id="rId5"/>
              </p:custDataLst>
            </p:nvPr>
          </p:nvSpPr>
          <p:spPr>
            <a:xfrm>
              <a:off x="3731577" y="1952455"/>
              <a:ext cx="914400" cy="29210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lvl="0" algn="r">
                <a:defRPr/>
              </a:pPr>
              <a:r>
                <a:rPr lang="zh-CN" altLang="en-US" b="1" dirty="0">
                  <a:cs typeface="+mn-ea"/>
                  <a:sym typeface="+mn-lt"/>
                </a:rPr>
                <a:t>知识地图</a:t>
              </a:r>
              <a:endParaRPr lang="zh-CN" altLang="en-US" dirty="0">
                <a:cs typeface="+mn-ea"/>
                <a:sym typeface="+mn-lt"/>
              </a:endParaRPr>
            </a:p>
            <a:p>
              <a:pPr lvl="0" algn="r">
                <a:defRPr/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48" name="TextBox 47"/>
            <p:cNvSpPr txBox="1"/>
            <p:nvPr>
              <p:custDataLst>
                <p:tags r:id="rId6"/>
              </p:custDataLst>
            </p:nvPr>
          </p:nvSpPr>
          <p:spPr>
            <a:xfrm>
              <a:off x="874712" y="2309158"/>
              <a:ext cx="3771099" cy="6457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algn="r">
                <a:lnSpc>
                  <a:spcPct val="150000"/>
                </a:lnSpc>
                <a:defRPr/>
              </a:pPr>
              <a:r>
                <a:rPr lang="zh-CN" altLang="en-US" sz="1400" dirty="0">
                  <a:cs typeface="+mn-ea"/>
                  <a:sym typeface="+mn-lt"/>
                </a:rPr>
                <a:t>课程节点 · 掌握度 · 前置关系 · </a:t>
              </a:r>
              <a:endParaRPr lang="zh-CN" altLang="en-US" sz="1400" dirty="0">
                <a:cs typeface="+mn-ea"/>
                <a:sym typeface="+mn-lt"/>
              </a:endParaRPr>
            </a:p>
            <a:p>
              <a:pPr lvl="0" algn="r">
                <a:lnSpc>
                  <a:spcPct val="150000"/>
                </a:lnSpc>
                <a:defRPr/>
              </a:pPr>
              <a:r>
                <a:rPr lang="zh-CN" altLang="en-US" sz="1400" dirty="0">
                  <a:cs typeface="+mn-ea"/>
                  <a:sym typeface="+mn-lt"/>
                </a:rPr>
                <a:t>复习队列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49" name="Group 48"/>
          <p:cNvGrpSpPr/>
          <p:nvPr>
            <p:custDataLst>
              <p:tags r:id="rId7"/>
            </p:custDataLst>
          </p:nvPr>
        </p:nvGrpSpPr>
        <p:grpSpPr>
          <a:xfrm>
            <a:off x="417512" y="4969646"/>
            <a:ext cx="3771100" cy="1002498"/>
            <a:chOff x="874712" y="1952455"/>
            <a:chExt cx="3771100" cy="1002498"/>
          </a:xfrm>
        </p:grpSpPr>
        <p:sp>
          <p:nvSpPr>
            <p:cNvPr id="50" name="TextBox 49"/>
            <p:cNvSpPr txBox="1"/>
            <p:nvPr>
              <p:custDataLst>
                <p:tags r:id="rId8"/>
              </p:custDataLst>
            </p:nvPr>
          </p:nvSpPr>
          <p:spPr>
            <a:xfrm>
              <a:off x="3731412" y="1952455"/>
              <a:ext cx="914400" cy="55372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lvl="0" algn="r">
                <a:defRPr/>
              </a:pPr>
              <a:r>
                <a:rPr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学习规划</a:t>
              </a:r>
              <a:endParaRPr b="1" i="0">
                <a:solidFill>
                  <a:srgbClr val="111111"/>
                </a:solidFill>
                <a:latin typeface="微软雅黑" panose="020B0503020204020204" charset="-122"/>
              </a:endParaRPr>
            </a:p>
            <a:p>
              <a:pPr lvl="0" algn="r">
                <a:defRPr/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51" name="TextBox 50"/>
            <p:cNvSpPr txBox="1"/>
            <p:nvPr>
              <p:custDataLst>
                <p:tags r:id="rId9"/>
              </p:custDataLst>
            </p:nvPr>
          </p:nvSpPr>
          <p:spPr>
            <a:xfrm>
              <a:off x="874712" y="2309158"/>
              <a:ext cx="3771099" cy="6457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algn="r">
                <a:lnSpc>
                  <a:spcPct val="150000"/>
                </a:lnSpc>
                <a:defRPr/>
              </a:pPr>
              <a:r>
                <a:rPr lang="zh-CN" altLang="en-US" sz="1400" dirty="0">
                  <a:cs typeface="+mn-ea"/>
                  <a:sym typeface="+mn-lt"/>
                </a:rPr>
                <a:t>课表导入 · 目标 · 待办 ·截止时间 · </a:t>
              </a:r>
              <a:endParaRPr lang="zh-CN" altLang="en-US" sz="1400" dirty="0">
                <a:cs typeface="+mn-ea"/>
                <a:sym typeface="+mn-lt"/>
              </a:endParaRPr>
            </a:p>
            <a:p>
              <a:pPr lvl="0" algn="r">
                <a:lnSpc>
                  <a:spcPct val="150000"/>
                </a:lnSpc>
                <a:defRPr/>
              </a:pPr>
              <a:r>
                <a:rPr lang="zh-CN" altLang="en-US" sz="1400" dirty="0">
                  <a:cs typeface="+mn-ea"/>
                  <a:sym typeface="+mn-lt"/>
                </a:rPr>
                <a:t>个性化建议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sp>
        <p:nvSpPr>
          <p:cNvPr id="53" name="TextBox 52"/>
          <p:cNvSpPr txBox="1"/>
          <p:nvPr>
            <p:custDataLst>
              <p:tags r:id="rId10"/>
            </p:custDataLst>
          </p:nvPr>
        </p:nvSpPr>
        <p:spPr>
          <a:xfrm>
            <a:off x="7908290" y="2360930"/>
            <a:ext cx="1143000" cy="276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l">
              <a:defRPr/>
            </a:pPr>
            <a:r>
              <a:rPr lang="zh-CN" altLang="en-US" b="1" dirty="0">
                <a:cs typeface="+mn-ea"/>
                <a:sym typeface="+mn-lt"/>
              </a:rPr>
              <a:t>教学工作台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54" name="TextBox 53"/>
          <p:cNvSpPr txBox="1"/>
          <p:nvPr>
            <p:custDataLst>
              <p:tags r:id="rId11"/>
            </p:custDataLst>
          </p:nvPr>
        </p:nvSpPr>
        <p:spPr>
          <a:xfrm>
            <a:off x="7908138" y="2717851"/>
            <a:ext cx="3771099" cy="322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400" dirty="0">
                <a:cs typeface="+mn-ea"/>
                <a:sym typeface="+mn-lt"/>
              </a:rPr>
              <a:t>建班 · 邀请 · 作业 · </a:t>
            </a:r>
            <a:r>
              <a:rPr lang="en-US" altLang="zh-CN" sz="1400" dirty="0">
                <a:cs typeface="+mn-ea"/>
                <a:sym typeface="+mn-lt"/>
              </a:rPr>
              <a:t>AI </a:t>
            </a:r>
            <a:r>
              <a:rPr lang="zh-CN" altLang="en-US" sz="1400" dirty="0">
                <a:cs typeface="+mn-ea"/>
                <a:sym typeface="+mn-lt"/>
              </a:rPr>
              <a:t>分析 · 复核 · 发布反馈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6" name="TextBox 55"/>
          <p:cNvSpPr txBox="1"/>
          <p:nvPr>
            <p:custDataLst>
              <p:tags r:id="rId12"/>
            </p:custDataLst>
          </p:nvPr>
        </p:nvSpPr>
        <p:spPr>
          <a:xfrm>
            <a:off x="7908138" y="3654128"/>
            <a:ext cx="914400" cy="2768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>
              <a:defRPr/>
            </a:pPr>
            <a:r>
              <a:rPr lang="zh-CN" altLang="en-US" b="1" dirty="0">
                <a:cs typeface="+mn-ea"/>
                <a:sym typeface="+mn-lt"/>
              </a:rPr>
              <a:t>科研项目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57" name="TextBox 56"/>
          <p:cNvSpPr txBox="1"/>
          <p:nvPr>
            <p:custDataLst>
              <p:tags r:id="rId13"/>
            </p:custDataLst>
          </p:nvPr>
        </p:nvSpPr>
        <p:spPr>
          <a:xfrm>
            <a:off x="7908138" y="4010831"/>
            <a:ext cx="3771099" cy="322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400" dirty="0">
                <a:cs typeface="+mn-ea"/>
                <a:sym typeface="+mn-lt"/>
              </a:rPr>
              <a:t>项目资料 · 前沿追踪 · 写作 · 数据分析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9" name="TextBox 58"/>
          <p:cNvSpPr txBox="1"/>
          <p:nvPr>
            <p:custDataLst>
              <p:tags r:id="rId14"/>
            </p:custDataLst>
          </p:nvPr>
        </p:nvSpPr>
        <p:spPr>
          <a:xfrm>
            <a:off x="7908290" y="4969510"/>
            <a:ext cx="1371600" cy="3575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lvl="0" algn="l">
              <a:defRPr/>
            </a:pPr>
            <a:r>
              <a:rPr lang="zh-CN" altLang="en-US" b="1" dirty="0">
                <a:cs typeface="+mn-ea"/>
                <a:sym typeface="+mn-lt"/>
              </a:rPr>
              <a:t>文件与知识库</a:t>
            </a:r>
            <a:endParaRPr lang="zh-CN" altLang="en-US" b="1" dirty="0">
              <a:cs typeface="+mn-ea"/>
              <a:sym typeface="+mn-lt"/>
            </a:endParaRPr>
          </a:p>
          <a:p>
            <a:pPr lvl="0">
              <a:defRPr/>
            </a:pP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60" name="TextBox 59"/>
          <p:cNvSpPr txBox="1"/>
          <p:nvPr>
            <p:custDataLst>
              <p:tags r:id="rId15"/>
            </p:custDataLst>
          </p:nvPr>
        </p:nvSpPr>
        <p:spPr>
          <a:xfrm>
            <a:off x="7908138" y="5326349"/>
            <a:ext cx="3771099" cy="322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sz="1400">
                <a:solidFill>
                  <a:srgbClr val="5B625F"/>
                </a:solidFill>
                <a:latin typeface="微软雅黑" panose="020B0503020204020204" charset="-122"/>
                <a:sym typeface="+mn-ea"/>
              </a:rPr>
              <a:t>附件上传/预览 · 个人库 · DocIR/Qdrant 链路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28" name="PA-椭圆 103"/>
          <p:cNvSpPr/>
          <p:nvPr>
            <p:custDataLst>
              <p:tags r:id="rId16"/>
            </p:custDataLst>
          </p:nvPr>
        </p:nvSpPr>
        <p:spPr>
          <a:xfrm>
            <a:off x="4808220" y="3528695"/>
            <a:ext cx="835025" cy="873125"/>
          </a:xfrm>
          <a:prstGeom prst="ellipse">
            <a:avLst/>
          </a:prstGeom>
          <a:solidFill>
            <a:srgbClr val="8C8B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bg1"/>
                </a:solidFill>
                <a:cs typeface="+mn-ea"/>
                <a:sym typeface="+mn-lt"/>
              </a:rPr>
              <a:t>MAP</a:t>
            </a:r>
            <a:endParaRPr lang="en-US" altLang="zh-CN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14" name="Group 123"/>
          <p:cNvGrpSpPr/>
          <p:nvPr>
            <p:custDataLst>
              <p:tags r:id="rId17"/>
            </p:custDataLst>
          </p:nvPr>
        </p:nvGrpSpPr>
        <p:grpSpPr>
          <a:xfrm rot="0">
            <a:off x="5061585" y="2473960"/>
            <a:ext cx="337185" cy="473075"/>
            <a:chOff x="10282237" y="3676651"/>
            <a:chExt cx="671512" cy="920750"/>
          </a:xfrm>
        </p:grpSpPr>
        <p:sp>
          <p:nvSpPr>
            <p:cNvPr id="115" name="PA-任意多边形 159"/>
            <p:cNvSpPr/>
            <p:nvPr>
              <p:custDataLst>
                <p:tags r:id="rId18"/>
              </p:custDataLst>
            </p:nvPr>
          </p:nvSpPr>
          <p:spPr bwMode="auto">
            <a:xfrm>
              <a:off x="10282237" y="3676651"/>
              <a:ext cx="671512" cy="920750"/>
            </a:xfrm>
            <a:custGeom>
              <a:avLst/>
              <a:gdLst>
                <a:gd name="T0" fmla="*/ 423 w 423"/>
                <a:gd name="T1" fmla="*/ 574 h 580"/>
                <a:gd name="T2" fmla="*/ 423 w 423"/>
                <a:gd name="T3" fmla="*/ 574 h 580"/>
                <a:gd name="T4" fmla="*/ 421 w 423"/>
                <a:gd name="T5" fmla="*/ 576 h 580"/>
                <a:gd name="T6" fmla="*/ 420 w 423"/>
                <a:gd name="T7" fmla="*/ 579 h 580"/>
                <a:gd name="T8" fmla="*/ 418 w 423"/>
                <a:gd name="T9" fmla="*/ 580 h 580"/>
                <a:gd name="T10" fmla="*/ 415 w 423"/>
                <a:gd name="T11" fmla="*/ 580 h 580"/>
                <a:gd name="T12" fmla="*/ 6 w 423"/>
                <a:gd name="T13" fmla="*/ 580 h 580"/>
                <a:gd name="T14" fmla="*/ 6 w 423"/>
                <a:gd name="T15" fmla="*/ 580 h 580"/>
                <a:gd name="T16" fmla="*/ 3 w 423"/>
                <a:gd name="T17" fmla="*/ 580 h 580"/>
                <a:gd name="T18" fmla="*/ 1 w 423"/>
                <a:gd name="T19" fmla="*/ 579 h 580"/>
                <a:gd name="T20" fmla="*/ 0 w 423"/>
                <a:gd name="T21" fmla="*/ 576 h 580"/>
                <a:gd name="T22" fmla="*/ 0 w 423"/>
                <a:gd name="T23" fmla="*/ 574 h 580"/>
                <a:gd name="T24" fmla="*/ 0 w 423"/>
                <a:gd name="T25" fmla="*/ 6 h 580"/>
                <a:gd name="T26" fmla="*/ 0 w 423"/>
                <a:gd name="T27" fmla="*/ 6 h 580"/>
                <a:gd name="T28" fmla="*/ 0 w 423"/>
                <a:gd name="T29" fmla="*/ 3 h 580"/>
                <a:gd name="T30" fmla="*/ 1 w 423"/>
                <a:gd name="T31" fmla="*/ 2 h 580"/>
                <a:gd name="T32" fmla="*/ 3 w 423"/>
                <a:gd name="T33" fmla="*/ 0 h 580"/>
                <a:gd name="T34" fmla="*/ 6 w 423"/>
                <a:gd name="T35" fmla="*/ 0 h 580"/>
                <a:gd name="T36" fmla="*/ 415 w 423"/>
                <a:gd name="T37" fmla="*/ 0 h 580"/>
                <a:gd name="T38" fmla="*/ 415 w 423"/>
                <a:gd name="T39" fmla="*/ 0 h 580"/>
                <a:gd name="T40" fmla="*/ 418 w 423"/>
                <a:gd name="T41" fmla="*/ 0 h 580"/>
                <a:gd name="T42" fmla="*/ 420 w 423"/>
                <a:gd name="T43" fmla="*/ 2 h 580"/>
                <a:gd name="T44" fmla="*/ 421 w 423"/>
                <a:gd name="T45" fmla="*/ 3 h 580"/>
                <a:gd name="T46" fmla="*/ 423 w 423"/>
                <a:gd name="T47" fmla="*/ 6 h 580"/>
                <a:gd name="T48" fmla="*/ 423 w 423"/>
                <a:gd name="T49" fmla="*/ 574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23" h="580">
                  <a:moveTo>
                    <a:pt x="423" y="574"/>
                  </a:moveTo>
                  <a:lnTo>
                    <a:pt x="423" y="574"/>
                  </a:lnTo>
                  <a:lnTo>
                    <a:pt x="421" y="576"/>
                  </a:lnTo>
                  <a:lnTo>
                    <a:pt x="420" y="579"/>
                  </a:lnTo>
                  <a:lnTo>
                    <a:pt x="418" y="580"/>
                  </a:lnTo>
                  <a:lnTo>
                    <a:pt x="415" y="580"/>
                  </a:lnTo>
                  <a:lnTo>
                    <a:pt x="6" y="580"/>
                  </a:lnTo>
                  <a:lnTo>
                    <a:pt x="6" y="580"/>
                  </a:lnTo>
                  <a:lnTo>
                    <a:pt x="3" y="580"/>
                  </a:lnTo>
                  <a:lnTo>
                    <a:pt x="1" y="579"/>
                  </a:lnTo>
                  <a:lnTo>
                    <a:pt x="0" y="576"/>
                  </a:lnTo>
                  <a:lnTo>
                    <a:pt x="0" y="574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3"/>
                  </a:lnTo>
                  <a:lnTo>
                    <a:pt x="1" y="2"/>
                  </a:lnTo>
                  <a:lnTo>
                    <a:pt x="3" y="0"/>
                  </a:lnTo>
                  <a:lnTo>
                    <a:pt x="6" y="0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8" y="0"/>
                  </a:lnTo>
                  <a:lnTo>
                    <a:pt x="420" y="2"/>
                  </a:lnTo>
                  <a:lnTo>
                    <a:pt x="421" y="3"/>
                  </a:lnTo>
                  <a:lnTo>
                    <a:pt x="423" y="6"/>
                  </a:lnTo>
                  <a:lnTo>
                    <a:pt x="423" y="574"/>
                  </a:lnTo>
                  <a:close/>
                </a:path>
              </a:pathLst>
            </a:custGeom>
            <a:noFill/>
            <a:ln w="19050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16" name="PA-矩形 160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0374312" y="3813176"/>
              <a:ext cx="487362" cy="115888"/>
            </a:xfrm>
            <a:prstGeom prst="rect">
              <a:avLst/>
            </a:prstGeom>
            <a:noFill/>
            <a:ln w="19050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17" name="PA-Line 161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 flipV="1">
              <a:off x="10374312" y="4017963"/>
              <a:ext cx="0" cy="48260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18" name="PA-Line 162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 flipV="1">
              <a:off x="10493375" y="4017963"/>
              <a:ext cx="0" cy="3841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19" name="PA-Line 163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 flipV="1">
              <a:off x="10617200" y="4017963"/>
              <a:ext cx="0" cy="48260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0" name="PA-Line 164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 flipV="1">
              <a:off x="10739437" y="4017963"/>
              <a:ext cx="0" cy="48260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1" name="PA-Line 165"/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 flipV="1">
              <a:off x="10861675" y="4017963"/>
              <a:ext cx="0" cy="48260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2" name="PA-Line 166"/>
            <p:cNvSpPr>
              <a:spLocks noChangeShapeType="1"/>
            </p:cNvSpPr>
            <p:nvPr>
              <p:custDataLst>
                <p:tags r:id="rId25"/>
              </p:custDataLst>
            </p:nvPr>
          </p:nvSpPr>
          <p:spPr bwMode="auto">
            <a:xfrm>
              <a:off x="10364787" y="4017963"/>
              <a:ext cx="50641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4" name="PA-Line 168"/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>
              <a:off x="10364787" y="4208463"/>
              <a:ext cx="50641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5" name="PA-Line 169"/>
            <p:cNvSpPr>
              <a:spLocks noChangeShapeType="1"/>
            </p:cNvSpPr>
            <p:nvPr>
              <p:custDataLst>
                <p:tags r:id="rId27"/>
              </p:custDataLst>
            </p:nvPr>
          </p:nvSpPr>
          <p:spPr bwMode="auto">
            <a:xfrm>
              <a:off x="10364787" y="4305301"/>
              <a:ext cx="50641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7" name="PA-Line 171"/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>
              <a:off x="10364787" y="4495801"/>
              <a:ext cx="50641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93" name="组合 92"/>
          <p:cNvGrpSpPr/>
          <p:nvPr>
            <p:custDataLst>
              <p:tags r:id="rId29"/>
            </p:custDataLst>
          </p:nvPr>
        </p:nvGrpSpPr>
        <p:grpSpPr>
          <a:xfrm rot="0">
            <a:off x="5165725" y="3238500"/>
            <a:ext cx="144145" cy="154940"/>
            <a:chOff x="6140713" y="2274654"/>
            <a:chExt cx="147720" cy="154874"/>
          </a:xfrm>
        </p:grpSpPr>
        <p:cxnSp>
          <p:nvCxnSpPr>
            <p:cNvPr id="111" name="PA-直接连接符 140"/>
            <p:cNvCxnSpPr/>
            <p:nvPr>
              <p:custDataLst>
                <p:tags r:id="rId30"/>
              </p:custDataLst>
            </p:nvPr>
          </p:nvCxnSpPr>
          <p:spPr>
            <a:xfrm flipH="1">
              <a:off x="6174362" y="2296367"/>
              <a:ext cx="114071" cy="114070"/>
            </a:xfrm>
            <a:prstGeom prst="line">
              <a:avLst/>
            </a:prstGeom>
            <a:ln w="254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PA-直接连接符 144"/>
            <p:cNvCxnSpPr/>
            <p:nvPr>
              <p:custDataLst>
                <p:tags r:id="rId31"/>
              </p:custDataLst>
            </p:nvPr>
          </p:nvCxnSpPr>
          <p:spPr>
            <a:xfrm rot="8100000">
              <a:off x="6140713" y="2274654"/>
              <a:ext cx="0" cy="154874"/>
            </a:xfrm>
            <a:prstGeom prst="line">
              <a:avLst/>
            </a:prstGeom>
            <a:ln w="254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组合 98"/>
          <p:cNvGrpSpPr/>
          <p:nvPr>
            <p:custDataLst>
              <p:tags r:id="rId32"/>
            </p:custDataLst>
          </p:nvPr>
        </p:nvGrpSpPr>
        <p:grpSpPr>
          <a:xfrm rot="0">
            <a:off x="5112385" y="4518660"/>
            <a:ext cx="220345" cy="109220"/>
            <a:chOff x="6085957" y="3554859"/>
            <a:chExt cx="225156" cy="109512"/>
          </a:xfrm>
        </p:grpSpPr>
        <p:cxnSp>
          <p:nvCxnSpPr>
            <p:cNvPr id="109" name="PA-直接连接符 147"/>
            <p:cNvCxnSpPr/>
            <p:nvPr>
              <p:custDataLst>
                <p:tags r:id="rId33"/>
              </p:custDataLst>
            </p:nvPr>
          </p:nvCxnSpPr>
          <p:spPr>
            <a:xfrm rot="8100000">
              <a:off x="6156238" y="3608648"/>
              <a:ext cx="154875" cy="0"/>
            </a:xfrm>
            <a:prstGeom prst="line">
              <a:avLst/>
            </a:prstGeom>
            <a:ln w="254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PA-直接连接符 148"/>
            <p:cNvCxnSpPr/>
            <p:nvPr>
              <p:custDataLst>
                <p:tags r:id="rId34"/>
              </p:custDataLst>
            </p:nvPr>
          </p:nvCxnSpPr>
          <p:spPr>
            <a:xfrm flipH="1" flipV="1">
              <a:off x="6085957" y="3554859"/>
              <a:ext cx="109512" cy="109512"/>
            </a:xfrm>
            <a:prstGeom prst="line">
              <a:avLst/>
            </a:prstGeom>
            <a:ln w="254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4" name="组合 183"/>
          <p:cNvGrpSpPr/>
          <p:nvPr>
            <p:custDataLst>
              <p:tags r:id="rId35"/>
            </p:custDataLst>
          </p:nvPr>
        </p:nvGrpSpPr>
        <p:grpSpPr>
          <a:xfrm rot="0">
            <a:off x="6888480" y="3239135"/>
            <a:ext cx="147955" cy="154940"/>
            <a:chOff x="6140713" y="2274654"/>
            <a:chExt cx="147720" cy="154874"/>
          </a:xfrm>
        </p:grpSpPr>
        <p:cxnSp>
          <p:nvCxnSpPr>
            <p:cNvPr id="188" name="PA-直接连接符 140"/>
            <p:cNvCxnSpPr/>
            <p:nvPr>
              <p:custDataLst>
                <p:tags r:id="rId36"/>
              </p:custDataLst>
            </p:nvPr>
          </p:nvCxnSpPr>
          <p:spPr>
            <a:xfrm flipH="1">
              <a:off x="6174362" y="2296367"/>
              <a:ext cx="114071" cy="114070"/>
            </a:xfrm>
            <a:prstGeom prst="line">
              <a:avLst/>
            </a:prstGeom>
            <a:ln w="254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PA-直接连接符 144"/>
            <p:cNvCxnSpPr/>
            <p:nvPr>
              <p:custDataLst>
                <p:tags r:id="rId37"/>
              </p:custDataLst>
            </p:nvPr>
          </p:nvCxnSpPr>
          <p:spPr>
            <a:xfrm rot="8100000">
              <a:off x="6140713" y="2274654"/>
              <a:ext cx="0" cy="154874"/>
            </a:xfrm>
            <a:prstGeom prst="line">
              <a:avLst/>
            </a:prstGeom>
            <a:ln w="254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5" name="组合 184"/>
          <p:cNvGrpSpPr/>
          <p:nvPr>
            <p:custDataLst>
              <p:tags r:id="rId38"/>
            </p:custDataLst>
          </p:nvPr>
        </p:nvGrpSpPr>
        <p:grpSpPr>
          <a:xfrm rot="0">
            <a:off x="6833870" y="4519295"/>
            <a:ext cx="225425" cy="109220"/>
            <a:chOff x="6085957" y="3554859"/>
            <a:chExt cx="225156" cy="109512"/>
          </a:xfrm>
        </p:grpSpPr>
        <p:cxnSp>
          <p:nvCxnSpPr>
            <p:cNvPr id="186" name="PA-直接连接符 147"/>
            <p:cNvCxnSpPr/>
            <p:nvPr>
              <p:custDataLst>
                <p:tags r:id="rId39"/>
              </p:custDataLst>
            </p:nvPr>
          </p:nvCxnSpPr>
          <p:spPr>
            <a:xfrm rot="8100000">
              <a:off x="6156238" y="3608648"/>
              <a:ext cx="154875" cy="0"/>
            </a:xfrm>
            <a:prstGeom prst="line">
              <a:avLst/>
            </a:prstGeom>
            <a:ln w="254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PA-直接连接符 148"/>
            <p:cNvCxnSpPr/>
            <p:nvPr>
              <p:custDataLst>
                <p:tags r:id="rId40"/>
              </p:custDataLst>
            </p:nvPr>
          </p:nvCxnSpPr>
          <p:spPr>
            <a:xfrm flipH="1" flipV="1">
              <a:off x="6085957" y="3554859"/>
              <a:ext cx="109512" cy="109512"/>
            </a:xfrm>
            <a:prstGeom prst="line">
              <a:avLst/>
            </a:prstGeom>
            <a:ln w="254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892810" y="240030"/>
            <a:ext cx="475869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17 / FEATURE SURFACE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代码里已经落下来的能力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just">
              <a:lnSpc>
                <a:spcPct val="150000"/>
              </a:lnSpc>
            </a:pP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20" name="TextBox 6"/>
          <p:cNvSpPr txBox="1"/>
          <p:nvPr/>
        </p:nvSpPr>
        <p:spPr>
          <a:xfrm>
            <a:off x="1021714" y="1245234"/>
            <a:ext cx="103822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不把产品压缩成“一个聊天框”：前端入口、后端路由和数据服务逐项对应。</a:t>
            </a:r>
            <a:endParaRPr sz="1600" b="0" i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1" name="PA-椭圆 103"/>
          <p:cNvSpPr/>
          <p:nvPr>
            <p:custDataLst>
              <p:tags r:id="rId41"/>
            </p:custDataLst>
          </p:nvPr>
        </p:nvSpPr>
        <p:spPr>
          <a:xfrm>
            <a:off x="4744085" y="2279015"/>
            <a:ext cx="835025" cy="873125"/>
          </a:xfrm>
          <a:prstGeom prst="ellipse">
            <a:avLst/>
          </a:prstGeom>
          <a:solidFill>
            <a:srgbClr val="8C8B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bg1"/>
                </a:solidFill>
                <a:cs typeface="+mn-ea"/>
                <a:sym typeface="+mn-lt"/>
              </a:rPr>
              <a:t>LEARN</a:t>
            </a:r>
            <a:endParaRPr lang="en-US" altLang="zh-CN" sz="9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2" name="PA-椭圆 103"/>
          <p:cNvSpPr/>
          <p:nvPr>
            <p:custDataLst>
              <p:tags r:id="rId42"/>
            </p:custDataLst>
          </p:nvPr>
        </p:nvSpPr>
        <p:spPr>
          <a:xfrm>
            <a:off x="4808220" y="4775835"/>
            <a:ext cx="835025" cy="873125"/>
          </a:xfrm>
          <a:prstGeom prst="ellipse">
            <a:avLst/>
          </a:prstGeom>
          <a:solidFill>
            <a:srgbClr val="8C8B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bg1"/>
                </a:solidFill>
                <a:cs typeface="+mn-ea"/>
                <a:sym typeface="+mn-lt"/>
              </a:rPr>
              <a:t>PLAN</a:t>
            </a:r>
            <a:endParaRPr lang="en-US" altLang="zh-CN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6" name="PA-椭圆 103"/>
          <p:cNvSpPr/>
          <p:nvPr>
            <p:custDataLst>
              <p:tags r:id="rId43"/>
            </p:custDataLst>
          </p:nvPr>
        </p:nvSpPr>
        <p:spPr>
          <a:xfrm>
            <a:off x="6522720" y="2279015"/>
            <a:ext cx="835025" cy="873125"/>
          </a:xfrm>
          <a:prstGeom prst="ellipse">
            <a:avLst/>
          </a:prstGeom>
          <a:solidFill>
            <a:srgbClr val="8C8B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bg1"/>
                </a:solidFill>
                <a:cs typeface="+mn-ea"/>
                <a:sym typeface="+mn-lt"/>
              </a:rPr>
              <a:t>CLASS</a:t>
            </a:r>
            <a:endParaRPr lang="en-US" altLang="zh-CN" sz="10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7" name="PA-椭圆 103"/>
          <p:cNvSpPr/>
          <p:nvPr>
            <p:custDataLst>
              <p:tags r:id="rId44"/>
            </p:custDataLst>
          </p:nvPr>
        </p:nvSpPr>
        <p:spPr>
          <a:xfrm>
            <a:off x="6542405" y="3528695"/>
            <a:ext cx="835025" cy="873125"/>
          </a:xfrm>
          <a:prstGeom prst="ellipse">
            <a:avLst/>
          </a:prstGeom>
          <a:solidFill>
            <a:srgbClr val="8C8B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bg1"/>
                </a:solidFill>
                <a:cs typeface="+mn-ea"/>
                <a:sym typeface="+mn-lt"/>
              </a:rPr>
              <a:t>LAB</a:t>
            </a:r>
            <a:endParaRPr lang="en-US" altLang="zh-CN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2" name="PA-椭圆 103"/>
          <p:cNvSpPr/>
          <p:nvPr>
            <p:custDataLst>
              <p:tags r:id="rId45"/>
            </p:custDataLst>
          </p:nvPr>
        </p:nvSpPr>
        <p:spPr>
          <a:xfrm>
            <a:off x="6542405" y="4775835"/>
            <a:ext cx="835025" cy="873125"/>
          </a:xfrm>
          <a:prstGeom prst="ellipse">
            <a:avLst/>
          </a:prstGeom>
          <a:solidFill>
            <a:srgbClr val="8C8B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bg1"/>
                </a:solidFill>
                <a:cs typeface="+mn-ea"/>
                <a:sym typeface="+mn-lt"/>
              </a:rPr>
              <a:t>INPUT</a:t>
            </a:r>
            <a:endParaRPr lang="en-US" altLang="zh-CN" sz="100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custDataLst>
      <p:tags r:id="rId4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part.02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12" name="椭圆 11"/>
          <p:cNvSpPr/>
          <p:nvPr>
            <p:custDataLst>
              <p:tags r:id="rId1"/>
            </p:custDataLst>
          </p:nvPr>
        </p:nvSpPr>
        <p:spPr>
          <a:xfrm>
            <a:off x="5053792" y="3204056"/>
            <a:ext cx="640390" cy="640388"/>
          </a:xfrm>
          <a:prstGeom prst="ellipse">
            <a:avLst/>
          </a:prstGeom>
          <a:solidFill>
            <a:srgbClr val="605E8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" name="椭圆 12"/>
          <p:cNvSpPr/>
          <p:nvPr>
            <p:custDataLst>
              <p:tags r:id="rId2"/>
            </p:custDataLst>
          </p:nvPr>
        </p:nvSpPr>
        <p:spPr>
          <a:xfrm flipH="1">
            <a:off x="5989819" y="3204056"/>
            <a:ext cx="640390" cy="64038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>
            <p:custDataLst>
              <p:tags r:id="rId3"/>
            </p:custDataLst>
          </p:nvPr>
        </p:nvSpPr>
        <p:spPr>
          <a:xfrm flipV="1">
            <a:off x="5053792" y="4081627"/>
            <a:ext cx="640390" cy="64038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椭圆 14"/>
          <p:cNvSpPr/>
          <p:nvPr>
            <p:custDataLst>
              <p:tags r:id="rId4"/>
            </p:custDataLst>
          </p:nvPr>
        </p:nvSpPr>
        <p:spPr>
          <a:xfrm flipH="1" flipV="1">
            <a:off x="6002519" y="4081627"/>
            <a:ext cx="640390" cy="640388"/>
          </a:xfrm>
          <a:prstGeom prst="ellipse">
            <a:avLst/>
          </a:prstGeom>
          <a:solidFill>
            <a:srgbClr val="605E8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任意多边形: 形状 15"/>
          <p:cNvSpPr/>
          <p:nvPr>
            <p:custDataLst>
              <p:tags r:id="rId5"/>
            </p:custDataLst>
          </p:nvPr>
        </p:nvSpPr>
        <p:spPr>
          <a:xfrm>
            <a:off x="4140645" y="2293280"/>
            <a:ext cx="1201718" cy="1201717"/>
          </a:xfrm>
          <a:custGeom>
            <a:avLst/>
            <a:gdLst>
              <a:gd name="connsiteX0" fmla="*/ 0 w 1206500"/>
              <a:gd name="connsiteY0" fmla="*/ 0 h 1206500"/>
              <a:gd name="connsiteX1" fmla="*/ 1206500 w 1206500"/>
              <a:gd name="connsiteY1" fmla="*/ 0 h 1206500"/>
              <a:gd name="connsiteX2" fmla="*/ 1206500 w 1206500"/>
              <a:gd name="connsiteY2" fmla="*/ 863600 h 1206500"/>
              <a:gd name="connsiteX3" fmla="*/ 863600 w 1206500"/>
              <a:gd name="connsiteY3" fmla="*/ 1206500 h 1206500"/>
              <a:gd name="connsiteX4" fmla="*/ 0 w 1206500"/>
              <a:gd name="connsiteY4" fmla="*/ 1206500 h 1206500"/>
              <a:gd name="connsiteX5" fmla="*/ 0 w 1206500"/>
              <a:gd name="connsiteY5" fmla="*/ 0 h 120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6500" h="1206500">
                <a:moveTo>
                  <a:pt x="0" y="0"/>
                </a:moveTo>
                <a:lnTo>
                  <a:pt x="1206500" y="0"/>
                </a:lnTo>
                <a:lnTo>
                  <a:pt x="1206500" y="863600"/>
                </a:lnTo>
                <a:cubicBezTo>
                  <a:pt x="1017122" y="863600"/>
                  <a:pt x="863600" y="1017122"/>
                  <a:pt x="863600" y="1206500"/>
                </a:cubicBez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rgbClr val="605E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任意多边形: 形状 16"/>
          <p:cNvSpPr/>
          <p:nvPr>
            <p:custDataLst>
              <p:tags r:id="rId6"/>
            </p:custDataLst>
          </p:nvPr>
        </p:nvSpPr>
        <p:spPr>
          <a:xfrm>
            <a:off x="6354338" y="2293280"/>
            <a:ext cx="1201718" cy="1201717"/>
          </a:xfrm>
          <a:custGeom>
            <a:avLst/>
            <a:gdLst>
              <a:gd name="connsiteX0" fmla="*/ 0 w 1206500"/>
              <a:gd name="connsiteY0" fmla="*/ 0 h 1206500"/>
              <a:gd name="connsiteX1" fmla="*/ 1206500 w 1206500"/>
              <a:gd name="connsiteY1" fmla="*/ 0 h 1206500"/>
              <a:gd name="connsiteX2" fmla="*/ 1206500 w 1206500"/>
              <a:gd name="connsiteY2" fmla="*/ 1206500 h 1206500"/>
              <a:gd name="connsiteX3" fmla="*/ 342900 w 1206500"/>
              <a:gd name="connsiteY3" fmla="*/ 1206500 h 1206500"/>
              <a:gd name="connsiteX4" fmla="*/ 0 w 1206500"/>
              <a:gd name="connsiteY4" fmla="*/ 863600 h 1206500"/>
              <a:gd name="connsiteX5" fmla="*/ 0 w 1206500"/>
              <a:gd name="connsiteY5" fmla="*/ 0 h 120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6500" h="1206500">
                <a:moveTo>
                  <a:pt x="0" y="0"/>
                </a:moveTo>
                <a:lnTo>
                  <a:pt x="1206500" y="0"/>
                </a:lnTo>
                <a:lnTo>
                  <a:pt x="1206500" y="1206500"/>
                </a:lnTo>
                <a:lnTo>
                  <a:pt x="342900" y="1206500"/>
                </a:lnTo>
                <a:cubicBezTo>
                  <a:pt x="342900" y="1017122"/>
                  <a:pt x="189378" y="863600"/>
                  <a:pt x="0" y="863600"/>
                </a:cubicBez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" name="任意多边形: 形状 17"/>
          <p:cNvSpPr/>
          <p:nvPr>
            <p:custDataLst>
              <p:tags r:id="rId7"/>
            </p:custDataLst>
          </p:nvPr>
        </p:nvSpPr>
        <p:spPr>
          <a:xfrm>
            <a:off x="4150805" y="4431073"/>
            <a:ext cx="1201718" cy="1201717"/>
          </a:xfrm>
          <a:custGeom>
            <a:avLst/>
            <a:gdLst>
              <a:gd name="connsiteX0" fmla="*/ 0 w 1206500"/>
              <a:gd name="connsiteY0" fmla="*/ 0 h 1206500"/>
              <a:gd name="connsiteX1" fmla="*/ 863600 w 1206500"/>
              <a:gd name="connsiteY1" fmla="*/ 0 h 1206500"/>
              <a:gd name="connsiteX2" fmla="*/ 1206500 w 1206500"/>
              <a:gd name="connsiteY2" fmla="*/ 342900 h 1206500"/>
              <a:gd name="connsiteX3" fmla="*/ 1206500 w 1206500"/>
              <a:gd name="connsiteY3" fmla="*/ 1206500 h 1206500"/>
              <a:gd name="connsiteX4" fmla="*/ 0 w 1206500"/>
              <a:gd name="connsiteY4" fmla="*/ 1206500 h 1206500"/>
              <a:gd name="connsiteX5" fmla="*/ 0 w 1206500"/>
              <a:gd name="connsiteY5" fmla="*/ 0 h 120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6500" h="1206500">
                <a:moveTo>
                  <a:pt x="0" y="0"/>
                </a:moveTo>
                <a:lnTo>
                  <a:pt x="863600" y="0"/>
                </a:lnTo>
                <a:cubicBezTo>
                  <a:pt x="863600" y="189378"/>
                  <a:pt x="1017122" y="342900"/>
                  <a:pt x="1206500" y="342900"/>
                </a:cubicBezTo>
                <a:lnTo>
                  <a:pt x="1206500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任意多边形: 形状 18"/>
          <p:cNvSpPr/>
          <p:nvPr>
            <p:custDataLst>
              <p:tags r:id="rId8"/>
            </p:custDataLst>
          </p:nvPr>
        </p:nvSpPr>
        <p:spPr>
          <a:xfrm>
            <a:off x="6354338" y="4431073"/>
            <a:ext cx="1201718" cy="1201717"/>
          </a:xfrm>
          <a:custGeom>
            <a:avLst/>
            <a:gdLst>
              <a:gd name="connsiteX0" fmla="*/ 342900 w 1206500"/>
              <a:gd name="connsiteY0" fmla="*/ 0 h 1206500"/>
              <a:gd name="connsiteX1" fmla="*/ 1206500 w 1206500"/>
              <a:gd name="connsiteY1" fmla="*/ 0 h 1206500"/>
              <a:gd name="connsiteX2" fmla="*/ 1206500 w 1206500"/>
              <a:gd name="connsiteY2" fmla="*/ 1206500 h 1206500"/>
              <a:gd name="connsiteX3" fmla="*/ 0 w 1206500"/>
              <a:gd name="connsiteY3" fmla="*/ 1206500 h 1206500"/>
              <a:gd name="connsiteX4" fmla="*/ 0 w 1206500"/>
              <a:gd name="connsiteY4" fmla="*/ 342900 h 1206500"/>
              <a:gd name="connsiteX5" fmla="*/ 342900 w 1206500"/>
              <a:gd name="connsiteY5" fmla="*/ 0 h 120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6500" h="1206500">
                <a:moveTo>
                  <a:pt x="342900" y="0"/>
                </a:moveTo>
                <a:lnTo>
                  <a:pt x="1206500" y="0"/>
                </a:lnTo>
                <a:lnTo>
                  <a:pt x="1206500" y="1206500"/>
                </a:lnTo>
                <a:lnTo>
                  <a:pt x="0" y="1206500"/>
                </a:lnTo>
                <a:lnTo>
                  <a:pt x="0" y="342900"/>
                </a:lnTo>
                <a:cubicBezTo>
                  <a:pt x="189378" y="342900"/>
                  <a:pt x="342900" y="189378"/>
                  <a:pt x="342900" y="0"/>
                </a:cubicBezTo>
                <a:close/>
              </a:path>
            </a:pathLst>
          </a:custGeom>
          <a:noFill/>
          <a:ln w="19050">
            <a:solidFill>
              <a:srgbClr val="605E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>
            <p:custDataLst>
              <p:tags r:id="rId9"/>
            </p:custDataLst>
          </p:nvPr>
        </p:nvGrpSpPr>
        <p:grpSpPr>
          <a:xfrm>
            <a:off x="6759934" y="4872031"/>
            <a:ext cx="352425" cy="381000"/>
            <a:chOff x="3849688" y="3228976"/>
            <a:chExt cx="352425" cy="381000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33" name="98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3859213" y="3228976"/>
              <a:ext cx="341313" cy="203200"/>
            </a:xfrm>
            <a:custGeom>
              <a:avLst/>
              <a:gdLst>
                <a:gd name="T0" fmla="*/ 31 w 215"/>
                <a:gd name="T1" fmla="*/ 128 h 128"/>
                <a:gd name="T2" fmla="*/ 0 w 215"/>
                <a:gd name="T3" fmla="*/ 128 h 128"/>
                <a:gd name="T4" fmla="*/ 0 w 215"/>
                <a:gd name="T5" fmla="*/ 44 h 128"/>
                <a:gd name="T6" fmla="*/ 156 w 215"/>
                <a:gd name="T7" fmla="*/ 44 h 128"/>
                <a:gd name="T8" fmla="*/ 156 w 215"/>
                <a:gd name="T9" fmla="*/ 0 h 128"/>
                <a:gd name="T10" fmla="*/ 215 w 215"/>
                <a:gd name="T11" fmla="*/ 60 h 128"/>
                <a:gd name="T12" fmla="*/ 156 w 215"/>
                <a:gd name="T13" fmla="*/ 118 h 128"/>
                <a:gd name="T14" fmla="*/ 156 w 215"/>
                <a:gd name="T15" fmla="*/ 75 h 128"/>
                <a:gd name="T16" fmla="*/ 31 w 215"/>
                <a:gd name="T17" fmla="*/ 75 h 128"/>
                <a:gd name="T18" fmla="*/ 31 w 215"/>
                <a:gd name="T19" fmla="*/ 128 h 128"/>
                <a:gd name="T20" fmla="*/ 5 w 215"/>
                <a:gd name="T21" fmla="*/ 123 h 128"/>
                <a:gd name="T22" fmla="*/ 26 w 215"/>
                <a:gd name="T23" fmla="*/ 123 h 128"/>
                <a:gd name="T24" fmla="*/ 26 w 215"/>
                <a:gd name="T25" fmla="*/ 69 h 128"/>
                <a:gd name="T26" fmla="*/ 162 w 215"/>
                <a:gd name="T27" fmla="*/ 69 h 128"/>
                <a:gd name="T28" fmla="*/ 162 w 215"/>
                <a:gd name="T29" fmla="*/ 105 h 128"/>
                <a:gd name="T30" fmla="*/ 208 w 215"/>
                <a:gd name="T31" fmla="*/ 60 h 128"/>
                <a:gd name="T32" fmla="*/ 162 w 215"/>
                <a:gd name="T33" fmla="*/ 14 h 128"/>
                <a:gd name="T34" fmla="*/ 162 w 215"/>
                <a:gd name="T35" fmla="*/ 49 h 128"/>
                <a:gd name="T36" fmla="*/ 5 w 215"/>
                <a:gd name="T37" fmla="*/ 49 h 128"/>
                <a:gd name="T38" fmla="*/ 5 w 215"/>
                <a:gd name="T39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15" h="128">
                  <a:moveTo>
                    <a:pt x="31" y="128"/>
                  </a:moveTo>
                  <a:lnTo>
                    <a:pt x="0" y="128"/>
                  </a:lnTo>
                  <a:lnTo>
                    <a:pt x="0" y="44"/>
                  </a:lnTo>
                  <a:lnTo>
                    <a:pt x="156" y="44"/>
                  </a:lnTo>
                  <a:lnTo>
                    <a:pt x="156" y="0"/>
                  </a:lnTo>
                  <a:lnTo>
                    <a:pt x="215" y="60"/>
                  </a:lnTo>
                  <a:lnTo>
                    <a:pt x="156" y="118"/>
                  </a:lnTo>
                  <a:lnTo>
                    <a:pt x="156" y="75"/>
                  </a:lnTo>
                  <a:lnTo>
                    <a:pt x="31" y="75"/>
                  </a:lnTo>
                  <a:lnTo>
                    <a:pt x="31" y="128"/>
                  </a:lnTo>
                  <a:close/>
                  <a:moveTo>
                    <a:pt x="5" y="123"/>
                  </a:moveTo>
                  <a:lnTo>
                    <a:pt x="26" y="123"/>
                  </a:lnTo>
                  <a:lnTo>
                    <a:pt x="26" y="69"/>
                  </a:lnTo>
                  <a:lnTo>
                    <a:pt x="162" y="69"/>
                  </a:lnTo>
                  <a:lnTo>
                    <a:pt x="162" y="105"/>
                  </a:lnTo>
                  <a:lnTo>
                    <a:pt x="208" y="60"/>
                  </a:lnTo>
                  <a:lnTo>
                    <a:pt x="162" y="14"/>
                  </a:lnTo>
                  <a:lnTo>
                    <a:pt x="162" y="49"/>
                  </a:lnTo>
                  <a:lnTo>
                    <a:pt x="5" y="49"/>
                  </a:lnTo>
                  <a:lnTo>
                    <a:pt x="5" y="123"/>
                  </a:lnTo>
                  <a:close/>
                </a:path>
              </a:pathLst>
            </a:custGeom>
            <a:grpFill/>
            <a:ln>
              <a:solidFill>
                <a:srgbClr val="605E8C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" name="99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3849688" y="3394076"/>
              <a:ext cx="352425" cy="215900"/>
            </a:xfrm>
            <a:custGeom>
              <a:avLst/>
              <a:gdLst>
                <a:gd name="T0" fmla="*/ 66 w 222"/>
                <a:gd name="T1" fmla="*/ 136 h 136"/>
                <a:gd name="T2" fmla="*/ 0 w 222"/>
                <a:gd name="T3" fmla="*/ 70 h 136"/>
                <a:gd name="T4" fmla="*/ 66 w 222"/>
                <a:gd name="T5" fmla="*/ 5 h 136"/>
                <a:gd name="T6" fmla="*/ 66 w 222"/>
                <a:gd name="T7" fmla="*/ 51 h 136"/>
                <a:gd name="T8" fmla="*/ 186 w 222"/>
                <a:gd name="T9" fmla="*/ 51 h 136"/>
                <a:gd name="T10" fmla="*/ 186 w 222"/>
                <a:gd name="T11" fmla="*/ 0 h 136"/>
                <a:gd name="T12" fmla="*/ 222 w 222"/>
                <a:gd name="T13" fmla="*/ 0 h 136"/>
                <a:gd name="T14" fmla="*/ 222 w 222"/>
                <a:gd name="T15" fmla="*/ 89 h 136"/>
                <a:gd name="T16" fmla="*/ 66 w 222"/>
                <a:gd name="T17" fmla="*/ 89 h 136"/>
                <a:gd name="T18" fmla="*/ 66 w 222"/>
                <a:gd name="T19" fmla="*/ 136 h 136"/>
                <a:gd name="T20" fmla="*/ 15 w 222"/>
                <a:gd name="T21" fmla="*/ 70 h 136"/>
                <a:gd name="T22" fmla="*/ 55 w 222"/>
                <a:gd name="T23" fmla="*/ 110 h 136"/>
                <a:gd name="T24" fmla="*/ 55 w 222"/>
                <a:gd name="T25" fmla="*/ 79 h 136"/>
                <a:gd name="T26" fmla="*/ 211 w 222"/>
                <a:gd name="T27" fmla="*/ 79 h 136"/>
                <a:gd name="T28" fmla="*/ 211 w 222"/>
                <a:gd name="T29" fmla="*/ 10 h 136"/>
                <a:gd name="T30" fmla="*/ 196 w 222"/>
                <a:gd name="T31" fmla="*/ 10 h 136"/>
                <a:gd name="T32" fmla="*/ 196 w 222"/>
                <a:gd name="T33" fmla="*/ 62 h 136"/>
                <a:gd name="T34" fmla="*/ 55 w 222"/>
                <a:gd name="T35" fmla="*/ 62 h 136"/>
                <a:gd name="T36" fmla="*/ 55 w 222"/>
                <a:gd name="T37" fmla="*/ 31 h 136"/>
                <a:gd name="T38" fmla="*/ 15 w 222"/>
                <a:gd name="T39" fmla="*/ 7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2" h="136">
                  <a:moveTo>
                    <a:pt x="66" y="136"/>
                  </a:moveTo>
                  <a:lnTo>
                    <a:pt x="0" y="70"/>
                  </a:lnTo>
                  <a:lnTo>
                    <a:pt x="66" y="5"/>
                  </a:lnTo>
                  <a:lnTo>
                    <a:pt x="66" y="51"/>
                  </a:lnTo>
                  <a:lnTo>
                    <a:pt x="186" y="51"/>
                  </a:lnTo>
                  <a:lnTo>
                    <a:pt x="186" y="0"/>
                  </a:lnTo>
                  <a:lnTo>
                    <a:pt x="222" y="0"/>
                  </a:lnTo>
                  <a:lnTo>
                    <a:pt x="222" y="89"/>
                  </a:lnTo>
                  <a:lnTo>
                    <a:pt x="66" y="89"/>
                  </a:lnTo>
                  <a:lnTo>
                    <a:pt x="66" y="136"/>
                  </a:lnTo>
                  <a:close/>
                  <a:moveTo>
                    <a:pt x="15" y="70"/>
                  </a:moveTo>
                  <a:lnTo>
                    <a:pt x="55" y="110"/>
                  </a:lnTo>
                  <a:lnTo>
                    <a:pt x="55" y="79"/>
                  </a:lnTo>
                  <a:lnTo>
                    <a:pt x="211" y="79"/>
                  </a:lnTo>
                  <a:lnTo>
                    <a:pt x="211" y="10"/>
                  </a:lnTo>
                  <a:lnTo>
                    <a:pt x="196" y="10"/>
                  </a:lnTo>
                  <a:lnTo>
                    <a:pt x="196" y="62"/>
                  </a:lnTo>
                  <a:lnTo>
                    <a:pt x="55" y="62"/>
                  </a:lnTo>
                  <a:lnTo>
                    <a:pt x="55" y="31"/>
                  </a:lnTo>
                  <a:lnTo>
                    <a:pt x="15" y="70"/>
                  </a:lnTo>
                  <a:close/>
                </a:path>
              </a:pathLst>
            </a:custGeom>
            <a:grpFill/>
            <a:ln>
              <a:solidFill>
                <a:srgbClr val="605E8C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35" name="组合 34"/>
          <p:cNvGrpSpPr/>
          <p:nvPr>
            <p:custDataLst>
              <p:tags r:id="rId12"/>
            </p:custDataLst>
          </p:nvPr>
        </p:nvGrpSpPr>
        <p:grpSpPr>
          <a:xfrm>
            <a:off x="4562512" y="2647518"/>
            <a:ext cx="363538" cy="384176"/>
            <a:chOff x="2182813" y="3243263"/>
            <a:chExt cx="363538" cy="384176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36" name="100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2195513" y="3243263"/>
              <a:ext cx="350838" cy="146050"/>
            </a:xfrm>
            <a:custGeom>
              <a:avLst/>
              <a:gdLst>
                <a:gd name="T0" fmla="*/ 162 w 162"/>
                <a:gd name="T1" fmla="*/ 67 h 67"/>
                <a:gd name="T2" fmla="*/ 95 w 162"/>
                <a:gd name="T3" fmla="*/ 67 h 67"/>
                <a:gd name="T4" fmla="*/ 119 w 162"/>
                <a:gd name="T5" fmla="*/ 43 h 67"/>
                <a:gd name="T6" fmla="*/ 79 w 162"/>
                <a:gd name="T7" fmla="*/ 27 h 67"/>
                <a:gd name="T8" fmla="*/ 24 w 162"/>
                <a:gd name="T9" fmla="*/ 65 h 67"/>
                <a:gd name="T10" fmla="*/ 23 w 162"/>
                <a:gd name="T11" fmla="*/ 67 h 67"/>
                <a:gd name="T12" fmla="*/ 0 w 162"/>
                <a:gd name="T13" fmla="*/ 58 h 67"/>
                <a:gd name="T14" fmla="*/ 1 w 162"/>
                <a:gd name="T15" fmla="*/ 57 h 67"/>
                <a:gd name="T16" fmla="*/ 79 w 162"/>
                <a:gd name="T17" fmla="*/ 2 h 67"/>
                <a:gd name="T18" fmla="*/ 136 w 162"/>
                <a:gd name="T19" fmla="*/ 25 h 67"/>
                <a:gd name="T20" fmla="*/ 162 w 162"/>
                <a:gd name="T21" fmla="*/ 0 h 67"/>
                <a:gd name="T22" fmla="*/ 162 w 162"/>
                <a:gd name="T23" fmla="*/ 67 h 67"/>
                <a:gd name="T24" fmla="*/ 104 w 162"/>
                <a:gd name="T25" fmla="*/ 63 h 67"/>
                <a:gd name="T26" fmla="*/ 158 w 162"/>
                <a:gd name="T27" fmla="*/ 63 h 67"/>
                <a:gd name="T28" fmla="*/ 158 w 162"/>
                <a:gd name="T29" fmla="*/ 9 h 67"/>
                <a:gd name="T30" fmla="*/ 137 w 162"/>
                <a:gd name="T31" fmla="*/ 31 h 67"/>
                <a:gd name="T32" fmla="*/ 135 w 162"/>
                <a:gd name="T33" fmla="*/ 30 h 67"/>
                <a:gd name="T34" fmla="*/ 79 w 162"/>
                <a:gd name="T35" fmla="*/ 6 h 67"/>
                <a:gd name="T36" fmla="*/ 5 w 162"/>
                <a:gd name="T37" fmla="*/ 56 h 67"/>
                <a:gd name="T38" fmla="*/ 21 w 162"/>
                <a:gd name="T39" fmla="*/ 62 h 67"/>
                <a:gd name="T40" fmla="*/ 79 w 162"/>
                <a:gd name="T41" fmla="*/ 23 h 67"/>
                <a:gd name="T42" fmla="*/ 124 w 162"/>
                <a:gd name="T43" fmla="*/ 41 h 67"/>
                <a:gd name="T44" fmla="*/ 125 w 162"/>
                <a:gd name="T45" fmla="*/ 43 h 67"/>
                <a:gd name="T46" fmla="*/ 104 w 162"/>
                <a:gd name="T47" fmla="*/ 63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2" h="67">
                  <a:moveTo>
                    <a:pt x="162" y="67"/>
                  </a:moveTo>
                  <a:cubicBezTo>
                    <a:pt x="95" y="67"/>
                    <a:pt x="95" y="67"/>
                    <a:pt x="95" y="67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08" y="32"/>
                    <a:pt x="94" y="27"/>
                    <a:pt x="79" y="27"/>
                  </a:cubicBezTo>
                  <a:cubicBezTo>
                    <a:pt x="55" y="27"/>
                    <a:pt x="32" y="42"/>
                    <a:pt x="24" y="65"/>
                  </a:cubicBezTo>
                  <a:cubicBezTo>
                    <a:pt x="23" y="67"/>
                    <a:pt x="23" y="67"/>
                    <a:pt x="23" y="67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1" y="57"/>
                    <a:pt x="1" y="57"/>
                    <a:pt x="1" y="57"/>
                  </a:cubicBezTo>
                  <a:cubicBezTo>
                    <a:pt x="13" y="24"/>
                    <a:pt x="44" y="2"/>
                    <a:pt x="79" y="2"/>
                  </a:cubicBezTo>
                  <a:cubicBezTo>
                    <a:pt x="101" y="2"/>
                    <a:pt x="121" y="11"/>
                    <a:pt x="136" y="25"/>
                  </a:cubicBezTo>
                  <a:cubicBezTo>
                    <a:pt x="162" y="0"/>
                    <a:pt x="162" y="0"/>
                    <a:pt x="162" y="0"/>
                  </a:cubicBezTo>
                  <a:lnTo>
                    <a:pt x="162" y="67"/>
                  </a:lnTo>
                  <a:close/>
                  <a:moveTo>
                    <a:pt x="104" y="63"/>
                  </a:moveTo>
                  <a:cubicBezTo>
                    <a:pt x="158" y="63"/>
                    <a:pt x="158" y="63"/>
                    <a:pt x="158" y="63"/>
                  </a:cubicBezTo>
                  <a:cubicBezTo>
                    <a:pt x="158" y="9"/>
                    <a:pt x="158" y="9"/>
                    <a:pt x="158" y="9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5" y="30"/>
                    <a:pt x="135" y="30"/>
                    <a:pt x="135" y="30"/>
                  </a:cubicBezTo>
                  <a:cubicBezTo>
                    <a:pt x="120" y="15"/>
                    <a:pt x="100" y="6"/>
                    <a:pt x="79" y="6"/>
                  </a:cubicBezTo>
                  <a:cubicBezTo>
                    <a:pt x="47" y="6"/>
                    <a:pt x="17" y="26"/>
                    <a:pt x="5" y="56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30" y="38"/>
                    <a:pt x="54" y="23"/>
                    <a:pt x="79" y="23"/>
                  </a:cubicBezTo>
                  <a:cubicBezTo>
                    <a:pt x="96" y="23"/>
                    <a:pt x="112" y="29"/>
                    <a:pt x="124" y="41"/>
                  </a:cubicBezTo>
                  <a:cubicBezTo>
                    <a:pt x="125" y="43"/>
                    <a:pt x="125" y="43"/>
                    <a:pt x="125" y="43"/>
                  </a:cubicBezTo>
                  <a:lnTo>
                    <a:pt x="104" y="63"/>
                  </a:lnTo>
                  <a:close/>
                </a:path>
              </a:pathLst>
            </a:custGeom>
            <a:grpFill/>
            <a:ln>
              <a:solidFill>
                <a:srgbClr val="605E8C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7" name="101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2182813" y="3463926"/>
              <a:ext cx="358775" cy="163513"/>
            </a:xfrm>
            <a:custGeom>
              <a:avLst/>
              <a:gdLst>
                <a:gd name="T0" fmla="*/ 0 w 166"/>
                <a:gd name="T1" fmla="*/ 75 h 75"/>
                <a:gd name="T2" fmla="*/ 0 w 166"/>
                <a:gd name="T3" fmla="*/ 0 h 75"/>
                <a:gd name="T4" fmla="*/ 74 w 166"/>
                <a:gd name="T5" fmla="*/ 0 h 75"/>
                <a:gd name="T6" fmla="*/ 48 w 166"/>
                <a:gd name="T7" fmla="*/ 27 h 75"/>
                <a:gd name="T8" fmla="*/ 85 w 166"/>
                <a:gd name="T9" fmla="*/ 41 h 75"/>
                <a:gd name="T10" fmla="*/ 138 w 166"/>
                <a:gd name="T11" fmla="*/ 4 h 75"/>
                <a:gd name="T12" fmla="*/ 140 w 166"/>
                <a:gd name="T13" fmla="*/ 0 h 75"/>
                <a:gd name="T14" fmla="*/ 166 w 166"/>
                <a:gd name="T15" fmla="*/ 10 h 75"/>
                <a:gd name="T16" fmla="*/ 165 w 166"/>
                <a:gd name="T17" fmla="*/ 14 h 75"/>
                <a:gd name="T18" fmla="*/ 85 w 166"/>
                <a:gd name="T19" fmla="*/ 69 h 75"/>
                <a:gd name="T20" fmla="*/ 28 w 166"/>
                <a:gd name="T21" fmla="*/ 47 h 75"/>
                <a:gd name="T22" fmla="*/ 0 w 166"/>
                <a:gd name="T23" fmla="*/ 75 h 75"/>
                <a:gd name="T24" fmla="*/ 27 w 166"/>
                <a:gd name="T25" fmla="*/ 36 h 75"/>
                <a:gd name="T26" fmla="*/ 30 w 166"/>
                <a:gd name="T27" fmla="*/ 38 h 75"/>
                <a:gd name="T28" fmla="*/ 85 w 166"/>
                <a:gd name="T29" fmla="*/ 61 h 75"/>
                <a:gd name="T30" fmla="*/ 156 w 166"/>
                <a:gd name="T31" fmla="*/ 15 h 75"/>
                <a:gd name="T32" fmla="*/ 144 w 166"/>
                <a:gd name="T33" fmla="*/ 10 h 75"/>
                <a:gd name="T34" fmla="*/ 85 w 166"/>
                <a:gd name="T35" fmla="*/ 49 h 75"/>
                <a:gd name="T36" fmla="*/ 39 w 166"/>
                <a:gd name="T37" fmla="*/ 30 h 75"/>
                <a:gd name="T38" fmla="*/ 36 w 166"/>
                <a:gd name="T39" fmla="*/ 27 h 75"/>
                <a:gd name="T40" fmla="*/ 55 w 166"/>
                <a:gd name="T41" fmla="*/ 8 h 75"/>
                <a:gd name="T42" fmla="*/ 8 w 166"/>
                <a:gd name="T43" fmla="*/ 8 h 75"/>
                <a:gd name="T44" fmla="*/ 8 w 166"/>
                <a:gd name="T45" fmla="*/ 55 h 75"/>
                <a:gd name="T46" fmla="*/ 27 w 166"/>
                <a:gd name="T47" fmla="*/ 3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6" h="75">
                  <a:moveTo>
                    <a:pt x="0" y="75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58" y="36"/>
                    <a:pt x="71" y="41"/>
                    <a:pt x="85" y="41"/>
                  </a:cubicBezTo>
                  <a:cubicBezTo>
                    <a:pt x="109" y="41"/>
                    <a:pt x="130" y="26"/>
                    <a:pt x="138" y="4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66" y="10"/>
                    <a:pt x="166" y="10"/>
                    <a:pt x="166" y="10"/>
                  </a:cubicBezTo>
                  <a:cubicBezTo>
                    <a:pt x="165" y="14"/>
                    <a:pt x="165" y="14"/>
                    <a:pt x="165" y="14"/>
                  </a:cubicBezTo>
                  <a:cubicBezTo>
                    <a:pt x="152" y="47"/>
                    <a:pt x="120" y="69"/>
                    <a:pt x="85" y="69"/>
                  </a:cubicBezTo>
                  <a:cubicBezTo>
                    <a:pt x="64" y="69"/>
                    <a:pt x="43" y="61"/>
                    <a:pt x="28" y="47"/>
                  </a:cubicBezTo>
                  <a:lnTo>
                    <a:pt x="0" y="75"/>
                  </a:lnTo>
                  <a:close/>
                  <a:moveTo>
                    <a:pt x="27" y="36"/>
                  </a:moveTo>
                  <a:cubicBezTo>
                    <a:pt x="30" y="38"/>
                    <a:pt x="30" y="38"/>
                    <a:pt x="30" y="38"/>
                  </a:cubicBezTo>
                  <a:cubicBezTo>
                    <a:pt x="45" y="53"/>
                    <a:pt x="64" y="61"/>
                    <a:pt x="85" y="61"/>
                  </a:cubicBezTo>
                  <a:cubicBezTo>
                    <a:pt x="116" y="61"/>
                    <a:pt x="144" y="43"/>
                    <a:pt x="156" y="15"/>
                  </a:cubicBezTo>
                  <a:cubicBezTo>
                    <a:pt x="144" y="10"/>
                    <a:pt x="144" y="10"/>
                    <a:pt x="144" y="10"/>
                  </a:cubicBezTo>
                  <a:cubicBezTo>
                    <a:pt x="134" y="33"/>
                    <a:pt x="111" y="49"/>
                    <a:pt x="85" y="49"/>
                  </a:cubicBezTo>
                  <a:cubicBezTo>
                    <a:pt x="68" y="49"/>
                    <a:pt x="51" y="42"/>
                    <a:pt x="39" y="30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55"/>
                    <a:pt x="8" y="55"/>
                    <a:pt x="8" y="55"/>
                  </a:cubicBezTo>
                  <a:lnTo>
                    <a:pt x="27" y="36"/>
                  </a:lnTo>
                  <a:close/>
                </a:path>
              </a:pathLst>
            </a:custGeom>
            <a:grpFill/>
            <a:ln>
              <a:solidFill>
                <a:srgbClr val="605E8C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38" name="组合 37"/>
          <p:cNvGrpSpPr/>
          <p:nvPr>
            <p:custDataLst>
              <p:tags r:id="rId15"/>
            </p:custDataLst>
          </p:nvPr>
        </p:nvGrpSpPr>
        <p:grpSpPr>
          <a:xfrm>
            <a:off x="6750409" y="2732926"/>
            <a:ext cx="409576" cy="244475"/>
            <a:chOff x="4652963" y="3305176"/>
            <a:chExt cx="409576" cy="244475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39" name="102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4652963" y="3305176"/>
              <a:ext cx="244475" cy="222250"/>
            </a:xfrm>
            <a:custGeom>
              <a:avLst/>
              <a:gdLst>
                <a:gd name="T0" fmla="*/ 154 w 154"/>
                <a:gd name="T1" fmla="*/ 140 h 140"/>
                <a:gd name="T2" fmla="*/ 50 w 154"/>
                <a:gd name="T3" fmla="*/ 140 h 140"/>
                <a:gd name="T4" fmla="*/ 50 w 154"/>
                <a:gd name="T5" fmla="*/ 69 h 140"/>
                <a:gd name="T6" fmla="*/ 0 w 154"/>
                <a:gd name="T7" fmla="*/ 69 h 140"/>
                <a:gd name="T8" fmla="*/ 69 w 154"/>
                <a:gd name="T9" fmla="*/ 0 h 140"/>
                <a:gd name="T10" fmla="*/ 140 w 154"/>
                <a:gd name="T11" fmla="*/ 69 h 140"/>
                <a:gd name="T12" fmla="*/ 90 w 154"/>
                <a:gd name="T13" fmla="*/ 69 h 140"/>
                <a:gd name="T14" fmla="*/ 90 w 154"/>
                <a:gd name="T15" fmla="*/ 100 h 140"/>
                <a:gd name="T16" fmla="*/ 114 w 154"/>
                <a:gd name="T17" fmla="*/ 100 h 140"/>
                <a:gd name="T18" fmla="*/ 154 w 154"/>
                <a:gd name="T19" fmla="*/ 140 h 140"/>
                <a:gd name="T20" fmla="*/ 61 w 154"/>
                <a:gd name="T21" fmla="*/ 129 h 140"/>
                <a:gd name="T22" fmla="*/ 128 w 154"/>
                <a:gd name="T23" fmla="*/ 129 h 140"/>
                <a:gd name="T24" fmla="*/ 110 w 154"/>
                <a:gd name="T25" fmla="*/ 111 h 140"/>
                <a:gd name="T26" fmla="*/ 79 w 154"/>
                <a:gd name="T27" fmla="*/ 111 h 140"/>
                <a:gd name="T28" fmla="*/ 79 w 154"/>
                <a:gd name="T29" fmla="*/ 58 h 140"/>
                <a:gd name="T30" fmla="*/ 114 w 154"/>
                <a:gd name="T31" fmla="*/ 58 h 140"/>
                <a:gd name="T32" fmla="*/ 69 w 154"/>
                <a:gd name="T33" fmla="*/ 15 h 140"/>
                <a:gd name="T34" fmla="*/ 26 w 154"/>
                <a:gd name="T35" fmla="*/ 58 h 140"/>
                <a:gd name="T36" fmla="*/ 61 w 154"/>
                <a:gd name="T37" fmla="*/ 58 h 140"/>
                <a:gd name="T38" fmla="*/ 61 w 154"/>
                <a:gd name="T39" fmla="*/ 129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54" h="140">
                  <a:moveTo>
                    <a:pt x="154" y="140"/>
                  </a:moveTo>
                  <a:lnTo>
                    <a:pt x="50" y="140"/>
                  </a:lnTo>
                  <a:lnTo>
                    <a:pt x="50" y="69"/>
                  </a:lnTo>
                  <a:lnTo>
                    <a:pt x="0" y="69"/>
                  </a:lnTo>
                  <a:lnTo>
                    <a:pt x="69" y="0"/>
                  </a:lnTo>
                  <a:lnTo>
                    <a:pt x="140" y="69"/>
                  </a:lnTo>
                  <a:lnTo>
                    <a:pt x="90" y="69"/>
                  </a:lnTo>
                  <a:lnTo>
                    <a:pt x="90" y="100"/>
                  </a:lnTo>
                  <a:lnTo>
                    <a:pt x="114" y="100"/>
                  </a:lnTo>
                  <a:lnTo>
                    <a:pt x="154" y="140"/>
                  </a:lnTo>
                  <a:close/>
                  <a:moveTo>
                    <a:pt x="61" y="129"/>
                  </a:moveTo>
                  <a:lnTo>
                    <a:pt x="128" y="129"/>
                  </a:lnTo>
                  <a:lnTo>
                    <a:pt x="110" y="111"/>
                  </a:lnTo>
                  <a:lnTo>
                    <a:pt x="79" y="111"/>
                  </a:lnTo>
                  <a:lnTo>
                    <a:pt x="79" y="58"/>
                  </a:lnTo>
                  <a:lnTo>
                    <a:pt x="114" y="58"/>
                  </a:lnTo>
                  <a:lnTo>
                    <a:pt x="69" y="15"/>
                  </a:lnTo>
                  <a:lnTo>
                    <a:pt x="26" y="58"/>
                  </a:lnTo>
                  <a:lnTo>
                    <a:pt x="61" y="58"/>
                  </a:lnTo>
                  <a:lnTo>
                    <a:pt x="61" y="12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0" name="103"/>
            <p:cNvSpPr>
              <a:spLocks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4838701" y="3335338"/>
              <a:ext cx="223838" cy="214313"/>
            </a:xfrm>
            <a:custGeom>
              <a:avLst/>
              <a:gdLst>
                <a:gd name="T0" fmla="*/ 77 w 141"/>
                <a:gd name="T1" fmla="*/ 135 h 135"/>
                <a:gd name="T2" fmla="*/ 13 w 141"/>
                <a:gd name="T3" fmla="*/ 71 h 135"/>
                <a:gd name="T4" fmla="*/ 61 w 141"/>
                <a:gd name="T5" fmla="*/ 71 h 135"/>
                <a:gd name="T6" fmla="*/ 61 w 141"/>
                <a:gd name="T7" fmla="*/ 34 h 135"/>
                <a:gd name="T8" fmla="*/ 34 w 141"/>
                <a:gd name="T9" fmla="*/ 34 h 135"/>
                <a:gd name="T10" fmla="*/ 0 w 141"/>
                <a:gd name="T11" fmla="*/ 0 h 135"/>
                <a:gd name="T12" fmla="*/ 94 w 141"/>
                <a:gd name="T13" fmla="*/ 0 h 135"/>
                <a:gd name="T14" fmla="*/ 94 w 141"/>
                <a:gd name="T15" fmla="*/ 71 h 135"/>
                <a:gd name="T16" fmla="*/ 141 w 141"/>
                <a:gd name="T17" fmla="*/ 71 h 135"/>
                <a:gd name="T18" fmla="*/ 77 w 141"/>
                <a:gd name="T19" fmla="*/ 135 h 135"/>
                <a:gd name="T20" fmla="*/ 27 w 141"/>
                <a:gd name="T21" fmla="*/ 76 h 135"/>
                <a:gd name="T22" fmla="*/ 77 w 141"/>
                <a:gd name="T23" fmla="*/ 126 h 135"/>
                <a:gd name="T24" fmla="*/ 128 w 141"/>
                <a:gd name="T25" fmla="*/ 76 h 135"/>
                <a:gd name="T26" fmla="*/ 88 w 141"/>
                <a:gd name="T27" fmla="*/ 76 h 135"/>
                <a:gd name="T28" fmla="*/ 88 w 141"/>
                <a:gd name="T29" fmla="*/ 5 h 135"/>
                <a:gd name="T30" fmla="*/ 13 w 141"/>
                <a:gd name="T31" fmla="*/ 5 h 135"/>
                <a:gd name="T32" fmla="*/ 35 w 141"/>
                <a:gd name="T33" fmla="*/ 28 h 135"/>
                <a:gd name="T34" fmla="*/ 67 w 141"/>
                <a:gd name="T35" fmla="*/ 28 h 135"/>
                <a:gd name="T36" fmla="*/ 67 w 141"/>
                <a:gd name="T37" fmla="*/ 76 h 135"/>
                <a:gd name="T38" fmla="*/ 27 w 141"/>
                <a:gd name="T39" fmla="*/ 76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1" h="135">
                  <a:moveTo>
                    <a:pt x="77" y="135"/>
                  </a:moveTo>
                  <a:lnTo>
                    <a:pt x="13" y="71"/>
                  </a:lnTo>
                  <a:lnTo>
                    <a:pt x="61" y="71"/>
                  </a:lnTo>
                  <a:lnTo>
                    <a:pt x="61" y="34"/>
                  </a:lnTo>
                  <a:lnTo>
                    <a:pt x="34" y="34"/>
                  </a:lnTo>
                  <a:lnTo>
                    <a:pt x="0" y="0"/>
                  </a:lnTo>
                  <a:lnTo>
                    <a:pt x="94" y="0"/>
                  </a:lnTo>
                  <a:lnTo>
                    <a:pt x="94" y="71"/>
                  </a:lnTo>
                  <a:lnTo>
                    <a:pt x="141" y="71"/>
                  </a:lnTo>
                  <a:lnTo>
                    <a:pt x="77" y="135"/>
                  </a:lnTo>
                  <a:close/>
                  <a:moveTo>
                    <a:pt x="27" y="76"/>
                  </a:moveTo>
                  <a:lnTo>
                    <a:pt x="77" y="126"/>
                  </a:lnTo>
                  <a:lnTo>
                    <a:pt x="128" y="76"/>
                  </a:lnTo>
                  <a:lnTo>
                    <a:pt x="88" y="76"/>
                  </a:lnTo>
                  <a:lnTo>
                    <a:pt x="88" y="5"/>
                  </a:lnTo>
                  <a:lnTo>
                    <a:pt x="13" y="5"/>
                  </a:lnTo>
                  <a:lnTo>
                    <a:pt x="35" y="28"/>
                  </a:lnTo>
                  <a:lnTo>
                    <a:pt x="67" y="28"/>
                  </a:lnTo>
                  <a:lnTo>
                    <a:pt x="67" y="76"/>
                  </a:lnTo>
                  <a:lnTo>
                    <a:pt x="27" y="76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41" name="组合 40"/>
          <p:cNvGrpSpPr/>
          <p:nvPr>
            <p:custDataLst>
              <p:tags r:id="rId18"/>
            </p:custDataLst>
          </p:nvPr>
        </p:nvGrpSpPr>
        <p:grpSpPr>
          <a:xfrm>
            <a:off x="4529023" y="4831708"/>
            <a:ext cx="369888" cy="388938"/>
            <a:chOff x="3017838" y="3233738"/>
            <a:chExt cx="369888" cy="388938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42" name="104"/>
            <p:cNvSpPr>
              <a:spLocks noEditPoints="1"/>
            </p:cNvSpPr>
            <p:nvPr>
              <p:custDataLst>
                <p:tags r:id="rId19"/>
              </p:custDataLst>
            </p:nvPr>
          </p:nvSpPr>
          <p:spPr bwMode="auto">
            <a:xfrm>
              <a:off x="3017838" y="3233738"/>
              <a:ext cx="369888" cy="388938"/>
            </a:xfrm>
            <a:custGeom>
              <a:avLst/>
              <a:gdLst>
                <a:gd name="T0" fmla="*/ 121 w 171"/>
                <a:gd name="T1" fmla="*/ 180 h 180"/>
                <a:gd name="T2" fmla="*/ 121 w 171"/>
                <a:gd name="T3" fmla="*/ 144 h 180"/>
                <a:gd name="T4" fmla="*/ 74 w 171"/>
                <a:gd name="T5" fmla="*/ 129 h 180"/>
                <a:gd name="T6" fmla="*/ 52 w 171"/>
                <a:gd name="T7" fmla="*/ 96 h 180"/>
                <a:gd name="T8" fmla="*/ 4 w 171"/>
                <a:gd name="T9" fmla="*/ 64 h 180"/>
                <a:gd name="T10" fmla="*/ 0 w 171"/>
                <a:gd name="T11" fmla="*/ 64 h 180"/>
                <a:gd name="T12" fmla="*/ 0 w 171"/>
                <a:gd name="T13" fmla="*/ 36 h 180"/>
                <a:gd name="T14" fmla="*/ 4 w 171"/>
                <a:gd name="T15" fmla="*/ 36 h 180"/>
                <a:gd name="T16" fmla="*/ 54 w 171"/>
                <a:gd name="T17" fmla="*/ 52 h 180"/>
                <a:gd name="T18" fmla="*/ 77 w 171"/>
                <a:gd name="T19" fmla="*/ 84 h 180"/>
                <a:gd name="T20" fmla="*/ 121 w 171"/>
                <a:gd name="T21" fmla="*/ 116 h 180"/>
                <a:gd name="T22" fmla="*/ 121 w 171"/>
                <a:gd name="T23" fmla="*/ 64 h 180"/>
                <a:gd name="T24" fmla="*/ 88 w 171"/>
                <a:gd name="T25" fmla="*/ 78 h 180"/>
                <a:gd name="T26" fmla="*/ 84 w 171"/>
                <a:gd name="T27" fmla="*/ 82 h 180"/>
                <a:gd name="T28" fmla="*/ 81 w 171"/>
                <a:gd name="T29" fmla="*/ 77 h 180"/>
                <a:gd name="T30" fmla="*/ 71 w 171"/>
                <a:gd name="T31" fmla="*/ 59 h 180"/>
                <a:gd name="T32" fmla="*/ 69 w 171"/>
                <a:gd name="T33" fmla="*/ 56 h 180"/>
                <a:gd name="T34" fmla="*/ 71 w 171"/>
                <a:gd name="T35" fmla="*/ 54 h 180"/>
                <a:gd name="T36" fmla="*/ 74 w 171"/>
                <a:gd name="T37" fmla="*/ 52 h 180"/>
                <a:gd name="T38" fmla="*/ 121 w 171"/>
                <a:gd name="T39" fmla="*/ 36 h 180"/>
                <a:gd name="T40" fmla="*/ 121 w 171"/>
                <a:gd name="T41" fmla="*/ 0 h 180"/>
                <a:gd name="T42" fmla="*/ 171 w 171"/>
                <a:gd name="T43" fmla="*/ 50 h 180"/>
                <a:gd name="T44" fmla="*/ 130 w 171"/>
                <a:gd name="T45" fmla="*/ 90 h 180"/>
                <a:gd name="T46" fmla="*/ 171 w 171"/>
                <a:gd name="T47" fmla="*/ 130 h 180"/>
                <a:gd name="T48" fmla="*/ 121 w 171"/>
                <a:gd name="T49" fmla="*/ 180 h 180"/>
                <a:gd name="T50" fmla="*/ 8 w 171"/>
                <a:gd name="T51" fmla="*/ 56 h 180"/>
                <a:gd name="T52" fmla="*/ 59 w 171"/>
                <a:gd name="T53" fmla="*/ 93 h 180"/>
                <a:gd name="T54" fmla="*/ 79 w 171"/>
                <a:gd name="T55" fmla="*/ 122 h 180"/>
                <a:gd name="T56" fmla="*/ 125 w 171"/>
                <a:gd name="T57" fmla="*/ 137 h 180"/>
                <a:gd name="T58" fmla="*/ 129 w 171"/>
                <a:gd name="T59" fmla="*/ 137 h 180"/>
                <a:gd name="T60" fmla="*/ 129 w 171"/>
                <a:gd name="T61" fmla="*/ 161 h 180"/>
                <a:gd name="T62" fmla="*/ 159 w 171"/>
                <a:gd name="T63" fmla="*/ 130 h 180"/>
                <a:gd name="T64" fmla="*/ 129 w 171"/>
                <a:gd name="T65" fmla="*/ 100 h 180"/>
                <a:gd name="T66" fmla="*/ 129 w 171"/>
                <a:gd name="T67" fmla="*/ 124 h 180"/>
                <a:gd name="T68" fmla="*/ 125 w 171"/>
                <a:gd name="T69" fmla="*/ 124 h 180"/>
                <a:gd name="T70" fmla="*/ 70 w 171"/>
                <a:gd name="T71" fmla="*/ 87 h 180"/>
                <a:gd name="T72" fmla="*/ 49 w 171"/>
                <a:gd name="T73" fmla="*/ 58 h 180"/>
                <a:gd name="T74" fmla="*/ 8 w 171"/>
                <a:gd name="T75" fmla="*/ 44 h 180"/>
                <a:gd name="T76" fmla="*/ 8 w 171"/>
                <a:gd name="T77" fmla="*/ 56 h 180"/>
                <a:gd name="T78" fmla="*/ 125 w 171"/>
                <a:gd name="T79" fmla="*/ 56 h 180"/>
                <a:gd name="T80" fmla="*/ 129 w 171"/>
                <a:gd name="T81" fmla="*/ 56 h 180"/>
                <a:gd name="T82" fmla="*/ 129 w 171"/>
                <a:gd name="T83" fmla="*/ 80 h 180"/>
                <a:gd name="T84" fmla="*/ 159 w 171"/>
                <a:gd name="T85" fmla="*/ 50 h 180"/>
                <a:gd name="T86" fmla="*/ 129 w 171"/>
                <a:gd name="T87" fmla="*/ 19 h 180"/>
                <a:gd name="T88" fmla="*/ 129 w 171"/>
                <a:gd name="T89" fmla="*/ 44 h 180"/>
                <a:gd name="T90" fmla="*/ 125 w 171"/>
                <a:gd name="T91" fmla="*/ 44 h 180"/>
                <a:gd name="T92" fmla="*/ 79 w 171"/>
                <a:gd name="T93" fmla="*/ 58 h 180"/>
                <a:gd name="T94" fmla="*/ 86 w 171"/>
                <a:gd name="T95" fmla="*/ 68 h 180"/>
                <a:gd name="T96" fmla="*/ 125 w 171"/>
                <a:gd name="T97" fmla="*/ 56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71" h="180">
                  <a:moveTo>
                    <a:pt x="121" y="180"/>
                  </a:moveTo>
                  <a:cubicBezTo>
                    <a:pt x="121" y="144"/>
                    <a:pt x="121" y="144"/>
                    <a:pt x="121" y="144"/>
                  </a:cubicBezTo>
                  <a:cubicBezTo>
                    <a:pt x="101" y="144"/>
                    <a:pt x="86" y="139"/>
                    <a:pt x="74" y="129"/>
                  </a:cubicBezTo>
                  <a:cubicBezTo>
                    <a:pt x="63" y="119"/>
                    <a:pt x="57" y="108"/>
                    <a:pt x="52" y="96"/>
                  </a:cubicBezTo>
                  <a:cubicBezTo>
                    <a:pt x="42" y="78"/>
                    <a:pt x="35" y="64"/>
                    <a:pt x="4" y="64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25" y="36"/>
                    <a:pt x="42" y="41"/>
                    <a:pt x="54" y="52"/>
                  </a:cubicBezTo>
                  <a:cubicBezTo>
                    <a:pt x="65" y="61"/>
                    <a:pt x="71" y="73"/>
                    <a:pt x="77" y="84"/>
                  </a:cubicBezTo>
                  <a:cubicBezTo>
                    <a:pt x="86" y="102"/>
                    <a:pt x="92" y="115"/>
                    <a:pt x="121" y="116"/>
                  </a:cubicBezTo>
                  <a:cubicBezTo>
                    <a:pt x="121" y="64"/>
                    <a:pt x="121" y="64"/>
                    <a:pt x="121" y="64"/>
                  </a:cubicBezTo>
                  <a:cubicBezTo>
                    <a:pt x="101" y="65"/>
                    <a:pt x="93" y="71"/>
                    <a:pt x="88" y="78"/>
                  </a:cubicBezTo>
                  <a:cubicBezTo>
                    <a:pt x="84" y="82"/>
                    <a:pt x="84" y="82"/>
                    <a:pt x="84" y="82"/>
                  </a:cubicBezTo>
                  <a:cubicBezTo>
                    <a:pt x="81" y="77"/>
                    <a:pt x="81" y="77"/>
                    <a:pt x="81" y="77"/>
                  </a:cubicBezTo>
                  <a:cubicBezTo>
                    <a:pt x="78" y="71"/>
                    <a:pt x="75" y="65"/>
                    <a:pt x="71" y="59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71" y="54"/>
                    <a:pt x="71" y="54"/>
                    <a:pt x="71" y="54"/>
                  </a:cubicBezTo>
                  <a:cubicBezTo>
                    <a:pt x="72" y="53"/>
                    <a:pt x="73" y="52"/>
                    <a:pt x="74" y="52"/>
                  </a:cubicBezTo>
                  <a:cubicBezTo>
                    <a:pt x="86" y="42"/>
                    <a:pt x="101" y="36"/>
                    <a:pt x="121" y="36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171" y="50"/>
                    <a:pt x="171" y="50"/>
                    <a:pt x="171" y="50"/>
                  </a:cubicBezTo>
                  <a:cubicBezTo>
                    <a:pt x="130" y="90"/>
                    <a:pt x="130" y="90"/>
                    <a:pt x="130" y="90"/>
                  </a:cubicBezTo>
                  <a:cubicBezTo>
                    <a:pt x="171" y="130"/>
                    <a:pt x="171" y="130"/>
                    <a:pt x="171" y="130"/>
                  </a:cubicBezTo>
                  <a:lnTo>
                    <a:pt x="121" y="180"/>
                  </a:lnTo>
                  <a:close/>
                  <a:moveTo>
                    <a:pt x="8" y="56"/>
                  </a:moveTo>
                  <a:cubicBezTo>
                    <a:pt x="41" y="57"/>
                    <a:pt x="49" y="74"/>
                    <a:pt x="59" y="93"/>
                  </a:cubicBezTo>
                  <a:cubicBezTo>
                    <a:pt x="64" y="103"/>
                    <a:pt x="69" y="114"/>
                    <a:pt x="79" y="122"/>
                  </a:cubicBezTo>
                  <a:cubicBezTo>
                    <a:pt x="90" y="132"/>
                    <a:pt x="105" y="137"/>
                    <a:pt x="125" y="137"/>
                  </a:cubicBezTo>
                  <a:cubicBezTo>
                    <a:pt x="129" y="137"/>
                    <a:pt x="129" y="137"/>
                    <a:pt x="129" y="137"/>
                  </a:cubicBezTo>
                  <a:cubicBezTo>
                    <a:pt x="129" y="161"/>
                    <a:pt x="129" y="161"/>
                    <a:pt x="129" y="161"/>
                  </a:cubicBezTo>
                  <a:cubicBezTo>
                    <a:pt x="159" y="130"/>
                    <a:pt x="159" y="130"/>
                    <a:pt x="159" y="130"/>
                  </a:cubicBezTo>
                  <a:cubicBezTo>
                    <a:pt x="129" y="100"/>
                    <a:pt x="129" y="100"/>
                    <a:pt x="129" y="100"/>
                  </a:cubicBezTo>
                  <a:cubicBezTo>
                    <a:pt x="129" y="124"/>
                    <a:pt x="129" y="124"/>
                    <a:pt x="129" y="124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88" y="124"/>
                    <a:pt x="80" y="107"/>
                    <a:pt x="70" y="87"/>
                  </a:cubicBezTo>
                  <a:cubicBezTo>
                    <a:pt x="64" y="77"/>
                    <a:pt x="59" y="66"/>
                    <a:pt x="49" y="58"/>
                  </a:cubicBezTo>
                  <a:cubicBezTo>
                    <a:pt x="39" y="49"/>
                    <a:pt x="25" y="44"/>
                    <a:pt x="8" y="44"/>
                  </a:cubicBezTo>
                  <a:lnTo>
                    <a:pt x="8" y="56"/>
                  </a:lnTo>
                  <a:close/>
                  <a:moveTo>
                    <a:pt x="125" y="56"/>
                  </a:moveTo>
                  <a:cubicBezTo>
                    <a:pt x="129" y="56"/>
                    <a:pt x="129" y="56"/>
                    <a:pt x="129" y="56"/>
                  </a:cubicBezTo>
                  <a:cubicBezTo>
                    <a:pt x="129" y="80"/>
                    <a:pt x="129" y="80"/>
                    <a:pt x="129" y="80"/>
                  </a:cubicBezTo>
                  <a:cubicBezTo>
                    <a:pt x="159" y="50"/>
                    <a:pt x="159" y="50"/>
                    <a:pt x="159" y="50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29" y="44"/>
                    <a:pt x="129" y="44"/>
                    <a:pt x="129" y="44"/>
                  </a:cubicBezTo>
                  <a:cubicBezTo>
                    <a:pt x="125" y="44"/>
                    <a:pt x="125" y="44"/>
                    <a:pt x="125" y="44"/>
                  </a:cubicBezTo>
                  <a:cubicBezTo>
                    <a:pt x="105" y="44"/>
                    <a:pt x="90" y="48"/>
                    <a:pt x="79" y="58"/>
                  </a:cubicBezTo>
                  <a:cubicBezTo>
                    <a:pt x="82" y="61"/>
                    <a:pt x="84" y="65"/>
                    <a:pt x="86" y="68"/>
                  </a:cubicBezTo>
                  <a:cubicBezTo>
                    <a:pt x="95" y="60"/>
                    <a:pt x="107" y="56"/>
                    <a:pt x="125" y="56"/>
                  </a:cubicBez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3" name="105"/>
            <p:cNvSpPr>
              <a:spLocks noEditPoints="1"/>
            </p:cNvSpPr>
            <p:nvPr>
              <p:custDataLst>
                <p:tags r:id="rId20"/>
              </p:custDataLst>
            </p:nvPr>
          </p:nvSpPr>
          <p:spPr bwMode="auto">
            <a:xfrm>
              <a:off x="3021013" y="3454401"/>
              <a:ext cx="119063" cy="88900"/>
            </a:xfrm>
            <a:custGeom>
              <a:avLst/>
              <a:gdLst>
                <a:gd name="T0" fmla="*/ 2 w 55"/>
                <a:gd name="T1" fmla="*/ 41 h 41"/>
                <a:gd name="T2" fmla="*/ 0 w 55"/>
                <a:gd name="T3" fmla="*/ 41 h 41"/>
                <a:gd name="T4" fmla="*/ 0 w 55"/>
                <a:gd name="T5" fmla="*/ 16 h 41"/>
                <a:gd name="T6" fmla="*/ 2 w 55"/>
                <a:gd name="T7" fmla="*/ 16 h 41"/>
                <a:gd name="T8" fmla="*/ 40 w 55"/>
                <a:gd name="T9" fmla="*/ 2 h 41"/>
                <a:gd name="T10" fmla="*/ 42 w 55"/>
                <a:gd name="T11" fmla="*/ 0 h 41"/>
                <a:gd name="T12" fmla="*/ 43 w 55"/>
                <a:gd name="T13" fmla="*/ 2 h 41"/>
                <a:gd name="T14" fmla="*/ 54 w 55"/>
                <a:gd name="T15" fmla="*/ 20 h 41"/>
                <a:gd name="T16" fmla="*/ 55 w 55"/>
                <a:gd name="T17" fmla="*/ 22 h 41"/>
                <a:gd name="T18" fmla="*/ 54 w 55"/>
                <a:gd name="T19" fmla="*/ 23 h 41"/>
                <a:gd name="T20" fmla="*/ 51 w 55"/>
                <a:gd name="T21" fmla="*/ 25 h 41"/>
                <a:gd name="T22" fmla="*/ 2 w 55"/>
                <a:gd name="T23" fmla="*/ 41 h 41"/>
                <a:gd name="T24" fmla="*/ 4 w 55"/>
                <a:gd name="T25" fmla="*/ 20 h 41"/>
                <a:gd name="T26" fmla="*/ 4 w 55"/>
                <a:gd name="T27" fmla="*/ 37 h 41"/>
                <a:gd name="T28" fmla="*/ 49 w 55"/>
                <a:gd name="T29" fmla="*/ 22 h 41"/>
                <a:gd name="T30" fmla="*/ 50 w 55"/>
                <a:gd name="T31" fmla="*/ 21 h 41"/>
                <a:gd name="T32" fmla="*/ 41 w 55"/>
                <a:gd name="T33" fmla="*/ 7 h 41"/>
                <a:gd name="T34" fmla="*/ 4 w 55"/>
                <a:gd name="T35" fmla="*/ 2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5" h="41">
                  <a:moveTo>
                    <a:pt x="2" y="41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0" y="16"/>
                    <a:pt x="32" y="12"/>
                    <a:pt x="40" y="2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6" y="8"/>
                    <a:pt x="50" y="14"/>
                    <a:pt x="54" y="20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53" y="24"/>
                    <a:pt x="52" y="24"/>
                    <a:pt x="51" y="25"/>
                  </a:cubicBezTo>
                  <a:cubicBezTo>
                    <a:pt x="39" y="35"/>
                    <a:pt x="23" y="41"/>
                    <a:pt x="2" y="41"/>
                  </a:cubicBezTo>
                  <a:close/>
                  <a:moveTo>
                    <a:pt x="4" y="20"/>
                  </a:moveTo>
                  <a:cubicBezTo>
                    <a:pt x="4" y="37"/>
                    <a:pt x="4" y="37"/>
                    <a:pt x="4" y="37"/>
                  </a:cubicBezTo>
                  <a:cubicBezTo>
                    <a:pt x="23" y="36"/>
                    <a:pt x="37" y="31"/>
                    <a:pt x="49" y="22"/>
                  </a:cubicBezTo>
                  <a:cubicBezTo>
                    <a:pt x="49" y="22"/>
                    <a:pt x="49" y="21"/>
                    <a:pt x="50" y="21"/>
                  </a:cubicBezTo>
                  <a:cubicBezTo>
                    <a:pt x="46" y="16"/>
                    <a:pt x="44" y="11"/>
                    <a:pt x="41" y="7"/>
                  </a:cubicBezTo>
                  <a:cubicBezTo>
                    <a:pt x="32" y="16"/>
                    <a:pt x="21" y="20"/>
                    <a:pt x="4" y="20"/>
                  </a:cubicBez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>
            <p:custDataLst>
              <p:tags r:id="rId21"/>
            </p:custDataLst>
          </p:nvPr>
        </p:nvGrpSpPr>
        <p:grpSpPr>
          <a:xfrm>
            <a:off x="1510665" y="2166620"/>
            <a:ext cx="2230755" cy="1915160"/>
            <a:chOff x="2151" y="3190"/>
            <a:chExt cx="3513" cy="3016"/>
          </a:xfrm>
        </p:grpSpPr>
        <p:sp>
          <p:nvSpPr>
            <p:cNvPr id="9" name="TextBox 45"/>
            <p:cNvSpPr txBox="1"/>
            <p:nvPr>
              <p:custDataLst>
                <p:tags r:id="rId22"/>
              </p:custDataLst>
            </p:nvPr>
          </p:nvSpPr>
          <p:spPr>
            <a:xfrm>
              <a:off x="2267" y="3190"/>
              <a:ext cx="3261" cy="663"/>
            </a:xfrm>
            <a:prstGeom prst="rect">
              <a:avLst/>
            </a:prstGeom>
          </p:spPr>
          <p:txBody>
            <a:bodyPr vert="horz" wrap="none" lIns="0" tIns="0" rIns="0" bIns="0" anchor="b" anchorCtr="1">
              <a:norm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结构化学科底座</a:t>
              </a:r>
              <a:endPara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" name="TextBox 46"/>
            <p:cNvSpPr txBox="1"/>
            <p:nvPr>
              <p:custDataLst>
                <p:tags r:id="rId23"/>
              </p:custDataLst>
            </p:nvPr>
          </p:nvSpPr>
          <p:spPr>
            <a:xfrm>
              <a:off x="2151" y="3853"/>
              <a:ext cx="3513" cy="2353"/>
            </a:xfrm>
            <a:prstGeom prst="rect">
              <a:avLst/>
            </a:prstGeom>
          </p:spPr>
          <p:txBody>
            <a:bodyPr vert="horz" wrap="square" lIns="0" tIns="0" rIns="0" bIns="0" anchor="t" anchorCtr="1">
              <a:noAutofit/>
            </a:bodyPr>
            <a:lstStyle/>
            <a:p>
              <a:pPr lvl="0" indent="0" algn="l" fontAlgn="auto">
                <a:lnSpc>
                  <a:spcPct val="150000"/>
                </a:lnSpc>
              </a:pPr>
              <a:r>
                <a:rPr lang="zh-CN" altLang="en-US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Bahnschrift" panose="020B0502040204020203" charset="0"/>
                  <a:sym typeface="+mn-lt"/>
                </a:rPr>
                <a:t>课程、知识点、前置关系和学习证据共同约束下一步任务</a:t>
              </a:r>
              <a:endPara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Bahnschrift" panose="020B0502040204020203" charset="0"/>
                <a:sym typeface="+mn-lt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892810" y="240030"/>
            <a:ext cx="585724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18 / INNOVATION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创新不在接口堆叠，而在责任闭环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28065" y="1360805"/>
            <a:ext cx="10067290" cy="413385"/>
          </a:xfrm>
          <a:prstGeom prst="rect">
            <a:avLst/>
          </a:prstGeom>
          <a:solidFill>
            <a:schemeClr val="tx2">
              <a:lumMod val="25000"/>
              <a:lumOff val="75000"/>
              <a:alpha val="70000"/>
            </a:schemeClr>
          </a:solidFill>
        </p:spPr>
        <p:txBody>
          <a:bodyPr wrap="square" rtlCol="0" anchor="t">
            <a:spAutoFit/>
          </a:bodyPr>
          <a:p>
            <a:pPr algn="di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高技术力的核心不是让模型拥有更多权限，而是让知识、责任和行动都能被定位与复核</a:t>
            </a:r>
            <a:endParaRPr lang="zh-CN" altLang="en-US" sz="2000" b="1">
              <a:solidFill>
                <a:schemeClr val="bg1"/>
              </a:solidFill>
              <a:latin typeface="微软雅黑" panose="020B0503020204020204" charset="-122"/>
              <a:sym typeface="+mn-ea"/>
            </a:endParaRPr>
          </a:p>
        </p:txBody>
      </p:sp>
      <p:grpSp>
        <p:nvGrpSpPr>
          <p:cNvPr id="48" name="组合 47"/>
          <p:cNvGrpSpPr/>
          <p:nvPr>
            <p:custDataLst>
              <p:tags r:id="rId24"/>
            </p:custDataLst>
          </p:nvPr>
        </p:nvGrpSpPr>
        <p:grpSpPr>
          <a:xfrm>
            <a:off x="1584325" y="4073525"/>
            <a:ext cx="2070735" cy="1978660"/>
            <a:chOff x="2267" y="3090"/>
            <a:chExt cx="3261" cy="3116"/>
          </a:xfrm>
        </p:grpSpPr>
        <p:sp>
          <p:nvSpPr>
            <p:cNvPr id="49" name="TextBox 45"/>
            <p:cNvSpPr txBox="1"/>
            <p:nvPr>
              <p:custDataLst>
                <p:tags r:id="rId25"/>
              </p:custDataLst>
            </p:nvPr>
          </p:nvSpPr>
          <p:spPr>
            <a:xfrm>
              <a:off x="2267" y="3090"/>
              <a:ext cx="3261" cy="663"/>
            </a:xfrm>
            <a:prstGeom prst="rect">
              <a:avLst/>
            </a:prstGeom>
          </p:spPr>
          <p:txBody>
            <a:bodyPr vert="horz" wrap="none" lIns="0" tIns="0" rIns="0" bIns="0" anchor="b" anchorCtr="1">
              <a:normAutofit/>
            </a:bodyPr>
            <a:lstStyle/>
            <a:p>
              <a:pPr algn="ctr"/>
              <a:r>
                <a:rPr lang="en-US" altLang="zh-C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Evidence </a:t>
              </a: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契约</a:t>
              </a:r>
              <a:endPara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0" name="TextBox 46"/>
            <p:cNvSpPr txBox="1"/>
            <p:nvPr>
              <p:custDataLst>
                <p:tags r:id="rId26"/>
              </p:custDataLst>
            </p:nvPr>
          </p:nvSpPr>
          <p:spPr>
            <a:xfrm>
              <a:off x="2360" y="3853"/>
              <a:ext cx="3025" cy="2353"/>
            </a:xfrm>
            <a:prstGeom prst="rect">
              <a:avLst/>
            </a:prstGeom>
          </p:spPr>
          <p:txBody>
            <a:bodyPr vert="horz" wrap="square" lIns="0" tIns="0" rIns="0" bIns="0" anchor="t" anchorCtr="1">
              <a:noAutofit/>
            </a:bodyPr>
            <a:lstStyle/>
            <a:p>
              <a:pPr lvl="0" algn="l" fontAlgn="auto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Bahnschrift" panose="020B0502040204020203" charset="0"/>
                  <a:sym typeface="+mn-lt"/>
                </a:rPr>
                <a:t>组合任务、课程/项目上下文、权限和证据投影</a:t>
              </a:r>
              <a:endPara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Bahnschrift" panose="020B0502040204020203" charset="0"/>
                <a:sym typeface="+mn-lt"/>
              </a:endParaRPr>
            </a:p>
          </p:txBody>
        </p:sp>
      </p:grpSp>
      <p:grpSp>
        <p:nvGrpSpPr>
          <p:cNvPr id="57" name="组合 56"/>
          <p:cNvGrpSpPr/>
          <p:nvPr>
            <p:custDataLst>
              <p:tags r:id="rId27"/>
            </p:custDataLst>
          </p:nvPr>
        </p:nvGrpSpPr>
        <p:grpSpPr>
          <a:xfrm>
            <a:off x="8165465" y="4137025"/>
            <a:ext cx="2218055" cy="1915160"/>
            <a:chOff x="2035" y="3190"/>
            <a:chExt cx="3493" cy="3016"/>
          </a:xfrm>
        </p:grpSpPr>
        <p:sp>
          <p:nvSpPr>
            <p:cNvPr id="58" name="TextBox 45"/>
            <p:cNvSpPr txBox="1"/>
            <p:nvPr>
              <p:custDataLst>
                <p:tags r:id="rId28"/>
              </p:custDataLst>
            </p:nvPr>
          </p:nvSpPr>
          <p:spPr>
            <a:xfrm>
              <a:off x="2267" y="3190"/>
              <a:ext cx="3261" cy="663"/>
            </a:xfrm>
            <a:prstGeom prst="rect">
              <a:avLst/>
            </a:prstGeom>
          </p:spPr>
          <p:txBody>
            <a:bodyPr vert="horz" wrap="none" lIns="0" tIns="0" rIns="0" bIns="0" anchor="b" anchorCtr="1">
              <a:norm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受限 </a:t>
              </a:r>
              <a:r>
                <a:rPr lang="en-US" altLang="zh-C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Agent Runtime</a:t>
              </a:r>
              <a:endPara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9" name="TextBox 46"/>
            <p:cNvSpPr txBox="1"/>
            <p:nvPr>
              <p:custDataLst>
                <p:tags r:id="rId29"/>
              </p:custDataLst>
            </p:nvPr>
          </p:nvSpPr>
          <p:spPr>
            <a:xfrm>
              <a:off x="2035" y="3853"/>
              <a:ext cx="3350" cy="2353"/>
            </a:xfrm>
            <a:prstGeom prst="rect">
              <a:avLst/>
            </a:prstGeom>
          </p:spPr>
          <p:txBody>
            <a:bodyPr vert="horz" wrap="square" lIns="0" tIns="0" rIns="0" bIns="0" anchor="t" anchorCtr="1">
              <a:noAutofit/>
            </a:bodyPr>
            <a:lstStyle/>
            <a:p>
              <a:pPr lvl="0" algn="l" fontAlgn="auto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Bahnschrift" panose="020B0502040204020203" charset="0"/>
                  <a:sym typeface="+mn-ea"/>
                </a:rPr>
                <a:t>Workspace scope、能力清单、工具预算和审计形成运行边界</a:t>
              </a:r>
              <a:endPara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Bahnschrift" panose="020B0502040204020203" charset="0"/>
                <a:sym typeface="+mn-lt"/>
              </a:endParaRPr>
            </a:p>
          </p:txBody>
        </p:sp>
      </p:grpSp>
      <p:grpSp>
        <p:nvGrpSpPr>
          <p:cNvPr id="64" name="组合 63"/>
          <p:cNvGrpSpPr/>
          <p:nvPr>
            <p:custDataLst>
              <p:tags r:id="rId30"/>
            </p:custDataLst>
          </p:nvPr>
        </p:nvGrpSpPr>
        <p:grpSpPr>
          <a:xfrm>
            <a:off x="7991475" y="2165985"/>
            <a:ext cx="2338705" cy="1960245"/>
            <a:chOff x="1702" y="3119"/>
            <a:chExt cx="3683" cy="3087"/>
          </a:xfrm>
        </p:grpSpPr>
        <p:sp>
          <p:nvSpPr>
            <p:cNvPr id="65" name="TextBox 45"/>
            <p:cNvSpPr txBox="1"/>
            <p:nvPr>
              <p:custDataLst>
                <p:tags r:id="rId31"/>
              </p:custDataLst>
            </p:nvPr>
          </p:nvSpPr>
          <p:spPr>
            <a:xfrm>
              <a:off x="1702" y="3119"/>
              <a:ext cx="3261" cy="663"/>
            </a:xfrm>
            <a:prstGeom prst="rect">
              <a:avLst/>
            </a:prstGeom>
          </p:spPr>
          <p:txBody>
            <a:bodyPr vert="horz" wrap="none" lIns="0" tIns="0" rIns="0" bIns="0" anchor="b" anchorCtr="1">
              <a:normAutofit/>
            </a:bodyPr>
            <a:lstStyle/>
            <a:p>
              <a:pPr algn="l"/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教师最终裁决</a:t>
              </a:r>
              <a:endPara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6" name="TextBox 46"/>
            <p:cNvSpPr txBox="1"/>
            <p:nvPr>
              <p:custDataLst>
                <p:tags r:id="rId32"/>
              </p:custDataLst>
            </p:nvPr>
          </p:nvSpPr>
          <p:spPr>
            <a:xfrm>
              <a:off x="1838" y="3853"/>
              <a:ext cx="3547" cy="2353"/>
            </a:xfrm>
            <a:prstGeom prst="rect">
              <a:avLst/>
            </a:prstGeom>
          </p:spPr>
          <p:txBody>
            <a:bodyPr vert="horz" wrap="square" lIns="0" tIns="0" rIns="0" bIns="0" anchor="t" anchorCtr="1">
              <a:noAutofit/>
            </a:bodyPr>
            <a:lstStyle/>
            <a:p>
              <a:pPr lvl="0" algn="l" fontAlgn="auto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Bahnschrift" panose="020B0502040204020203" charset="0"/>
                  <a:sym typeface="+mn-lt"/>
                </a:rPr>
                <a:t>AI 只给结构化建议；修改/确认后才发布反馈</a:t>
              </a:r>
              <a:endPara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Bahnschrift" panose="020B0502040204020203" charset="0"/>
                <a:sym typeface="+mn-lt"/>
              </a:endParaRPr>
            </a:p>
          </p:txBody>
        </p:sp>
      </p:grpSp>
    </p:spTree>
    <p:custDataLst>
      <p:tags r:id="rId3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500"/>
                            </p:stCondLst>
                            <p:childTnLst>
                              <p:par>
                                <p:cTn id="7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 bldLvl="0" animBg="1"/>
      <p:bldP spid="14" grpId="0" bldLvl="0" animBg="1"/>
      <p:bldP spid="15" grpId="0" bldLvl="0" animBg="1"/>
      <p:bldP spid="2" grpId="0" bldLvl="0" animBg="1"/>
      <p:bldP spid="17" grpId="0" bldLvl="0" animBg="1"/>
      <p:bldP spid="18" grpId="0" bldLvl="0" animBg="1"/>
      <p:bldP spid="3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730115" y="1621155"/>
            <a:ext cx="226695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  <a:endParaRPr lang="en-US" altLang="zh-CN" sz="5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688465" y="2040255"/>
            <a:ext cx="8682990" cy="34283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7200" dirty="0">
                <a:solidFill>
                  <a:schemeClr val="bg1"/>
                </a:solidFill>
                <a:effectLst/>
                <a:cs typeface="+mn-ea"/>
                <a:sym typeface="+mn-lt"/>
              </a:rPr>
              <a:t> </a:t>
            </a:r>
            <a:r>
              <a:rPr lang="zh-CN" altLang="en-US" sz="7200" dirty="0">
                <a:solidFill>
                  <a:schemeClr val="bg1"/>
                </a:solidFill>
                <a:effectLst/>
                <a:cs typeface="+mn-ea"/>
                <a:sym typeface="+mn-lt"/>
              </a:rPr>
              <a:t>学习 · 教学 · 科研场景闭环 </a:t>
            </a:r>
            <a:endParaRPr lang="zh-CN" altLang="en-US" sz="7200" dirty="0">
              <a:solidFill>
                <a:schemeClr val="bg1"/>
              </a:solidFill>
              <a:effectLst/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endParaRPr lang="zh-CN" altLang="en-US" sz="7200" dirty="0" smtClean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066604" y="3806571"/>
            <a:ext cx="6222077" cy="1586171"/>
            <a:chOff x="2858885" y="3215810"/>
            <a:chExt cx="6222077" cy="1586171"/>
          </a:xfrm>
        </p:grpSpPr>
        <p:sp>
          <p:nvSpPr>
            <p:cNvPr id="19" name="椭圆 18"/>
            <p:cNvSpPr/>
            <p:nvPr/>
          </p:nvSpPr>
          <p:spPr>
            <a:xfrm rot="10800000">
              <a:off x="3611336" y="3215810"/>
              <a:ext cx="4717177" cy="1194265"/>
            </a:xfrm>
            <a:prstGeom prst="ellipse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72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 rot="10800000">
              <a:off x="2858885" y="3226715"/>
              <a:ext cx="6222077" cy="1575266"/>
            </a:xfrm>
            <a:prstGeom prst="ellipse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72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cxnSp>
        <p:nvCxnSpPr>
          <p:cNvPr id="21" name="直接连接符 20"/>
          <p:cNvCxnSpPr/>
          <p:nvPr/>
        </p:nvCxnSpPr>
        <p:spPr>
          <a:xfrm flipV="1">
            <a:off x="2547151" y="2701779"/>
            <a:ext cx="1" cy="1124532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3888998" y="1678308"/>
            <a:ext cx="0" cy="689121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V="1">
            <a:off x="9581039" y="2367774"/>
            <a:ext cx="0" cy="1438905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8018304" y="2040404"/>
            <a:ext cx="0" cy="810254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V="1">
            <a:off x="8933339" y="1083312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2810" y="240030"/>
            <a:ext cx="520319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19 / STUDENT MODEL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个性化学习从一条证据开始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120" name="Rectangle 34"/>
          <p:cNvSpPr/>
          <p:nvPr/>
        </p:nvSpPr>
        <p:spPr>
          <a:xfrm>
            <a:off x="8968105" y="4096385"/>
            <a:ext cx="2577465" cy="191897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Rectangle 10"/>
          <p:cNvSpPr/>
          <p:nvPr/>
        </p:nvSpPr>
        <p:spPr>
          <a:xfrm>
            <a:off x="986155" y="1743075"/>
            <a:ext cx="10156190" cy="655320"/>
          </a:xfrm>
          <a:prstGeom prst="rect">
            <a:avLst/>
          </a:prstGeom>
          <a:solidFill>
            <a:srgbClr val="7E7CA2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78255" y="1933575"/>
            <a:ext cx="9305925" cy="3321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i="0">
                <a:solidFill>
                  <a:srgbClr val="FFFFFF"/>
                </a:solidFill>
                <a:latin typeface="Bahnschrift SemiBold" panose="020B0502040204020203" charset="0"/>
                <a:cs typeface="Bahnschrift SemiBold" panose="020B0502040204020203" charset="0"/>
              </a:rPr>
              <a:t>学习活动  →  证据质量评估  →  </a:t>
            </a:r>
            <a:r>
              <a:rPr lang="en-US" altLang="zh-CN" sz="1800" b="0" i="0">
                <a:solidFill>
                  <a:srgbClr val="FFFFFF"/>
                </a:solidFill>
                <a:latin typeface="Bahnschrift SemiBold" panose="020B0502040204020203" charset="0"/>
                <a:cs typeface="Bahnschrift SemiBold" panose="020B0502040204020203" charset="0"/>
              </a:rPr>
              <a:t>mastery / retention / confidence  →  </a:t>
            </a:r>
            <a:r>
              <a:rPr lang="zh-CN" altLang="en-US" sz="1800" b="0" i="0">
                <a:solidFill>
                  <a:srgbClr val="FFFFFF"/>
                </a:solidFill>
                <a:latin typeface="Bahnschrift SemiBold" panose="020B0502040204020203" charset="0"/>
                <a:cs typeface="Bahnschrift SemiBold" panose="020B0502040204020203" charset="0"/>
              </a:rPr>
              <a:t>下一步行动</a:t>
            </a:r>
            <a:endParaRPr lang="zh-CN" altLang="en-US" sz="1800" b="0" i="0">
              <a:solidFill>
                <a:srgbClr val="FFFFF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0" i="0">
              <a:solidFill>
                <a:srgbClr val="FFFFF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92810" y="1214755"/>
            <a:ext cx="8550275" cy="460375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indent="0" algn="l" fontAlgn="auto">
              <a:lnSpc>
                <a:spcPct val="150000"/>
              </a:lnSpc>
            </a:pPr>
            <a:r>
              <a:rPr sz="1600">
                <a:solidFill>
                  <a:srgbClr val="5B625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系统不是按一次答对 / 答错给学生贴标签，而是把学习过程转成可追踪、可复算的证据</a:t>
            </a:r>
            <a:endParaRPr lang="zh-CN" altLang="en-US" sz="1600"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  <a:solidFill>
                <a:srgbClr val="5B625F"/>
              </a:solidFill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16" name="TextBox 13"/>
          <p:cNvSpPr txBox="1"/>
          <p:nvPr>
            <p:custDataLst>
              <p:tags r:id="rId1"/>
            </p:custDataLst>
          </p:nvPr>
        </p:nvSpPr>
        <p:spPr>
          <a:xfrm>
            <a:off x="985520" y="2978150"/>
            <a:ext cx="2900680" cy="2787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A6893"/>
                </a:solidFill>
                <a:latin typeface="Bahnschrift Condensed" panose="020B0502040204020203" charset="0"/>
                <a:cs typeface="Bahnschrift Condensed" panose="020B0502040204020203" charset="0"/>
              </a:rPr>
              <a:t>01 / EVIDENCE</a:t>
            </a:r>
            <a:endParaRPr sz="1600" b="1" i="0">
              <a:solidFill>
                <a:srgbClr val="6A6893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19" name="TextBox 14"/>
          <p:cNvSpPr txBox="1"/>
          <p:nvPr>
            <p:custDataLst>
              <p:tags r:id="rId2"/>
            </p:custDataLst>
          </p:nvPr>
        </p:nvSpPr>
        <p:spPr>
          <a:xfrm>
            <a:off x="985520" y="3474720"/>
            <a:ext cx="2900680" cy="2546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Condensed" panose="020B0502040204020203" charset="0"/>
              </a:rPr>
              <a:t>学习证据</a:t>
            </a:r>
            <a:endParaRPr sz="16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25" name="TextBox 15"/>
          <p:cNvSpPr txBox="1"/>
          <p:nvPr>
            <p:custDataLst>
              <p:tags r:id="rId3"/>
            </p:custDataLst>
          </p:nvPr>
        </p:nvSpPr>
        <p:spPr>
          <a:xfrm>
            <a:off x="985520" y="3840480"/>
            <a:ext cx="2900680" cy="1155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</a:rPr>
              <a:t>练习、作业、主动回忆、分级提示、教回、迁移和复习，都可以成为不同类型的学习活动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</a:endParaRPr>
          </a:p>
        </p:txBody>
      </p:sp>
      <p:sp>
        <p:nvSpPr>
          <p:cNvPr id="26" name="TextBox 17"/>
          <p:cNvSpPr txBox="1"/>
          <p:nvPr>
            <p:custDataLst>
              <p:tags r:id="rId4"/>
            </p:custDataLst>
          </p:nvPr>
        </p:nvSpPr>
        <p:spPr>
          <a:xfrm>
            <a:off x="4752975" y="2978150"/>
            <a:ext cx="2900680" cy="2787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A6893"/>
                </a:solidFill>
                <a:latin typeface="Bahnschrift Condensed" panose="020B0502040204020203" charset="0"/>
                <a:cs typeface="Bahnschrift Condensed" panose="020B0502040204020203" charset="0"/>
              </a:rPr>
              <a:t>02 / QUALITY</a:t>
            </a:r>
            <a:endParaRPr sz="1600" b="1" i="0">
              <a:solidFill>
                <a:srgbClr val="6A6893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27" name="TextBox 18"/>
          <p:cNvSpPr txBox="1"/>
          <p:nvPr>
            <p:custDataLst>
              <p:tags r:id="rId5"/>
            </p:custDataLst>
          </p:nvPr>
        </p:nvSpPr>
        <p:spPr>
          <a:xfrm>
            <a:off x="4752975" y="3474720"/>
            <a:ext cx="2900680" cy="2546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Condensed" panose="020B0502040204020203" charset="0"/>
              </a:rPr>
              <a:t>证据质量</a:t>
            </a:r>
            <a:endParaRPr sz="16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28" name="TextBox 19"/>
          <p:cNvSpPr txBox="1"/>
          <p:nvPr>
            <p:custDataLst>
              <p:tags r:id="rId6"/>
            </p:custDataLst>
          </p:nvPr>
        </p:nvSpPr>
        <p:spPr>
          <a:xfrm>
            <a:off x="4752975" y="3840480"/>
            <a:ext cx="2900680" cy="10725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正误之外，还记录独立完成、提示等级、尝试次数、回忆 / 解释 / 迁移得分和错误类型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29" name="TextBox 21"/>
          <p:cNvSpPr txBox="1"/>
          <p:nvPr>
            <p:custDataLst>
              <p:tags r:id="rId7"/>
            </p:custDataLst>
          </p:nvPr>
        </p:nvSpPr>
        <p:spPr>
          <a:xfrm>
            <a:off x="8518525" y="2978150"/>
            <a:ext cx="2865755" cy="2787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A6893"/>
                </a:solidFill>
                <a:latin typeface="Bahnschrift Condensed" panose="020B0502040204020203" charset="0"/>
                <a:cs typeface="Bahnschrift Condensed" panose="020B0502040204020203" charset="0"/>
              </a:rPr>
              <a:t>03 / STATE</a:t>
            </a:r>
            <a:endParaRPr sz="1600" b="1" i="0">
              <a:solidFill>
                <a:srgbClr val="6A6893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30" name="TextBox 22"/>
          <p:cNvSpPr txBox="1"/>
          <p:nvPr>
            <p:custDataLst>
              <p:tags r:id="rId8"/>
            </p:custDataLst>
          </p:nvPr>
        </p:nvSpPr>
        <p:spPr>
          <a:xfrm>
            <a:off x="8518525" y="3474720"/>
            <a:ext cx="2865755" cy="2546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Condensed" panose="020B0502040204020203" charset="0"/>
              </a:rPr>
              <a:t>状态分离</a:t>
            </a:r>
            <a:endParaRPr sz="16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31" name="TextBox 23"/>
          <p:cNvSpPr txBox="1"/>
          <p:nvPr>
            <p:custDataLst>
              <p:tags r:id="rId9"/>
            </p:custDataLst>
          </p:nvPr>
        </p:nvSpPr>
        <p:spPr>
          <a:xfrm>
            <a:off x="8518525" y="3840480"/>
            <a:ext cx="2865755" cy="1073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mastery 表示长期理解；retention 随时间衰减；confidence 表示当前判断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的证据可信度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2810" y="240030"/>
            <a:ext cx="520319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20 / LEARNING EVIDENCE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个性化学习从一条证据开始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120" name="Rectangle 34"/>
          <p:cNvSpPr/>
          <p:nvPr/>
        </p:nvSpPr>
        <p:spPr>
          <a:xfrm>
            <a:off x="8968105" y="4096385"/>
            <a:ext cx="2577465" cy="191897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92810" y="1214755"/>
            <a:ext cx="10166350" cy="506730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indent="0" algn="l" fontAlgn="auto">
              <a:lnSpc>
                <a:spcPct val="150000"/>
              </a:lnSpc>
            </a:pPr>
            <a:r>
              <a:rPr lang="zh-CN" altLang="en-US">
                <a:solidFill>
                  <a:srgbClr val="5B625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同样是一次正确作答，独立完成、看过多级提示、尝试多次后完成，代表的学习状态并不相同</a:t>
            </a:r>
            <a:endParaRPr lang="zh-CN" altLang="en-US">
              <a:solidFill>
                <a:srgbClr val="5B625F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51" name="Rectangle 10"/>
          <p:cNvSpPr/>
          <p:nvPr>
            <p:custDataLst>
              <p:tags r:id="rId1"/>
            </p:custDataLst>
          </p:nvPr>
        </p:nvSpPr>
        <p:spPr>
          <a:xfrm>
            <a:off x="621665" y="2240280"/>
            <a:ext cx="2578100" cy="1189990"/>
          </a:xfrm>
          <a:prstGeom prst="rect">
            <a:avLst/>
          </a:prstGeom>
          <a:solidFill>
            <a:srgbClr val="DADAE4"/>
          </a:solidFill>
          <a:ln w="9525">
            <a:solidFill>
              <a:srgbClr val="6A6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52" name="TextBox 11"/>
          <p:cNvSpPr txBox="1"/>
          <p:nvPr>
            <p:custDataLst>
              <p:tags r:id="rId2"/>
            </p:custDataLst>
          </p:nvPr>
        </p:nvSpPr>
        <p:spPr>
          <a:xfrm>
            <a:off x="786384" y="2368296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2FA7"/>
                </a:solidFill>
                <a:latin typeface="Bahnschrift Condensed" panose="020B0502040204020203" charset="0"/>
                <a:cs typeface="Bahnschrift Condensed" panose="020B0502040204020203" charset="0"/>
              </a:rPr>
              <a:t>CORRECTNESS</a:t>
            </a:r>
            <a:endParaRPr sz="1600" b="1" i="0">
              <a:solidFill>
                <a:srgbClr val="002FA7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53" name="TextBox 12"/>
          <p:cNvSpPr txBox="1"/>
          <p:nvPr>
            <p:custDataLst>
              <p:tags r:id="rId3"/>
            </p:custDataLst>
          </p:nvPr>
        </p:nvSpPr>
        <p:spPr>
          <a:xfrm>
            <a:off x="786384" y="2624328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Condensed" panose="020B0502040204020203" charset="0"/>
              </a:rPr>
              <a:t>正误表现</a:t>
            </a:r>
            <a:endParaRPr sz="16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54" name="TextBox 13"/>
          <p:cNvSpPr txBox="1"/>
          <p:nvPr>
            <p:custDataLst>
              <p:tags r:id="rId4"/>
            </p:custDataLst>
          </p:nvPr>
        </p:nvSpPr>
        <p:spPr>
          <a:xfrm>
            <a:off x="786384" y="2962656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</a:rPr>
              <a:t>回答是否正确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</a:endParaRPr>
          </a:p>
        </p:txBody>
      </p:sp>
      <p:sp>
        <p:nvSpPr>
          <p:cNvPr id="55" name="Rectangle 14"/>
          <p:cNvSpPr/>
          <p:nvPr>
            <p:custDataLst>
              <p:tags r:id="rId5"/>
            </p:custDataLst>
          </p:nvPr>
        </p:nvSpPr>
        <p:spPr>
          <a:xfrm>
            <a:off x="3420110" y="2240280"/>
            <a:ext cx="2578100" cy="118999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56" name="TextBox 15"/>
          <p:cNvSpPr txBox="1"/>
          <p:nvPr>
            <p:custDataLst>
              <p:tags r:id="rId6"/>
            </p:custDataLst>
          </p:nvPr>
        </p:nvSpPr>
        <p:spPr>
          <a:xfrm>
            <a:off x="3584448" y="2368296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2FA7"/>
                </a:solidFill>
                <a:latin typeface="Bahnschrift Condensed" panose="020B0502040204020203" charset="0"/>
                <a:cs typeface="Bahnschrift Condensed" panose="020B0502040204020203" charset="0"/>
              </a:rPr>
              <a:t>INDEPENDENCE</a:t>
            </a:r>
            <a:endParaRPr sz="1600" b="1" i="0">
              <a:solidFill>
                <a:srgbClr val="002FA7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57" name="TextBox 16"/>
          <p:cNvSpPr txBox="1"/>
          <p:nvPr>
            <p:custDataLst>
              <p:tags r:id="rId7"/>
            </p:custDataLst>
          </p:nvPr>
        </p:nvSpPr>
        <p:spPr>
          <a:xfrm>
            <a:off x="3584448" y="2624328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Condensed" panose="020B0502040204020203" charset="0"/>
              </a:rPr>
              <a:t>独立完成</a:t>
            </a:r>
            <a:endParaRPr sz="16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58" name="TextBox 17"/>
          <p:cNvSpPr txBox="1"/>
          <p:nvPr>
            <p:custDataLst>
              <p:tags r:id="rId8"/>
            </p:custDataLst>
          </p:nvPr>
        </p:nvSpPr>
        <p:spPr>
          <a:xfrm>
            <a:off x="3584448" y="2962656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</a:rPr>
              <a:t>是否依赖提示或他人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</a:endParaRPr>
          </a:p>
        </p:txBody>
      </p:sp>
      <p:sp>
        <p:nvSpPr>
          <p:cNvPr id="59" name="Rectangle 18"/>
          <p:cNvSpPr/>
          <p:nvPr>
            <p:custDataLst>
              <p:tags r:id="rId9"/>
            </p:custDataLst>
          </p:nvPr>
        </p:nvSpPr>
        <p:spPr>
          <a:xfrm>
            <a:off x="6217920" y="2240280"/>
            <a:ext cx="2578100" cy="1189990"/>
          </a:xfrm>
          <a:prstGeom prst="rect">
            <a:avLst/>
          </a:prstGeom>
          <a:solidFill>
            <a:srgbClr val="DADAE4"/>
          </a:solidFill>
          <a:ln w="9525">
            <a:solidFill>
              <a:srgbClr val="6A6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60" name="TextBox 19"/>
          <p:cNvSpPr txBox="1"/>
          <p:nvPr>
            <p:custDataLst>
              <p:tags r:id="rId10"/>
            </p:custDataLst>
          </p:nvPr>
        </p:nvSpPr>
        <p:spPr>
          <a:xfrm>
            <a:off x="6382512" y="2368296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2FA7"/>
                </a:solidFill>
                <a:latin typeface="Bahnschrift Condensed" panose="020B0502040204020203" charset="0"/>
                <a:cs typeface="Bahnschrift Condensed" panose="020B0502040204020203" charset="0"/>
              </a:rPr>
              <a:t>HINT LEVEL</a:t>
            </a:r>
            <a:endParaRPr sz="1600" b="1" i="0">
              <a:solidFill>
                <a:srgbClr val="002FA7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61" name="TextBox 20"/>
          <p:cNvSpPr txBox="1"/>
          <p:nvPr>
            <p:custDataLst>
              <p:tags r:id="rId11"/>
            </p:custDataLst>
          </p:nvPr>
        </p:nvSpPr>
        <p:spPr>
          <a:xfrm>
            <a:off x="6382512" y="2624328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Condensed" panose="020B0502040204020203" charset="0"/>
              </a:rPr>
              <a:t>提示依赖</a:t>
            </a:r>
            <a:endParaRPr sz="16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62" name="TextBox 21"/>
          <p:cNvSpPr txBox="1"/>
          <p:nvPr>
            <p:custDataLst>
              <p:tags r:id="rId12"/>
            </p:custDataLst>
          </p:nvPr>
        </p:nvSpPr>
        <p:spPr>
          <a:xfrm>
            <a:off x="6382512" y="2962656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</a:rPr>
              <a:t>使用了哪一级提示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</a:endParaRPr>
          </a:p>
        </p:txBody>
      </p:sp>
      <p:sp>
        <p:nvSpPr>
          <p:cNvPr id="63" name="Rectangle 22"/>
          <p:cNvSpPr/>
          <p:nvPr>
            <p:custDataLst>
              <p:tags r:id="rId13"/>
            </p:custDataLst>
          </p:nvPr>
        </p:nvSpPr>
        <p:spPr>
          <a:xfrm>
            <a:off x="9015730" y="2240280"/>
            <a:ext cx="2578100" cy="118999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64" name="TextBox 23"/>
          <p:cNvSpPr txBox="1"/>
          <p:nvPr>
            <p:custDataLst>
              <p:tags r:id="rId14"/>
            </p:custDataLst>
          </p:nvPr>
        </p:nvSpPr>
        <p:spPr>
          <a:xfrm>
            <a:off x="9180576" y="2368296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2FA7"/>
                </a:solidFill>
                <a:latin typeface="Bahnschrift Condensed" panose="020B0502040204020203" charset="0"/>
                <a:cs typeface="Bahnschrift Condensed" panose="020B0502040204020203" charset="0"/>
              </a:rPr>
              <a:t>ATTEMPTS</a:t>
            </a:r>
            <a:endParaRPr sz="1600" b="1" i="0">
              <a:solidFill>
                <a:srgbClr val="002FA7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65" name="TextBox 24"/>
          <p:cNvSpPr txBox="1"/>
          <p:nvPr>
            <p:custDataLst>
              <p:tags r:id="rId15"/>
            </p:custDataLst>
          </p:nvPr>
        </p:nvSpPr>
        <p:spPr>
          <a:xfrm>
            <a:off x="9180576" y="2624328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Condensed" panose="020B0502040204020203" charset="0"/>
              </a:rPr>
              <a:t>尝试次数</a:t>
            </a:r>
            <a:endParaRPr sz="16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66" name="TextBox 25"/>
          <p:cNvSpPr txBox="1"/>
          <p:nvPr>
            <p:custDataLst>
              <p:tags r:id="rId16"/>
            </p:custDataLst>
          </p:nvPr>
        </p:nvSpPr>
        <p:spPr>
          <a:xfrm>
            <a:off x="9180576" y="2962656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</a:rPr>
              <a:t>一次完成还是多次修正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</a:endParaRPr>
          </a:p>
        </p:txBody>
      </p:sp>
      <p:sp>
        <p:nvSpPr>
          <p:cNvPr id="67" name="Rectangle 26"/>
          <p:cNvSpPr/>
          <p:nvPr>
            <p:custDataLst>
              <p:tags r:id="rId17"/>
            </p:custDataLst>
          </p:nvPr>
        </p:nvSpPr>
        <p:spPr>
          <a:xfrm>
            <a:off x="621665" y="4059555"/>
            <a:ext cx="2486025" cy="129984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68" name="TextBox 27"/>
          <p:cNvSpPr txBox="1"/>
          <p:nvPr>
            <p:custDataLst>
              <p:tags r:id="rId18"/>
            </p:custDataLst>
          </p:nvPr>
        </p:nvSpPr>
        <p:spPr>
          <a:xfrm>
            <a:off x="786384" y="4187698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A6893"/>
                </a:solidFill>
                <a:latin typeface="Bahnschrift Condensed" panose="020B0502040204020203" charset="0"/>
                <a:cs typeface="Bahnschrift Condensed" panose="020B0502040204020203" charset="0"/>
              </a:rPr>
              <a:t>RECALL</a:t>
            </a:r>
            <a:endParaRPr sz="1600" b="1" i="0">
              <a:solidFill>
                <a:srgbClr val="6A6893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69" name="TextBox 28"/>
          <p:cNvSpPr txBox="1"/>
          <p:nvPr>
            <p:custDataLst>
              <p:tags r:id="rId19"/>
            </p:custDataLst>
          </p:nvPr>
        </p:nvSpPr>
        <p:spPr>
          <a:xfrm>
            <a:off x="786384" y="4443730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Condensed" panose="020B0502040204020203" charset="0"/>
              </a:rPr>
              <a:t>主动回忆</a:t>
            </a:r>
            <a:endParaRPr sz="16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70" name="TextBox 29"/>
          <p:cNvSpPr txBox="1"/>
          <p:nvPr>
            <p:custDataLst>
              <p:tags r:id="rId20"/>
            </p:custDataLst>
          </p:nvPr>
        </p:nvSpPr>
        <p:spPr>
          <a:xfrm>
            <a:off x="786384" y="4782058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</a:rPr>
              <a:t>能否不看答案再现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</a:endParaRPr>
          </a:p>
        </p:txBody>
      </p:sp>
      <p:sp>
        <p:nvSpPr>
          <p:cNvPr id="71" name="Rectangle 30"/>
          <p:cNvSpPr/>
          <p:nvPr>
            <p:custDataLst>
              <p:tags r:id="rId21"/>
            </p:custDataLst>
          </p:nvPr>
        </p:nvSpPr>
        <p:spPr>
          <a:xfrm>
            <a:off x="3420110" y="4059555"/>
            <a:ext cx="2486025" cy="1299845"/>
          </a:xfrm>
          <a:prstGeom prst="rect">
            <a:avLst/>
          </a:prstGeom>
          <a:solidFill>
            <a:srgbClr val="DADAE4"/>
          </a:solidFill>
          <a:ln w="9525">
            <a:solidFill>
              <a:srgbClr val="6A6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72" name="TextBox 31"/>
          <p:cNvSpPr txBox="1"/>
          <p:nvPr>
            <p:custDataLst>
              <p:tags r:id="rId22"/>
            </p:custDataLst>
          </p:nvPr>
        </p:nvSpPr>
        <p:spPr>
          <a:xfrm>
            <a:off x="3584448" y="4187698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A6893"/>
                </a:solidFill>
                <a:latin typeface="Bahnschrift Condensed" panose="020B0502040204020203" charset="0"/>
                <a:cs typeface="Bahnschrift Condensed" panose="020B0502040204020203" charset="0"/>
              </a:rPr>
              <a:t>EXPLANATION</a:t>
            </a:r>
            <a:endParaRPr sz="1600" b="1" i="0">
              <a:solidFill>
                <a:srgbClr val="6A6893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73" name="TextBox 32"/>
          <p:cNvSpPr txBox="1"/>
          <p:nvPr>
            <p:custDataLst>
              <p:tags r:id="rId23"/>
            </p:custDataLst>
          </p:nvPr>
        </p:nvSpPr>
        <p:spPr>
          <a:xfrm>
            <a:off x="3584448" y="4443730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Condensed" panose="020B0502040204020203" charset="0"/>
              </a:rPr>
              <a:t>解释与教回</a:t>
            </a:r>
            <a:endParaRPr sz="16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74" name="TextBox 33"/>
          <p:cNvSpPr txBox="1"/>
          <p:nvPr>
            <p:custDataLst>
              <p:tags r:id="rId24"/>
            </p:custDataLst>
          </p:nvPr>
        </p:nvSpPr>
        <p:spPr>
          <a:xfrm>
            <a:off x="3584448" y="4782058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</a:rPr>
              <a:t>能否用自己的话讲清楚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</a:endParaRPr>
          </a:p>
        </p:txBody>
      </p:sp>
      <p:sp>
        <p:nvSpPr>
          <p:cNvPr id="75" name="Rectangle 34"/>
          <p:cNvSpPr/>
          <p:nvPr>
            <p:custDataLst>
              <p:tags r:id="rId25"/>
            </p:custDataLst>
          </p:nvPr>
        </p:nvSpPr>
        <p:spPr>
          <a:xfrm>
            <a:off x="6217920" y="4059555"/>
            <a:ext cx="2486025" cy="129984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76" name="TextBox 35"/>
          <p:cNvSpPr txBox="1"/>
          <p:nvPr>
            <p:custDataLst>
              <p:tags r:id="rId26"/>
            </p:custDataLst>
          </p:nvPr>
        </p:nvSpPr>
        <p:spPr>
          <a:xfrm>
            <a:off x="6382512" y="4187698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A6893"/>
                </a:solidFill>
                <a:latin typeface="Bahnschrift Condensed" panose="020B0502040204020203" charset="0"/>
                <a:cs typeface="Bahnschrift Condensed" panose="020B0502040204020203" charset="0"/>
              </a:rPr>
              <a:t>TRANSFER</a:t>
            </a:r>
            <a:endParaRPr sz="1600" b="1" i="0">
              <a:solidFill>
                <a:srgbClr val="6A6893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77" name="TextBox 36"/>
          <p:cNvSpPr txBox="1"/>
          <p:nvPr>
            <p:custDataLst>
              <p:tags r:id="rId27"/>
            </p:custDataLst>
          </p:nvPr>
        </p:nvSpPr>
        <p:spPr>
          <a:xfrm>
            <a:off x="6382512" y="4443730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Condensed" panose="020B0502040204020203" charset="0"/>
              </a:rPr>
              <a:t>迁移应用</a:t>
            </a:r>
            <a:endParaRPr sz="16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78" name="TextBox 37"/>
          <p:cNvSpPr txBox="1"/>
          <p:nvPr>
            <p:custDataLst>
              <p:tags r:id="rId28"/>
            </p:custDataLst>
          </p:nvPr>
        </p:nvSpPr>
        <p:spPr>
          <a:xfrm>
            <a:off x="6382512" y="4782058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</a:rPr>
              <a:t>能否迁移到新题型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</a:endParaRPr>
          </a:p>
        </p:txBody>
      </p:sp>
      <p:sp>
        <p:nvSpPr>
          <p:cNvPr id="79" name="Rectangle 38"/>
          <p:cNvSpPr/>
          <p:nvPr>
            <p:custDataLst>
              <p:tags r:id="rId29"/>
            </p:custDataLst>
          </p:nvPr>
        </p:nvSpPr>
        <p:spPr>
          <a:xfrm>
            <a:off x="9015730" y="4059555"/>
            <a:ext cx="2486025" cy="1299845"/>
          </a:xfrm>
          <a:prstGeom prst="rect">
            <a:avLst/>
          </a:prstGeom>
          <a:solidFill>
            <a:srgbClr val="DADAE4"/>
          </a:solidFill>
          <a:ln w="9525">
            <a:solidFill>
              <a:srgbClr val="6A6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80" name="TextBox 39"/>
          <p:cNvSpPr txBox="1"/>
          <p:nvPr>
            <p:custDataLst>
              <p:tags r:id="rId30"/>
            </p:custDataLst>
          </p:nvPr>
        </p:nvSpPr>
        <p:spPr>
          <a:xfrm>
            <a:off x="9180576" y="4187698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A6893"/>
                </a:solidFill>
                <a:latin typeface="Bahnschrift Condensed" panose="020B0502040204020203" charset="0"/>
                <a:cs typeface="Bahnschrift Condensed" panose="020B0502040204020203" charset="0"/>
              </a:rPr>
              <a:t>ERROR TYPE</a:t>
            </a:r>
            <a:endParaRPr sz="1600" b="1" i="0">
              <a:solidFill>
                <a:srgbClr val="6A6893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81" name="TextBox 40"/>
          <p:cNvSpPr txBox="1"/>
          <p:nvPr>
            <p:custDataLst>
              <p:tags r:id="rId31"/>
            </p:custDataLst>
          </p:nvPr>
        </p:nvSpPr>
        <p:spPr>
          <a:xfrm>
            <a:off x="9180576" y="4443730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Condensed" panose="020B0502040204020203" charset="0"/>
              </a:rPr>
              <a:t>错误类型</a:t>
            </a:r>
            <a:endParaRPr sz="16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82" name="TextBox 41"/>
          <p:cNvSpPr txBox="1"/>
          <p:nvPr>
            <p:custDataLst>
              <p:tags r:id="rId32"/>
            </p:custDataLst>
          </p:nvPr>
        </p:nvSpPr>
        <p:spPr>
          <a:xfrm>
            <a:off x="9180576" y="4782058"/>
            <a:ext cx="2249424" cy="51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概念 / 程序 / 策略 / 前置等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91" name="TextBox 11"/>
          <p:cNvSpPr txBox="1"/>
          <p:nvPr>
            <p:custDataLst>
              <p:tags r:id="rId33"/>
            </p:custDataLst>
          </p:nvPr>
        </p:nvSpPr>
        <p:spPr>
          <a:xfrm>
            <a:off x="787019" y="2351151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i="0">
                <a:solidFill>
                  <a:srgbClr val="6A6893"/>
                </a:solidFill>
                <a:latin typeface="Bahnschrift Condensed" panose="020B0502040204020203" charset="0"/>
                <a:cs typeface="Bahnschrift Condensed" panose="020B0502040204020203" charset="0"/>
              </a:rPr>
              <a:t>CORRECTNESS</a:t>
            </a:r>
            <a:endParaRPr sz="1600" i="0">
              <a:solidFill>
                <a:srgbClr val="6A6893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92" name="TextBox 15"/>
          <p:cNvSpPr txBox="1"/>
          <p:nvPr>
            <p:custDataLst>
              <p:tags r:id="rId34"/>
            </p:custDataLst>
          </p:nvPr>
        </p:nvSpPr>
        <p:spPr>
          <a:xfrm>
            <a:off x="3585083" y="2351151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i="0">
                <a:solidFill>
                  <a:srgbClr val="6A6893"/>
                </a:solidFill>
                <a:latin typeface="Bahnschrift Condensed" panose="020B0502040204020203" charset="0"/>
                <a:cs typeface="Bahnschrift Condensed" panose="020B0502040204020203" charset="0"/>
              </a:rPr>
              <a:t>INDEPENDENCE</a:t>
            </a:r>
            <a:endParaRPr sz="1600" i="0">
              <a:solidFill>
                <a:srgbClr val="6A6893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93" name="TextBox 19"/>
          <p:cNvSpPr txBox="1"/>
          <p:nvPr>
            <p:custDataLst>
              <p:tags r:id="rId35"/>
            </p:custDataLst>
          </p:nvPr>
        </p:nvSpPr>
        <p:spPr>
          <a:xfrm>
            <a:off x="6383147" y="2351151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i="0">
                <a:solidFill>
                  <a:srgbClr val="6A6893"/>
                </a:solidFill>
                <a:latin typeface="Bahnschrift Condensed" panose="020B0502040204020203" charset="0"/>
                <a:cs typeface="Bahnschrift Condensed" panose="020B0502040204020203" charset="0"/>
              </a:rPr>
              <a:t>HINT LEVEL</a:t>
            </a:r>
            <a:endParaRPr sz="1600" i="0">
              <a:solidFill>
                <a:srgbClr val="6A6893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94" name="TextBox 23"/>
          <p:cNvSpPr txBox="1"/>
          <p:nvPr>
            <p:custDataLst>
              <p:tags r:id="rId36"/>
            </p:custDataLst>
          </p:nvPr>
        </p:nvSpPr>
        <p:spPr>
          <a:xfrm>
            <a:off x="9181211" y="2351151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i="0">
                <a:solidFill>
                  <a:srgbClr val="6A6893"/>
                </a:solidFill>
                <a:latin typeface="Bahnschrift Condensed" panose="020B0502040204020203" charset="0"/>
                <a:cs typeface="Bahnschrift Condensed" panose="020B0502040204020203" charset="0"/>
              </a:rPr>
              <a:t>ATTEMPTS</a:t>
            </a:r>
            <a:endParaRPr sz="1600" i="0">
              <a:solidFill>
                <a:srgbClr val="6A6893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96" name="TextBox 44"/>
          <p:cNvSpPr txBox="1"/>
          <p:nvPr/>
        </p:nvSpPr>
        <p:spPr>
          <a:xfrm>
            <a:off x="1005840" y="6015482"/>
            <a:ext cx="5212080" cy="290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i="0">
                <a:solidFill>
                  <a:srgbClr val="6A6893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表现 + 过程 + 错因 → 以不同幅度更新学生状态</a:t>
            </a:r>
            <a:endParaRPr i="0">
              <a:solidFill>
                <a:srgbClr val="6A6893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  <p:custDataLst>
      <p:tags r:id="rId37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52" grpId="0"/>
      <p:bldP spid="53" grpId="0"/>
      <p:bldP spid="54" grpId="0"/>
      <p:bldP spid="55" grpId="0" animBg="1"/>
      <p:bldP spid="56" grpId="0"/>
      <p:bldP spid="57" grpId="0"/>
      <p:bldP spid="58" grpId="0"/>
      <p:bldP spid="59" grpId="0" bldLvl="0" animBg="1"/>
      <p:bldP spid="60" grpId="0"/>
      <p:bldP spid="61" grpId="0"/>
      <p:bldP spid="62" grpId="0"/>
      <p:bldP spid="63" grpId="0" animBg="1"/>
      <p:bldP spid="64" grpId="0"/>
      <p:bldP spid="65" grpId="0"/>
      <p:bldP spid="66" grpId="0"/>
      <p:bldP spid="67" grpId="0" animBg="1"/>
      <p:bldP spid="68" grpId="0"/>
      <p:bldP spid="69" grpId="0"/>
      <p:bldP spid="70" grpId="0"/>
      <p:bldP spid="71" grpId="0" bldLvl="0" animBg="1"/>
      <p:bldP spid="72" grpId="0"/>
      <p:bldP spid="73" grpId="0"/>
      <p:bldP spid="74" grpId="0"/>
      <p:bldP spid="75" grpId="0" animBg="1"/>
      <p:bldP spid="76" grpId="0"/>
      <p:bldP spid="77" grpId="0"/>
      <p:bldP spid="78" grpId="0"/>
      <p:bldP spid="79" grpId="0" bldLvl="0" animBg="1"/>
      <p:bldP spid="80" grpId="0"/>
      <p:bldP spid="81" grpId="0"/>
      <p:bldP spid="82" grpId="0"/>
      <p:bldP spid="91" grpId="0"/>
      <p:bldP spid="92" grpId="0"/>
      <p:bldP spid="93" grpId="0"/>
      <p:bldP spid="9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2810" y="240030"/>
            <a:ext cx="654939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21 /  PEDAGOGY ROUTER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同一个问题，不同学生得到不同的教学动作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84" name="Rectangle 10"/>
          <p:cNvSpPr/>
          <p:nvPr/>
        </p:nvSpPr>
        <p:spPr>
          <a:xfrm>
            <a:off x="610235" y="4096385"/>
            <a:ext cx="2577465" cy="191897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2810" y="1224915"/>
            <a:ext cx="9146540" cy="506730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indent="0" algn="l" fontAlgn="auto">
              <a:lnSpc>
                <a:spcPct val="150000"/>
              </a:lnSpc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方正楷体_GB2312" panose="02000000000000000000" charset="-122"/>
                <a:ea typeface="方正楷体_GB2312" panose="02000000000000000000" charset="-122"/>
                <a:sym typeface="+mn-ea"/>
              </a:rPr>
              <a:t>学情改变的是讲解深度、前置补学、提示粒度和练习路径，不改变客观答案本身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方正楷体_GB2312" panose="02000000000000000000" charset="-122"/>
              <a:ea typeface="方正楷体_GB2312" panose="02000000000000000000" charset="-122"/>
              <a:sym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8844" y="6196330"/>
            <a:ext cx="9334499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0" i="0">
                <a:solidFill>
                  <a:schemeClr val="tx1">
                    <a:lumMod val="65000"/>
                    <a:lumOff val="35000"/>
                  </a:schemeClr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</a:rPr>
              <a:t>班级看板只显示已发布反馈范围内的数据</a:t>
            </a:r>
            <a:endParaRPr lang="zh-CN" altLang="en-US" sz="1200" b="0" i="0">
              <a:solidFill>
                <a:schemeClr val="tx1">
                  <a:lumMod val="65000"/>
                  <a:lumOff val="35000"/>
                </a:schemeClr>
              </a:solidFill>
              <a:latin typeface="方正楷体_GB2312" panose="02000000000000000000" charset="-122"/>
              <a:ea typeface="方正楷体_GB2312" panose="02000000000000000000" charset="-122"/>
              <a:cs typeface="方正楷体_GB2312" panose="02000000000000000000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200" b="0" i="0">
              <a:solidFill>
                <a:schemeClr val="tx1">
                  <a:lumMod val="65000"/>
                  <a:lumOff val="35000"/>
                </a:schemeClr>
              </a:solidFill>
              <a:latin typeface="方正楷体_GB2312" panose="02000000000000000000" charset="-122"/>
              <a:ea typeface="方正楷体_GB2312" panose="02000000000000000000" charset="-122"/>
              <a:cs typeface="方正楷体_GB2312" panose="02000000000000000000" charset="-122"/>
            </a:endParaRPr>
          </a:p>
        </p:txBody>
      </p:sp>
      <p:sp>
        <p:nvSpPr>
          <p:cNvPr id="8" name="TextBox 11"/>
          <p:cNvSpPr txBox="1"/>
          <p:nvPr>
            <p:custDataLst>
              <p:tags r:id="rId1"/>
            </p:custDataLst>
          </p:nvPr>
        </p:nvSpPr>
        <p:spPr>
          <a:xfrm>
            <a:off x="610235" y="2027555"/>
            <a:ext cx="2413000" cy="6242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0" i="0">
                <a:solidFill>
                  <a:srgbClr val="111111"/>
                </a:solidFill>
                <a:latin typeface="Bahnschrift SemiBold" panose="020B0502040204020203" charset="0"/>
                <a:cs typeface="Bahnschrift SemiBold" panose="020B0502040204020203" charset="0"/>
              </a:rPr>
              <a:t>掌握度</a:t>
            </a:r>
            <a:endParaRPr lang="zh-CN" sz="2000" b="0" i="0">
              <a:solidFill>
                <a:srgbClr val="11111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1" name="Rectangle 36"/>
          <p:cNvSpPr/>
          <p:nvPr/>
        </p:nvSpPr>
        <p:spPr>
          <a:xfrm>
            <a:off x="610235" y="2891155"/>
            <a:ext cx="247269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B9B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22" name="TextBox 37"/>
          <p:cNvSpPr txBox="1"/>
          <p:nvPr/>
        </p:nvSpPr>
        <p:spPr>
          <a:xfrm>
            <a:off x="720090" y="3000883"/>
            <a:ext cx="640080" cy="19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JetBrains Mono" panose="02010600030101010101" charset="-122"/>
                <a:sym typeface="+mn-ea"/>
              </a:rPr>
              <a:t>&lt; </a:t>
            </a:r>
            <a:r>
              <a:rPr sz="1200" b="1" i="0">
                <a:solidFill>
                  <a:srgbClr val="002FA7"/>
                </a:solidFill>
                <a:latin typeface="Bahnschrift Condensed" panose="020B0502040204020203" charset="0"/>
                <a:cs typeface="Bahnschrift Condensed" panose="020B0502040204020203" charset="0"/>
              </a:rPr>
              <a:t>40</a:t>
            </a:r>
            <a:endParaRPr sz="1200" b="1" i="0">
              <a:solidFill>
                <a:srgbClr val="002FA7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25" name="TextBox 38"/>
          <p:cNvSpPr txBox="1"/>
          <p:nvPr/>
        </p:nvSpPr>
        <p:spPr>
          <a:xfrm>
            <a:off x="1216787" y="2982595"/>
            <a:ext cx="1097280" cy="19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Bahnschrift Condensed" panose="020B0502040204020203" charset="0"/>
                <a:cs typeface="Bahnschrift Condensed" panose="020B0502040204020203" charset="0"/>
              </a:rPr>
              <a:t>foundation</a:t>
            </a:r>
            <a:endParaRPr sz="1200" b="1" i="0">
              <a:solidFill>
                <a:srgbClr val="111111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26" name="TextBox 39"/>
          <p:cNvSpPr txBox="1"/>
          <p:nvPr/>
        </p:nvSpPr>
        <p:spPr>
          <a:xfrm>
            <a:off x="1971675" y="2973705"/>
            <a:ext cx="932815" cy="1822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di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直觉 / 最小例子</a:t>
            </a:r>
            <a:endParaRPr sz="900" b="0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28" name="Rectangle 40"/>
          <p:cNvSpPr/>
          <p:nvPr/>
        </p:nvSpPr>
        <p:spPr>
          <a:xfrm>
            <a:off x="610235" y="3474720"/>
            <a:ext cx="2471420" cy="403860"/>
          </a:xfrm>
          <a:prstGeom prst="rect">
            <a:avLst/>
          </a:prstGeom>
          <a:solidFill>
            <a:srgbClr val="FFFFFF"/>
          </a:solidFill>
          <a:ln w="9525">
            <a:solidFill>
              <a:srgbClr val="B9B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30" name="TextBox 41"/>
          <p:cNvSpPr txBox="1"/>
          <p:nvPr/>
        </p:nvSpPr>
        <p:spPr>
          <a:xfrm>
            <a:off x="734694" y="3595243"/>
            <a:ext cx="640080" cy="19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2FA7"/>
                </a:solidFill>
                <a:latin typeface="Bahnschrift Condensed" panose="020B0502040204020203" charset="0"/>
                <a:cs typeface="Bahnschrift Condensed" panose="020B0502040204020203" charset="0"/>
              </a:rPr>
              <a:t>40–75</a:t>
            </a:r>
            <a:endParaRPr sz="1200" b="1" i="0">
              <a:solidFill>
                <a:srgbClr val="002FA7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33" name="TextBox 42"/>
          <p:cNvSpPr txBox="1"/>
          <p:nvPr/>
        </p:nvSpPr>
        <p:spPr>
          <a:xfrm>
            <a:off x="1216787" y="3567430"/>
            <a:ext cx="1097280" cy="19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Bahnschrift Condensed" panose="020B0502040204020203" charset="0"/>
                <a:cs typeface="Bahnschrift Condensed" panose="020B0502040204020203" charset="0"/>
              </a:rPr>
              <a:t>standard</a:t>
            </a:r>
            <a:endParaRPr sz="1200" b="1" i="0">
              <a:solidFill>
                <a:srgbClr val="111111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34" name="TextBox 43"/>
          <p:cNvSpPr txBox="1"/>
          <p:nvPr/>
        </p:nvSpPr>
        <p:spPr>
          <a:xfrm>
            <a:off x="1971040" y="3576955"/>
            <a:ext cx="1111250" cy="1098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机制 / 易错 / 迁移</a:t>
            </a:r>
            <a:endParaRPr sz="900" b="0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56" name="Rectangle 44"/>
          <p:cNvSpPr/>
          <p:nvPr/>
        </p:nvSpPr>
        <p:spPr>
          <a:xfrm>
            <a:off x="610235" y="4065905"/>
            <a:ext cx="2472690" cy="384175"/>
          </a:xfrm>
          <a:prstGeom prst="rect">
            <a:avLst/>
          </a:prstGeom>
          <a:solidFill>
            <a:srgbClr val="FFFFFF"/>
          </a:solidFill>
          <a:ln w="9525">
            <a:solidFill>
              <a:srgbClr val="B9B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57" name="TextBox 45"/>
          <p:cNvSpPr txBox="1"/>
          <p:nvPr/>
        </p:nvSpPr>
        <p:spPr>
          <a:xfrm>
            <a:off x="720089" y="4175633"/>
            <a:ext cx="640080" cy="19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2FA7"/>
                </a:solidFill>
                <a:latin typeface="Bahnschrift Condensed" panose="020B0502040204020203" charset="0"/>
                <a:cs typeface="Bahnschrift Condensed" panose="020B0502040204020203" charset="0"/>
              </a:rPr>
              <a:t>≥ 75</a:t>
            </a:r>
            <a:endParaRPr sz="1200" b="1" i="0">
              <a:solidFill>
                <a:srgbClr val="002FA7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58" name="TextBox 46"/>
          <p:cNvSpPr txBox="1"/>
          <p:nvPr/>
        </p:nvSpPr>
        <p:spPr>
          <a:xfrm>
            <a:off x="1216660" y="4152265"/>
            <a:ext cx="699135" cy="241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Bahnschrift Condensed" panose="020B0502040204020203" charset="0"/>
                <a:cs typeface="Bahnschrift Condensed" panose="020B0502040204020203" charset="0"/>
              </a:rPr>
              <a:t>advanced</a:t>
            </a:r>
            <a:endParaRPr sz="1200" b="1" i="0">
              <a:solidFill>
                <a:srgbClr val="111111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59" name="TextBox 47"/>
          <p:cNvSpPr txBox="1"/>
          <p:nvPr/>
        </p:nvSpPr>
        <p:spPr>
          <a:xfrm>
            <a:off x="1971040" y="4152265"/>
            <a:ext cx="1052195" cy="1822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边界 / 复杂度 / 辨析</a:t>
            </a:r>
            <a:endParaRPr sz="900" b="0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60" name="Rectangle 10"/>
          <p:cNvSpPr/>
          <p:nvPr/>
        </p:nvSpPr>
        <p:spPr>
          <a:xfrm>
            <a:off x="3273425" y="2159635"/>
            <a:ext cx="335280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AFB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AFBADD"/>
              </a:solidFill>
            </a:endParaRPr>
          </a:p>
        </p:txBody>
      </p:sp>
      <p:sp>
        <p:nvSpPr>
          <p:cNvPr id="61" name="TextBox 11"/>
          <p:cNvSpPr txBox="1"/>
          <p:nvPr/>
        </p:nvSpPr>
        <p:spPr>
          <a:xfrm>
            <a:off x="3520440" y="2415540"/>
            <a:ext cx="2976880" cy="236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74479"/>
                </a:solidFill>
                <a:latin typeface="Bahnschrift Condensed" panose="020B0502040204020203" charset="0"/>
                <a:cs typeface="Bahnschrift Condensed" panose="020B0502040204020203" charset="0"/>
              </a:rPr>
              <a:t>INPUT / CURRENT LEARNING STATE</a:t>
            </a:r>
            <a:endParaRPr sz="1400" b="1" i="0">
              <a:solidFill>
                <a:srgbClr val="474479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62" name="TextBox 12"/>
          <p:cNvSpPr txBox="1"/>
          <p:nvPr/>
        </p:nvSpPr>
        <p:spPr>
          <a:xfrm>
            <a:off x="3520440" y="2799715"/>
            <a:ext cx="141732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mastery</a:t>
            </a:r>
            <a:endParaRPr sz="1600" b="1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63" name="TextBox 13"/>
          <p:cNvSpPr txBox="1"/>
          <p:nvPr/>
        </p:nvSpPr>
        <p:spPr>
          <a:xfrm>
            <a:off x="7452360" y="2708275"/>
            <a:ext cx="932815" cy="218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2FA7"/>
                </a:solidFill>
                <a:latin typeface="Bahnschrift Condensed" panose="020B0502040204020203" charset="0"/>
                <a:cs typeface="Bahnschrift Condensed" panose="020B0502040204020203" charset="0"/>
              </a:rPr>
              <a:t>32</a:t>
            </a:r>
            <a:endParaRPr sz="1600" b="1" i="0">
              <a:solidFill>
                <a:srgbClr val="002FA7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cxnSp>
        <p:nvCxnSpPr>
          <p:cNvPr id="64" name="Connector 14"/>
          <p:cNvCxnSpPr/>
          <p:nvPr/>
        </p:nvCxnSpPr>
        <p:spPr>
          <a:xfrm>
            <a:off x="3520440" y="3128899"/>
            <a:ext cx="2866390" cy="5080"/>
          </a:xfrm>
          <a:prstGeom prst="line">
            <a:avLst/>
          </a:prstGeom>
          <a:ln w="7620">
            <a:solidFill>
              <a:srgbClr val="E7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15"/>
          <p:cNvSpPr txBox="1"/>
          <p:nvPr/>
        </p:nvSpPr>
        <p:spPr>
          <a:xfrm>
            <a:off x="3520440" y="3275203"/>
            <a:ext cx="141732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retention</a:t>
            </a:r>
            <a:endParaRPr sz="1600" b="1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66" name="TextBox 16"/>
          <p:cNvSpPr txBox="1"/>
          <p:nvPr/>
        </p:nvSpPr>
        <p:spPr>
          <a:xfrm>
            <a:off x="7452360" y="3183890"/>
            <a:ext cx="932815" cy="218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2FA7"/>
                </a:solidFill>
                <a:latin typeface="Bahnschrift Condensed" panose="020B0502040204020203" charset="0"/>
                <a:cs typeface="Bahnschrift Condensed" panose="020B0502040204020203" charset="0"/>
              </a:rPr>
              <a:t>0.58</a:t>
            </a:r>
            <a:endParaRPr sz="1600" b="1" i="0">
              <a:solidFill>
                <a:srgbClr val="002FA7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cxnSp>
        <p:nvCxnSpPr>
          <p:cNvPr id="67" name="Connector 17"/>
          <p:cNvCxnSpPr/>
          <p:nvPr/>
        </p:nvCxnSpPr>
        <p:spPr>
          <a:xfrm flipV="1">
            <a:off x="3520440" y="3582797"/>
            <a:ext cx="2866390" cy="21590"/>
          </a:xfrm>
          <a:prstGeom prst="line">
            <a:avLst/>
          </a:prstGeom>
          <a:ln w="7620">
            <a:solidFill>
              <a:srgbClr val="E7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18"/>
          <p:cNvSpPr txBox="1"/>
          <p:nvPr/>
        </p:nvSpPr>
        <p:spPr>
          <a:xfrm>
            <a:off x="3520440" y="3750691"/>
            <a:ext cx="141732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confidence</a:t>
            </a:r>
            <a:endParaRPr sz="1600" b="1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69" name="TextBox 19"/>
          <p:cNvSpPr txBox="1"/>
          <p:nvPr/>
        </p:nvSpPr>
        <p:spPr>
          <a:xfrm>
            <a:off x="7452360" y="3659505"/>
            <a:ext cx="932815" cy="218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2FA7"/>
                </a:solidFill>
                <a:latin typeface="Bahnschrift Condensed" panose="020B0502040204020203" charset="0"/>
                <a:cs typeface="Bahnschrift Condensed" panose="020B0502040204020203" charset="0"/>
              </a:rPr>
              <a:t>0.22</a:t>
            </a:r>
            <a:endParaRPr sz="1600" b="1" i="0">
              <a:solidFill>
                <a:srgbClr val="002FA7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cxnSp>
        <p:nvCxnSpPr>
          <p:cNvPr id="70" name="Connector 20"/>
          <p:cNvCxnSpPr/>
          <p:nvPr/>
        </p:nvCxnSpPr>
        <p:spPr>
          <a:xfrm>
            <a:off x="3520440" y="4079875"/>
            <a:ext cx="2832735" cy="19050"/>
          </a:xfrm>
          <a:prstGeom prst="line">
            <a:avLst/>
          </a:prstGeom>
          <a:ln w="7620">
            <a:solidFill>
              <a:srgbClr val="E7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21"/>
          <p:cNvSpPr txBox="1"/>
          <p:nvPr/>
        </p:nvSpPr>
        <p:spPr>
          <a:xfrm>
            <a:off x="3520440" y="4226179"/>
            <a:ext cx="141732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prerequisite</a:t>
            </a:r>
            <a:endParaRPr sz="1600" b="1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72" name="TextBox 22"/>
          <p:cNvSpPr txBox="1"/>
          <p:nvPr/>
        </p:nvSpPr>
        <p:spPr>
          <a:xfrm>
            <a:off x="7452360" y="4134485"/>
            <a:ext cx="932815" cy="218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97706"/>
                </a:solidFill>
                <a:latin typeface="Bahnschrift Condensed" panose="020B0502040204020203" charset="0"/>
                <a:cs typeface="Bahnschrift Condensed" panose="020B0502040204020203" charset="0"/>
              </a:rPr>
              <a:t>weak</a:t>
            </a:r>
            <a:endParaRPr sz="1600" b="1" i="0">
              <a:solidFill>
                <a:srgbClr val="D97706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cxnSp>
        <p:nvCxnSpPr>
          <p:cNvPr id="73" name="Connector 23"/>
          <p:cNvCxnSpPr/>
          <p:nvPr/>
        </p:nvCxnSpPr>
        <p:spPr>
          <a:xfrm>
            <a:off x="3520440" y="4555363"/>
            <a:ext cx="2840990" cy="635"/>
          </a:xfrm>
          <a:prstGeom prst="line">
            <a:avLst/>
          </a:prstGeom>
          <a:ln w="7620">
            <a:solidFill>
              <a:srgbClr val="E7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25"/>
          <p:cNvSpPr/>
          <p:nvPr/>
        </p:nvSpPr>
        <p:spPr>
          <a:xfrm>
            <a:off x="6804025" y="2160270"/>
            <a:ext cx="4754880" cy="3747770"/>
          </a:xfrm>
          <a:prstGeom prst="rect">
            <a:avLst/>
          </a:prstGeom>
          <a:solidFill>
            <a:srgbClr val="8C8BB1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26"/>
          <p:cNvSpPr txBox="1"/>
          <p:nvPr/>
        </p:nvSpPr>
        <p:spPr>
          <a:xfrm>
            <a:off x="7033895" y="2415667"/>
            <a:ext cx="4023360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4E8FF"/>
                </a:solidFill>
                <a:latin typeface="Bahnschrift Condensed" panose="020B0502040204020203" charset="0"/>
                <a:ea typeface="华文楷体" panose="02010600040101010101" charset="-122"/>
                <a:cs typeface="Bahnschrift Condensed" panose="020B0502040204020203" charset="0"/>
              </a:rPr>
              <a:t>OUTPUT / DETERMINISTIC TEACHING ACTION</a:t>
            </a:r>
            <a:endParaRPr sz="1400" b="1" i="0">
              <a:solidFill>
                <a:srgbClr val="E4E8FF"/>
              </a:solidFill>
              <a:latin typeface="Bahnschrift Condensed" panose="020B0502040204020203" charset="0"/>
              <a:ea typeface="华文楷体" panose="02010600040101010101" charset="-122"/>
              <a:cs typeface="Bahnschrift Condensed" panose="020B0502040204020203" charset="0"/>
            </a:endParaRPr>
          </a:p>
        </p:txBody>
      </p:sp>
      <p:sp>
        <p:nvSpPr>
          <p:cNvPr id="98" name="TextBox 27"/>
          <p:cNvSpPr txBox="1"/>
          <p:nvPr/>
        </p:nvSpPr>
        <p:spPr>
          <a:xfrm>
            <a:off x="7033895" y="2799715"/>
            <a:ext cx="1920240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4E8FF"/>
                </a:solidFill>
                <a:latin typeface="Bahnschrift Condensed" panose="020B0502040204020203" charset="0"/>
                <a:ea typeface="华文楷体" panose="02010600040101010101" charset="-122"/>
                <a:cs typeface="Bahnschrift Condensed" panose="020B0502040204020203" charset="0"/>
              </a:rPr>
              <a:t>FOUNDATION</a:t>
            </a:r>
            <a:endParaRPr sz="1400" b="1" i="0">
              <a:solidFill>
                <a:srgbClr val="E4E8FF"/>
              </a:solidFill>
              <a:latin typeface="Bahnschrift Condensed" panose="020B0502040204020203" charset="0"/>
              <a:ea typeface="华文楷体" panose="02010600040101010101" charset="-122"/>
              <a:cs typeface="Bahnschrift Condensed" panose="020B0502040204020203" charset="0"/>
            </a:endParaRPr>
          </a:p>
        </p:txBody>
      </p:sp>
      <p:sp>
        <p:nvSpPr>
          <p:cNvPr id="99" name="TextBox 28"/>
          <p:cNvSpPr txBox="1"/>
          <p:nvPr/>
        </p:nvSpPr>
        <p:spPr>
          <a:xfrm>
            <a:off x="8954135" y="2799080"/>
            <a:ext cx="2560320" cy="2432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Bahnschrift Condensed" panose="020B0502040204020203" charset="0"/>
                <a:ea typeface="华文楷体" panose="02010600040101010101" charset="-122"/>
              </a:rPr>
              <a:t>从直觉和最小例子开始</a:t>
            </a:r>
            <a:endParaRPr sz="1600" b="1" i="0">
              <a:solidFill>
                <a:srgbClr val="FFFFFF"/>
              </a:solidFill>
              <a:latin typeface="Bahnschrift Condensed" panose="020B0502040204020203" charset="0"/>
              <a:ea typeface="华文楷体" panose="02010600040101010101" charset="-122"/>
            </a:endParaRPr>
          </a:p>
        </p:txBody>
      </p:sp>
      <p:sp>
        <p:nvSpPr>
          <p:cNvPr id="100" name="TextBox 29"/>
          <p:cNvSpPr txBox="1"/>
          <p:nvPr/>
        </p:nvSpPr>
        <p:spPr>
          <a:xfrm>
            <a:off x="7033895" y="3302635"/>
            <a:ext cx="1920240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4E8FF"/>
                </a:solidFill>
                <a:latin typeface="Bahnschrift Condensed" panose="020B0502040204020203" charset="0"/>
                <a:ea typeface="华文楷体" panose="02010600040101010101" charset="-122"/>
                <a:cs typeface="Bahnschrift Condensed" panose="020B0502040204020203" charset="0"/>
              </a:rPr>
              <a:t>PREREQUISITE_FIRST</a:t>
            </a:r>
            <a:endParaRPr sz="1400" b="1" i="0">
              <a:solidFill>
                <a:srgbClr val="E4E8FF"/>
              </a:solidFill>
              <a:latin typeface="Bahnschrift Condensed" panose="020B0502040204020203" charset="0"/>
              <a:ea typeface="华文楷体" panose="02010600040101010101" charset="-122"/>
              <a:cs typeface="Bahnschrift Condensed" panose="020B0502040204020203" charset="0"/>
            </a:endParaRPr>
          </a:p>
        </p:txBody>
      </p:sp>
      <p:sp>
        <p:nvSpPr>
          <p:cNvPr id="101" name="TextBox 30"/>
          <p:cNvSpPr txBox="1"/>
          <p:nvPr/>
        </p:nvSpPr>
        <p:spPr>
          <a:xfrm>
            <a:off x="8954135" y="3302000"/>
            <a:ext cx="2560320" cy="2432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Bahnschrift Condensed" panose="020B0502040204020203" charset="0"/>
                <a:ea typeface="华文楷体" panose="02010600040101010101" charset="-122"/>
              </a:rPr>
              <a:t>先补薄弱前置，再回到当前知识点</a:t>
            </a:r>
            <a:endParaRPr sz="1600" b="1" i="0">
              <a:solidFill>
                <a:srgbClr val="FFFFFF"/>
              </a:solidFill>
              <a:latin typeface="Bahnschrift Condensed" panose="020B0502040204020203" charset="0"/>
              <a:ea typeface="华文楷体" panose="02010600040101010101" charset="-122"/>
            </a:endParaRPr>
          </a:p>
        </p:txBody>
      </p:sp>
      <p:sp>
        <p:nvSpPr>
          <p:cNvPr id="102" name="TextBox 31"/>
          <p:cNvSpPr txBox="1"/>
          <p:nvPr/>
        </p:nvSpPr>
        <p:spPr>
          <a:xfrm>
            <a:off x="7033895" y="3909060"/>
            <a:ext cx="1920240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4E8FF"/>
                </a:solidFill>
                <a:latin typeface="Bahnschrift Condensed" panose="020B0502040204020203" charset="0"/>
                <a:ea typeface="华文楷体" panose="02010600040101010101" charset="-122"/>
                <a:cs typeface="Bahnschrift Condensed" panose="020B0502040204020203" charset="0"/>
              </a:rPr>
              <a:t>ACTIVE_RECALL</a:t>
            </a:r>
            <a:endParaRPr sz="1400" b="1" i="0">
              <a:solidFill>
                <a:srgbClr val="E4E8FF"/>
              </a:solidFill>
              <a:latin typeface="Bahnschrift Condensed" panose="020B0502040204020203" charset="0"/>
              <a:ea typeface="华文楷体" panose="02010600040101010101" charset="-122"/>
              <a:cs typeface="Bahnschrift Condensed" panose="020B0502040204020203" charset="0"/>
            </a:endParaRPr>
          </a:p>
        </p:txBody>
      </p:sp>
      <p:sp>
        <p:nvSpPr>
          <p:cNvPr id="103" name="TextBox 32"/>
          <p:cNvSpPr txBox="1"/>
          <p:nvPr/>
        </p:nvSpPr>
        <p:spPr>
          <a:xfrm>
            <a:off x="8954135" y="3908425"/>
            <a:ext cx="2560320" cy="2432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Bahnschrift Condensed" panose="020B0502040204020203" charset="0"/>
                <a:ea typeface="华文楷体" panose="02010600040101010101" charset="-122"/>
              </a:rPr>
              <a:t>先让学生尝试，不直接公布答案</a:t>
            </a:r>
            <a:endParaRPr sz="1600" b="1" i="0">
              <a:solidFill>
                <a:srgbClr val="FFFFFF"/>
              </a:solidFill>
              <a:latin typeface="Bahnschrift Condensed" panose="020B0502040204020203" charset="0"/>
              <a:ea typeface="华文楷体" panose="02010600040101010101" charset="-122"/>
            </a:endParaRPr>
          </a:p>
        </p:txBody>
      </p:sp>
      <p:sp>
        <p:nvSpPr>
          <p:cNvPr id="104" name="TextBox 33"/>
          <p:cNvSpPr txBox="1"/>
          <p:nvPr/>
        </p:nvSpPr>
        <p:spPr>
          <a:xfrm>
            <a:off x="7033895" y="4555490"/>
            <a:ext cx="1920240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4E8FF"/>
                </a:solidFill>
                <a:latin typeface="Bahnschrift Condensed" panose="020B0502040204020203" charset="0"/>
                <a:ea typeface="华文楷体" panose="02010600040101010101" charset="-122"/>
                <a:cs typeface="Bahnschrift Condensed" panose="020B0502040204020203" charset="0"/>
              </a:rPr>
              <a:t>PROGRESSIVE_HINT</a:t>
            </a:r>
            <a:endParaRPr sz="1400" b="1" i="0">
              <a:solidFill>
                <a:srgbClr val="E4E8FF"/>
              </a:solidFill>
              <a:latin typeface="Bahnschrift Condensed" panose="020B0502040204020203" charset="0"/>
              <a:ea typeface="华文楷体" panose="02010600040101010101" charset="-122"/>
              <a:cs typeface="Bahnschrift Condensed" panose="020B0502040204020203" charset="0"/>
            </a:endParaRPr>
          </a:p>
        </p:txBody>
      </p:sp>
      <p:sp>
        <p:nvSpPr>
          <p:cNvPr id="105" name="TextBox 34"/>
          <p:cNvSpPr txBox="1"/>
          <p:nvPr/>
        </p:nvSpPr>
        <p:spPr>
          <a:xfrm>
            <a:off x="8954135" y="4554855"/>
            <a:ext cx="2560320" cy="2432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Bahnschrift Condensed" panose="020B0502040204020203" charset="0"/>
                <a:ea typeface="华文楷体" panose="02010600040101010101" charset="-122"/>
                <a:cs typeface="Bahnschrift Condensed" panose="020B0502040204020203" charset="0"/>
              </a:rPr>
              <a:t>提示按一级 / 二级 / 三级递进</a:t>
            </a:r>
            <a:endParaRPr sz="1600" b="1" i="0">
              <a:solidFill>
                <a:srgbClr val="FFFFFF"/>
              </a:solidFill>
              <a:latin typeface="Bahnschrift Condensed" panose="020B0502040204020203" charset="0"/>
              <a:ea typeface="华文楷体" panose="02010600040101010101" charset="-122"/>
              <a:cs typeface="Bahnschrift Condensed" panose="020B0502040204020203" charset="0"/>
            </a:endParaRPr>
          </a:p>
        </p:txBody>
      </p:sp>
      <p:sp>
        <p:nvSpPr>
          <p:cNvPr id="106" name="TextBox 35"/>
          <p:cNvSpPr txBox="1"/>
          <p:nvPr/>
        </p:nvSpPr>
        <p:spPr>
          <a:xfrm>
            <a:off x="7002145" y="5198110"/>
            <a:ext cx="43586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4E8FF"/>
                </a:solidFill>
                <a:latin typeface="Bahnschrift Condensed" panose="020B0502040204020203" charset="0"/>
                <a:ea typeface="华文楷体" panose="02010600040101010101" charset="-122"/>
                <a:cs typeface="Bahnschrift Condensed" panose="020B0502040204020203" charset="0"/>
              </a:rPr>
              <a:t>PedagogyRouter：</a:t>
            </a:r>
            <a:r>
              <a:rPr lang="en-US" sz="1400" b="0" i="0">
                <a:solidFill>
                  <a:srgbClr val="E4E8FF"/>
                </a:solidFill>
                <a:latin typeface="Bahnschrift Condensed" panose="020B0502040204020203" charset="0"/>
                <a:ea typeface="华文楷体" panose="02010600040101010101" charset="-122"/>
                <a:cs typeface="Bahnschrift Condensed" panose="020B0502040204020203" charset="0"/>
              </a:rPr>
              <a:t>       </a:t>
            </a:r>
            <a:r>
              <a:rPr sz="1600" b="1" i="0">
                <a:solidFill>
                  <a:srgbClr val="E4E8FF"/>
                </a:solidFill>
                <a:latin typeface="Bahnschrift Condensed" panose="020B0502040204020203" charset="0"/>
                <a:ea typeface="华文楷体" panose="02010600040101010101" charset="-122"/>
                <a:cs typeface="Bahnschrift Condensed" panose="020B0502040204020203" charset="0"/>
              </a:rPr>
              <a:t>先判断学习任务，再选择教</a:t>
            </a:r>
            <a:r>
              <a:rPr lang="en-US" sz="1600" b="1" i="0">
                <a:solidFill>
                  <a:srgbClr val="E4E8FF"/>
                </a:solidFill>
                <a:latin typeface="Bahnschrift Condensed" panose="020B0502040204020203" charset="0"/>
                <a:ea typeface="华文楷体" panose="02010600040101010101" charset="-122"/>
                <a:cs typeface="Bahnschrift Condensed" panose="020B0502040204020203" charset="0"/>
              </a:rPr>
              <a:t>            </a:t>
            </a:r>
            <a:r>
              <a:rPr sz="1600" b="1" i="0">
                <a:solidFill>
                  <a:srgbClr val="E4E8FF"/>
                </a:solidFill>
                <a:latin typeface="Bahnschrift Condensed" panose="020B0502040204020203" charset="0"/>
                <a:ea typeface="华文楷体" panose="02010600040101010101" charset="-122"/>
                <a:cs typeface="Bahnschrift Condensed" panose="020B0502040204020203" charset="0"/>
              </a:rPr>
              <a:t>学 Skill</a:t>
            </a:r>
            <a:endParaRPr sz="1600" b="1" i="0">
              <a:solidFill>
                <a:srgbClr val="E4E8FF"/>
              </a:solidFill>
              <a:latin typeface="Bahnschrift Condensed" panose="020B0502040204020203" charset="0"/>
              <a:ea typeface="华文楷体" panose="02010600040101010101" charset="-122"/>
              <a:cs typeface="Bahnschrift Condensed" panose="020B0502040204020203" charset="0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bldLvl="0" animBg="1"/>
      <p:bldP spid="8" grpId="0"/>
      <p:bldP spid="21" grpId="0" bldLvl="0" animBg="1"/>
      <p:bldP spid="22" grpId="0"/>
      <p:bldP spid="25" grpId="0"/>
      <p:bldP spid="26" grpId="0"/>
      <p:bldP spid="28" grpId="0" bldLvl="0" animBg="1"/>
      <p:bldP spid="30" grpId="0"/>
      <p:bldP spid="33" grpId="0"/>
      <p:bldP spid="34" grpId="0"/>
      <p:bldP spid="56" grpId="0" bldLvl="0" animBg="1"/>
      <p:bldP spid="57" grpId="0"/>
      <p:bldP spid="58" grpId="0"/>
      <p:bldP spid="59" grpId="0"/>
      <p:bldP spid="60" grpId="0" bldLvl="0" animBg="1"/>
      <p:bldP spid="61" grpId="0"/>
      <p:bldP spid="62" grpId="0"/>
      <p:bldP spid="63" grpId="0"/>
      <p:bldP spid="65" grpId="0"/>
      <p:bldP spid="66" grpId="0"/>
      <p:bldP spid="68" grpId="0"/>
      <p:bldP spid="69" grpId="0"/>
      <p:bldP spid="71" grpId="0"/>
      <p:bldP spid="72" grpId="0"/>
      <p:bldP spid="96" grpId="0" bldLvl="0" animBg="1"/>
      <p:bldP spid="97" grpId="0"/>
      <p:bldP spid="98" grpId="0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2810" y="240030"/>
            <a:ext cx="654939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22 /  RECOMMENDATION &amp; REVIEW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今天练什么，由学情和时间共同决定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84" name="Rectangle 10"/>
          <p:cNvSpPr/>
          <p:nvPr/>
        </p:nvSpPr>
        <p:spPr>
          <a:xfrm>
            <a:off x="610235" y="4096385"/>
            <a:ext cx="2577465" cy="191897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2810" y="1224915"/>
            <a:ext cx="9146540" cy="460375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indent="0" algn="l" fontAlgn="auto">
              <a:lnSpc>
                <a:spcPct val="1500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方正楷体_GB2312" panose="02000000000000000000" charset="-122"/>
                <a:ea typeface="方正楷体_GB2312" panose="02000000000000000000" charset="-122"/>
                <a:sym typeface="+mn-ea"/>
              </a:rPr>
              <a:t>练习推荐不是随机抽题，而是把掌握缺口、记忆衰减、考试权重、紧迫度和前置风险合成可解释排序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方正楷体_GB2312" panose="02000000000000000000" charset="-122"/>
              <a:ea typeface="方正楷体_GB2312" panose="02000000000000000000" charset="-122"/>
              <a:sym typeface="+mn-ea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0362" y="2043938"/>
            <a:ext cx="4663440" cy="1024128"/>
          </a:xfrm>
          <a:prstGeom prst="rect">
            <a:avLst/>
          </a:prstGeom>
          <a:solidFill>
            <a:srgbClr val="72719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2213102"/>
            <a:ext cx="4206240" cy="450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Bahnschrift Condensed" panose="020B0502040204020203" charset="0"/>
                <a:cs typeface="Bahnschrift Condensed" panose="020B0502040204020203" charset="0"/>
              </a:rPr>
              <a:t>priority = 0.35·缺口 + 0.20·复习压力 + 0.20·考试权重 + 0.15·紧迫度 + 0.10·前置风险</a:t>
            </a:r>
            <a:endParaRPr sz="1400" b="0" i="0">
              <a:solidFill>
                <a:srgbClr val="FFFFF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" y="2743200"/>
            <a:ext cx="416052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4E8FF"/>
                </a:solidFill>
                <a:latin typeface="Bahnschrift Condensed" panose="020B0502040204020203" charset="0"/>
              </a:rPr>
              <a:t>每个推荐返回理由，而不是只返回一个题目。</a:t>
            </a:r>
            <a:endParaRPr sz="1600" b="0" i="0">
              <a:solidFill>
                <a:srgbClr val="E4E8FF"/>
              </a:solidFill>
              <a:latin typeface="Bahnschrift Condensed" panose="020B0502040204020203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0362" y="3346704"/>
            <a:ext cx="274320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74479"/>
                </a:solidFill>
                <a:latin typeface="Bahnschrift Condensed" panose="020B0502040204020203" charset="0"/>
                <a:cs typeface="Bahnschrift Condensed" panose="020B0502040204020203" charset="0"/>
              </a:rPr>
              <a:t>RANKED NEXT ACTIONS</a:t>
            </a:r>
            <a:endParaRPr sz="1600" b="1" i="0">
              <a:solidFill>
                <a:srgbClr val="474479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3701415"/>
            <a:ext cx="36576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74479"/>
                </a:solidFill>
                <a:latin typeface="Bahnschrift Condensed" panose="020B0502040204020203" charset="0"/>
                <a:cs typeface="Bahnschrift Condensed" panose="020B0502040204020203" charset="0"/>
              </a:rPr>
              <a:t>01</a:t>
            </a:r>
            <a:endParaRPr sz="1600" b="1" i="0">
              <a:solidFill>
                <a:srgbClr val="474479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2365" y="3700780"/>
            <a:ext cx="1417955" cy="2495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Bahnschrift Condensed" panose="020B0502040204020203" charset="0"/>
              </a:rPr>
              <a:t>树的遍历</a:t>
            </a:r>
            <a:endParaRPr sz="14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8080" y="3967480"/>
            <a:ext cx="1693545" cy="19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mastery 38 · 前置风险高</a:t>
            </a:r>
            <a:endParaRPr sz="1200" b="0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59455" y="3967480"/>
            <a:ext cx="1562100" cy="2578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4479"/>
                </a:solidFill>
                <a:latin typeface="Bahnschrift Condensed" panose="020B0502040204020203" charset="0"/>
              </a:rPr>
              <a:t>先补递归基础，再做最小例题</a:t>
            </a:r>
            <a:endParaRPr sz="900" b="0" i="0">
              <a:solidFill>
                <a:srgbClr val="474479"/>
              </a:solidFill>
              <a:latin typeface="Bahnschrift Condensed" panose="020B0502040204020203" charset="0"/>
            </a:endParaRPr>
          </a:p>
        </p:txBody>
      </p:sp>
      <p:sp>
        <p:nvSpPr>
          <p:cNvPr id="2" name="TextBox 20"/>
          <p:cNvSpPr txBox="1"/>
          <p:nvPr/>
        </p:nvSpPr>
        <p:spPr>
          <a:xfrm>
            <a:off x="777240" y="4487672"/>
            <a:ext cx="36576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74479"/>
                </a:solidFill>
                <a:latin typeface="Bahnschrift Condensed" panose="020B0502040204020203" charset="0"/>
                <a:cs typeface="Bahnschrift Condensed" panose="020B0502040204020203" charset="0"/>
              </a:rPr>
              <a:t>02</a:t>
            </a:r>
            <a:endParaRPr sz="1600" b="1" i="0">
              <a:solidFill>
                <a:srgbClr val="474479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10" name="TextBox 21"/>
          <p:cNvSpPr txBox="1"/>
          <p:nvPr/>
        </p:nvSpPr>
        <p:spPr>
          <a:xfrm>
            <a:off x="1142365" y="4487545"/>
            <a:ext cx="1417955" cy="2463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Bahnschrift Condensed" panose="020B0502040204020203" charset="0"/>
              </a:rPr>
              <a:t>操作系统：死锁</a:t>
            </a:r>
            <a:endParaRPr sz="14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48080" y="4733925"/>
            <a:ext cx="2040255" cy="19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retention 0.61 · 复习压力高</a:t>
            </a:r>
            <a:endParaRPr sz="1200" b="0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27" name="TextBox 23"/>
          <p:cNvSpPr txBox="1"/>
          <p:nvPr/>
        </p:nvSpPr>
        <p:spPr>
          <a:xfrm>
            <a:off x="3319145" y="4733925"/>
            <a:ext cx="1502410" cy="187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4479"/>
                </a:solidFill>
                <a:latin typeface="Bahnschrift Condensed" panose="020B0502040204020203" charset="0"/>
              </a:rPr>
              <a:t>安排主动回忆，避免只看答案</a:t>
            </a:r>
            <a:endParaRPr sz="900" b="0" i="0">
              <a:solidFill>
                <a:srgbClr val="474479"/>
              </a:solidFill>
              <a:latin typeface="Bahnschrift Condensed" panose="020B0502040204020203" charset="0"/>
            </a:endParaRPr>
          </a:p>
        </p:txBody>
      </p:sp>
      <p:sp>
        <p:nvSpPr>
          <p:cNvPr id="31" name="TextBox 25"/>
          <p:cNvSpPr txBox="1"/>
          <p:nvPr/>
        </p:nvSpPr>
        <p:spPr>
          <a:xfrm>
            <a:off x="777240" y="5212334"/>
            <a:ext cx="36576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74479"/>
                </a:solidFill>
                <a:latin typeface="Bahnschrift Condensed" panose="020B0502040204020203" charset="0"/>
                <a:cs typeface="Bahnschrift Condensed" panose="020B0502040204020203" charset="0"/>
              </a:rPr>
              <a:t>03</a:t>
            </a:r>
            <a:endParaRPr sz="1600" b="1" i="0">
              <a:solidFill>
                <a:srgbClr val="474479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32" name="TextBox 26"/>
          <p:cNvSpPr txBox="1"/>
          <p:nvPr/>
        </p:nvSpPr>
        <p:spPr>
          <a:xfrm>
            <a:off x="1142365" y="5203190"/>
            <a:ext cx="1814195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Bahnschrift Condensed" panose="020B0502040204020203" charset="0"/>
                <a:cs typeface="Bahnschrift Condensed" panose="020B0502040204020203" charset="0"/>
              </a:rPr>
              <a:t>Transformer 注意力</a:t>
            </a:r>
            <a:endParaRPr sz="1400" b="1" i="0">
              <a:solidFill>
                <a:srgbClr val="111111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35" name="TextBox 27"/>
          <p:cNvSpPr txBox="1"/>
          <p:nvPr/>
        </p:nvSpPr>
        <p:spPr>
          <a:xfrm>
            <a:off x="1142365" y="5486400"/>
            <a:ext cx="1671320" cy="19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考试权重高 · 紧迫度高</a:t>
            </a:r>
            <a:endParaRPr sz="1200" b="0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36" name="TextBox 28"/>
          <p:cNvSpPr txBox="1"/>
          <p:nvPr/>
        </p:nvSpPr>
        <p:spPr>
          <a:xfrm>
            <a:off x="3347085" y="5497830"/>
            <a:ext cx="1710055" cy="1987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74479"/>
                </a:solidFill>
                <a:latin typeface="Bahnschrift Condensed" panose="020B0502040204020203" charset="0"/>
              </a:rPr>
              <a:t>练公式、复杂度和概念辨析</a:t>
            </a:r>
            <a:endParaRPr sz="1000" b="0" i="0">
              <a:solidFill>
                <a:srgbClr val="474479"/>
              </a:solidFill>
              <a:latin typeface="Bahnschrift Condensed" panose="020B0502040204020203" charset="0"/>
            </a:endParaRPr>
          </a:p>
        </p:txBody>
      </p:sp>
      <p:sp>
        <p:nvSpPr>
          <p:cNvPr id="38" name="TextBox 30"/>
          <p:cNvSpPr txBox="1"/>
          <p:nvPr/>
        </p:nvSpPr>
        <p:spPr>
          <a:xfrm>
            <a:off x="6134735" y="1891030"/>
            <a:ext cx="5167630" cy="3219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2719F"/>
                </a:solidFill>
                <a:latin typeface="Bahnschrift Condensed" panose="020B0502040204020203" charset="0"/>
                <a:cs typeface="Bahnschrift Condensed" panose="020B0502040204020203" charset="0"/>
              </a:rPr>
              <a:t>KNOWLEDGE GRAPH + REVIEW QUEUE</a:t>
            </a:r>
            <a:endParaRPr sz="2000" b="1" i="0">
              <a:solidFill>
                <a:srgbClr val="72719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39" name="Rectangle 31"/>
          <p:cNvSpPr/>
          <p:nvPr/>
        </p:nvSpPr>
        <p:spPr>
          <a:xfrm>
            <a:off x="6162040" y="2872740"/>
            <a:ext cx="1325880" cy="420624"/>
          </a:xfrm>
          <a:prstGeom prst="rect">
            <a:avLst/>
          </a:prstGeom>
          <a:solidFill>
            <a:srgbClr val="E4E8F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40" name="TextBox 32"/>
          <p:cNvSpPr txBox="1"/>
          <p:nvPr/>
        </p:nvSpPr>
        <p:spPr>
          <a:xfrm>
            <a:off x="6207760" y="3000756"/>
            <a:ext cx="123444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2719F"/>
                </a:solidFill>
                <a:latin typeface="Bahnschrift Condensed" panose="020B0502040204020203" charset="0"/>
              </a:rPr>
              <a:t>当前知识点</a:t>
            </a:r>
            <a:endParaRPr sz="1600" b="1" i="0">
              <a:solidFill>
                <a:srgbClr val="72719F"/>
              </a:solidFill>
              <a:latin typeface="Bahnschrift Condensed" panose="020B0502040204020203" charset="0"/>
            </a:endParaRPr>
          </a:p>
        </p:txBody>
      </p:sp>
      <p:sp>
        <p:nvSpPr>
          <p:cNvPr id="41" name="Rectangle 33"/>
          <p:cNvSpPr/>
          <p:nvPr/>
        </p:nvSpPr>
        <p:spPr>
          <a:xfrm>
            <a:off x="7899400" y="3576828"/>
            <a:ext cx="1325880" cy="420624"/>
          </a:xfrm>
          <a:prstGeom prst="rect">
            <a:avLst/>
          </a:prstGeom>
          <a:solidFill>
            <a:srgbClr val="72719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42" name="TextBox 34"/>
          <p:cNvSpPr txBox="1"/>
          <p:nvPr/>
        </p:nvSpPr>
        <p:spPr>
          <a:xfrm>
            <a:off x="7945120" y="3704844"/>
            <a:ext cx="123444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bg1"/>
                </a:solidFill>
                <a:latin typeface="Bahnschrift Condensed" panose="020B0502040204020203" charset="0"/>
              </a:rPr>
              <a:t>薄弱前置</a:t>
            </a:r>
            <a:endParaRPr sz="1600" b="1" i="0">
              <a:solidFill>
                <a:schemeClr val="bg1"/>
              </a:solidFill>
              <a:latin typeface="Bahnschrift Condensed" panose="020B0502040204020203" charset="0"/>
            </a:endParaRPr>
          </a:p>
        </p:txBody>
      </p:sp>
      <p:sp>
        <p:nvSpPr>
          <p:cNvPr id="43" name="Rectangle 35"/>
          <p:cNvSpPr/>
          <p:nvPr/>
        </p:nvSpPr>
        <p:spPr>
          <a:xfrm>
            <a:off x="7899400" y="2369820"/>
            <a:ext cx="1325880" cy="420624"/>
          </a:xfrm>
          <a:prstGeom prst="rect">
            <a:avLst/>
          </a:prstGeom>
          <a:solidFill>
            <a:srgbClr val="72719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rgbClr val="72719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44" name="TextBox 36"/>
          <p:cNvSpPr txBox="1"/>
          <p:nvPr/>
        </p:nvSpPr>
        <p:spPr>
          <a:xfrm>
            <a:off x="7945120" y="2497836"/>
            <a:ext cx="123444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bg1"/>
                </a:solidFill>
                <a:latin typeface="Bahnschrift Condensed" panose="020B0502040204020203" charset="0"/>
              </a:rPr>
              <a:t>稳定前置</a:t>
            </a:r>
            <a:endParaRPr sz="1600" b="1" i="0">
              <a:solidFill>
                <a:schemeClr val="bg1"/>
              </a:solidFill>
              <a:latin typeface="Bahnschrift Condensed" panose="020B0502040204020203" charset="0"/>
            </a:endParaRPr>
          </a:p>
        </p:txBody>
      </p:sp>
      <p:sp>
        <p:nvSpPr>
          <p:cNvPr id="45" name="Rectangle 37"/>
          <p:cNvSpPr/>
          <p:nvPr/>
        </p:nvSpPr>
        <p:spPr>
          <a:xfrm>
            <a:off x="9636760" y="2973324"/>
            <a:ext cx="1325880" cy="420624"/>
          </a:xfrm>
          <a:prstGeom prst="rect">
            <a:avLst/>
          </a:prstGeom>
          <a:solidFill>
            <a:srgbClr val="E4E8F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46" name="TextBox 38"/>
          <p:cNvSpPr txBox="1"/>
          <p:nvPr/>
        </p:nvSpPr>
        <p:spPr>
          <a:xfrm>
            <a:off x="9682480" y="3101340"/>
            <a:ext cx="1234440" cy="2578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2719F"/>
                </a:solidFill>
                <a:latin typeface="Bahnschrift Condensed" panose="020B0502040204020203" charset="0"/>
              </a:rPr>
              <a:t>待复习</a:t>
            </a:r>
            <a:endParaRPr sz="1600" b="1" i="0">
              <a:solidFill>
                <a:srgbClr val="72719F"/>
              </a:solidFill>
              <a:latin typeface="Bahnschrift Condensed" panose="020B0502040204020203" charset="0"/>
            </a:endParaRPr>
          </a:p>
        </p:txBody>
      </p:sp>
      <p:cxnSp>
        <p:nvCxnSpPr>
          <p:cNvPr id="47" name="Connector 39"/>
          <p:cNvCxnSpPr/>
          <p:nvPr/>
        </p:nvCxnSpPr>
        <p:spPr>
          <a:xfrm flipV="1">
            <a:off x="7487920" y="2598420"/>
            <a:ext cx="365760" cy="484632"/>
          </a:xfrm>
          <a:prstGeom prst="line">
            <a:avLst/>
          </a:prstGeom>
          <a:ln w="13970">
            <a:solidFill>
              <a:srgbClr val="B9B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0"/>
          <p:cNvCxnSpPr/>
          <p:nvPr/>
        </p:nvCxnSpPr>
        <p:spPr>
          <a:xfrm>
            <a:off x="7487920" y="3083052"/>
            <a:ext cx="365760" cy="658368"/>
          </a:xfrm>
          <a:prstGeom prst="line">
            <a:avLst/>
          </a:prstGeom>
          <a:ln w="13970">
            <a:solidFill>
              <a:srgbClr val="B9B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1"/>
          <p:cNvCxnSpPr/>
          <p:nvPr/>
        </p:nvCxnSpPr>
        <p:spPr>
          <a:xfrm>
            <a:off x="9225280" y="2598420"/>
            <a:ext cx="365760" cy="548640"/>
          </a:xfrm>
          <a:prstGeom prst="line">
            <a:avLst/>
          </a:prstGeom>
          <a:ln w="13970">
            <a:solidFill>
              <a:srgbClr val="B9B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2"/>
          <p:cNvCxnSpPr/>
          <p:nvPr/>
        </p:nvCxnSpPr>
        <p:spPr>
          <a:xfrm flipV="1">
            <a:off x="9225280" y="3147060"/>
            <a:ext cx="365760" cy="594360"/>
          </a:xfrm>
          <a:prstGeom prst="line">
            <a:avLst/>
          </a:prstGeom>
          <a:ln w="13970">
            <a:solidFill>
              <a:srgbClr val="B9B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43"/>
          <p:cNvSpPr txBox="1"/>
          <p:nvPr/>
        </p:nvSpPr>
        <p:spPr>
          <a:xfrm>
            <a:off x="6134735" y="4469765"/>
            <a:ext cx="5357495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25F"/>
                </a:solidFill>
                <a:latin typeface="Bahnschrift Condensed" panose="020B0502040204020203" charset="0"/>
              </a:rPr>
              <a:t>保持度低于阈值时进入复习队列；稳定性时间尺度帮助估计复习时机</a:t>
            </a:r>
            <a:endParaRPr sz="1400" b="0" i="0">
              <a:solidFill>
                <a:srgbClr val="5B625F"/>
              </a:solidFill>
              <a:latin typeface="Bahnschrift Condensed" panose="020B0502040204020203" charset="0"/>
            </a:endParaRPr>
          </a:p>
        </p:txBody>
      </p:sp>
      <p:sp>
        <p:nvSpPr>
          <p:cNvPr id="52" name="Rectangle 44"/>
          <p:cNvSpPr/>
          <p:nvPr/>
        </p:nvSpPr>
        <p:spPr>
          <a:xfrm>
            <a:off x="6134862" y="5064125"/>
            <a:ext cx="1280160" cy="256032"/>
          </a:xfrm>
          <a:prstGeom prst="rect">
            <a:avLst/>
          </a:prstGeom>
          <a:solidFill>
            <a:srgbClr val="E4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53" name="TextBox 45"/>
          <p:cNvSpPr txBox="1"/>
          <p:nvPr/>
        </p:nvSpPr>
        <p:spPr>
          <a:xfrm>
            <a:off x="6208014" y="5096129"/>
            <a:ext cx="1133856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2719F"/>
                </a:solidFill>
                <a:latin typeface="Bahnschrift Condensed" panose="020B0502040204020203" charset="0"/>
                <a:cs typeface="Bahnschrift Condensed" panose="020B0502040204020203" charset="0"/>
              </a:rPr>
              <a:t>16 COURSES</a:t>
            </a:r>
            <a:endParaRPr sz="1600" b="1" i="0">
              <a:solidFill>
                <a:srgbClr val="72719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54" name="Rectangle 46"/>
          <p:cNvSpPr/>
          <p:nvPr/>
        </p:nvSpPr>
        <p:spPr>
          <a:xfrm>
            <a:off x="7543038" y="5064125"/>
            <a:ext cx="1600200" cy="256032"/>
          </a:xfrm>
          <a:prstGeom prst="rect">
            <a:avLst/>
          </a:prstGeom>
          <a:solidFill>
            <a:srgbClr val="E4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55" name="TextBox 47"/>
          <p:cNvSpPr txBox="1"/>
          <p:nvPr/>
        </p:nvSpPr>
        <p:spPr>
          <a:xfrm>
            <a:off x="7616190" y="5096129"/>
            <a:ext cx="1453896" cy="774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2719F"/>
                </a:solidFill>
                <a:latin typeface="Bahnschrift Condensed" panose="020B0502040204020203" charset="0"/>
                <a:cs typeface="Bahnschrift Condensed" panose="020B0502040204020203" charset="0"/>
              </a:rPr>
              <a:t>215 KNOWLEDGE POINTS</a:t>
            </a:r>
            <a:endParaRPr sz="1600" b="1" i="0">
              <a:solidFill>
                <a:srgbClr val="72719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74" name="Rectangle 48"/>
          <p:cNvSpPr/>
          <p:nvPr/>
        </p:nvSpPr>
        <p:spPr>
          <a:xfrm>
            <a:off x="9280398" y="5064125"/>
            <a:ext cx="1508760" cy="256032"/>
          </a:xfrm>
          <a:prstGeom prst="rect">
            <a:avLst/>
          </a:prstGeom>
          <a:solidFill>
            <a:srgbClr val="E4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75" name="TextBox 49"/>
          <p:cNvSpPr txBox="1"/>
          <p:nvPr/>
        </p:nvSpPr>
        <p:spPr>
          <a:xfrm>
            <a:off x="9353550" y="5096129"/>
            <a:ext cx="1362456" cy="774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2719F"/>
                </a:solidFill>
                <a:latin typeface="Bahnschrift Condensed" panose="020B0502040204020203" charset="0"/>
                <a:cs typeface="Bahnschrift Condensed" panose="020B0502040204020203" charset="0"/>
              </a:rPr>
              <a:t>186 PREREQUISITES</a:t>
            </a:r>
            <a:endParaRPr sz="1600" b="1" i="0">
              <a:solidFill>
                <a:srgbClr val="72719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11981815" y="4311015"/>
            <a:ext cx="4064000" cy="914400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</a:bodyPr>
          <a:p>
            <a:pPr indent="0" algn="ctr" fontAlgn="auto">
              <a:lnSpc>
                <a:spcPct val="150000"/>
              </a:lnSpc>
            </a:pPr>
            <a:endParaRPr lang="zh-CN" altLang="en-US"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1" animBg="1"/>
      <p:bldP spid="12" grpId="0"/>
      <p:bldP spid="13" grpId="0"/>
      <p:bldP spid="14" grpId="0"/>
      <p:bldP spid="16" grpId="0"/>
      <p:bldP spid="17" grpId="0"/>
      <p:bldP spid="18" grpId="0"/>
      <p:bldP spid="19" grpId="0"/>
      <p:bldP spid="2" grpId="0"/>
      <p:bldP spid="10" grpId="0"/>
      <p:bldP spid="23" grpId="0"/>
      <p:bldP spid="27" grpId="0"/>
      <p:bldP spid="31" grpId="0"/>
      <p:bldP spid="32" grpId="0"/>
      <p:bldP spid="35" grpId="0"/>
      <p:bldP spid="36" grpId="0"/>
      <p:bldP spid="38" grpId="0"/>
      <p:bldP spid="39" grpId="0" animBg="1"/>
      <p:bldP spid="40" grpId="0"/>
      <p:bldP spid="41" grpId="0" animBg="1"/>
      <p:bldP spid="42" grpId="0"/>
      <p:bldP spid="43" grpId="0" animBg="1"/>
      <p:bldP spid="44" grpId="0"/>
      <p:bldP spid="45" grpId="0" animBg="1"/>
      <p:bldP spid="46" grpId="0"/>
      <p:bldP spid="51" grpId="0"/>
      <p:bldP spid="52" grpId="0" animBg="1"/>
      <p:bldP spid="53" grpId="0"/>
      <p:bldP spid="54" grpId="0" animBg="1"/>
      <p:bldP spid="55" grpId="0"/>
      <p:bldP spid="74" grpId="0" animBg="1"/>
      <p:bldP spid="7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2810" y="240030"/>
            <a:ext cx="612140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23 / STUDENT EXPERIENCE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学生端：从知识地图走到下一步行动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9600" y="2155190"/>
            <a:ext cx="2578100" cy="291211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967470" y="2155190"/>
            <a:ext cx="2578100" cy="291211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2810" y="1236345"/>
            <a:ext cx="7793355" cy="460375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方正楷体_GB2312" panose="02000000000000000000" charset="-122"/>
                <a:ea typeface="方正楷体_GB2312" panose="02000000000000000000" charset="-122"/>
                <a:sym typeface="+mn-ea"/>
              </a:rPr>
              <a:t>课程结构、个人状态、前置依赖和学习计划叠加在一起，学生看到的不只是聊天记录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方正楷体_GB2312" panose="02000000000000000000" charset="-122"/>
              <a:ea typeface="方正楷体_GB2312" panose="02000000000000000000" charset="-122"/>
              <a:sym typeface="+mn-ea"/>
            </a:endParaRPr>
          </a:p>
        </p:txBody>
      </p:sp>
      <p:sp>
        <p:nvSpPr>
          <p:cNvPr id="2" name="Rectangle 49"/>
          <p:cNvSpPr/>
          <p:nvPr>
            <p:custDataLst>
              <p:tags r:id="rId1"/>
            </p:custDataLst>
          </p:nvPr>
        </p:nvSpPr>
        <p:spPr>
          <a:xfrm>
            <a:off x="607060" y="1867535"/>
            <a:ext cx="5366385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B9B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8" name="TextBox 50"/>
          <p:cNvSpPr txBox="1"/>
          <p:nvPr>
            <p:custDataLst>
              <p:tags r:id="rId2"/>
            </p:custDataLst>
          </p:nvPr>
        </p:nvSpPr>
        <p:spPr>
          <a:xfrm>
            <a:off x="771779" y="1995551"/>
            <a:ext cx="5020055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A6893"/>
                </a:solidFill>
                <a:latin typeface="Bahnschrift Condensed" panose="020B0502040204020203" charset="0"/>
                <a:cs typeface="Bahnschrift Condensed" panose="020B0502040204020203" charset="0"/>
              </a:rPr>
              <a:t>MAP</a:t>
            </a:r>
            <a:endParaRPr sz="1600" b="1" i="0">
              <a:solidFill>
                <a:srgbClr val="6A6893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10" name="TextBox 51"/>
          <p:cNvSpPr txBox="1"/>
          <p:nvPr>
            <p:custDataLst>
              <p:tags r:id="rId3"/>
            </p:custDataLst>
          </p:nvPr>
        </p:nvSpPr>
        <p:spPr>
          <a:xfrm>
            <a:off x="771779" y="2251583"/>
            <a:ext cx="5020055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Condensed" panose="020B0502040204020203" charset="0"/>
              </a:rPr>
              <a:t>状态可见</a:t>
            </a:r>
            <a:endParaRPr sz="16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15" name="TextBox 52"/>
          <p:cNvSpPr txBox="1"/>
          <p:nvPr>
            <p:custDataLst>
              <p:tags r:id="rId4"/>
            </p:custDataLst>
          </p:nvPr>
        </p:nvSpPr>
        <p:spPr>
          <a:xfrm>
            <a:off x="771779" y="2617343"/>
            <a:ext cx="5020055" cy="51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</a:rPr>
              <a:t>按未评估、需加强、学习中、较好、稳定掌握筛选知识点；节点点击可查看详情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</a:endParaRPr>
          </a:p>
        </p:txBody>
      </p:sp>
      <p:sp>
        <p:nvSpPr>
          <p:cNvPr id="16" name="Rectangle 53"/>
          <p:cNvSpPr/>
          <p:nvPr>
            <p:custDataLst>
              <p:tags r:id="rId5"/>
            </p:custDataLst>
          </p:nvPr>
        </p:nvSpPr>
        <p:spPr>
          <a:xfrm>
            <a:off x="6184900" y="1867535"/>
            <a:ext cx="5267325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B9B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23" name="TextBox 54"/>
          <p:cNvSpPr txBox="1"/>
          <p:nvPr>
            <p:custDataLst>
              <p:tags r:id="rId6"/>
            </p:custDataLst>
          </p:nvPr>
        </p:nvSpPr>
        <p:spPr>
          <a:xfrm>
            <a:off x="6349618" y="1995551"/>
            <a:ext cx="5020055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A6893"/>
                </a:solidFill>
                <a:latin typeface="Bahnschrift Condensed" panose="020B0502040204020203" charset="0"/>
                <a:cs typeface="Bahnschrift Condensed" panose="020B0502040204020203" charset="0"/>
              </a:rPr>
              <a:t>EVIDENCE</a:t>
            </a:r>
            <a:endParaRPr sz="1600" b="1" i="0">
              <a:solidFill>
                <a:srgbClr val="6A6893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29" name="TextBox 55"/>
          <p:cNvSpPr txBox="1"/>
          <p:nvPr>
            <p:custDataLst>
              <p:tags r:id="rId7"/>
            </p:custDataLst>
          </p:nvPr>
        </p:nvSpPr>
        <p:spPr>
          <a:xfrm>
            <a:off x="6349618" y="2251583"/>
            <a:ext cx="5020055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Condensed" panose="020B0502040204020203" charset="0"/>
              </a:rPr>
              <a:t>证据可查</a:t>
            </a:r>
            <a:endParaRPr sz="16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31" name="TextBox 56"/>
          <p:cNvSpPr txBox="1"/>
          <p:nvPr>
            <p:custDataLst>
              <p:tags r:id="rId8"/>
            </p:custDataLst>
          </p:nvPr>
        </p:nvSpPr>
        <p:spPr>
          <a:xfrm>
            <a:off x="6349618" y="2617343"/>
            <a:ext cx="5020055" cy="51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</a:rPr>
              <a:t>查看掌握水平、保持状态、可信度、练习次数、正确率、提示依赖和独立完成率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</a:endParaRPr>
          </a:p>
        </p:txBody>
      </p:sp>
      <p:sp>
        <p:nvSpPr>
          <p:cNvPr id="32" name="Rectangle 57"/>
          <p:cNvSpPr/>
          <p:nvPr>
            <p:custDataLst>
              <p:tags r:id="rId9"/>
            </p:custDataLst>
          </p:nvPr>
        </p:nvSpPr>
        <p:spPr>
          <a:xfrm>
            <a:off x="621665" y="3566160"/>
            <a:ext cx="5352415" cy="1476375"/>
          </a:xfrm>
          <a:prstGeom prst="rect">
            <a:avLst/>
          </a:prstGeom>
          <a:solidFill>
            <a:srgbClr val="FFFFFF"/>
          </a:solidFill>
          <a:ln w="9525">
            <a:solidFill>
              <a:srgbClr val="B9B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39" name="TextBox 58"/>
          <p:cNvSpPr txBox="1"/>
          <p:nvPr>
            <p:custDataLst>
              <p:tags r:id="rId10"/>
            </p:custDataLst>
          </p:nvPr>
        </p:nvSpPr>
        <p:spPr>
          <a:xfrm>
            <a:off x="786384" y="3694176"/>
            <a:ext cx="5020055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A6893"/>
                </a:solidFill>
                <a:latin typeface="Bahnschrift Condensed" panose="020B0502040204020203" charset="0"/>
                <a:cs typeface="Bahnschrift Condensed" panose="020B0502040204020203" charset="0"/>
              </a:rPr>
              <a:t>PREREQ</a:t>
            </a:r>
            <a:endParaRPr sz="1600" b="1" i="0">
              <a:solidFill>
                <a:srgbClr val="6A6893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40" name="TextBox 59"/>
          <p:cNvSpPr txBox="1"/>
          <p:nvPr>
            <p:custDataLst>
              <p:tags r:id="rId11"/>
            </p:custDataLst>
          </p:nvPr>
        </p:nvSpPr>
        <p:spPr>
          <a:xfrm>
            <a:off x="786384" y="3950208"/>
            <a:ext cx="5020055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Condensed" panose="020B0502040204020203" charset="0"/>
              </a:rPr>
              <a:t>前置可追</a:t>
            </a:r>
            <a:endParaRPr sz="16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41" name="TextBox 60"/>
          <p:cNvSpPr txBox="1"/>
          <p:nvPr>
            <p:custDataLst>
              <p:tags r:id="rId12"/>
            </p:custDataLst>
          </p:nvPr>
        </p:nvSpPr>
        <p:spPr>
          <a:xfrm>
            <a:off x="786384" y="4315968"/>
            <a:ext cx="5020055" cy="51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从当前知识点回溯薄弱前置，沿课程图谱解释“为什么卡住”，而不是只重复出题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42" name="Rectangle 61"/>
          <p:cNvSpPr/>
          <p:nvPr>
            <p:custDataLst>
              <p:tags r:id="rId13"/>
            </p:custDataLst>
          </p:nvPr>
        </p:nvSpPr>
        <p:spPr>
          <a:xfrm>
            <a:off x="6199505" y="3566160"/>
            <a:ext cx="5253355" cy="1471295"/>
          </a:xfrm>
          <a:prstGeom prst="rect">
            <a:avLst/>
          </a:prstGeom>
          <a:solidFill>
            <a:srgbClr val="FFFFFF"/>
          </a:solidFill>
          <a:ln w="9525">
            <a:solidFill>
              <a:srgbClr val="B9B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43" name="TextBox 62"/>
          <p:cNvSpPr txBox="1"/>
          <p:nvPr>
            <p:custDataLst>
              <p:tags r:id="rId14"/>
            </p:custDataLst>
          </p:nvPr>
        </p:nvSpPr>
        <p:spPr>
          <a:xfrm>
            <a:off x="6364223" y="3694176"/>
            <a:ext cx="5020055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A6893"/>
                </a:solidFill>
                <a:latin typeface="Bahnschrift Condensed" panose="020B0502040204020203" charset="0"/>
                <a:cs typeface="Bahnschrift Condensed" panose="020B0502040204020203" charset="0"/>
              </a:rPr>
              <a:t>ACTION</a:t>
            </a:r>
            <a:endParaRPr sz="1600" b="1" i="0">
              <a:solidFill>
                <a:srgbClr val="6A6893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44" name="TextBox 63"/>
          <p:cNvSpPr txBox="1"/>
          <p:nvPr>
            <p:custDataLst>
              <p:tags r:id="rId15"/>
            </p:custDataLst>
          </p:nvPr>
        </p:nvSpPr>
        <p:spPr>
          <a:xfrm>
            <a:off x="6364223" y="3950208"/>
            <a:ext cx="5020055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Condensed" panose="020B0502040204020203" charset="0"/>
              </a:rPr>
              <a:t>行动可达</a:t>
            </a:r>
            <a:endParaRPr sz="16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45" name="TextBox 64"/>
          <p:cNvSpPr txBox="1"/>
          <p:nvPr>
            <p:custDataLst>
              <p:tags r:id="rId16"/>
            </p:custDataLst>
          </p:nvPr>
        </p:nvSpPr>
        <p:spPr>
          <a:xfrm>
            <a:off x="6364223" y="4315968"/>
            <a:ext cx="5020055" cy="51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从节点详情直接进入针对性讲解 / 练习；课程、课表、目标、待办和截止时间形成安排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46" name="Rectangle 65"/>
          <p:cNvSpPr/>
          <p:nvPr/>
        </p:nvSpPr>
        <p:spPr>
          <a:xfrm>
            <a:off x="621792" y="5459095"/>
            <a:ext cx="10927080" cy="594360"/>
          </a:xfrm>
          <a:prstGeom prst="rect">
            <a:avLst/>
          </a:prstGeom>
          <a:solidFill>
            <a:srgbClr val="7E7CA2"/>
          </a:solidFill>
          <a:ln w="10160">
            <a:solidFill>
              <a:srgbClr val="002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66"/>
          <p:cNvSpPr txBox="1"/>
          <p:nvPr/>
        </p:nvSpPr>
        <p:spPr>
          <a:xfrm>
            <a:off x="868680" y="5641975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4E8FF"/>
                </a:solidFill>
                <a:latin typeface="JetBrains Mono" panose="02010600030101010101" charset="-122"/>
              </a:rPr>
              <a:t>课程 → 课表</a:t>
            </a:r>
            <a:endParaRPr sz="1000" b="1" i="0">
              <a:solidFill>
                <a:srgbClr val="E4E8FF"/>
              </a:solidFill>
              <a:latin typeface="JetBrains Mono" panose="02010600030101010101" charset="-122"/>
            </a:endParaRPr>
          </a:p>
        </p:txBody>
      </p:sp>
      <p:sp>
        <p:nvSpPr>
          <p:cNvPr id="48" name="TextBox 67"/>
          <p:cNvSpPr txBox="1"/>
          <p:nvPr/>
        </p:nvSpPr>
        <p:spPr>
          <a:xfrm>
            <a:off x="2286000" y="5614543"/>
            <a:ext cx="39776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</a:rPr>
              <a:t>课程知识图谱绑定学习空间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9" name="TextBox 68"/>
          <p:cNvSpPr txBox="1"/>
          <p:nvPr/>
        </p:nvSpPr>
        <p:spPr>
          <a:xfrm>
            <a:off x="6400800" y="5641975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4E8FF"/>
                </a:solidFill>
                <a:latin typeface="JetBrains Mono" panose="02010600030101010101" charset="-122"/>
              </a:rPr>
              <a:t>目标 / 待办</a:t>
            </a:r>
            <a:endParaRPr sz="1000" b="1" i="0">
              <a:solidFill>
                <a:srgbClr val="E4E8FF"/>
              </a:solidFill>
              <a:latin typeface="JetBrains Mono" panose="02010600030101010101" charset="-122"/>
            </a:endParaRPr>
          </a:p>
        </p:txBody>
      </p:sp>
      <p:sp>
        <p:nvSpPr>
          <p:cNvPr id="71" name="TextBox 69"/>
          <p:cNvSpPr txBox="1"/>
          <p:nvPr/>
        </p:nvSpPr>
        <p:spPr>
          <a:xfrm>
            <a:off x="8065008" y="5614543"/>
            <a:ext cx="3154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</a:rPr>
              <a:t>把下一步行动沉淀为可跟踪对象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  <p:custDataLst>
      <p:tags r:id="rId17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  <p:bldP spid="11" grpId="0" animBg="1"/>
      <p:bldP spid="35" grpId="0" animBg="1"/>
      <p:bldP spid="2" grpId="0" animBg="1"/>
      <p:bldP spid="8" grpId="0"/>
      <p:bldP spid="10" grpId="0"/>
      <p:bldP spid="15" grpId="0"/>
      <p:bldP spid="16" grpId="0" animBg="1"/>
      <p:bldP spid="23" grpId="0"/>
      <p:bldP spid="29" grpId="0"/>
      <p:bldP spid="31" grpId="0"/>
      <p:bldP spid="32" grpId="0" animBg="1"/>
      <p:bldP spid="39" grpId="0"/>
      <p:bldP spid="40" grpId="0"/>
      <p:bldP spid="41" grpId="0"/>
      <p:bldP spid="42" grpId="0" animBg="1"/>
      <p:bldP spid="43" grpId="0"/>
      <p:bldP spid="44" grpId="0"/>
      <p:bldP spid="4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1200150" y="1764665"/>
            <a:ext cx="2419985" cy="4298950"/>
            <a:chOff x="1890" y="1664"/>
            <a:chExt cx="7934" cy="7888"/>
          </a:xfrm>
        </p:grpSpPr>
        <p:sp>
          <p:nvSpPr>
            <p:cNvPr id="102" name="Freeform 203"/>
            <p:cNvSpPr/>
            <p:nvPr>
              <p:custDataLst>
                <p:tags r:id="rId2"/>
              </p:custDataLst>
            </p:nvPr>
          </p:nvSpPr>
          <p:spPr bwMode="auto">
            <a:xfrm>
              <a:off x="1890" y="2390"/>
              <a:ext cx="5613" cy="1435"/>
            </a:xfrm>
            <a:custGeom>
              <a:avLst/>
              <a:gdLst>
                <a:gd name="T0" fmla="*/ 2072 w 2072"/>
                <a:gd name="T1" fmla="*/ 0 h 562"/>
                <a:gd name="T2" fmla="*/ 0 w 2072"/>
                <a:gd name="T3" fmla="*/ 0 h 562"/>
                <a:gd name="T4" fmla="*/ 0 w 2072"/>
                <a:gd name="T5" fmla="*/ 562 h 562"/>
                <a:gd name="T6" fmla="*/ 1884 w 2072"/>
                <a:gd name="T7" fmla="*/ 562 h 562"/>
                <a:gd name="T8" fmla="*/ 2072 w 2072"/>
                <a:gd name="T9" fmla="*/ 0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2" h="562">
                  <a:moveTo>
                    <a:pt x="2072" y="0"/>
                  </a:moveTo>
                  <a:lnTo>
                    <a:pt x="0" y="0"/>
                  </a:lnTo>
                  <a:lnTo>
                    <a:pt x="0" y="562"/>
                  </a:lnTo>
                  <a:lnTo>
                    <a:pt x="1884" y="562"/>
                  </a:lnTo>
                  <a:lnTo>
                    <a:pt x="2072" y="0"/>
                  </a:lnTo>
                  <a:close/>
                </a:path>
              </a:pathLst>
            </a:custGeom>
            <a:solidFill>
              <a:srgbClr val="72719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90000"/>
            </a:bodyPr>
            <a:lstStyle/>
            <a:p>
              <a:pPr algn="ctr"/>
              <a:r>
                <a:rPr lang="en-US" sz="4400" b="1" dirty="0">
                  <a:solidFill>
                    <a:schemeClr val="bg1"/>
                  </a:solidFill>
                  <a:cs typeface="+mn-ea"/>
                  <a:sym typeface="+mn-lt"/>
                </a:rPr>
                <a:t>1</a:t>
              </a:r>
              <a:endParaRPr lang="en-US" sz="4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00" name="Freeform 208"/>
            <p:cNvSpPr/>
            <p:nvPr>
              <p:custDataLst>
                <p:tags r:id="rId3"/>
              </p:custDataLst>
            </p:nvPr>
          </p:nvSpPr>
          <p:spPr bwMode="auto">
            <a:xfrm>
              <a:off x="7240" y="1664"/>
              <a:ext cx="2584" cy="1435"/>
            </a:xfrm>
            <a:custGeom>
              <a:avLst/>
              <a:gdLst>
                <a:gd name="T0" fmla="*/ 637 w 901"/>
                <a:gd name="T1" fmla="*/ 534 h 534"/>
                <a:gd name="T2" fmla="*/ 828 w 901"/>
                <a:gd name="T3" fmla="*/ 351 h 534"/>
                <a:gd name="T4" fmla="*/ 883 w 901"/>
                <a:gd name="T5" fmla="*/ 298 h 534"/>
                <a:gd name="T6" fmla="*/ 883 w 901"/>
                <a:gd name="T7" fmla="*/ 237 h 534"/>
                <a:gd name="T8" fmla="*/ 828 w 901"/>
                <a:gd name="T9" fmla="*/ 184 h 534"/>
                <a:gd name="T10" fmla="*/ 635 w 901"/>
                <a:gd name="T11" fmla="*/ 0 h 534"/>
                <a:gd name="T12" fmla="*/ 635 w 901"/>
                <a:gd name="T13" fmla="*/ 0 h 534"/>
                <a:gd name="T14" fmla="*/ 635 w 901"/>
                <a:gd name="T15" fmla="*/ 0 h 534"/>
                <a:gd name="T16" fmla="*/ 177 w 901"/>
                <a:gd name="T17" fmla="*/ 0 h 534"/>
                <a:gd name="T18" fmla="*/ 0 w 901"/>
                <a:gd name="T19" fmla="*/ 534 h 534"/>
                <a:gd name="T20" fmla="*/ 635 w 901"/>
                <a:gd name="T21" fmla="*/ 534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1" h="534">
                  <a:moveTo>
                    <a:pt x="637" y="534"/>
                  </a:moveTo>
                  <a:cubicBezTo>
                    <a:pt x="828" y="351"/>
                    <a:pt x="828" y="351"/>
                    <a:pt x="828" y="351"/>
                  </a:cubicBezTo>
                  <a:cubicBezTo>
                    <a:pt x="883" y="298"/>
                    <a:pt x="883" y="298"/>
                    <a:pt x="883" y="298"/>
                  </a:cubicBezTo>
                  <a:cubicBezTo>
                    <a:pt x="901" y="282"/>
                    <a:pt x="901" y="254"/>
                    <a:pt x="883" y="237"/>
                  </a:cubicBezTo>
                  <a:cubicBezTo>
                    <a:pt x="828" y="184"/>
                    <a:pt x="828" y="184"/>
                    <a:pt x="828" y="184"/>
                  </a:cubicBezTo>
                  <a:cubicBezTo>
                    <a:pt x="635" y="0"/>
                    <a:pt x="635" y="0"/>
                    <a:pt x="635" y="0"/>
                  </a:cubicBezTo>
                  <a:cubicBezTo>
                    <a:pt x="635" y="0"/>
                    <a:pt x="635" y="0"/>
                    <a:pt x="635" y="0"/>
                  </a:cubicBezTo>
                  <a:cubicBezTo>
                    <a:pt x="635" y="0"/>
                    <a:pt x="635" y="0"/>
                    <a:pt x="635" y="0"/>
                  </a:cubicBezTo>
                  <a:cubicBezTo>
                    <a:pt x="177" y="0"/>
                    <a:pt x="177" y="0"/>
                    <a:pt x="177" y="0"/>
                  </a:cubicBezTo>
                  <a:cubicBezTo>
                    <a:pt x="0" y="534"/>
                    <a:pt x="0" y="534"/>
                    <a:pt x="0" y="534"/>
                  </a:cubicBezTo>
                  <a:cubicBezTo>
                    <a:pt x="635" y="534"/>
                    <a:pt x="635" y="534"/>
                    <a:pt x="635" y="534"/>
                  </a:cubicBezTo>
                </a:path>
              </a:pathLst>
            </a:custGeom>
            <a:solidFill>
              <a:srgbClr val="8C8BB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70000"/>
            </a:bodyPr>
            <a:lstStyle/>
            <a:p>
              <a:endParaRPr lang="en-US" sz="5400">
                <a:cs typeface="+mn-ea"/>
                <a:sym typeface="+mn-lt"/>
              </a:endParaRPr>
            </a:p>
          </p:txBody>
        </p:sp>
        <p:sp>
          <p:nvSpPr>
            <p:cNvPr id="94" name="Freeform 202"/>
            <p:cNvSpPr/>
            <p:nvPr>
              <p:custDataLst>
                <p:tags r:id="rId4"/>
              </p:custDataLst>
            </p:nvPr>
          </p:nvSpPr>
          <p:spPr bwMode="auto">
            <a:xfrm>
              <a:off x="1890" y="3825"/>
              <a:ext cx="5103" cy="1430"/>
            </a:xfrm>
            <a:custGeom>
              <a:avLst/>
              <a:gdLst>
                <a:gd name="T0" fmla="*/ 1884 w 1884"/>
                <a:gd name="T1" fmla="*/ 0 h 560"/>
                <a:gd name="T2" fmla="*/ 0 w 1884"/>
                <a:gd name="T3" fmla="*/ 0 h 560"/>
                <a:gd name="T4" fmla="*/ 0 w 1884"/>
                <a:gd name="T5" fmla="*/ 560 h 560"/>
                <a:gd name="T6" fmla="*/ 1695 w 1884"/>
                <a:gd name="T7" fmla="*/ 560 h 560"/>
                <a:gd name="T8" fmla="*/ 1884 w 1884"/>
                <a:gd name="T9" fmla="*/ 0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84" h="560">
                  <a:moveTo>
                    <a:pt x="1884" y="0"/>
                  </a:moveTo>
                  <a:lnTo>
                    <a:pt x="0" y="0"/>
                  </a:lnTo>
                  <a:lnTo>
                    <a:pt x="0" y="560"/>
                  </a:lnTo>
                  <a:lnTo>
                    <a:pt x="1695" y="560"/>
                  </a:lnTo>
                  <a:lnTo>
                    <a:pt x="1884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90000"/>
            </a:bodyPr>
            <a:lstStyle/>
            <a:p>
              <a:pPr algn="ctr"/>
              <a:r>
                <a:rPr lang="en-US" sz="4400" b="1" dirty="0">
                  <a:solidFill>
                    <a:srgbClr val="474479"/>
                  </a:solidFill>
                  <a:cs typeface="+mn-ea"/>
                  <a:sym typeface="+mn-lt"/>
                </a:rPr>
                <a:t>2</a:t>
              </a:r>
              <a:endParaRPr lang="en-US" sz="4400" b="1" dirty="0">
                <a:solidFill>
                  <a:srgbClr val="474479"/>
                </a:solidFill>
                <a:cs typeface="+mn-ea"/>
                <a:sym typeface="+mn-lt"/>
              </a:endParaRPr>
            </a:p>
          </p:txBody>
        </p:sp>
        <p:sp>
          <p:nvSpPr>
            <p:cNvPr id="92" name="Freeform 207"/>
            <p:cNvSpPr/>
            <p:nvPr>
              <p:custDataLst>
                <p:tags r:id="rId5"/>
              </p:custDataLst>
            </p:nvPr>
          </p:nvSpPr>
          <p:spPr bwMode="auto">
            <a:xfrm>
              <a:off x="6728" y="3100"/>
              <a:ext cx="2587" cy="1430"/>
            </a:xfrm>
            <a:custGeom>
              <a:avLst/>
              <a:gdLst>
                <a:gd name="T0" fmla="*/ 637 w 901"/>
                <a:gd name="T1" fmla="*/ 533 h 533"/>
                <a:gd name="T2" fmla="*/ 828 w 901"/>
                <a:gd name="T3" fmla="*/ 351 h 533"/>
                <a:gd name="T4" fmla="*/ 883 w 901"/>
                <a:gd name="T5" fmla="*/ 298 h 533"/>
                <a:gd name="T6" fmla="*/ 883 w 901"/>
                <a:gd name="T7" fmla="*/ 236 h 533"/>
                <a:gd name="T8" fmla="*/ 828 w 901"/>
                <a:gd name="T9" fmla="*/ 183 h 533"/>
                <a:gd name="T10" fmla="*/ 635 w 901"/>
                <a:gd name="T11" fmla="*/ 0 h 533"/>
                <a:gd name="T12" fmla="*/ 635 w 901"/>
                <a:gd name="T13" fmla="*/ 0 h 533"/>
                <a:gd name="T14" fmla="*/ 635 w 901"/>
                <a:gd name="T15" fmla="*/ 0 h 533"/>
                <a:gd name="T16" fmla="*/ 178 w 901"/>
                <a:gd name="T17" fmla="*/ 0 h 533"/>
                <a:gd name="T18" fmla="*/ 0 w 901"/>
                <a:gd name="T19" fmla="*/ 533 h 533"/>
                <a:gd name="T20" fmla="*/ 635 w 901"/>
                <a:gd name="T21" fmla="*/ 533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1" h="533">
                  <a:moveTo>
                    <a:pt x="637" y="533"/>
                  </a:moveTo>
                  <a:cubicBezTo>
                    <a:pt x="828" y="351"/>
                    <a:pt x="828" y="351"/>
                    <a:pt x="828" y="351"/>
                  </a:cubicBezTo>
                  <a:cubicBezTo>
                    <a:pt x="883" y="298"/>
                    <a:pt x="883" y="298"/>
                    <a:pt x="883" y="298"/>
                  </a:cubicBezTo>
                  <a:cubicBezTo>
                    <a:pt x="901" y="281"/>
                    <a:pt x="901" y="253"/>
                    <a:pt x="883" y="236"/>
                  </a:cubicBezTo>
                  <a:cubicBezTo>
                    <a:pt x="828" y="183"/>
                    <a:pt x="828" y="183"/>
                    <a:pt x="828" y="183"/>
                  </a:cubicBezTo>
                  <a:cubicBezTo>
                    <a:pt x="635" y="0"/>
                    <a:pt x="635" y="0"/>
                    <a:pt x="635" y="0"/>
                  </a:cubicBezTo>
                  <a:cubicBezTo>
                    <a:pt x="635" y="0"/>
                    <a:pt x="635" y="0"/>
                    <a:pt x="635" y="0"/>
                  </a:cubicBezTo>
                  <a:cubicBezTo>
                    <a:pt x="635" y="0"/>
                    <a:pt x="635" y="0"/>
                    <a:pt x="635" y="0"/>
                  </a:cubicBezTo>
                  <a:cubicBezTo>
                    <a:pt x="178" y="0"/>
                    <a:pt x="178" y="0"/>
                    <a:pt x="178" y="0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635" y="533"/>
                    <a:pt x="635" y="533"/>
                    <a:pt x="635" y="533"/>
                  </a:cubicBezTo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70000"/>
            </a:bodyPr>
            <a:lstStyle/>
            <a:p>
              <a:endParaRPr lang="en-US" sz="5400">
                <a:cs typeface="+mn-ea"/>
                <a:sym typeface="+mn-lt"/>
              </a:endParaRPr>
            </a:p>
          </p:txBody>
        </p:sp>
        <p:sp>
          <p:nvSpPr>
            <p:cNvPr id="86" name="Freeform 201"/>
            <p:cNvSpPr/>
            <p:nvPr>
              <p:custDataLst>
                <p:tags r:id="rId6"/>
              </p:custDataLst>
            </p:nvPr>
          </p:nvSpPr>
          <p:spPr bwMode="auto">
            <a:xfrm>
              <a:off x="1890" y="5255"/>
              <a:ext cx="4591" cy="1433"/>
            </a:xfrm>
            <a:custGeom>
              <a:avLst/>
              <a:gdLst>
                <a:gd name="T0" fmla="*/ 1695 w 1695"/>
                <a:gd name="T1" fmla="*/ 0 h 561"/>
                <a:gd name="T2" fmla="*/ 0 w 1695"/>
                <a:gd name="T3" fmla="*/ 0 h 561"/>
                <a:gd name="T4" fmla="*/ 0 w 1695"/>
                <a:gd name="T5" fmla="*/ 561 h 561"/>
                <a:gd name="T6" fmla="*/ 1506 w 1695"/>
                <a:gd name="T7" fmla="*/ 561 h 561"/>
                <a:gd name="T8" fmla="*/ 1695 w 1695"/>
                <a:gd name="T9" fmla="*/ 0 h 5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5" h="561">
                  <a:moveTo>
                    <a:pt x="1695" y="0"/>
                  </a:moveTo>
                  <a:lnTo>
                    <a:pt x="0" y="0"/>
                  </a:lnTo>
                  <a:lnTo>
                    <a:pt x="0" y="561"/>
                  </a:lnTo>
                  <a:lnTo>
                    <a:pt x="1506" y="561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rgbClr val="72719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90000"/>
            </a:bodyPr>
            <a:lstStyle/>
            <a:p>
              <a:pPr algn="ctr"/>
              <a:r>
                <a:rPr lang="en-US" sz="4400" b="1" dirty="0">
                  <a:solidFill>
                    <a:schemeClr val="bg1"/>
                  </a:solidFill>
                  <a:cs typeface="+mn-ea"/>
                  <a:sym typeface="+mn-lt"/>
                </a:rPr>
                <a:t>3</a:t>
              </a:r>
              <a:endParaRPr lang="en-US" sz="4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4" name="Freeform 206"/>
            <p:cNvSpPr/>
            <p:nvPr>
              <p:custDataLst>
                <p:tags r:id="rId7"/>
              </p:custDataLst>
            </p:nvPr>
          </p:nvSpPr>
          <p:spPr bwMode="auto">
            <a:xfrm>
              <a:off x="6219" y="4530"/>
              <a:ext cx="2584" cy="1433"/>
            </a:xfrm>
            <a:custGeom>
              <a:avLst/>
              <a:gdLst>
                <a:gd name="T0" fmla="*/ 637 w 901"/>
                <a:gd name="T1" fmla="*/ 533 h 533"/>
                <a:gd name="T2" fmla="*/ 828 w 901"/>
                <a:gd name="T3" fmla="*/ 351 h 533"/>
                <a:gd name="T4" fmla="*/ 883 w 901"/>
                <a:gd name="T5" fmla="*/ 299 h 533"/>
                <a:gd name="T6" fmla="*/ 883 w 901"/>
                <a:gd name="T7" fmla="*/ 236 h 533"/>
                <a:gd name="T8" fmla="*/ 828 w 901"/>
                <a:gd name="T9" fmla="*/ 184 h 533"/>
                <a:gd name="T10" fmla="*/ 636 w 901"/>
                <a:gd name="T11" fmla="*/ 0 h 533"/>
                <a:gd name="T12" fmla="*/ 636 w 901"/>
                <a:gd name="T13" fmla="*/ 0 h 533"/>
                <a:gd name="T14" fmla="*/ 636 w 901"/>
                <a:gd name="T15" fmla="*/ 0 h 533"/>
                <a:gd name="T16" fmla="*/ 178 w 901"/>
                <a:gd name="T17" fmla="*/ 0 h 533"/>
                <a:gd name="T18" fmla="*/ 0 w 901"/>
                <a:gd name="T19" fmla="*/ 533 h 533"/>
                <a:gd name="T20" fmla="*/ 636 w 901"/>
                <a:gd name="T21" fmla="*/ 533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1" h="533">
                  <a:moveTo>
                    <a:pt x="637" y="533"/>
                  </a:moveTo>
                  <a:cubicBezTo>
                    <a:pt x="828" y="351"/>
                    <a:pt x="828" y="351"/>
                    <a:pt x="828" y="351"/>
                  </a:cubicBezTo>
                  <a:cubicBezTo>
                    <a:pt x="883" y="299"/>
                    <a:pt x="883" y="299"/>
                    <a:pt x="883" y="299"/>
                  </a:cubicBezTo>
                  <a:cubicBezTo>
                    <a:pt x="901" y="282"/>
                    <a:pt x="901" y="253"/>
                    <a:pt x="883" y="236"/>
                  </a:cubicBezTo>
                  <a:cubicBezTo>
                    <a:pt x="828" y="184"/>
                    <a:pt x="828" y="184"/>
                    <a:pt x="828" y="184"/>
                  </a:cubicBezTo>
                  <a:cubicBezTo>
                    <a:pt x="636" y="0"/>
                    <a:pt x="636" y="0"/>
                    <a:pt x="636" y="0"/>
                  </a:cubicBezTo>
                  <a:cubicBezTo>
                    <a:pt x="636" y="0"/>
                    <a:pt x="636" y="0"/>
                    <a:pt x="636" y="0"/>
                  </a:cubicBezTo>
                  <a:cubicBezTo>
                    <a:pt x="636" y="0"/>
                    <a:pt x="636" y="0"/>
                    <a:pt x="636" y="0"/>
                  </a:cubicBezTo>
                  <a:cubicBezTo>
                    <a:pt x="178" y="0"/>
                    <a:pt x="178" y="0"/>
                    <a:pt x="178" y="0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636" y="533"/>
                    <a:pt x="636" y="533"/>
                    <a:pt x="636" y="533"/>
                  </a:cubicBezTo>
                </a:path>
              </a:pathLst>
            </a:custGeom>
            <a:solidFill>
              <a:srgbClr val="8C8BB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70000"/>
            </a:bodyPr>
            <a:lstStyle/>
            <a:p>
              <a:endParaRPr lang="en-US" sz="5400">
                <a:cs typeface="+mn-ea"/>
                <a:sym typeface="+mn-lt"/>
              </a:endParaRPr>
            </a:p>
          </p:txBody>
        </p:sp>
        <p:sp>
          <p:nvSpPr>
            <p:cNvPr id="78" name="Freeform 200"/>
            <p:cNvSpPr/>
            <p:nvPr>
              <p:custDataLst>
                <p:tags r:id="rId8"/>
              </p:custDataLst>
            </p:nvPr>
          </p:nvSpPr>
          <p:spPr bwMode="auto">
            <a:xfrm>
              <a:off x="1890" y="6688"/>
              <a:ext cx="4079" cy="1433"/>
            </a:xfrm>
            <a:custGeom>
              <a:avLst/>
              <a:gdLst>
                <a:gd name="T0" fmla="*/ 1506 w 1506"/>
                <a:gd name="T1" fmla="*/ 0 h 561"/>
                <a:gd name="T2" fmla="*/ 0 w 1506"/>
                <a:gd name="T3" fmla="*/ 0 h 561"/>
                <a:gd name="T4" fmla="*/ 0 w 1506"/>
                <a:gd name="T5" fmla="*/ 561 h 561"/>
                <a:gd name="T6" fmla="*/ 1318 w 1506"/>
                <a:gd name="T7" fmla="*/ 561 h 561"/>
                <a:gd name="T8" fmla="*/ 1506 w 1506"/>
                <a:gd name="T9" fmla="*/ 0 h 5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06" h="561">
                  <a:moveTo>
                    <a:pt x="1506" y="0"/>
                  </a:moveTo>
                  <a:lnTo>
                    <a:pt x="0" y="0"/>
                  </a:lnTo>
                  <a:lnTo>
                    <a:pt x="0" y="561"/>
                  </a:lnTo>
                  <a:lnTo>
                    <a:pt x="1318" y="561"/>
                  </a:lnTo>
                  <a:lnTo>
                    <a:pt x="1506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90000"/>
            </a:bodyPr>
            <a:lstStyle/>
            <a:p>
              <a:pPr algn="ctr"/>
              <a:r>
                <a:rPr lang="en-US" sz="4400" b="1" dirty="0">
                  <a:solidFill>
                    <a:srgbClr val="474479"/>
                  </a:solidFill>
                  <a:cs typeface="+mn-ea"/>
                  <a:sym typeface="+mn-lt"/>
                </a:rPr>
                <a:t>4</a:t>
              </a:r>
              <a:endParaRPr lang="en-US" sz="4400" b="1" dirty="0">
                <a:solidFill>
                  <a:srgbClr val="474479"/>
                </a:solidFill>
                <a:cs typeface="+mn-ea"/>
                <a:sym typeface="+mn-lt"/>
              </a:endParaRPr>
            </a:p>
          </p:txBody>
        </p:sp>
        <p:sp>
          <p:nvSpPr>
            <p:cNvPr id="76" name="Freeform 205"/>
            <p:cNvSpPr/>
            <p:nvPr>
              <p:custDataLst>
                <p:tags r:id="rId9"/>
              </p:custDataLst>
            </p:nvPr>
          </p:nvSpPr>
          <p:spPr bwMode="auto">
            <a:xfrm>
              <a:off x="5707" y="5962"/>
              <a:ext cx="2587" cy="1433"/>
            </a:xfrm>
            <a:custGeom>
              <a:avLst/>
              <a:gdLst>
                <a:gd name="T0" fmla="*/ 637 w 901"/>
                <a:gd name="T1" fmla="*/ 534 h 534"/>
                <a:gd name="T2" fmla="*/ 829 w 901"/>
                <a:gd name="T3" fmla="*/ 351 h 534"/>
                <a:gd name="T4" fmla="*/ 883 w 901"/>
                <a:gd name="T5" fmla="*/ 299 h 534"/>
                <a:gd name="T6" fmla="*/ 883 w 901"/>
                <a:gd name="T7" fmla="*/ 236 h 534"/>
                <a:gd name="T8" fmla="*/ 829 w 901"/>
                <a:gd name="T9" fmla="*/ 184 h 534"/>
                <a:gd name="T10" fmla="*/ 636 w 901"/>
                <a:gd name="T11" fmla="*/ 0 h 534"/>
                <a:gd name="T12" fmla="*/ 636 w 901"/>
                <a:gd name="T13" fmla="*/ 0 h 534"/>
                <a:gd name="T14" fmla="*/ 636 w 901"/>
                <a:gd name="T15" fmla="*/ 0 h 534"/>
                <a:gd name="T16" fmla="*/ 178 w 901"/>
                <a:gd name="T17" fmla="*/ 0 h 534"/>
                <a:gd name="T18" fmla="*/ 0 w 901"/>
                <a:gd name="T19" fmla="*/ 534 h 534"/>
                <a:gd name="T20" fmla="*/ 636 w 901"/>
                <a:gd name="T21" fmla="*/ 534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1" h="534">
                  <a:moveTo>
                    <a:pt x="637" y="534"/>
                  </a:moveTo>
                  <a:cubicBezTo>
                    <a:pt x="829" y="351"/>
                    <a:pt x="829" y="351"/>
                    <a:pt x="829" y="351"/>
                  </a:cubicBezTo>
                  <a:cubicBezTo>
                    <a:pt x="883" y="299"/>
                    <a:pt x="883" y="299"/>
                    <a:pt x="883" y="299"/>
                  </a:cubicBezTo>
                  <a:cubicBezTo>
                    <a:pt x="901" y="282"/>
                    <a:pt x="901" y="253"/>
                    <a:pt x="883" y="236"/>
                  </a:cubicBezTo>
                  <a:cubicBezTo>
                    <a:pt x="829" y="184"/>
                    <a:pt x="829" y="184"/>
                    <a:pt x="829" y="184"/>
                  </a:cubicBezTo>
                  <a:cubicBezTo>
                    <a:pt x="636" y="0"/>
                    <a:pt x="636" y="0"/>
                    <a:pt x="636" y="0"/>
                  </a:cubicBezTo>
                  <a:cubicBezTo>
                    <a:pt x="636" y="0"/>
                    <a:pt x="636" y="0"/>
                    <a:pt x="636" y="0"/>
                  </a:cubicBezTo>
                  <a:cubicBezTo>
                    <a:pt x="636" y="0"/>
                    <a:pt x="636" y="0"/>
                    <a:pt x="636" y="0"/>
                  </a:cubicBezTo>
                  <a:cubicBezTo>
                    <a:pt x="178" y="0"/>
                    <a:pt x="178" y="0"/>
                    <a:pt x="178" y="0"/>
                  </a:cubicBezTo>
                  <a:cubicBezTo>
                    <a:pt x="0" y="534"/>
                    <a:pt x="0" y="534"/>
                    <a:pt x="0" y="534"/>
                  </a:cubicBezTo>
                  <a:cubicBezTo>
                    <a:pt x="636" y="534"/>
                    <a:pt x="636" y="534"/>
                    <a:pt x="636" y="534"/>
                  </a:cubicBezTo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70000"/>
            </a:bodyPr>
            <a:lstStyle/>
            <a:p>
              <a:endParaRPr lang="en-US" sz="5400">
                <a:cs typeface="+mn-ea"/>
                <a:sym typeface="+mn-lt"/>
              </a:endParaRPr>
            </a:p>
          </p:txBody>
        </p:sp>
        <p:sp>
          <p:nvSpPr>
            <p:cNvPr id="70" name="Freeform 198"/>
            <p:cNvSpPr/>
            <p:nvPr>
              <p:custDataLst>
                <p:tags r:id="rId10"/>
              </p:custDataLst>
            </p:nvPr>
          </p:nvSpPr>
          <p:spPr bwMode="auto">
            <a:xfrm>
              <a:off x="1890" y="8120"/>
              <a:ext cx="3570" cy="1433"/>
            </a:xfrm>
            <a:custGeom>
              <a:avLst/>
              <a:gdLst>
                <a:gd name="T0" fmla="*/ 1318 w 1318"/>
                <a:gd name="T1" fmla="*/ 0 h 561"/>
                <a:gd name="T2" fmla="*/ 0 w 1318"/>
                <a:gd name="T3" fmla="*/ 0 h 561"/>
                <a:gd name="T4" fmla="*/ 0 w 1318"/>
                <a:gd name="T5" fmla="*/ 561 h 561"/>
                <a:gd name="T6" fmla="*/ 1130 w 1318"/>
                <a:gd name="T7" fmla="*/ 561 h 561"/>
                <a:gd name="T8" fmla="*/ 1318 w 1318"/>
                <a:gd name="T9" fmla="*/ 0 h 5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8" h="561">
                  <a:moveTo>
                    <a:pt x="1318" y="0"/>
                  </a:moveTo>
                  <a:lnTo>
                    <a:pt x="0" y="0"/>
                  </a:lnTo>
                  <a:lnTo>
                    <a:pt x="0" y="561"/>
                  </a:lnTo>
                  <a:lnTo>
                    <a:pt x="1130" y="561"/>
                  </a:lnTo>
                  <a:lnTo>
                    <a:pt x="1318" y="0"/>
                  </a:lnTo>
                  <a:close/>
                </a:path>
              </a:pathLst>
            </a:custGeom>
            <a:solidFill>
              <a:srgbClr val="72719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90000"/>
            </a:bodyPr>
            <a:lstStyle/>
            <a:p>
              <a:pPr algn="ctr"/>
              <a:r>
                <a:rPr lang="en-US" sz="4400" b="1" dirty="0">
                  <a:solidFill>
                    <a:schemeClr val="bg1"/>
                  </a:solidFill>
                  <a:cs typeface="+mn-ea"/>
                  <a:sym typeface="+mn-lt"/>
                </a:rPr>
                <a:t>5</a:t>
              </a:r>
              <a:endParaRPr lang="en-US" sz="4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8" name="Freeform 204"/>
            <p:cNvSpPr/>
            <p:nvPr>
              <p:custDataLst>
                <p:tags r:id="rId11"/>
              </p:custDataLst>
            </p:nvPr>
          </p:nvSpPr>
          <p:spPr bwMode="auto">
            <a:xfrm>
              <a:off x="5197" y="7393"/>
              <a:ext cx="2587" cy="1435"/>
            </a:xfrm>
            <a:custGeom>
              <a:avLst/>
              <a:gdLst>
                <a:gd name="T0" fmla="*/ 637 w 901"/>
                <a:gd name="T1" fmla="*/ 534 h 534"/>
                <a:gd name="T2" fmla="*/ 828 w 901"/>
                <a:gd name="T3" fmla="*/ 351 h 534"/>
                <a:gd name="T4" fmla="*/ 883 w 901"/>
                <a:gd name="T5" fmla="*/ 299 h 534"/>
                <a:gd name="T6" fmla="*/ 883 w 901"/>
                <a:gd name="T7" fmla="*/ 236 h 534"/>
                <a:gd name="T8" fmla="*/ 828 w 901"/>
                <a:gd name="T9" fmla="*/ 184 h 534"/>
                <a:gd name="T10" fmla="*/ 635 w 901"/>
                <a:gd name="T11" fmla="*/ 0 h 534"/>
                <a:gd name="T12" fmla="*/ 635 w 901"/>
                <a:gd name="T13" fmla="*/ 0 h 534"/>
                <a:gd name="T14" fmla="*/ 635 w 901"/>
                <a:gd name="T15" fmla="*/ 0 h 534"/>
                <a:gd name="T16" fmla="*/ 177 w 901"/>
                <a:gd name="T17" fmla="*/ 0 h 534"/>
                <a:gd name="T18" fmla="*/ 0 w 901"/>
                <a:gd name="T19" fmla="*/ 534 h 534"/>
                <a:gd name="T20" fmla="*/ 635 w 901"/>
                <a:gd name="T21" fmla="*/ 534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1" h="534">
                  <a:moveTo>
                    <a:pt x="637" y="534"/>
                  </a:moveTo>
                  <a:cubicBezTo>
                    <a:pt x="828" y="351"/>
                    <a:pt x="828" y="351"/>
                    <a:pt x="828" y="351"/>
                  </a:cubicBezTo>
                  <a:cubicBezTo>
                    <a:pt x="883" y="299"/>
                    <a:pt x="883" y="299"/>
                    <a:pt x="883" y="299"/>
                  </a:cubicBezTo>
                  <a:cubicBezTo>
                    <a:pt x="901" y="282"/>
                    <a:pt x="901" y="253"/>
                    <a:pt x="883" y="236"/>
                  </a:cubicBezTo>
                  <a:cubicBezTo>
                    <a:pt x="828" y="184"/>
                    <a:pt x="828" y="184"/>
                    <a:pt x="828" y="184"/>
                  </a:cubicBezTo>
                  <a:cubicBezTo>
                    <a:pt x="635" y="0"/>
                    <a:pt x="635" y="0"/>
                    <a:pt x="635" y="0"/>
                  </a:cubicBezTo>
                  <a:cubicBezTo>
                    <a:pt x="635" y="0"/>
                    <a:pt x="635" y="0"/>
                    <a:pt x="635" y="0"/>
                  </a:cubicBezTo>
                  <a:cubicBezTo>
                    <a:pt x="635" y="0"/>
                    <a:pt x="635" y="0"/>
                    <a:pt x="635" y="0"/>
                  </a:cubicBezTo>
                  <a:cubicBezTo>
                    <a:pt x="177" y="0"/>
                    <a:pt x="177" y="0"/>
                    <a:pt x="177" y="0"/>
                  </a:cubicBezTo>
                  <a:cubicBezTo>
                    <a:pt x="0" y="534"/>
                    <a:pt x="0" y="534"/>
                    <a:pt x="0" y="534"/>
                  </a:cubicBezTo>
                  <a:cubicBezTo>
                    <a:pt x="635" y="534"/>
                    <a:pt x="635" y="534"/>
                    <a:pt x="635" y="534"/>
                  </a:cubicBezTo>
                </a:path>
              </a:pathLst>
            </a:custGeom>
            <a:solidFill>
              <a:srgbClr val="8C8BB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70000"/>
            </a:bodyPr>
            <a:lstStyle/>
            <a:p>
              <a:endParaRPr lang="en-US" sz="5400">
                <a:cs typeface="+mn-ea"/>
                <a:sym typeface="+mn-lt"/>
              </a:endParaRPr>
            </a:p>
          </p:txBody>
        </p:sp>
        <p:sp>
          <p:nvSpPr>
            <p:cNvPr id="107" name="任意多边形 106"/>
            <p:cNvSpPr/>
            <p:nvPr>
              <p:custDataLst>
                <p:tags r:id="rId12"/>
              </p:custDataLst>
            </p:nvPr>
          </p:nvSpPr>
          <p:spPr bwMode="auto">
            <a:xfrm>
              <a:off x="7119" y="4929"/>
              <a:ext cx="784" cy="634"/>
            </a:xfrm>
            <a:custGeom>
              <a:avLst/>
              <a:gdLst>
                <a:gd name="connsiteX0" fmla="*/ 355420 w 607568"/>
                <a:gd name="connsiteY0" fmla="*/ 250307 h 491771"/>
                <a:gd name="connsiteX1" fmla="*/ 352312 w 607568"/>
                <a:gd name="connsiteY1" fmla="*/ 251812 h 491771"/>
                <a:gd name="connsiteX2" fmla="*/ 321042 w 607568"/>
                <a:gd name="connsiteY2" fmla="*/ 289814 h 491771"/>
                <a:gd name="connsiteX3" fmla="*/ 321513 w 607568"/>
                <a:gd name="connsiteY3" fmla="*/ 295364 h 491771"/>
                <a:gd name="connsiteX4" fmla="*/ 369736 w 607568"/>
                <a:gd name="connsiteY4" fmla="*/ 338257 h 491771"/>
                <a:gd name="connsiteX5" fmla="*/ 371997 w 607568"/>
                <a:gd name="connsiteY5" fmla="*/ 339104 h 491771"/>
                <a:gd name="connsiteX6" fmla="*/ 373127 w 607568"/>
                <a:gd name="connsiteY6" fmla="*/ 338916 h 491771"/>
                <a:gd name="connsiteX7" fmla="*/ 375293 w 607568"/>
                <a:gd name="connsiteY7" fmla="*/ 336282 h 491771"/>
                <a:gd name="connsiteX8" fmla="*/ 383676 w 607568"/>
                <a:gd name="connsiteY8" fmla="*/ 279467 h 491771"/>
                <a:gd name="connsiteX9" fmla="*/ 376424 w 607568"/>
                <a:gd name="connsiteY9" fmla="*/ 263287 h 491771"/>
                <a:gd name="connsiteX10" fmla="*/ 357681 w 607568"/>
                <a:gd name="connsiteY10" fmla="*/ 250965 h 491771"/>
                <a:gd name="connsiteX11" fmla="*/ 355420 w 607568"/>
                <a:gd name="connsiteY11" fmla="*/ 250307 h 491771"/>
                <a:gd name="connsiteX12" fmla="*/ 258879 w 607568"/>
                <a:gd name="connsiteY12" fmla="*/ 250307 h 491771"/>
                <a:gd name="connsiteX13" fmla="*/ 256712 w 607568"/>
                <a:gd name="connsiteY13" fmla="*/ 250965 h 491771"/>
                <a:gd name="connsiteX14" fmla="*/ 237969 w 607568"/>
                <a:gd name="connsiteY14" fmla="*/ 263287 h 491771"/>
                <a:gd name="connsiteX15" fmla="*/ 230717 w 607568"/>
                <a:gd name="connsiteY15" fmla="*/ 279467 h 491771"/>
                <a:gd name="connsiteX16" fmla="*/ 239100 w 607568"/>
                <a:gd name="connsiteY16" fmla="*/ 336282 h 491771"/>
                <a:gd name="connsiteX17" fmla="*/ 241266 w 607568"/>
                <a:gd name="connsiteY17" fmla="*/ 338916 h 491771"/>
                <a:gd name="connsiteX18" fmla="*/ 242396 w 607568"/>
                <a:gd name="connsiteY18" fmla="*/ 339104 h 491771"/>
                <a:gd name="connsiteX19" fmla="*/ 244657 w 607568"/>
                <a:gd name="connsiteY19" fmla="*/ 338257 h 491771"/>
                <a:gd name="connsiteX20" fmla="*/ 292880 w 607568"/>
                <a:gd name="connsiteY20" fmla="*/ 295364 h 491771"/>
                <a:gd name="connsiteX21" fmla="*/ 293351 w 607568"/>
                <a:gd name="connsiteY21" fmla="*/ 289814 h 491771"/>
                <a:gd name="connsiteX22" fmla="*/ 261987 w 607568"/>
                <a:gd name="connsiteY22" fmla="*/ 251812 h 491771"/>
                <a:gd name="connsiteX23" fmla="*/ 258879 w 607568"/>
                <a:gd name="connsiteY23" fmla="*/ 250307 h 491771"/>
                <a:gd name="connsiteX24" fmla="*/ 500465 w 607568"/>
                <a:gd name="connsiteY24" fmla="*/ 66049 h 491771"/>
                <a:gd name="connsiteX25" fmla="*/ 565743 w 607568"/>
                <a:gd name="connsiteY25" fmla="*/ 130673 h 491771"/>
                <a:gd name="connsiteX26" fmla="*/ 566120 w 607568"/>
                <a:gd name="connsiteY26" fmla="*/ 130673 h 491771"/>
                <a:gd name="connsiteX27" fmla="*/ 580250 w 607568"/>
                <a:gd name="connsiteY27" fmla="*/ 160962 h 491771"/>
                <a:gd name="connsiteX28" fmla="*/ 560939 w 607568"/>
                <a:gd name="connsiteY28" fmla="*/ 182503 h 491771"/>
                <a:gd name="connsiteX29" fmla="*/ 531927 w 607568"/>
                <a:gd name="connsiteY29" fmla="*/ 223799 h 491771"/>
                <a:gd name="connsiteX30" fmla="*/ 528253 w 607568"/>
                <a:gd name="connsiteY30" fmla="*/ 234240 h 491771"/>
                <a:gd name="connsiteX31" fmla="*/ 530797 w 607568"/>
                <a:gd name="connsiteY31" fmla="*/ 246281 h 491771"/>
                <a:gd name="connsiteX32" fmla="*/ 545868 w 607568"/>
                <a:gd name="connsiteY32" fmla="*/ 261143 h 491771"/>
                <a:gd name="connsiteX33" fmla="*/ 558961 w 607568"/>
                <a:gd name="connsiteY33" fmla="*/ 263777 h 491771"/>
                <a:gd name="connsiteX34" fmla="*/ 597299 w 607568"/>
                <a:gd name="connsiteY34" fmla="*/ 301968 h 491771"/>
                <a:gd name="connsiteX35" fmla="*/ 607002 w 607568"/>
                <a:gd name="connsiteY35" fmla="*/ 350788 h 491771"/>
                <a:gd name="connsiteX36" fmla="*/ 601256 w 607568"/>
                <a:gd name="connsiteY36" fmla="*/ 373835 h 491771"/>
                <a:gd name="connsiteX37" fmla="*/ 579685 w 607568"/>
                <a:gd name="connsiteY37" fmla="*/ 384088 h 491771"/>
                <a:gd name="connsiteX38" fmla="*/ 490386 w 607568"/>
                <a:gd name="connsiteY38" fmla="*/ 384088 h 491771"/>
                <a:gd name="connsiteX39" fmla="*/ 467685 w 607568"/>
                <a:gd name="connsiteY39" fmla="*/ 310058 h 491771"/>
                <a:gd name="connsiteX40" fmla="*/ 431702 w 607568"/>
                <a:gd name="connsiteY40" fmla="*/ 267445 h 491771"/>
                <a:gd name="connsiteX41" fmla="*/ 441969 w 607568"/>
                <a:gd name="connsiteY41" fmla="*/ 263777 h 491771"/>
                <a:gd name="connsiteX42" fmla="*/ 455157 w 607568"/>
                <a:gd name="connsiteY42" fmla="*/ 261237 h 491771"/>
                <a:gd name="connsiteX43" fmla="*/ 470228 w 607568"/>
                <a:gd name="connsiteY43" fmla="*/ 246281 h 491771"/>
                <a:gd name="connsiteX44" fmla="*/ 472677 w 607568"/>
                <a:gd name="connsiteY44" fmla="*/ 234240 h 491771"/>
                <a:gd name="connsiteX45" fmla="*/ 469098 w 607568"/>
                <a:gd name="connsiteY45" fmla="*/ 223893 h 491771"/>
                <a:gd name="connsiteX46" fmla="*/ 439991 w 607568"/>
                <a:gd name="connsiteY46" fmla="*/ 182503 h 491771"/>
                <a:gd name="connsiteX47" fmla="*/ 426144 w 607568"/>
                <a:gd name="connsiteY47" fmla="*/ 172720 h 491771"/>
                <a:gd name="connsiteX48" fmla="*/ 441404 w 607568"/>
                <a:gd name="connsiteY48" fmla="*/ 143278 h 491771"/>
                <a:gd name="connsiteX49" fmla="*/ 439708 w 607568"/>
                <a:gd name="connsiteY49" fmla="*/ 107438 h 491771"/>
                <a:gd name="connsiteX50" fmla="*/ 500465 w 607568"/>
                <a:gd name="connsiteY50" fmla="*/ 66049 h 491771"/>
                <a:gd name="connsiteX51" fmla="*/ 107100 w 607568"/>
                <a:gd name="connsiteY51" fmla="*/ 66049 h 491771"/>
                <a:gd name="connsiteX52" fmla="*/ 171341 w 607568"/>
                <a:gd name="connsiteY52" fmla="*/ 123618 h 491771"/>
                <a:gd name="connsiteX53" fmla="*/ 172849 w 607568"/>
                <a:gd name="connsiteY53" fmla="*/ 143278 h 491771"/>
                <a:gd name="connsiteX54" fmla="*/ 184246 w 607568"/>
                <a:gd name="connsiteY54" fmla="*/ 168205 h 491771"/>
                <a:gd name="connsiteX55" fmla="*/ 167574 w 607568"/>
                <a:gd name="connsiteY55" fmla="*/ 182503 h 491771"/>
                <a:gd name="connsiteX56" fmla="*/ 138468 w 607568"/>
                <a:gd name="connsiteY56" fmla="*/ 223799 h 491771"/>
                <a:gd name="connsiteX57" fmla="*/ 134794 w 607568"/>
                <a:gd name="connsiteY57" fmla="*/ 234240 h 491771"/>
                <a:gd name="connsiteX58" fmla="*/ 137337 w 607568"/>
                <a:gd name="connsiteY58" fmla="*/ 246281 h 491771"/>
                <a:gd name="connsiteX59" fmla="*/ 152408 w 607568"/>
                <a:gd name="connsiteY59" fmla="*/ 261143 h 491771"/>
                <a:gd name="connsiteX60" fmla="*/ 165596 w 607568"/>
                <a:gd name="connsiteY60" fmla="*/ 263777 h 491771"/>
                <a:gd name="connsiteX61" fmla="*/ 179442 w 607568"/>
                <a:gd name="connsiteY61" fmla="*/ 268856 h 491771"/>
                <a:gd name="connsiteX62" fmla="*/ 146662 w 607568"/>
                <a:gd name="connsiteY62" fmla="*/ 310058 h 491771"/>
                <a:gd name="connsiteX63" fmla="*/ 123867 w 607568"/>
                <a:gd name="connsiteY63" fmla="*/ 384088 h 491771"/>
                <a:gd name="connsiteX64" fmla="*/ 27883 w 607568"/>
                <a:gd name="connsiteY64" fmla="*/ 384088 h 491771"/>
                <a:gd name="connsiteX65" fmla="*/ 6312 w 607568"/>
                <a:gd name="connsiteY65" fmla="*/ 373835 h 491771"/>
                <a:gd name="connsiteX66" fmla="*/ 566 w 607568"/>
                <a:gd name="connsiteY66" fmla="*/ 350788 h 491771"/>
                <a:gd name="connsiteX67" fmla="*/ 10268 w 607568"/>
                <a:gd name="connsiteY67" fmla="*/ 301968 h 491771"/>
                <a:gd name="connsiteX68" fmla="*/ 48606 w 607568"/>
                <a:gd name="connsiteY68" fmla="*/ 263777 h 491771"/>
                <a:gd name="connsiteX69" fmla="*/ 61699 w 607568"/>
                <a:gd name="connsiteY69" fmla="*/ 261237 h 491771"/>
                <a:gd name="connsiteX70" fmla="*/ 76770 w 607568"/>
                <a:gd name="connsiteY70" fmla="*/ 246281 h 491771"/>
                <a:gd name="connsiteX71" fmla="*/ 79313 w 607568"/>
                <a:gd name="connsiteY71" fmla="*/ 234240 h 491771"/>
                <a:gd name="connsiteX72" fmla="*/ 75639 w 607568"/>
                <a:gd name="connsiteY72" fmla="*/ 223893 h 491771"/>
                <a:gd name="connsiteX73" fmla="*/ 46628 w 607568"/>
                <a:gd name="connsiteY73" fmla="*/ 182503 h 491771"/>
                <a:gd name="connsiteX74" fmla="*/ 27318 w 607568"/>
                <a:gd name="connsiteY74" fmla="*/ 160962 h 491771"/>
                <a:gd name="connsiteX75" fmla="*/ 41447 w 607568"/>
                <a:gd name="connsiteY75" fmla="*/ 130673 h 491771"/>
                <a:gd name="connsiteX76" fmla="*/ 41824 w 607568"/>
                <a:gd name="connsiteY76" fmla="*/ 130673 h 491771"/>
                <a:gd name="connsiteX77" fmla="*/ 107100 w 607568"/>
                <a:gd name="connsiteY77" fmla="*/ 66049 h 491771"/>
                <a:gd name="connsiteX78" fmla="*/ 298626 w 607568"/>
                <a:gd name="connsiteY78" fmla="*/ 0 h 491771"/>
                <a:gd name="connsiteX79" fmla="*/ 315956 w 607568"/>
                <a:gd name="connsiteY79" fmla="*/ 0 h 491771"/>
                <a:gd name="connsiteX80" fmla="*/ 401854 w 607568"/>
                <a:gd name="connsiteY80" fmla="*/ 85787 h 491771"/>
                <a:gd name="connsiteX81" fmla="*/ 401854 w 607568"/>
                <a:gd name="connsiteY81" fmla="*/ 95476 h 491771"/>
                <a:gd name="connsiteX82" fmla="*/ 421633 w 607568"/>
                <a:gd name="connsiteY82" fmla="*/ 138840 h 491771"/>
                <a:gd name="connsiteX83" fmla="*/ 417960 w 607568"/>
                <a:gd name="connsiteY83" fmla="*/ 149281 h 491771"/>
                <a:gd name="connsiteX84" fmla="*/ 417112 w 607568"/>
                <a:gd name="connsiteY84" fmla="*/ 151068 h 491771"/>
                <a:gd name="connsiteX85" fmla="*/ 411273 w 607568"/>
                <a:gd name="connsiteY85" fmla="*/ 159534 h 491771"/>
                <a:gd name="connsiteX86" fmla="*/ 410896 w 607568"/>
                <a:gd name="connsiteY86" fmla="*/ 159910 h 491771"/>
                <a:gd name="connsiteX87" fmla="*/ 394037 w 607568"/>
                <a:gd name="connsiteY87" fmla="*/ 169787 h 491771"/>
                <a:gd name="connsiteX88" fmla="*/ 384900 w 607568"/>
                <a:gd name="connsiteY88" fmla="*/ 189541 h 491771"/>
                <a:gd name="connsiteX89" fmla="*/ 384712 w 607568"/>
                <a:gd name="connsiteY89" fmla="*/ 189823 h 491771"/>
                <a:gd name="connsiteX90" fmla="*/ 373316 w 607568"/>
                <a:gd name="connsiteY90" fmla="*/ 207131 h 491771"/>
                <a:gd name="connsiteX91" fmla="*/ 372750 w 607568"/>
                <a:gd name="connsiteY91" fmla="*/ 207789 h 491771"/>
                <a:gd name="connsiteX92" fmla="*/ 359847 w 607568"/>
                <a:gd name="connsiteY92" fmla="*/ 222275 h 491771"/>
                <a:gd name="connsiteX93" fmla="*/ 359188 w 607568"/>
                <a:gd name="connsiteY93" fmla="*/ 222934 h 491771"/>
                <a:gd name="connsiteX94" fmla="*/ 345154 w 607568"/>
                <a:gd name="connsiteY94" fmla="*/ 234598 h 491771"/>
                <a:gd name="connsiteX95" fmla="*/ 345625 w 607568"/>
                <a:gd name="connsiteY95" fmla="*/ 236855 h 491771"/>
                <a:gd name="connsiteX96" fmla="*/ 348639 w 607568"/>
                <a:gd name="connsiteY96" fmla="*/ 235538 h 491771"/>
                <a:gd name="connsiteX97" fmla="*/ 355514 w 607568"/>
                <a:gd name="connsiteY97" fmla="*/ 234033 h 491771"/>
                <a:gd name="connsiteX98" fmla="*/ 366628 w 607568"/>
                <a:gd name="connsiteY98" fmla="*/ 237326 h 491771"/>
                <a:gd name="connsiteX99" fmla="*/ 385371 w 607568"/>
                <a:gd name="connsiteY99" fmla="*/ 249648 h 491771"/>
                <a:gd name="connsiteX100" fmla="*/ 399876 w 607568"/>
                <a:gd name="connsiteY100" fmla="*/ 279373 h 491771"/>
                <a:gd name="connsiteX101" fmla="*/ 430016 w 607568"/>
                <a:gd name="connsiteY101" fmla="*/ 289814 h 491771"/>
                <a:gd name="connsiteX102" fmla="*/ 448382 w 607568"/>
                <a:gd name="connsiteY102" fmla="*/ 316058 h 491771"/>
                <a:gd name="connsiteX103" fmla="*/ 481630 w 607568"/>
                <a:gd name="connsiteY103" fmla="*/ 424515 h 491771"/>
                <a:gd name="connsiteX104" fmla="*/ 483891 w 607568"/>
                <a:gd name="connsiteY104" fmla="*/ 436461 h 491771"/>
                <a:gd name="connsiteX105" fmla="*/ 473718 w 607568"/>
                <a:gd name="connsiteY105" fmla="*/ 470700 h 491771"/>
                <a:gd name="connsiteX106" fmla="*/ 443956 w 607568"/>
                <a:gd name="connsiteY106" fmla="*/ 490360 h 491771"/>
                <a:gd name="connsiteX107" fmla="*/ 431805 w 607568"/>
                <a:gd name="connsiteY107" fmla="*/ 491771 h 491771"/>
                <a:gd name="connsiteX108" fmla="*/ 325375 w 607568"/>
                <a:gd name="connsiteY108" fmla="*/ 491771 h 491771"/>
                <a:gd name="connsiteX109" fmla="*/ 337430 w 607568"/>
                <a:gd name="connsiteY109" fmla="*/ 415296 h 491771"/>
                <a:gd name="connsiteX110" fmla="*/ 334605 w 607568"/>
                <a:gd name="connsiteY110" fmla="*/ 389052 h 491771"/>
                <a:gd name="connsiteX111" fmla="*/ 323962 w 607568"/>
                <a:gd name="connsiteY111" fmla="*/ 360927 h 491771"/>
                <a:gd name="connsiteX112" fmla="*/ 337430 w 607568"/>
                <a:gd name="connsiteY112" fmla="*/ 347476 h 491771"/>
                <a:gd name="connsiteX113" fmla="*/ 307196 w 607568"/>
                <a:gd name="connsiteY113" fmla="*/ 317281 h 491771"/>
                <a:gd name="connsiteX114" fmla="*/ 276868 w 607568"/>
                <a:gd name="connsiteY114" fmla="*/ 347476 h 491771"/>
                <a:gd name="connsiteX115" fmla="*/ 290337 w 607568"/>
                <a:gd name="connsiteY115" fmla="*/ 360927 h 491771"/>
                <a:gd name="connsiteX116" fmla="*/ 279694 w 607568"/>
                <a:gd name="connsiteY116" fmla="*/ 389052 h 491771"/>
                <a:gd name="connsiteX117" fmla="*/ 276963 w 607568"/>
                <a:gd name="connsiteY117" fmla="*/ 415296 h 491771"/>
                <a:gd name="connsiteX118" fmla="*/ 288736 w 607568"/>
                <a:gd name="connsiteY118" fmla="*/ 491771 h 491771"/>
                <a:gd name="connsiteX119" fmla="*/ 182493 w 607568"/>
                <a:gd name="connsiteY119" fmla="*/ 491771 h 491771"/>
                <a:gd name="connsiteX120" fmla="*/ 170437 w 607568"/>
                <a:gd name="connsiteY120" fmla="*/ 490360 h 491771"/>
                <a:gd name="connsiteX121" fmla="*/ 140675 w 607568"/>
                <a:gd name="connsiteY121" fmla="*/ 470700 h 491771"/>
                <a:gd name="connsiteX122" fmla="*/ 132669 w 607568"/>
                <a:gd name="connsiteY122" fmla="*/ 424515 h 491771"/>
                <a:gd name="connsiteX123" fmla="*/ 166011 w 607568"/>
                <a:gd name="connsiteY123" fmla="*/ 316058 h 491771"/>
                <a:gd name="connsiteX124" fmla="*/ 184377 w 607568"/>
                <a:gd name="connsiteY124" fmla="*/ 289814 h 491771"/>
                <a:gd name="connsiteX125" fmla="*/ 214517 w 607568"/>
                <a:gd name="connsiteY125" fmla="*/ 279373 h 491771"/>
                <a:gd name="connsiteX126" fmla="*/ 214517 w 607568"/>
                <a:gd name="connsiteY126" fmla="*/ 279279 h 491771"/>
                <a:gd name="connsiteX127" fmla="*/ 229022 w 607568"/>
                <a:gd name="connsiteY127" fmla="*/ 249648 h 491771"/>
                <a:gd name="connsiteX128" fmla="*/ 247765 w 607568"/>
                <a:gd name="connsiteY128" fmla="*/ 237326 h 491771"/>
                <a:gd name="connsiteX129" fmla="*/ 258879 w 607568"/>
                <a:gd name="connsiteY129" fmla="*/ 234033 h 491771"/>
                <a:gd name="connsiteX130" fmla="*/ 265754 w 607568"/>
                <a:gd name="connsiteY130" fmla="*/ 235538 h 491771"/>
                <a:gd name="connsiteX131" fmla="*/ 268768 w 607568"/>
                <a:gd name="connsiteY131" fmla="*/ 236855 h 491771"/>
                <a:gd name="connsiteX132" fmla="*/ 269239 w 607568"/>
                <a:gd name="connsiteY132" fmla="*/ 234598 h 491771"/>
                <a:gd name="connsiteX133" fmla="*/ 255205 w 607568"/>
                <a:gd name="connsiteY133" fmla="*/ 222934 h 491771"/>
                <a:gd name="connsiteX134" fmla="*/ 254546 w 607568"/>
                <a:gd name="connsiteY134" fmla="*/ 222275 h 491771"/>
                <a:gd name="connsiteX135" fmla="*/ 241548 w 607568"/>
                <a:gd name="connsiteY135" fmla="*/ 207789 h 491771"/>
                <a:gd name="connsiteX136" fmla="*/ 241077 w 607568"/>
                <a:gd name="connsiteY136" fmla="*/ 207225 h 491771"/>
                <a:gd name="connsiteX137" fmla="*/ 229681 w 607568"/>
                <a:gd name="connsiteY137" fmla="*/ 189823 h 491771"/>
                <a:gd name="connsiteX138" fmla="*/ 229493 w 607568"/>
                <a:gd name="connsiteY138" fmla="*/ 189635 h 491771"/>
                <a:gd name="connsiteX139" fmla="*/ 220356 w 607568"/>
                <a:gd name="connsiteY139" fmla="*/ 169787 h 491771"/>
                <a:gd name="connsiteX140" fmla="*/ 203497 w 607568"/>
                <a:gd name="connsiteY140" fmla="*/ 159910 h 491771"/>
                <a:gd name="connsiteX141" fmla="*/ 203120 w 607568"/>
                <a:gd name="connsiteY141" fmla="*/ 159534 h 491771"/>
                <a:gd name="connsiteX142" fmla="*/ 197281 w 607568"/>
                <a:gd name="connsiteY142" fmla="*/ 151068 h 491771"/>
                <a:gd name="connsiteX143" fmla="*/ 196433 w 607568"/>
                <a:gd name="connsiteY143" fmla="*/ 149281 h 491771"/>
                <a:gd name="connsiteX144" fmla="*/ 192666 w 607568"/>
                <a:gd name="connsiteY144" fmla="*/ 138840 h 491771"/>
                <a:gd name="connsiteX145" fmla="*/ 212727 w 607568"/>
                <a:gd name="connsiteY145" fmla="*/ 95476 h 491771"/>
                <a:gd name="connsiteX146" fmla="*/ 212727 w 607568"/>
                <a:gd name="connsiteY146" fmla="*/ 85787 h 491771"/>
                <a:gd name="connsiteX147" fmla="*/ 298626 w 607568"/>
                <a:gd name="connsiteY147" fmla="*/ 0 h 49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</a:cxnLst>
              <a:rect l="l" t="t" r="r" b="b"/>
              <a:pathLst>
                <a:path w="607568" h="491771">
                  <a:moveTo>
                    <a:pt x="355420" y="250307"/>
                  </a:moveTo>
                  <a:cubicBezTo>
                    <a:pt x="354290" y="250307"/>
                    <a:pt x="353160" y="250871"/>
                    <a:pt x="352312" y="251812"/>
                  </a:cubicBezTo>
                  <a:lnTo>
                    <a:pt x="321042" y="289814"/>
                  </a:lnTo>
                  <a:cubicBezTo>
                    <a:pt x="319723" y="291507"/>
                    <a:pt x="319912" y="293953"/>
                    <a:pt x="321513" y="295364"/>
                  </a:cubicBezTo>
                  <a:lnTo>
                    <a:pt x="369736" y="338257"/>
                  </a:lnTo>
                  <a:cubicBezTo>
                    <a:pt x="370396" y="338822"/>
                    <a:pt x="371149" y="339104"/>
                    <a:pt x="371997" y="339104"/>
                  </a:cubicBezTo>
                  <a:cubicBezTo>
                    <a:pt x="372374" y="339104"/>
                    <a:pt x="372750" y="339010"/>
                    <a:pt x="373127" y="338916"/>
                  </a:cubicBezTo>
                  <a:cubicBezTo>
                    <a:pt x="374257" y="338539"/>
                    <a:pt x="375105" y="337505"/>
                    <a:pt x="375293" y="336282"/>
                  </a:cubicBezTo>
                  <a:lnTo>
                    <a:pt x="383676" y="279467"/>
                  </a:lnTo>
                  <a:cubicBezTo>
                    <a:pt x="384618" y="273164"/>
                    <a:pt x="381792" y="266768"/>
                    <a:pt x="376424" y="263287"/>
                  </a:cubicBezTo>
                  <a:lnTo>
                    <a:pt x="357681" y="250965"/>
                  </a:lnTo>
                  <a:cubicBezTo>
                    <a:pt x="357021" y="250495"/>
                    <a:pt x="356174" y="250307"/>
                    <a:pt x="355420" y="250307"/>
                  </a:cubicBezTo>
                  <a:close/>
                  <a:moveTo>
                    <a:pt x="258879" y="250307"/>
                  </a:moveTo>
                  <a:cubicBezTo>
                    <a:pt x="258125" y="250307"/>
                    <a:pt x="257372" y="250495"/>
                    <a:pt x="256712" y="250965"/>
                  </a:cubicBezTo>
                  <a:lnTo>
                    <a:pt x="237969" y="263287"/>
                  </a:lnTo>
                  <a:cubicBezTo>
                    <a:pt x="232601" y="266768"/>
                    <a:pt x="229775" y="273164"/>
                    <a:pt x="230717" y="279467"/>
                  </a:cubicBezTo>
                  <a:lnTo>
                    <a:pt x="239100" y="336282"/>
                  </a:lnTo>
                  <a:cubicBezTo>
                    <a:pt x="239288" y="337505"/>
                    <a:pt x="240136" y="338539"/>
                    <a:pt x="241266" y="338916"/>
                  </a:cubicBezTo>
                  <a:cubicBezTo>
                    <a:pt x="241643" y="339010"/>
                    <a:pt x="242019" y="339104"/>
                    <a:pt x="242396" y="339104"/>
                  </a:cubicBezTo>
                  <a:cubicBezTo>
                    <a:pt x="243244" y="339104"/>
                    <a:pt x="243997" y="338822"/>
                    <a:pt x="244657" y="338257"/>
                  </a:cubicBezTo>
                  <a:lnTo>
                    <a:pt x="292880" y="295364"/>
                  </a:lnTo>
                  <a:cubicBezTo>
                    <a:pt x="294481" y="293953"/>
                    <a:pt x="294670" y="291507"/>
                    <a:pt x="293351" y="289814"/>
                  </a:cubicBezTo>
                  <a:lnTo>
                    <a:pt x="261987" y="251812"/>
                  </a:lnTo>
                  <a:cubicBezTo>
                    <a:pt x="261233" y="250871"/>
                    <a:pt x="260103" y="250307"/>
                    <a:pt x="258879" y="250307"/>
                  </a:cubicBezTo>
                  <a:close/>
                  <a:moveTo>
                    <a:pt x="500465" y="66049"/>
                  </a:moveTo>
                  <a:cubicBezTo>
                    <a:pt x="548129" y="66049"/>
                    <a:pt x="562447" y="93516"/>
                    <a:pt x="565743" y="130673"/>
                  </a:cubicBezTo>
                  <a:cubicBezTo>
                    <a:pt x="565932" y="130673"/>
                    <a:pt x="566026" y="130673"/>
                    <a:pt x="566120" y="130673"/>
                  </a:cubicBezTo>
                  <a:cubicBezTo>
                    <a:pt x="577141" y="133118"/>
                    <a:pt x="583358" y="146664"/>
                    <a:pt x="580250" y="160962"/>
                  </a:cubicBezTo>
                  <a:cubicBezTo>
                    <a:pt x="577706" y="172532"/>
                    <a:pt x="569700" y="180904"/>
                    <a:pt x="560939" y="182503"/>
                  </a:cubicBezTo>
                  <a:cubicBezTo>
                    <a:pt x="554628" y="199529"/>
                    <a:pt x="543796" y="214016"/>
                    <a:pt x="531927" y="223799"/>
                  </a:cubicBezTo>
                  <a:cubicBezTo>
                    <a:pt x="528913" y="226338"/>
                    <a:pt x="527500" y="230383"/>
                    <a:pt x="528253" y="234240"/>
                  </a:cubicBezTo>
                  <a:lnTo>
                    <a:pt x="530797" y="246281"/>
                  </a:lnTo>
                  <a:cubicBezTo>
                    <a:pt x="532304" y="253806"/>
                    <a:pt x="538238" y="259732"/>
                    <a:pt x="545868" y="261143"/>
                  </a:cubicBezTo>
                  <a:lnTo>
                    <a:pt x="558961" y="263777"/>
                  </a:lnTo>
                  <a:cubicBezTo>
                    <a:pt x="578366" y="267634"/>
                    <a:pt x="593437" y="282684"/>
                    <a:pt x="597299" y="301968"/>
                  </a:cubicBezTo>
                  <a:lnTo>
                    <a:pt x="607002" y="350788"/>
                  </a:lnTo>
                  <a:cubicBezTo>
                    <a:pt x="608697" y="358972"/>
                    <a:pt x="606531" y="367438"/>
                    <a:pt x="601256" y="373835"/>
                  </a:cubicBezTo>
                  <a:cubicBezTo>
                    <a:pt x="595981" y="380325"/>
                    <a:pt x="588068" y="384088"/>
                    <a:pt x="579685" y="384088"/>
                  </a:cubicBezTo>
                  <a:lnTo>
                    <a:pt x="490386" y="384088"/>
                  </a:lnTo>
                  <a:lnTo>
                    <a:pt x="467685" y="310058"/>
                  </a:lnTo>
                  <a:cubicBezTo>
                    <a:pt x="461845" y="291150"/>
                    <a:pt x="448563" y="276194"/>
                    <a:pt x="431702" y="267445"/>
                  </a:cubicBezTo>
                  <a:cubicBezTo>
                    <a:pt x="434999" y="265940"/>
                    <a:pt x="438295" y="264529"/>
                    <a:pt x="441969" y="263777"/>
                  </a:cubicBezTo>
                  <a:lnTo>
                    <a:pt x="455157" y="261237"/>
                  </a:lnTo>
                  <a:cubicBezTo>
                    <a:pt x="462692" y="259732"/>
                    <a:pt x="468627" y="253806"/>
                    <a:pt x="470228" y="246281"/>
                  </a:cubicBezTo>
                  <a:lnTo>
                    <a:pt x="472677" y="234240"/>
                  </a:lnTo>
                  <a:cubicBezTo>
                    <a:pt x="473525" y="230383"/>
                    <a:pt x="472112" y="226338"/>
                    <a:pt x="469098" y="223893"/>
                  </a:cubicBezTo>
                  <a:cubicBezTo>
                    <a:pt x="457229" y="214016"/>
                    <a:pt x="446302" y="199529"/>
                    <a:pt x="439991" y="182503"/>
                  </a:cubicBezTo>
                  <a:cubicBezTo>
                    <a:pt x="434716" y="181563"/>
                    <a:pt x="429818" y="177894"/>
                    <a:pt x="426144" y="172720"/>
                  </a:cubicBezTo>
                  <a:cubicBezTo>
                    <a:pt x="433303" y="164725"/>
                    <a:pt x="438861" y="154754"/>
                    <a:pt x="441404" y="143278"/>
                  </a:cubicBezTo>
                  <a:cubicBezTo>
                    <a:pt x="444324" y="130485"/>
                    <a:pt x="443476" y="118068"/>
                    <a:pt x="439708" y="107438"/>
                  </a:cubicBezTo>
                  <a:cubicBezTo>
                    <a:pt x="447244" y="82699"/>
                    <a:pt x="464200" y="66049"/>
                    <a:pt x="500465" y="66049"/>
                  </a:cubicBezTo>
                  <a:close/>
                  <a:moveTo>
                    <a:pt x="107100" y="66049"/>
                  </a:moveTo>
                  <a:cubicBezTo>
                    <a:pt x="151561" y="66049"/>
                    <a:pt x="166820" y="90130"/>
                    <a:pt x="171341" y="123618"/>
                  </a:cubicBezTo>
                  <a:cubicBezTo>
                    <a:pt x="170965" y="129920"/>
                    <a:pt x="171436" y="136505"/>
                    <a:pt x="172849" y="143278"/>
                  </a:cubicBezTo>
                  <a:cubicBezTo>
                    <a:pt x="174921" y="152590"/>
                    <a:pt x="178971" y="161056"/>
                    <a:pt x="184246" y="168205"/>
                  </a:cubicBezTo>
                  <a:cubicBezTo>
                    <a:pt x="180573" y="175919"/>
                    <a:pt x="174356" y="181281"/>
                    <a:pt x="167574" y="182503"/>
                  </a:cubicBezTo>
                  <a:cubicBezTo>
                    <a:pt x="161263" y="199529"/>
                    <a:pt x="150336" y="214016"/>
                    <a:pt x="138468" y="223799"/>
                  </a:cubicBezTo>
                  <a:cubicBezTo>
                    <a:pt x="135453" y="226338"/>
                    <a:pt x="134040" y="230383"/>
                    <a:pt x="134794" y="234240"/>
                  </a:cubicBezTo>
                  <a:lnTo>
                    <a:pt x="137337" y="246281"/>
                  </a:lnTo>
                  <a:cubicBezTo>
                    <a:pt x="138939" y="253806"/>
                    <a:pt x="144873" y="259732"/>
                    <a:pt x="152408" y="261143"/>
                  </a:cubicBezTo>
                  <a:lnTo>
                    <a:pt x="165596" y="263777"/>
                  </a:lnTo>
                  <a:cubicBezTo>
                    <a:pt x="170494" y="264812"/>
                    <a:pt x="175203" y="266505"/>
                    <a:pt x="179442" y="268856"/>
                  </a:cubicBezTo>
                  <a:cubicBezTo>
                    <a:pt x="164088" y="277793"/>
                    <a:pt x="152126" y="292279"/>
                    <a:pt x="146662" y="310058"/>
                  </a:cubicBezTo>
                  <a:lnTo>
                    <a:pt x="123867" y="384088"/>
                  </a:lnTo>
                  <a:lnTo>
                    <a:pt x="27883" y="384088"/>
                  </a:lnTo>
                  <a:cubicBezTo>
                    <a:pt x="19499" y="384088"/>
                    <a:pt x="11587" y="380325"/>
                    <a:pt x="6312" y="373835"/>
                  </a:cubicBezTo>
                  <a:cubicBezTo>
                    <a:pt x="1037" y="367438"/>
                    <a:pt x="-1129" y="358972"/>
                    <a:pt x="566" y="350788"/>
                  </a:cubicBezTo>
                  <a:lnTo>
                    <a:pt x="10268" y="301968"/>
                  </a:lnTo>
                  <a:cubicBezTo>
                    <a:pt x="14130" y="282684"/>
                    <a:pt x="29202" y="267634"/>
                    <a:pt x="48606" y="263777"/>
                  </a:cubicBezTo>
                  <a:lnTo>
                    <a:pt x="61699" y="261237"/>
                  </a:lnTo>
                  <a:cubicBezTo>
                    <a:pt x="69328" y="259732"/>
                    <a:pt x="75263" y="253806"/>
                    <a:pt x="76770" y="246281"/>
                  </a:cubicBezTo>
                  <a:lnTo>
                    <a:pt x="79313" y="234240"/>
                  </a:lnTo>
                  <a:cubicBezTo>
                    <a:pt x="80067" y="230383"/>
                    <a:pt x="78654" y="226338"/>
                    <a:pt x="75639" y="223893"/>
                  </a:cubicBezTo>
                  <a:cubicBezTo>
                    <a:pt x="63771" y="214016"/>
                    <a:pt x="52939" y="199623"/>
                    <a:pt x="46628" y="182503"/>
                  </a:cubicBezTo>
                  <a:cubicBezTo>
                    <a:pt x="37867" y="180904"/>
                    <a:pt x="29861" y="172532"/>
                    <a:pt x="27318" y="160962"/>
                  </a:cubicBezTo>
                  <a:cubicBezTo>
                    <a:pt x="24115" y="146664"/>
                    <a:pt x="30426" y="133118"/>
                    <a:pt x="41447" y="130673"/>
                  </a:cubicBezTo>
                  <a:cubicBezTo>
                    <a:pt x="41541" y="130673"/>
                    <a:pt x="41729" y="130673"/>
                    <a:pt x="41824" y="130673"/>
                  </a:cubicBezTo>
                  <a:cubicBezTo>
                    <a:pt x="45403" y="93516"/>
                    <a:pt x="60192" y="66049"/>
                    <a:pt x="107100" y="66049"/>
                  </a:cubicBezTo>
                  <a:close/>
                  <a:moveTo>
                    <a:pt x="298626" y="0"/>
                  </a:moveTo>
                  <a:lnTo>
                    <a:pt x="315956" y="0"/>
                  </a:lnTo>
                  <a:cubicBezTo>
                    <a:pt x="363426" y="0"/>
                    <a:pt x="401854" y="38378"/>
                    <a:pt x="401854" y="85787"/>
                  </a:cubicBezTo>
                  <a:lnTo>
                    <a:pt x="401854" y="95476"/>
                  </a:lnTo>
                  <a:cubicBezTo>
                    <a:pt x="417301" y="99238"/>
                    <a:pt x="426154" y="118522"/>
                    <a:pt x="421633" y="138840"/>
                  </a:cubicBezTo>
                  <a:cubicBezTo>
                    <a:pt x="420880" y="142602"/>
                    <a:pt x="419467" y="146083"/>
                    <a:pt x="417960" y="149281"/>
                  </a:cubicBezTo>
                  <a:cubicBezTo>
                    <a:pt x="417677" y="149939"/>
                    <a:pt x="417395" y="150504"/>
                    <a:pt x="417112" y="151068"/>
                  </a:cubicBezTo>
                  <a:cubicBezTo>
                    <a:pt x="415417" y="154172"/>
                    <a:pt x="413533" y="157088"/>
                    <a:pt x="411273" y="159534"/>
                  </a:cubicBezTo>
                  <a:cubicBezTo>
                    <a:pt x="411179" y="159628"/>
                    <a:pt x="410990" y="159816"/>
                    <a:pt x="410896" y="159910"/>
                  </a:cubicBezTo>
                  <a:cubicBezTo>
                    <a:pt x="406092" y="165084"/>
                    <a:pt x="400159" y="168658"/>
                    <a:pt x="394037" y="169787"/>
                  </a:cubicBezTo>
                  <a:cubicBezTo>
                    <a:pt x="391494" y="176654"/>
                    <a:pt x="388385" y="183332"/>
                    <a:pt x="384900" y="189541"/>
                  </a:cubicBezTo>
                  <a:cubicBezTo>
                    <a:pt x="384806" y="189635"/>
                    <a:pt x="384806" y="189729"/>
                    <a:pt x="384712" y="189823"/>
                  </a:cubicBezTo>
                  <a:cubicBezTo>
                    <a:pt x="381227" y="196031"/>
                    <a:pt x="377460" y="201769"/>
                    <a:pt x="373316" y="207131"/>
                  </a:cubicBezTo>
                  <a:cubicBezTo>
                    <a:pt x="373127" y="207413"/>
                    <a:pt x="372939" y="207601"/>
                    <a:pt x="372750" y="207789"/>
                  </a:cubicBezTo>
                  <a:cubicBezTo>
                    <a:pt x="368700" y="213057"/>
                    <a:pt x="364368" y="217948"/>
                    <a:pt x="359847" y="222275"/>
                  </a:cubicBezTo>
                  <a:cubicBezTo>
                    <a:pt x="359658" y="222463"/>
                    <a:pt x="359376" y="222651"/>
                    <a:pt x="359188" y="222934"/>
                  </a:cubicBezTo>
                  <a:cubicBezTo>
                    <a:pt x="354667" y="227261"/>
                    <a:pt x="349957" y="231211"/>
                    <a:pt x="345154" y="234598"/>
                  </a:cubicBezTo>
                  <a:lnTo>
                    <a:pt x="345625" y="236855"/>
                  </a:lnTo>
                  <a:cubicBezTo>
                    <a:pt x="346567" y="236385"/>
                    <a:pt x="347603" y="235915"/>
                    <a:pt x="348639" y="235538"/>
                  </a:cubicBezTo>
                  <a:cubicBezTo>
                    <a:pt x="350899" y="234786"/>
                    <a:pt x="353065" y="234033"/>
                    <a:pt x="355514" y="234033"/>
                  </a:cubicBezTo>
                  <a:cubicBezTo>
                    <a:pt x="359470" y="234033"/>
                    <a:pt x="363238" y="235162"/>
                    <a:pt x="366628" y="237326"/>
                  </a:cubicBezTo>
                  <a:cubicBezTo>
                    <a:pt x="366628" y="237326"/>
                    <a:pt x="380756" y="246450"/>
                    <a:pt x="385371" y="249648"/>
                  </a:cubicBezTo>
                  <a:cubicBezTo>
                    <a:pt x="401854" y="261030"/>
                    <a:pt x="399876" y="279373"/>
                    <a:pt x="399876" y="279373"/>
                  </a:cubicBezTo>
                  <a:cubicBezTo>
                    <a:pt x="410990" y="279655"/>
                    <a:pt x="421822" y="283041"/>
                    <a:pt x="430016" y="289814"/>
                  </a:cubicBezTo>
                  <a:cubicBezTo>
                    <a:pt x="445180" y="302324"/>
                    <a:pt x="447535" y="313330"/>
                    <a:pt x="448382" y="316058"/>
                  </a:cubicBezTo>
                  <a:lnTo>
                    <a:pt x="481630" y="424515"/>
                  </a:lnTo>
                  <a:cubicBezTo>
                    <a:pt x="482855" y="428371"/>
                    <a:pt x="483608" y="432416"/>
                    <a:pt x="483891" y="436461"/>
                  </a:cubicBezTo>
                  <a:cubicBezTo>
                    <a:pt x="484644" y="448595"/>
                    <a:pt x="481159" y="460730"/>
                    <a:pt x="473718" y="470700"/>
                  </a:cubicBezTo>
                  <a:cubicBezTo>
                    <a:pt x="466372" y="480671"/>
                    <a:pt x="455823" y="487538"/>
                    <a:pt x="443956" y="490360"/>
                  </a:cubicBezTo>
                  <a:cubicBezTo>
                    <a:pt x="440000" y="491301"/>
                    <a:pt x="435950" y="491771"/>
                    <a:pt x="431805" y="491771"/>
                  </a:cubicBezTo>
                  <a:lnTo>
                    <a:pt x="325375" y="491771"/>
                  </a:lnTo>
                  <a:lnTo>
                    <a:pt x="337430" y="415296"/>
                  </a:lnTo>
                  <a:cubicBezTo>
                    <a:pt x="338749" y="406454"/>
                    <a:pt x="337807" y="397424"/>
                    <a:pt x="334605" y="389052"/>
                  </a:cubicBezTo>
                  <a:lnTo>
                    <a:pt x="323962" y="360927"/>
                  </a:lnTo>
                  <a:lnTo>
                    <a:pt x="337430" y="347476"/>
                  </a:lnTo>
                  <a:lnTo>
                    <a:pt x="307196" y="317281"/>
                  </a:lnTo>
                  <a:lnTo>
                    <a:pt x="276868" y="347476"/>
                  </a:lnTo>
                  <a:lnTo>
                    <a:pt x="290337" y="360927"/>
                  </a:lnTo>
                  <a:lnTo>
                    <a:pt x="279694" y="389052"/>
                  </a:lnTo>
                  <a:cubicBezTo>
                    <a:pt x="276586" y="397424"/>
                    <a:pt x="275644" y="406454"/>
                    <a:pt x="276963" y="415296"/>
                  </a:cubicBezTo>
                  <a:lnTo>
                    <a:pt x="288736" y="491771"/>
                  </a:lnTo>
                  <a:lnTo>
                    <a:pt x="182493" y="491771"/>
                  </a:lnTo>
                  <a:cubicBezTo>
                    <a:pt x="178443" y="491771"/>
                    <a:pt x="174299" y="491301"/>
                    <a:pt x="170437" y="490360"/>
                  </a:cubicBezTo>
                  <a:cubicBezTo>
                    <a:pt x="158570" y="487538"/>
                    <a:pt x="148021" y="480671"/>
                    <a:pt x="140675" y="470700"/>
                  </a:cubicBezTo>
                  <a:cubicBezTo>
                    <a:pt x="130785" y="457343"/>
                    <a:pt x="127865" y="440223"/>
                    <a:pt x="132669" y="424515"/>
                  </a:cubicBezTo>
                  <a:lnTo>
                    <a:pt x="166011" y="316058"/>
                  </a:lnTo>
                  <a:cubicBezTo>
                    <a:pt x="166858" y="313330"/>
                    <a:pt x="170908" y="300631"/>
                    <a:pt x="184377" y="289814"/>
                  </a:cubicBezTo>
                  <a:cubicBezTo>
                    <a:pt x="192666" y="283229"/>
                    <a:pt x="203403" y="279655"/>
                    <a:pt x="214517" y="279373"/>
                  </a:cubicBezTo>
                  <a:lnTo>
                    <a:pt x="214517" y="279279"/>
                  </a:lnTo>
                  <a:cubicBezTo>
                    <a:pt x="214140" y="273447"/>
                    <a:pt x="211880" y="260654"/>
                    <a:pt x="229022" y="249648"/>
                  </a:cubicBezTo>
                  <a:cubicBezTo>
                    <a:pt x="233731" y="246638"/>
                    <a:pt x="247765" y="237326"/>
                    <a:pt x="247765" y="237326"/>
                  </a:cubicBezTo>
                  <a:cubicBezTo>
                    <a:pt x="251061" y="235162"/>
                    <a:pt x="254923" y="234033"/>
                    <a:pt x="258879" y="234033"/>
                  </a:cubicBezTo>
                  <a:cubicBezTo>
                    <a:pt x="261328" y="234033"/>
                    <a:pt x="263494" y="234786"/>
                    <a:pt x="265754" y="235538"/>
                  </a:cubicBezTo>
                  <a:cubicBezTo>
                    <a:pt x="266790" y="236009"/>
                    <a:pt x="267826" y="236385"/>
                    <a:pt x="268768" y="236855"/>
                  </a:cubicBezTo>
                  <a:lnTo>
                    <a:pt x="269239" y="234598"/>
                  </a:lnTo>
                  <a:cubicBezTo>
                    <a:pt x="264436" y="231211"/>
                    <a:pt x="259726" y="227261"/>
                    <a:pt x="255205" y="222934"/>
                  </a:cubicBezTo>
                  <a:cubicBezTo>
                    <a:pt x="254923" y="222651"/>
                    <a:pt x="254735" y="222463"/>
                    <a:pt x="254546" y="222275"/>
                  </a:cubicBezTo>
                  <a:cubicBezTo>
                    <a:pt x="250025" y="217948"/>
                    <a:pt x="245693" y="213057"/>
                    <a:pt x="241548" y="207789"/>
                  </a:cubicBezTo>
                  <a:cubicBezTo>
                    <a:pt x="241454" y="207601"/>
                    <a:pt x="241266" y="207413"/>
                    <a:pt x="241077" y="207225"/>
                  </a:cubicBezTo>
                  <a:cubicBezTo>
                    <a:pt x="236933" y="201769"/>
                    <a:pt x="233072" y="196031"/>
                    <a:pt x="229681" y="189823"/>
                  </a:cubicBezTo>
                  <a:cubicBezTo>
                    <a:pt x="229587" y="189729"/>
                    <a:pt x="229587" y="189635"/>
                    <a:pt x="229493" y="189635"/>
                  </a:cubicBezTo>
                  <a:cubicBezTo>
                    <a:pt x="226008" y="183332"/>
                    <a:pt x="222899" y="176654"/>
                    <a:pt x="220356" y="169787"/>
                  </a:cubicBezTo>
                  <a:cubicBezTo>
                    <a:pt x="214140" y="168658"/>
                    <a:pt x="208301" y="165084"/>
                    <a:pt x="203497" y="159910"/>
                  </a:cubicBezTo>
                  <a:cubicBezTo>
                    <a:pt x="203309" y="159722"/>
                    <a:pt x="203214" y="159628"/>
                    <a:pt x="203120" y="159534"/>
                  </a:cubicBezTo>
                  <a:cubicBezTo>
                    <a:pt x="200860" y="157088"/>
                    <a:pt x="198976" y="154172"/>
                    <a:pt x="197281" y="151068"/>
                  </a:cubicBezTo>
                  <a:cubicBezTo>
                    <a:pt x="196998" y="150504"/>
                    <a:pt x="196716" y="149939"/>
                    <a:pt x="196433" y="149281"/>
                  </a:cubicBezTo>
                  <a:cubicBezTo>
                    <a:pt x="194832" y="146083"/>
                    <a:pt x="193513" y="142602"/>
                    <a:pt x="192666" y="138840"/>
                  </a:cubicBezTo>
                  <a:cubicBezTo>
                    <a:pt x="188145" y="118428"/>
                    <a:pt x="197092" y="99050"/>
                    <a:pt x="212727" y="95476"/>
                  </a:cubicBezTo>
                  <a:lnTo>
                    <a:pt x="212727" y="85787"/>
                  </a:lnTo>
                  <a:cubicBezTo>
                    <a:pt x="212727" y="38378"/>
                    <a:pt x="251155" y="0"/>
                    <a:pt x="29862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>
              <a:normAutofit fontScale="80000"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8" name="statistics-settings_72708"/>
            <p:cNvSpPr>
              <a:spLocks noChangeAspect="1"/>
            </p:cNvSpPr>
            <p:nvPr>
              <p:custDataLst>
                <p:tags r:id="rId13"/>
              </p:custDataLst>
            </p:nvPr>
          </p:nvSpPr>
          <p:spPr bwMode="auto">
            <a:xfrm>
              <a:off x="7611" y="3420"/>
              <a:ext cx="821" cy="790"/>
            </a:xfrm>
            <a:custGeom>
              <a:avLst/>
              <a:gdLst>
                <a:gd name="connsiteX0" fmla="*/ 195114 w 608814"/>
                <a:gd name="connsiteY0" fmla="*/ 351627 h 585693"/>
                <a:gd name="connsiteX1" fmla="*/ 258290 w 608814"/>
                <a:gd name="connsiteY1" fmla="*/ 351627 h 585693"/>
                <a:gd name="connsiteX2" fmla="*/ 282731 w 608814"/>
                <a:gd name="connsiteY2" fmla="*/ 376018 h 585693"/>
                <a:gd name="connsiteX3" fmla="*/ 282731 w 608814"/>
                <a:gd name="connsiteY3" fmla="*/ 561210 h 585693"/>
                <a:gd name="connsiteX4" fmla="*/ 258290 w 608814"/>
                <a:gd name="connsiteY4" fmla="*/ 585693 h 585693"/>
                <a:gd name="connsiteX5" fmla="*/ 195114 w 608814"/>
                <a:gd name="connsiteY5" fmla="*/ 585693 h 585693"/>
                <a:gd name="connsiteX6" fmla="*/ 170673 w 608814"/>
                <a:gd name="connsiteY6" fmla="*/ 561210 h 585693"/>
                <a:gd name="connsiteX7" fmla="*/ 170673 w 608814"/>
                <a:gd name="connsiteY7" fmla="*/ 376018 h 585693"/>
                <a:gd name="connsiteX8" fmla="*/ 195114 w 608814"/>
                <a:gd name="connsiteY8" fmla="*/ 351627 h 585693"/>
                <a:gd name="connsiteX9" fmla="*/ 358100 w 608814"/>
                <a:gd name="connsiteY9" fmla="*/ 249872 h 585693"/>
                <a:gd name="connsiteX10" fmla="*/ 421316 w 608814"/>
                <a:gd name="connsiteY10" fmla="*/ 249872 h 585693"/>
                <a:gd name="connsiteX11" fmla="*/ 445737 w 608814"/>
                <a:gd name="connsiteY11" fmla="*/ 274267 h 585693"/>
                <a:gd name="connsiteX12" fmla="*/ 445737 w 608814"/>
                <a:gd name="connsiteY12" fmla="*/ 561206 h 585693"/>
                <a:gd name="connsiteX13" fmla="*/ 421316 w 608814"/>
                <a:gd name="connsiteY13" fmla="*/ 585693 h 585693"/>
                <a:gd name="connsiteX14" fmla="*/ 358100 w 608814"/>
                <a:gd name="connsiteY14" fmla="*/ 585693 h 585693"/>
                <a:gd name="connsiteX15" fmla="*/ 333679 w 608814"/>
                <a:gd name="connsiteY15" fmla="*/ 561206 h 585693"/>
                <a:gd name="connsiteX16" fmla="*/ 333679 w 608814"/>
                <a:gd name="connsiteY16" fmla="*/ 274267 h 585693"/>
                <a:gd name="connsiteX17" fmla="*/ 358100 w 608814"/>
                <a:gd name="connsiteY17" fmla="*/ 249872 h 585693"/>
                <a:gd name="connsiteX18" fmla="*/ 140260 w 608814"/>
                <a:gd name="connsiteY18" fmla="*/ 224680 h 585693"/>
                <a:gd name="connsiteX19" fmla="*/ 191844 w 608814"/>
                <a:gd name="connsiteY19" fmla="*/ 276122 h 585693"/>
                <a:gd name="connsiteX20" fmla="*/ 140260 w 608814"/>
                <a:gd name="connsiteY20" fmla="*/ 327564 h 585693"/>
                <a:gd name="connsiteX21" fmla="*/ 88676 w 608814"/>
                <a:gd name="connsiteY21" fmla="*/ 276122 h 585693"/>
                <a:gd name="connsiteX22" fmla="*/ 140260 w 608814"/>
                <a:gd name="connsiteY22" fmla="*/ 224680 h 585693"/>
                <a:gd name="connsiteX23" fmla="*/ 521177 w 608814"/>
                <a:gd name="connsiteY23" fmla="*/ 148117 h 585693"/>
                <a:gd name="connsiteX24" fmla="*/ 584301 w 608814"/>
                <a:gd name="connsiteY24" fmla="*/ 148117 h 585693"/>
                <a:gd name="connsiteX25" fmla="*/ 608814 w 608814"/>
                <a:gd name="connsiteY25" fmla="*/ 172601 h 585693"/>
                <a:gd name="connsiteX26" fmla="*/ 608814 w 608814"/>
                <a:gd name="connsiteY26" fmla="*/ 561209 h 585693"/>
                <a:gd name="connsiteX27" fmla="*/ 584301 w 608814"/>
                <a:gd name="connsiteY27" fmla="*/ 585693 h 585693"/>
                <a:gd name="connsiteX28" fmla="*/ 521177 w 608814"/>
                <a:gd name="connsiteY28" fmla="*/ 585693 h 585693"/>
                <a:gd name="connsiteX29" fmla="*/ 496756 w 608814"/>
                <a:gd name="connsiteY29" fmla="*/ 561209 h 585693"/>
                <a:gd name="connsiteX30" fmla="*/ 496756 w 608814"/>
                <a:gd name="connsiteY30" fmla="*/ 172601 h 585693"/>
                <a:gd name="connsiteX31" fmla="*/ 521177 w 608814"/>
                <a:gd name="connsiteY31" fmla="*/ 148117 h 585693"/>
                <a:gd name="connsiteX32" fmla="*/ 116229 w 608814"/>
                <a:gd name="connsiteY32" fmla="*/ 131322 h 585693"/>
                <a:gd name="connsiteX33" fmla="*/ 164246 w 608814"/>
                <a:gd name="connsiteY33" fmla="*/ 131322 h 585693"/>
                <a:gd name="connsiteX34" fmla="*/ 184061 w 608814"/>
                <a:gd name="connsiteY34" fmla="*/ 151113 h 585693"/>
                <a:gd name="connsiteX35" fmla="*/ 184061 w 608814"/>
                <a:gd name="connsiteY35" fmla="*/ 171457 h 585693"/>
                <a:gd name="connsiteX36" fmla="*/ 208669 w 608814"/>
                <a:gd name="connsiteY36" fmla="*/ 186094 h 585693"/>
                <a:gd name="connsiteX37" fmla="*/ 226641 w 608814"/>
                <a:gd name="connsiteY37" fmla="*/ 175692 h 585693"/>
                <a:gd name="connsiteX38" fmla="*/ 253737 w 608814"/>
                <a:gd name="connsiteY38" fmla="*/ 182964 h 585693"/>
                <a:gd name="connsiteX39" fmla="*/ 277792 w 608814"/>
                <a:gd name="connsiteY39" fmla="*/ 224572 h 585693"/>
                <a:gd name="connsiteX40" fmla="*/ 279727 w 608814"/>
                <a:gd name="connsiteY40" fmla="*/ 239577 h 585693"/>
                <a:gd name="connsiteX41" fmla="*/ 270511 w 608814"/>
                <a:gd name="connsiteY41" fmla="*/ 251544 h 585693"/>
                <a:gd name="connsiteX42" fmla="*/ 252355 w 608814"/>
                <a:gd name="connsiteY42" fmla="*/ 262038 h 585693"/>
                <a:gd name="connsiteX43" fmla="*/ 253829 w 608814"/>
                <a:gd name="connsiteY43" fmla="*/ 276122 h 585693"/>
                <a:gd name="connsiteX44" fmla="*/ 252355 w 608814"/>
                <a:gd name="connsiteY44" fmla="*/ 290206 h 585693"/>
                <a:gd name="connsiteX45" fmla="*/ 270511 w 608814"/>
                <a:gd name="connsiteY45" fmla="*/ 300700 h 585693"/>
                <a:gd name="connsiteX46" fmla="*/ 278714 w 608814"/>
                <a:gd name="connsiteY46" fmla="*/ 325094 h 585693"/>
                <a:gd name="connsiteX47" fmla="*/ 258253 w 608814"/>
                <a:gd name="connsiteY47" fmla="*/ 321136 h 585693"/>
                <a:gd name="connsiteX48" fmla="*/ 195858 w 608814"/>
                <a:gd name="connsiteY48" fmla="*/ 321136 h 585693"/>
                <a:gd name="connsiteX49" fmla="*/ 212171 w 608814"/>
                <a:gd name="connsiteY49" fmla="*/ 276122 h 585693"/>
                <a:gd name="connsiteX50" fmla="*/ 140191 w 608814"/>
                <a:gd name="connsiteY50" fmla="*/ 204320 h 585693"/>
                <a:gd name="connsiteX51" fmla="*/ 68304 w 608814"/>
                <a:gd name="connsiteY51" fmla="*/ 276122 h 585693"/>
                <a:gd name="connsiteX52" fmla="*/ 140191 w 608814"/>
                <a:gd name="connsiteY52" fmla="*/ 348016 h 585693"/>
                <a:gd name="connsiteX53" fmla="*/ 148486 w 608814"/>
                <a:gd name="connsiteY53" fmla="*/ 347095 h 585693"/>
                <a:gd name="connsiteX54" fmla="*/ 140099 w 608814"/>
                <a:gd name="connsiteY54" fmla="*/ 376000 h 585693"/>
                <a:gd name="connsiteX55" fmla="*/ 140099 w 608814"/>
                <a:gd name="connsiteY55" fmla="*/ 420922 h 585693"/>
                <a:gd name="connsiteX56" fmla="*/ 116229 w 608814"/>
                <a:gd name="connsiteY56" fmla="*/ 420922 h 585693"/>
                <a:gd name="connsiteX57" fmla="*/ 96413 w 608814"/>
                <a:gd name="connsiteY57" fmla="*/ 401131 h 585693"/>
                <a:gd name="connsiteX58" fmla="*/ 96413 w 608814"/>
                <a:gd name="connsiteY58" fmla="*/ 380787 h 585693"/>
                <a:gd name="connsiteX59" fmla="*/ 71806 w 608814"/>
                <a:gd name="connsiteY59" fmla="*/ 366150 h 585693"/>
                <a:gd name="connsiteX60" fmla="*/ 53742 w 608814"/>
                <a:gd name="connsiteY60" fmla="*/ 376552 h 585693"/>
                <a:gd name="connsiteX61" fmla="*/ 38719 w 608814"/>
                <a:gd name="connsiteY61" fmla="*/ 378577 h 585693"/>
                <a:gd name="connsiteX62" fmla="*/ 26738 w 608814"/>
                <a:gd name="connsiteY62" fmla="*/ 369372 h 585693"/>
                <a:gd name="connsiteX63" fmla="*/ 2683 w 608814"/>
                <a:gd name="connsiteY63" fmla="*/ 327764 h 585693"/>
                <a:gd name="connsiteX64" fmla="*/ 9872 w 608814"/>
                <a:gd name="connsiteY64" fmla="*/ 300700 h 585693"/>
                <a:gd name="connsiteX65" fmla="*/ 28120 w 608814"/>
                <a:gd name="connsiteY65" fmla="*/ 290206 h 585693"/>
                <a:gd name="connsiteX66" fmla="*/ 26645 w 608814"/>
                <a:gd name="connsiteY66" fmla="*/ 276122 h 585693"/>
                <a:gd name="connsiteX67" fmla="*/ 28120 w 608814"/>
                <a:gd name="connsiteY67" fmla="*/ 262038 h 585693"/>
                <a:gd name="connsiteX68" fmla="*/ 9872 w 608814"/>
                <a:gd name="connsiteY68" fmla="*/ 251544 h 585693"/>
                <a:gd name="connsiteX69" fmla="*/ 2683 w 608814"/>
                <a:gd name="connsiteY69" fmla="*/ 224572 h 585693"/>
                <a:gd name="connsiteX70" fmla="*/ 26738 w 608814"/>
                <a:gd name="connsiteY70" fmla="*/ 182964 h 585693"/>
                <a:gd name="connsiteX71" fmla="*/ 38719 w 608814"/>
                <a:gd name="connsiteY71" fmla="*/ 173759 h 585693"/>
                <a:gd name="connsiteX72" fmla="*/ 53742 w 608814"/>
                <a:gd name="connsiteY72" fmla="*/ 175692 h 585693"/>
                <a:gd name="connsiteX73" fmla="*/ 71806 w 608814"/>
                <a:gd name="connsiteY73" fmla="*/ 186094 h 585693"/>
                <a:gd name="connsiteX74" fmla="*/ 96413 w 608814"/>
                <a:gd name="connsiteY74" fmla="*/ 171457 h 585693"/>
                <a:gd name="connsiteX75" fmla="*/ 96413 w 608814"/>
                <a:gd name="connsiteY75" fmla="*/ 151113 h 585693"/>
                <a:gd name="connsiteX76" fmla="*/ 116229 w 608814"/>
                <a:gd name="connsiteY76" fmla="*/ 131322 h 585693"/>
                <a:gd name="connsiteX77" fmla="*/ 445756 w 608814"/>
                <a:gd name="connsiteY77" fmla="*/ 83476 h 585693"/>
                <a:gd name="connsiteX78" fmla="*/ 414140 w 608814"/>
                <a:gd name="connsiteY78" fmla="*/ 115044 h 585693"/>
                <a:gd name="connsiteX79" fmla="*/ 445756 w 608814"/>
                <a:gd name="connsiteY79" fmla="*/ 146520 h 585693"/>
                <a:gd name="connsiteX80" fmla="*/ 477371 w 608814"/>
                <a:gd name="connsiteY80" fmla="*/ 115044 h 585693"/>
                <a:gd name="connsiteX81" fmla="*/ 445756 w 608814"/>
                <a:gd name="connsiteY81" fmla="*/ 83476 h 585693"/>
                <a:gd name="connsiteX82" fmla="*/ 426676 w 608814"/>
                <a:gd name="connsiteY82" fmla="*/ 0 h 585693"/>
                <a:gd name="connsiteX83" fmla="*/ 464835 w 608814"/>
                <a:gd name="connsiteY83" fmla="*/ 0 h 585693"/>
                <a:gd name="connsiteX84" fmla="*/ 480597 w 608814"/>
                <a:gd name="connsiteY84" fmla="*/ 15738 h 585693"/>
                <a:gd name="connsiteX85" fmla="*/ 480597 w 608814"/>
                <a:gd name="connsiteY85" fmla="*/ 31936 h 585693"/>
                <a:gd name="connsiteX86" fmla="*/ 500138 w 608814"/>
                <a:gd name="connsiteY86" fmla="*/ 43533 h 585693"/>
                <a:gd name="connsiteX87" fmla="*/ 514425 w 608814"/>
                <a:gd name="connsiteY87" fmla="*/ 35249 h 585693"/>
                <a:gd name="connsiteX88" fmla="*/ 535901 w 608814"/>
                <a:gd name="connsiteY88" fmla="*/ 40956 h 585693"/>
                <a:gd name="connsiteX89" fmla="*/ 554981 w 608814"/>
                <a:gd name="connsiteY89" fmla="*/ 73996 h 585693"/>
                <a:gd name="connsiteX90" fmla="*/ 556640 w 608814"/>
                <a:gd name="connsiteY90" fmla="*/ 85961 h 585693"/>
                <a:gd name="connsiteX91" fmla="*/ 549266 w 608814"/>
                <a:gd name="connsiteY91" fmla="*/ 95440 h 585693"/>
                <a:gd name="connsiteX92" fmla="*/ 534887 w 608814"/>
                <a:gd name="connsiteY92" fmla="*/ 103815 h 585693"/>
                <a:gd name="connsiteX93" fmla="*/ 535993 w 608814"/>
                <a:gd name="connsiteY93" fmla="*/ 115044 h 585693"/>
                <a:gd name="connsiteX94" fmla="*/ 535717 w 608814"/>
                <a:gd name="connsiteY94" fmla="*/ 117621 h 585693"/>
                <a:gd name="connsiteX95" fmla="*/ 521153 w 608814"/>
                <a:gd name="connsiteY95" fmla="*/ 117621 h 585693"/>
                <a:gd name="connsiteX96" fmla="*/ 466126 w 608814"/>
                <a:gd name="connsiteY96" fmla="*/ 172565 h 585693"/>
                <a:gd name="connsiteX97" fmla="*/ 466126 w 608814"/>
                <a:gd name="connsiteY97" fmla="*/ 229719 h 585693"/>
                <a:gd name="connsiteX98" fmla="*/ 466126 w 608814"/>
                <a:gd name="connsiteY98" fmla="*/ 242604 h 585693"/>
                <a:gd name="connsiteX99" fmla="*/ 453590 w 608814"/>
                <a:gd name="connsiteY99" fmla="*/ 229995 h 585693"/>
                <a:gd name="connsiteX100" fmla="*/ 421330 w 608814"/>
                <a:gd name="connsiteY100" fmla="*/ 219319 h 585693"/>
                <a:gd name="connsiteX101" fmla="*/ 411928 w 608814"/>
                <a:gd name="connsiteY101" fmla="*/ 219319 h 585693"/>
                <a:gd name="connsiteX102" fmla="*/ 410914 w 608814"/>
                <a:gd name="connsiteY102" fmla="*/ 214257 h 585693"/>
                <a:gd name="connsiteX103" fmla="*/ 410914 w 608814"/>
                <a:gd name="connsiteY103" fmla="*/ 198059 h 585693"/>
                <a:gd name="connsiteX104" fmla="*/ 391373 w 608814"/>
                <a:gd name="connsiteY104" fmla="*/ 186463 h 585693"/>
                <a:gd name="connsiteX105" fmla="*/ 377086 w 608814"/>
                <a:gd name="connsiteY105" fmla="*/ 194746 h 585693"/>
                <a:gd name="connsiteX106" fmla="*/ 365104 w 608814"/>
                <a:gd name="connsiteY106" fmla="*/ 196310 h 585693"/>
                <a:gd name="connsiteX107" fmla="*/ 355610 w 608814"/>
                <a:gd name="connsiteY107" fmla="*/ 189040 h 585693"/>
                <a:gd name="connsiteX108" fmla="*/ 336530 w 608814"/>
                <a:gd name="connsiteY108" fmla="*/ 155999 h 585693"/>
                <a:gd name="connsiteX109" fmla="*/ 342245 w 608814"/>
                <a:gd name="connsiteY109" fmla="*/ 134463 h 585693"/>
                <a:gd name="connsiteX110" fmla="*/ 356716 w 608814"/>
                <a:gd name="connsiteY110" fmla="*/ 126180 h 585693"/>
                <a:gd name="connsiteX111" fmla="*/ 355518 w 608814"/>
                <a:gd name="connsiteY111" fmla="*/ 115044 h 585693"/>
                <a:gd name="connsiteX112" fmla="*/ 356716 w 608814"/>
                <a:gd name="connsiteY112" fmla="*/ 103815 h 585693"/>
                <a:gd name="connsiteX113" fmla="*/ 342245 w 608814"/>
                <a:gd name="connsiteY113" fmla="*/ 95440 h 585693"/>
                <a:gd name="connsiteX114" fmla="*/ 336530 w 608814"/>
                <a:gd name="connsiteY114" fmla="*/ 73996 h 585693"/>
                <a:gd name="connsiteX115" fmla="*/ 355610 w 608814"/>
                <a:gd name="connsiteY115" fmla="*/ 40956 h 585693"/>
                <a:gd name="connsiteX116" fmla="*/ 365104 w 608814"/>
                <a:gd name="connsiteY116" fmla="*/ 33685 h 585693"/>
                <a:gd name="connsiteX117" fmla="*/ 377086 w 608814"/>
                <a:gd name="connsiteY117" fmla="*/ 35249 h 585693"/>
                <a:gd name="connsiteX118" fmla="*/ 391373 w 608814"/>
                <a:gd name="connsiteY118" fmla="*/ 43533 h 585693"/>
                <a:gd name="connsiteX119" fmla="*/ 410914 w 608814"/>
                <a:gd name="connsiteY119" fmla="*/ 31936 h 585693"/>
                <a:gd name="connsiteX120" fmla="*/ 410914 w 608814"/>
                <a:gd name="connsiteY120" fmla="*/ 15738 h 585693"/>
                <a:gd name="connsiteX121" fmla="*/ 426676 w 608814"/>
                <a:gd name="connsiteY121" fmla="*/ 0 h 58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608814" h="585693">
                  <a:moveTo>
                    <a:pt x="195114" y="351627"/>
                  </a:moveTo>
                  <a:lnTo>
                    <a:pt x="258290" y="351627"/>
                  </a:lnTo>
                  <a:cubicBezTo>
                    <a:pt x="271848" y="351627"/>
                    <a:pt x="282731" y="362580"/>
                    <a:pt x="282731" y="376018"/>
                  </a:cubicBezTo>
                  <a:lnTo>
                    <a:pt x="282731" y="561210"/>
                  </a:lnTo>
                  <a:cubicBezTo>
                    <a:pt x="282731" y="574740"/>
                    <a:pt x="271848" y="585693"/>
                    <a:pt x="258290" y="585693"/>
                  </a:cubicBezTo>
                  <a:lnTo>
                    <a:pt x="195114" y="585693"/>
                  </a:lnTo>
                  <a:cubicBezTo>
                    <a:pt x="181556" y="585693"/>
                    <a:pt x="170673" y="574740"/>
                    <a:pt x="170673" y="561210"/>
                  </a:cubicBezTo>
                  <a:lnTo>
                    <a:pt x="170673" y="376018"/>
                  </a:lnTo>
                  <a:cubicBezTo>
                    <a:pt x="170673" y="362580"/>
                    <a:pt x="181556" y="351627"/>
                    <a:pt x="195114" y="351627"/>
                  </a:cubicBezTo>
                  <a:close/>
                  <a:moveTo>
                    <a:pt x="358100" y="249872"/>
                  </a:moveTo>
                  <a:lnTo>
                    <a:pt x="421316" y="249872"/>
                  </a:lnTo>
                  <a:cubicBezTo>
                    <a:pt x="434771" y="249872"/>
                    <a:pt x="445737" y="260735"/>
                    <a:pt x="445737" y="274267"/>
                  </a:cubicBezTo>
                  <a:lnTo>
                    <a:pt x="445737" y="561206"/>
                  </a:lnTo>
                  <a:cubicBezTo>
                    <a:pt x="445737" y="574738"/>
                    <a:pt x="434771" y="585693"/>
                    <a:pt x="421316" y="585693"/>
                  </a:cubicBezTo>
                  <a:lnTo>
                    <a:pt x="358100" y="585693"/>
                  </a:lnTo>
                  <a:cubicBezTo>
                    <a:pt x="344645" y="585693"/>
                    <a:pt x="333679" y="574738"/>
                    <a:pt x="333679" y="561206"/>
                  </a:cubicBezTo>
                  <a:lnTo>
                    <a:pt x="333679" y="274267"/>
                  </a:lnTo>
                  <a:cubicBezTo>
                    <a:pt x="333679" y="260735"/>
                    <a:pt x="344645" y="249872"/>
                    <a:pt x="358100" y="249872"/>
                  </a:cubicBezTo>
                  <a:close/>
                  <a:moveTo>
                    <a:pt x="140260" y="224680"/>
                  </a:moveTo>
                  <a:cubicBezTo>
                    <a:pt x="168749" y="224680"/>
                    <a:pt x="191844" y="247711"/>
                    <a:pt x="191844" y="276122"/>
                  </a:cubicBezTo>
                  <a:cubicBezTo>
                    <a:pt x="191844" y="304533"/>
                    <a:pt x="168749" y="327564"/>
                    <a:pt x="140260" y="327564"/>
                  </a:cubicBezTo>
                  <a:cubicBezTo>
                    <a:pt x="111771" y="327564"/>
                    <a:pt x="88676" y="304533"/>
                    <a:pt x="88676" y="276122"/>
                  </a:cubicBezTo>
                  <a:cubicBezTo>
                    <a:pt x="88676" y="247711"/>
                    <a:pt x="111771" y="224680"/>
                    <a:pt x="140260" y="224680"/>
                  </a:cubicBezTo>
                  <a:close/>
                  <a:moveTo>
                    <a:pt x="521177" y="148117"/>
                  </a:moveTo>
                  <a:lnTo>
                    <a:pt x="584301" y="148117"/>
                  </a:lnTo>
                  <a:cubicBezTo>
                    <a:pt x="597848" y="148117"/>
                    <a:pt x="608814" y="159070"/>
                    <a:pt x="608814" y="172601"/>
                  </a:cubicBezTo>
                  <a:lnTo>
                    <a:pt x="608814" y="561209"/>
                  </a:lnTo>
                  <a:cubicBezTo>
                    <a:pt x="608814" y="574740"/>
                    <a:pt x="597848" y="585693"/>
                    <a:pt x="584301" y="585693"/>
                  </a:cubicBezTo>
                  <a:lnTo>
                    <a:pt x="521177" y="585693"/>
                  </a:lnTo>
                  <a:cubicBezTo>
                    <a:pt x="507722" y="585693"/>
                    <a:pt x="496756" y="574740"/>
                    <a:pt x="496756" y="561209"/>
                  </a:cubicBezTo>
                  <a:lnTo>
                    <a:pt x="496756" y="172601"/>
                  </a:lnTo>
                  <a:cubicBezTo>
                    <a:pt x="496756" y="159070"/>
                    <a:pt x="507722" y="148117"/>
                    <a:pt x="521177" y="148117"/>
                  </a:cubicBezTo>
                  <a:close/>
                  <a:moveTo>
                    <a:pt x="116229" y="131322"/>
                  </a:moveTo>
                  <a:lnTo>
                    <a:pt x="164246" y="131322"/>
                  </a:lnTo>
                  <a:cubicBezTo>
                    <a:pt x="175214" y="131322"/>
                    <a:pt x="184061" y="140159"/>
                    <a:pt x="184061" y="151113"/>
                  </a:cubicBezTo>
                  <a:lnTo>
                    <a:pt x="184061" y="171457"/>
                  </a:lnTo>
                  <a:cubicBezTo>
                    <a:pt x="193001" y="175231"/>
                    <a:pt x="201019" y="180386"/>
                    <a:pt x="208669" y="186094"/>
                  </a:cubicBezTo>
                  <a:lnTo>
                    <a:pt x="226641" y="175692"/>
                  </a:lnTo>
                  <a:cubicBezTo>
                    <a:pt x="236134" y="170261"/>
                    <a:pt x="248300" y="173482"/>
                    <a:pt x="253737" y="182964"/>
                  </a:cubicBezTo>
                  <a:lnTo>
                    <a:pt x="277792" y="224572"/>
                  </a:lnTo>
                  <a:cubicBezTo>
                    <a:pt x="280465" y="229083"/>
                    <a:pt x="281110" y="234514"/>
                    <a:pt x="279727" y="239577"/>
                  </a:cubicBezTo>
                  <a:cubicBezTo>
                    <a:pt x="278437" y="244640"/>
                    <a:pt x="275119" y="248966"/>
                    <a:pt x="270511" y="251544"/>
                  </a:cubicBezTo>
                  <a:lnTo>
                    <a:pt x="252355" y="262038"/>
                  </a:lnTo>
                  <a:cubicBezTo>
                    <a:pt x="253000" y="266733"/>
                    <a:pt x="253829" y="271335"/>
                    <a:pt x="253829" y="276122"/>
                  </a:cubicBezTo>
                  <a:cubicBezTo>
                    <a:pt x="253829" y="281001"/>
                    <a:pt x="253000" y="285604"/>
                    <a:pt x="252355" y="290206"/>
                  </a:cubicBezTo>
                  <a:lnTo>
                    <a:pt x="270511" y="300700"/>
                  </a:lnTo>
                  <a:cubicBezTo>
                    <a:pt x="279174" y="305671"/>
                    <a:pt x="282308" y="316165"/>
                    <a:pt x="278714" y="325094"/>
                  </a:cubicBezTo>
                  <a:cubicBezTo>
                    <a:pt x="272354" y="322609"/>
                    <a:pt x="265442" y="321136"/>
                    <a:pt x="258253" y="321136"/>
                  </a:cubicBezTo>
                  <a:lnTo>
                    <a:pt x="195858" y="321136"/>
                  </a:lnTo>
                  <a:cubicBezTo>
                    <a:pt x="205904" y="308709"/>
                    <a:pt x="212171" y="293244"/>
                    <a:pt x="212171" y="276122"/>
                  </a:cubicBezTo>
                  <a:cubicBezTo>
                    <a:pt x="212171" y="236539"/>
                    <a:pt x="179914" y="204320"/>
                    <a:pt x="140191" y="204320"/>
                  </a:cubicBezTo>
                  <a:cubicBezTo>
                    <a:pt x="100561" y="204320"/>
                    <a:pt x="68304" y="236539"/>
                    <a:pt x="68304" y="276122"/>
                  </a:cubicBezTo>
                  <a:cubicBezTo>
                    <a:pt x="68304" y="315797"/>
                    <a:pt x="100561" y="348016"/>
                    <a:pt x="140191" y="348016"/>
                  </a:cubicBezTo>
                  <a:cubicBezTo>
                    <a:pt x="143048" y="348016"/>
                    <a:pt x="145721" y="347463"/>
                    <a:pt x="148486" y="347095"/>
                  </a:cubicBezTo>
                  <a:cubicBezTo>
                    <a:pt x="143233" y="355564"/>
                    <a:pt x="140099" y="365414"/>
                    <a:pt x="140099" y="376000"/>
                  </a:cubicBezTo>
                  <a:lnTo>
                    <a:pt x="140099" y="420922"/>
                  </a:lnTo>
                  <a:lnTo>
                    <a:pt x="116229" y="420922"/>
                  </a:lnTo>
                  <a:cubicBezTo>
                    <a:pt x="105261" y="420922"/>
                    <a:pt x="96413" y="412085"/>
                    <a:pt x="96413" y="401131"/>
                  </a:cubicBezTo>
                  <a:lnTo>
                    <a:pt x="96413" y="380787"/>
                  </a:lnTo>
                  <a:cubicBezTo>
                    <a:pt x="87474" y="377013"/>
                    <a:pt x="79455" y="371950"/>
                    <a:pt x="71806" y="366150"/>
                  </a:cubicBezTo>
                  <a:lnTo>
                    <a:pt x="53742" y="376552"/>
                  </a:lnTo>
                  <a:cubicBezTo>
                    <a:pt x="49226" y="379222"/>
                    <a:pt x="43788" y="379866"/>
                    <a:pt x="38719" y="378577"/>
                  </a:cubicBezTo>
                  <a:cubicBezTo>
                    <a:pt x="33650" y="377197"/>
                    <a:pt x="29318" y="373883"/>
                    <a:pt x="26738" y="369372"/>
                  </a:cubicBezTo>
                  <a:lnTo>
                    <a:pt x="2683" y="327764"/>
                  </a:lnTo>
                  <a:cubicBezTo>
                    <a:pt x="-2847" y="318282"/>
                    <a:pt x="471" y="306131"/>
                    <a:pt x="9872" y="300700"/>
                  </a:cubicBezTo>
                  <a:lnTo>
                    <a:pt x="28120" y="290206"/>
                  </a:lnTo>
                  <a:cubicBezTo>
                    <a:pt x="27475" y="285604"/>
                    <a:pt x="26645" y="281001"/>
                    <a:pt x="26645" y="276122"/>
                  </a:cubicBezTo>
                  <a:cubicBezTo>
                    <a:pt x="26645" y="271335"/>
                    <a:pt x="27475" y="266733"/>
                    <a:pt x="28120" y="262038"/>
                  </a:cubicBezTo>
                  <a:lnTo>
                    <a:pt x="9872" y="251544"/>
                  </a:lnTo>
                  <a:cubicBezTo>
                    <a:pt x="471" y="246113"/>
                    <a:pt x="-2847" y="233962"/>
                    <a:pt x="2683" y="224572"/>
                  </a:cubicBezTo>
                  <a:lnTo>
                    <a:pt x="26738" y="182964"/>
                  </a:lnTo>
                  <a:cubicBezTo>
                    <a:pt x="29318" y="178361"/>
                    <a:pt x="33650" y="175139"/>
                    <a:pt x="38719" y="173759"/>
                  </a:cubicBezTo>
                  <a:cubicBezTo>
                    <a:pt x="43788" y="172378"/>
                    <a:pt x="49226" y="173114"/>
                    <a:pt x="53742" y="175692"/>
                  </a:cubicBezTo>
                  <a:lnTo>
                    <a:pt x="71806" y="186094"/>
                  </a:lnTo>
                  <a:cubicBezTo>
                    <a:pt x="79455" y="180386"/>
                    <a:pt x="87474" y="175231"/>
                    <a:pt x="96413" y="171457"/>
                  </a:cubicBezTo>
                  <a:lnTo>
                    <a:pt x="96413" y="151113"/>
                  </a:lnTo>
                  <a:cubicBezTo>
                    <a:pt x="96413" y="140159"/>
                    <a:pt x="105261" y="131322"/>
                    <a:pt x="116229" y="131322"/>
                  </a:cubicBezTo>
                  <a:close/>
                  <a:moveTo>
                    <a:pt x="445756" y="83476"/>
                  </a:moveTo>
                  <a:cubicBezTo>
                    <a:pt x="428335" y="83476"/>
                    <a:pt x="414140" y="97557"/>
                    <a:pt x="414140" y="115044"/>
                  </a:cubicBezTo>
                  <a:cubicBezTo>
                    <a:pt x="414140" y="132438"/>
                    <a:pt x="428335" y="146520"/>
                    <a:pt x="445756" y="146520"/>
                  </a:cubicBezTo>
                  <a:cubicBezTo>
                    <a:pt x="463176" y="146520"/>
                    <a:pt x="477371" y="132438"/>
                    <a:pt x="477371" y="115044"/>
                  </a:cubicBezTo>
                  <a:cubicBezTo>
                    <a:pt x="477371" y="97557"/>
                    <a:pt x="463176" y="83476"/>
                    <a:pt x="445756" y="83476"/>
                  </a:cubicBezTo>
                  <a:close/>
                  <a:moveTo>
                    <a:pt x="426676" y="0"/>
                  </a:moveTo>
                  <a:lnTo>
                    <a:pt x="464835" y="0"/>
                  </a:lnTo>
                  <a:cubicBezTo>
                    <a:pt x="473500" y="0"/>
                    <a:pt x="480597" y="7087"/>
                    <a:pt x="480597" y="15738"/>
                  </a:cubicBezTo>
                  <a:lnTo>
                    <a:pt x="480597" y="31936"/>
                  </a:lnTo>
                  <a:cubicBezTo>
                    <a:pt x="487694" y="34881"/>
                    <a:pt x="494054" y="38931"/>
                    <a:pt x="500138" y="43533"/>
                  </a:cubicBezTo>
                  <a:lnTo>
                    <a:pt x="514425" y="35249"/>
                  </a:lnTo>
                  <a:cubicBezTo>
                    <a:pt x="521983" y="30924"/>
                    <a:pt x="531569" y="33501"/>
                    <a:pt x="535901" y="40956"/>
                  </a:cubicBezTo>
                  <a:lnTo>
                    <a:pt x="554981" y="73996"/>
                  </a:lnTo>
                  <a:cubicBezTo>
                    <a:pt x="557101" y="77585"/>
                    <a:pt x="557654" y="81911"/>
                    <a:pt x="556640" y="85961"/>
                  </a:cubicBezTo>
                  <a:cubicBezTo>
                    <a:pt x="555534" y="89918"/>
                    <a:pt x="552861" y="93415"/>
                    <a:pt x="549266" y="95440"/>
                  </a:cubicBezTo>
                  <a:lnTo>
                    <a:pt x="534887" y="103815"/>
                  </a:lnTo>
                  <a:cubicBezTo>
                    <a:pt x="535348" y="107497"/>
                    <a:pt x="535993" y="111178"/>
                    <a:pt x="535993" y="115044"/>
                  </a:cubicBezTo>
                  <a:cubicBezTo>
                    <a:pt x="535993" y="115872"/>
                    <a:pt x="535809" y="116700"/>
                    <a:pt x="535717" y="117621"/>
                  </a:cubicBezTo>
                  <a:lnTo>
                    <a:pt x="521153" y="117621"/>
                  </a:lnTo>
                  <a:cubicBezTo>
                    <a:pt x="490828" y="117621"/>
                    <a:pt x="466126" y="142286"/>
                    <a:pt x="466126" y="172565"/>
                  </a:cubicBezTo>
                  <a:lnTo>
                    <a:pt x="466126" y="229719"/>
                  </a:lnTo>
                  <a:lnTo>
                    <a:pt x="466126" y="242604"/>
                  </a:lnTo>
                  <a:cubicBezTo>
                    <a:pt x="462715" y="237726"/>
                    <a:pt x="458383" y="233493"/>
                    <a:pt x="453590" y="229995"/>
                  </a:cubicBezTo>
                  <a:cubicBezTo>
                    <a:pt x="444465" y="223369"/>
                    <a:pt x="433404" y="219319"/>
                    <a:pt x="421330" y="219319"/>
                  </a:cubicBezTo>
                  <a:lnTo>
                    <a:pt x="411928" y="219319"/>
                  </a:lnTo>
                  <a:cubicBezTo>
                    <a:pt x="411375" y="217755"/>
                    <a:pt x="410914" y="216098"/>
                    <a:pt x="410914" y="214257"/>
                  </a:cubicBezTo>
                  <a:lnTo>
                    <a:pt x="410914" y="198059"/>
                  </a:lnTo>
                  <a:cubicBezTo>
                    <a:pt x="403817" y="195114"/>
                    <a:pt x="397457" y="191064"/>
                    <a:pt x="391373" y="186463"/>
                  </a:cubicBezTo>
                  <a:lnTo>
                    <a:pt x="377086" y="194746"/>
                  </a:lnTo>
                  <a:cubicBezTo>
                    <a:pt x="373492" y="196863"/>
                    <a:pt x="369160" y="197415"/>
                    <a:pt x="365104" y="196310"/>
                  </a:cubicBezTo>
                  <a:cubicBezTo>
                    <a:pt x="361140" y="195206"/>
                    <a:pt x="357638" y="192629"/>
                    <a:pt x="355610" y="189040"/>
                  </a:cubicBezTo>
                  <a:lnTo>
                    <a:pt x="336530" y="155999"/>
                  </a:lnTo>
                  <a:cubicBezTo>
                    <a:pt x="332198" y="148452"/>
                    <a:pt x="334687" y="138881"/>
                    <a:pt x="342245" y="134463"/>
                  </a:cubicBezTo>
                  <a:lnTo>
                    <a:pt x="356716" y="126180"/>
                  </a:lnTo>
                  <a:cubicBezTo>
                    <a:pt x="356163" y="122498"/>
                    <a:pt x="355518" y="118817"/>
                    <a:pt x="355518" y="115044"/>
                  </a:cubicBezTo>
                  <a:cubicBezTo>
                    <a:pt x="355518" y="111178"/>
                    <a:pt x="356163" y="107497"/>
                    <a:pt x="356716" y="103815"/>
                  </a:cubicBezTo>
                  <a:lnTo>
                    <a:pt x="342245" y="95440"/>
                  </a:lnTo>
                  <a:cubicBezTo>
                    <a:pt x="334687" y="91115"/>
                    <a:pt x="332198" y="81543"/>
                    <a:pt x="336530" y="73996"/>
                  </a:cubicBezTo>
                  <a:lnTo>
                    <a:pt x="355610" y="40956"/>
                  </a:lnTo>
                  <a:cubicBezTo>
                    <a:pt x="357638" y="37366"/>
                    <a:pt x="361140" y="34789"/>
                    <a:pt x="365104" y="33685"/>
                  </a:cubicBezTo>
                  <a:cubicBezTo>
                    <a:pt x="369160" y="32580"/>
                    <a:pt x="373492" y="33133"/>
                    <a:pt x="377086" y="35249"/>
                  </a:cubicBezTo>
                  <a:lnTo>
                    <a:pt x="391373" y="43533"/>
                  </a:lnTo>
                  <a:cubicBezTo>
                    <a:pt x="397457" y="38931"/>
                    <a:pt x="403817" y="34881"/>
                    <a:pt x="410914" y="31936"/>
                  </a:cubicBezTo>
                  <a:lnTo>
                    <a:pt x="410914" y="15738"/>
                  </a:lnTo>
                  <a:cubicBezTo>
                    <a:pt x="410914" y="7087"/>
                    <a:pt x="418011" y="0"/>
                    <a:pt x="426676" y="0"/>
                  </a:cubicBezTo>
                  <a:close/>
                </a:path>
              </a:pathLst>
            </a:custGeom>
            <a:solidFill>
              <a:srgbClr val="72719F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9" name="work-tools-cross_53063"/>
            <p:cNvSpPr>
              <a:spLocks noChangeAspect="1"/>
            </p:cNvSpPr>
            <p:nvPr>
              <p:custDataLst>
                <p:tags r:id="rId14"/>
              </p:custDataLst>
            </p:nvPr>
          </p:nvSpPr>
          <p:spPr bwMode="auto">
            <a:xfrm>
              <a:off x="8139" y="2004"/>
              <a:ext cx="786" cy="756"/>
            </a:xfrm>
            <a:custGeom>
              <a:avLst/>
              <a:gdLst>
                <a:gd name="connsiteX0" fmla="*/ 61288 w 609549"/>
                <a:gd name="connsiteY0" fmla="*/ 383285 h 586216"/>
                <a:gd name="connsiteX1" fmla="*/ 71162 w 609549"/>
                <a:gd name="connsiteY1" fmla="*/ 387101 h 586216"/>
                <a:gd name="connsiteX2" fmla="*/ 120018 w 609549"/>
                <a:gd name="connsiteY2" fmla="*/ 435892 h 586216"/>
                <a:gd name="connsiteX3" fmla="*/ 120018 w 609549"/>
                <a:gd name="connsiteY3" fmla="*/ 454200 h 586216"/>
                <a:gd name="connsiteX4" fmla="*/ 56639 w 609549"/>
                <a:gd name="connsiteY4" fmla="*/ 517543 h 586216"/>
                <a:gd name="connsiteX5" fmla="*/ 35592 w 609549"/>
                <a:gd name="connsiteY5" fmla="*/ 513644 h 586216"/>
                <a:gd name="connsiteX6" fmla="*/ 51877 w 609549"/>
                <a:gd name="connsiteY6" fmla="*/ 388099 h 586216"/>
                <a:gd name="connsiteX7" fmla="*/ 61288 w 609549"/>
                <a:gd name="connsiteY7" fmla="*/ 383285 h 586216"/>
                <a:gd name="connsiteX8" fmla="*/ 235245 w 609549"/>
                <a:gd name="connsiteY8" fmla="*/ 302810 h 586216"/>
                <a:gd name="connsiteX9" fmla="*/ 306042 w 609549"/>
                <a:gd name="connsiteY9" fmla="*/ 373466 h 586216"/>
                <a:gd name="connsiteX10" fmla="*/ 258717 w 609549"/>
                <a:gd name="connsiteY10" fmla="*/ 420680 h 586216"/>
                <a:gd name="connsiteX11" fmla="*/ 230246 w 609549"/>
                <a:gd name="connsiteY11" fmla="*/ 550152 h 586216"/>
                <a:gd name="connsiteX12" fmla="*/ 92223 w 609549"/>
                <a:gd name="connsiteY12" fmla="*/ 575305 h 586216"/>
                <a:gd name="connsiteX13" fmla="*/ 88748 w 609549"/>
                <a:gd name="connsiteY13" fmla="*/ 556143 h 586216"/>
                <a:gd name="connsiteX14" fmla="*/ 165115 w 609549"/>
                <a:gd name="connsiteY14" fmla="*/ 479877 h 586216"/>
                <a:gd name="connsiteX15" fmla="*/ 165115 w 609549"/>
                <a:gd name="connsiteY15" fmla="*/ 446308 h 586216"/>
                <a:gd name="connsiteX16" fmla="*/ 88700 w 609549"/>
                <a:gd name="connsiteY16" fmla="*/ 369995 h 586216"/>
                <a:gd name="connsiteX17" fmla="*/ 92128 w 609549"/>
                <a:gd name="connsiteY17" fmla="*/ 350976 h 586216"/>
                <a:gd name="connsiteX18" fmla="*/ 189111 w 609549"/>
                <a:gd name="connsiteY18" fmla="*/ 348884 h 586216"/>
                <a:gd name="connsiteX19" fmla="*/ 257958 w 609549"/>
                <a:gd name="connsiteY19" fmla="*/ 161679 h 586216"/>
                <a:gd name="connsiteX20" fmla="*/ 317251 w 609549"/>
                <a:gd name="connsiteY20" fmla="*/ 220879 h 586216"/>
                <a:gd name="connsiteX21" fmla="*/ 388070 w 609549"/>
                <a:gd name="connsiteY21" fmla="*/ 291586 h 586216"/>
                <a:gd name="connsiteX22" fmla="*/ 604906 w 609549"/>
                <a:gd name="connsiteY22" fmla="*/ 508130 h 586216"/>
                <a:gd name="connsiteX23" fmla="*/ 604906 w 609549"/>
                <a:gd name="connsiteY23" fmla="*/ 530526 h 586216"/>
                <a:gd name="connsiteX24" fmla="*/ 556567 w 609549"/>
                <a:gd name="connsiteY24" fmla="*/ 578789 h 586216"/>
                <a:gd name="connsiteX25" fmla="*/ 545327 w 609549"/>
                <a:gd name="connsiteY25" fmla="*/ 583449 h 586216"/>
                <a:gd name="connsiteX26" fmla="*/ 534135 w 609549"/>
                <a:gd name="connsiteY26" fmla="*/ 578789 h 586216"/>
                <a:gd name="connsiteX27" fmla="*/ 317251 w 609549"/>
                <a:gd name="connsiteY27" fmla="*/ 362293 h 586216"/>
                <a:gd name="connsiteX28" fmla="*/ 246481 w 609549"/>
                <a:gd name="connsiteY28" fmla="*/ 291586 h 586216"/>
                <a:gd name="connsiteX29" fmla="*/ 187140 w 609549"/>
                <a:gd name="connsiteY29" fmla="*/ 232339 h 586216"/>
                <a:gd name="connsiteX30" fmla="*/ 58606 w 609549"/>
                <a:gd name="connsiteY30" fmla="*/ 160814 h 586216"/>
                <a:gd name="connsiteX31" fmla="*/ 126401 w 609549"/>
                <a:gd name="connsiteY31" fmla="*/ 228498 h 586216"/>
                <a:gd name="connsiteX32" fmla="*/ 111975 w 609549"/>
                <a:gd name="connsiteY32" fmla="*/ 242899 h 586216"/>
                <a:gd name="connsiteX33" fmla="*/ 119307 w 609549"/>
                <a:gd name="connsiteY33" fmla="*/ 250219 h 586216"/>
                <a:gd name="connsiteX34" fmla="*/ 119307 w 609549"/>
                <a:gd name="connsiteY34" fmla="*/ 277692 h 586216"/>
                <a:gd name="connsiteX35" fmla="*/ 115641 w 609549"/>
                <a:gd name="connsiteY35" fmla="*/ 281352 h 586216"/>
                <a:gd name="connsiteX36" fmla="*/ 88123 w 609549"/>
                <a:gd name="connsiteY36" fmla="*/ 281352 h 586216"/>
                <a:gd name="connsiteX37" fmla="*/ 5712 w 609549"/>
                <a:gd name="connsiteY37" fmla="*/ 199029 h 586216"/>
                <a:gd name="connsiteX38" fmla="*/ 5712 w 609549"/>
                <a:gd name="connsiteY38" fmla="*/ 171604 h 586216"/>
                <a:gd name="connsiteX39" fmla="*/ 9378 w 609549"/>
                <a:gd name="connsiteY39" fmla="*/ 167944 h 586216"/>
                <a:gd name="connsiteX40" fmla="*/ 36849 w 609549"/>
                <a:gd name="connsiteY40" fmla="*/ 167944 h 586216"/>
                <a:gd name="connsiteX41" fmla="*/ 44180 w 609549"/>
                <a:gd name="connsiteY41" fmla="*/ 175264 h 586216"/>
                <a:gd name="connsiteX42" fmla="*/ 585775 w 609549"/>
                <a:gd name="connsiteY42" fmla="*/ 66370 h 586216"/>
                <a:gd name="connsiteX43" fmla="*/ 595263 w 609549"/>
                <a:gd name="connsiteY43" fmla="*/ 73839 h 586216"/>
                <a:gd name="connsiteX44" fmla="*/ 578978 w 609549"/>
                <a:gd name="connsiteY44" fmla="*/ 199341 h 586216"/>
                <a:gd name="connsiteX45" fmla="*/ 559693 w 609549"/>
                <a:gd name="connsiteY45" fmla="*/ 200387 h 586216"/>
                <a:gd name="connsiteX46" fmla="*/ 510789 w 609549"/>
                <a:gd name="connsiteY46" fmla="*/ 151612 h 586216"/>
                <a:gd name="connsiteX47" fmla="*/ 510789 w 609549"/>
                <a:gd name="connsiteY47" fmla="*/ 133262 h 586216"/>
                <a:gd name="connsiteX48" fmla="*/ 574216 w 609549"/>
                <a:gd name="connsiteY48" fmla="*/ 69988 h 586216"/>
                <a:gd name="connsiteX49" fmla="*/ 585775 w 609549"/>
                <a:gd name="connsiteY49" fmla="*/ 66370 h 586216"/>
                <a:gd name="connsiteX50" fmla="*/ 158702 w 609549"/>
                <a:gd name="connsiteY50" fmla="*/ 26758 h 586216"/>
                <a:gd name="connsiteX51" fmla="*/ 172463 w 609549"/>
                <a:gd name="connsiteY51" fmla="*/ 32464 h 586216"/>
                <a:gd name="connsiteX52" fmla="*/ 179701 w 609549"/>
                <a:gd name="connsiteY52" fmla="*/ 39691 h 586216"/>
                <a:gd name="connsiteX53" fmla="*/ 246935 w 609549"/>
                <a:gd name="connsiteY53" fmla="*/ 106831 h 586216"/>
                <a:gd name="connsiteX54" fmla="*/ 254886 w 609549"/>
                <a:gd name="connsiteY54" fmla="*/ 114819 h 586216"/>
                <a:gd name="connsiteX55" fmla="*/ 257600 w 609549"/>
                <a:gd name="connsiteY55" fmla="*/ 138879 h 586216"/>
                <a:gd name="connsiteX56" fmla="*/ 254886 w 609549"/>
                <a:gd name="connsiteY56" fmla="*/ 142255 h 586216"/>
                <a:gd name="connsiteX57" fmla="*/ 252315 w 609549"/>
                <a:gd name="connsiteY57" fmla="*/ 144823 h 586216"/>
                <a:gd name="connsiteX58" fmla="*/ 246696 w 609549"/>
                <a:gd name="connsiteY58" fmla="*/ 150434 h 586216"/>
                <a:gd name="connsiteX59" fmla="*/ 175892 w 609549"/>
                <a:gd name="connsiteY59" fmla="*/ 221140 h 586216"/>
                <a:gd name="connsiteX60" fmla="*/ 172463 w 609549"/>
                <a:gd name="connsiteY60" fmla="*/ 224611 h 586216"/>
                <a:gd name="connsiteX61" fmla="*/ 170130 w 609549"/>
                <a:gd name="connsiteY61" fmla="*/ 226560 h 586216"/>
                <a:gd name="connsiteX62" fmla="*/ 162274 w 609549"/>
                <a:gd name="connsiteY62" fmla="*/ 229936 h 586216"/>
                <a:gd name="connsiteX63" fmla="*/ 158702 w 609549"/>
                <a:gd name="connsiteY63" fmla="*/ 230269 h 586216"/>
                <a:gd name="connsiteX64" fmla="*/ 144942 w 609549"/>
                <a:gd name="connsiteY64" fmla="*/ 224611 h 586216"/>
                <a:gd name="connsiteX65" fmla="*/ 137609 w 609549"/>
                <a:gd name="connsiteY65" fmla="*/ 217288 h 586216"/>
                <a:gd name="connsiteX66" fmla="*/ 69804 w 609549"/>
                <a:gd name="connsiteY66" fmla="*/ 149578 h 586216"/>
                <a:gd name="connsiteX67" fmla="*/ 62519 w 609549"/>
                <a:gd name="connsiteY67" fmla="*/ 142255 h 586216"/>
                <a:gd name="connsiteX68" fmla="*/ 62519 w 609549"/>
                <a:gd name="connsiteY68" fmla="*/ 114819 h 586216"/>
                <a:gd name="connsiteX69" fmla="*/ 144942 w 609549"/>
                <a:gd name="connsiteY69" fmla="*/ 32464 h 586216"/>
                <a:gd name="connsiteX70" fmla="*/ 158702 w 609549"/>
                <a:gd name="connsiteY70" fmla="*/ 26758 h 586216"/>
                <a:gd name="connsiteX71" fmla="*/ 254809 w 609549"/>
                <a:gd name="connsiteY71" fmla="*/ 6542 h 586216"/>
                <a:gd name="connsiteX72" fmla="*/ 321015 w 609549"/>
                <a:gd name="connsiteY72" fmla="*/ 29913 h 586216"/>
                <a:gd name="connsiteX73" fmla="*/ 260017 w 609549"/>
                <a:gd name="connsiteY73" fmla="*/ 97465 h 586216"/>
                <a:gd name="connsiteX74" fmla="*/ 193067 w 609549"/>
                <a:gd name="connsiteY74" fmla="*/ 30626 h 586216"/>
                <a:gd name="connsiteX75" fmla="*/ 254809 w 609549"/>
                <a:gd name="connsiteY75" fmla="*/ 6542 h 586216"/>
                <a:gd name="connsiteX76" fmla="*/ 503105 w 609549"/>
                <a:gd name="connsiteY76" fmla="*/ 953 h 586216"/>
                <a:gd name="connsiteX77" fmla="*/ 538560 w 609549"/>
                <a:gd name="connsiteY77" fmla="*/ 10911 h 586216"/>
                <a:gd name="connsiteX78" fmla="*/ 542083 w 609549"/>
                <a:gd name="connsiteY78" fmla="*/ 30073 h 586216"/>
                <a:gd name="connsiteX79" fmla="*/ 465709 w 609549"/>
                <a:gd name="connsiteY79" fmla="*/ 106341 h 586216"/>
                <a:gd name="connsiteX80" fmla="*/ 465709 w 609549"/>
                <a:gd name="connsiteY80" fmla="*/ 139911 h 586216"/>
                <a:gd name="connsiteX81" fmla="*/ 542131 w 609549"/>
                <a:gd name="connsiteY81" fmla="*/ 216227 h 586216"/>
                <a:gd name="connsiteX82" fmla="*/ 538655 w 609549"/>
                <a:gd name="connsiteY82" fmla="*/ 235246 h 586216"/>
                <a:gd name="connsiteX83" fmla="*/ 442187 w 609549"/>
                <a:gd name="connsiteY83" fmla="*/ 237528 h 586216"/>
                <a:gd name="connsiteX84" fmla="*/ 399238 w 609549"/>
                <a:gd name="connsiteY84" fmla="*/ 280370 h 586216"/>
                <a:gd name="connsiteX85" fmla="*/ 328482 w 609549"/>
                <a:gd name="connsiteY85" fmla="*/ 209712 h 586216"/>
                <a:gd name="connsiteX86" fmla="*/ 372240 w 609549"/>
                <a:gd name="connsiteY86" fmla="*/ 166015 h 586216"/>
                <a:gd name="connsiteX87" fmla="*/ 400571 w 609549"/>
                <a:gd name="connsiteY87" fmla="*/ 36064 h 586216"/>
                <a:gd name="connsiteX88" fmla="*/ 503105 w 609549"/>
                <a:gd name="connsiteY88" fmla="*/ 953 h 586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609549" h="586216">
                  <a:moveTo>
                    <a:pt x="61288" y="383285"/>
                  </a:moveTo>
                  <a:cubicBezTo>
                    <a:pt x="64829" y="383106"/>
                    <a:pt x="68448" y="384367"/>
                    <a:pt x="71162" y="387101"/>
                  </a:cubicBezTo>
                  <a:lnTo>
                    <a:pt x="120018" y="435892"/>
                  </a:lnTo>
                  <a:cubicBezTo>
                    <a:pt x="125113" y="440933"/>
                    <a:pt x="125113" y="449160"/>
                    <a:pt x="120018" y="454200"/>
                  </a:cubicBezTo>
                  <a:lnTo>
                    <a:pt x="56639" y="517543"/>
                  </a:lnTo>
                  <a:cubicBezTo>
                    <a:pt x="50211" y="523963"/>
                    <a:pt x="39211" y="522013"/>
                    <a:pt x="35592" y="513644"/>
                  </a:cubicBezTo>
                  <a:cubicBezTo>
                    <a:pt x="17783" y="472794"/>
                    <a:pt x="23211" y="424288"/>
                    <a:pt x="51877" y="388099"/>
                  </a:cubicBezTo>
                  <a:cubicBezTo>
                    <a:pt x="54282" y="385079"/>
                    <a:pt x="57746" y="383463"/>
                    <a:pt x="61288" y="383285"/>
                  </a:cubicBezTo>
                  <a:close/>
                  <a:moveTo>
                    <a:pt x="235245" y="302810"/>
                  </a:moveTo>
                  <a:lnTo>
                    <a:pt x="306042" y="373466"/>
                  </a:lnTo>
                  <a:lnTo>
                    <a:pt x="258717" y="420680"/>
                  </a:lnTo>
                  <a:cubicBezTo>
                    <a:pt x="274667" y="464329"/>
                    <a:pt x="265192" y="515300"/>
                    <a:pt x="230246" y="550152"/>
                  </a:cubicBezTo>
                  <a:cubicBezTo>
                    <a:pt x="192919" y="587430"/>
                    <a:pt x="137644" y="595798"/>
                    <a:pt x="92223" y="575305"/>
                  </a:cubicBezTo>
                  <a:cubicBezTo>
                    <a:pt x="84701" y="571882"/>
                    <a:pt x="82892" y="561992"/>
                    <a:pt x="88748" y="556143"/>
                  </a:cubicBezTo>
                  <a:lnTo>
                    <a:pt x="165115" y="479877"/>
                  </a:lnTo>
                  <a:cubicBezTo>
                    <a:pt x="174399" y="470605"/>
                    <a:pt x="174399" y="455580"/>
                    <a:pt x="165115" y="446308"/>
                  </a:cubicBezTo>
                  <a:lnTo>
                    <a:pt x="88700" y="369995"/>
                  </a:lnTo>
                  <a:cubicBezTo>
                    <a:pt x="82844" y="364194"/>
                    <a:pt x="84653" y="354399"/>
                    <a:pt x="92128" y="350976"/>
                  </a:cubicBezTo>
                  <a:cubicBezTo>
                    <a:pt x="122789" y="337092"/>
                    <a:pt x="157973" y="336379"/>
                    <a:pt x="189111" y="348884"/>
                  </a:cubicBezTo>
                  <a:close/>
                  <a:moveTo>
                    <a:pt x="257958" y="161679"/>
                  </a:moveTo>
                  <a:lnTo>
                    <a:pt x="317251" y="220879"/>
                  </a:lnTo>
                  <a:lnTo>
                    <a:pt x="388070" y="291586"/>
                  </a:lnTo>
                  <a:lnTo>
                    <a:pt x="604906" y="508130"/>
                  </a:lnTo>
                  <a:cubicBezTo>
                    <a:pt x="611097" y="514311"/>
                    <a:pt x="611097" y="524344"/>
                    <a:pt x="604906" y="530526"/>
                  </a:cubicBezTo>
                  <a:lnTo>
                    <a:pt x="556567" y="578789"/>
                  </a:lnTo>
                  <a:cubicBezTo>
                    <a:pt x="553471" y="581880"/>
                    <a:pt x="549423" y="583449"/>
                    <a:pt x="545327" y="583449"/>
                  </a:cubicBezTo>
                  <a:cubicBezTo>
                    <a:pt x="541279" y="583449"/>
                    <a:pt x="537231" y="581880"/>
                    <a:pt x="534135" y="578789"/>
                  </a:cubicBezTo>
                  <a:lnTo>
                    <a:pt x="317251" y="362293"/>
                  </a:lnTo>
                  <a:lnTo>
                    <a:pt x="246481" y="291586"/>
                  </a:lnTo>
                  <a:lnTo>
                    <a:pt x="187140" y="232339"/>
                  </a:lnTo>
                  <a:close/>
                  <a:moveTo>
                    <a:pt x="58606" y="160814"/>
                  </a:moveTo>
                  <a:lnTo>
                    <a:pt x="126401" y="228498"/>
                  </a:lnTo>
                  <a:lnTo>
                    <a:pt x="111975" y="242899"/>
                  </a:lnTo>
                  <a:lnTo>
                    <a:pt x="119307" y="250219"/>
                  </a:lnTo>
                  <a:cubicBezTo>
                    <a:pt x="126877" y="257824"/>
                    <a:pt x="126877" y="270087"/>
                    <a:pt x="119307" y="277692"/>
                  </a:cubicBezTo>
                  <a:lnTo>
                    <a:pt x="115641" y="281352"/>
                  </a:lnTo>
                  <a:cubicBezTo>
                    <a:pt x="108024" y="288909"/>
                    <a:pt x="95741" y="288909"/>
                    <a:pt x="88123" y="281352"/>
                  </a:cubicBezTo>
                  <a:lnTo>
                    <a:pt x="5712" y="199029"/>
                  </a:lnTo>
                  <a:cubicBezTo>
                    <a:pt x="-1905" y="191424"/>
                    <a:pt x="-1905" y="179161"/>
                    <a:pt x="5712" y="171604"/>
                  </a:cubicBezTo>
                  <a:lnTo>
                    <a:pt x="9378" y="167944"/>
                  </a:lnTo>
                  <a:cubicBezTo>
                    <a:pt x="16948" y="160339"/>
                    <a:pt x="29231" y="160339"/>
                    <a:pt x="36849" y="167944"/>
                  </a:cubicBezTo>
                  <a:lnTo>
                    <a:pt x="44180" y="175264"/>
                  </a:lnTo>
                  <a:close/>
                  <a:moveTo>
                    <a:pt x="585775" y="66370"/>
                  </a:moveTo>
                  <a:cubicBezTo>
                    <a:pt x="589775" y="67101"/>
                    <a:pt x="593430" y="69680"/>
                    <a:pt x="595263" y="73839"/>
                  </a:cubicBezTo>
                  <a:cubicBezTo>
                    <a:pt x="613072" y="114675"/>
                    <a:pt x="607644" y="163212"/>
                    <a:pt x="578978" y="199341"/>
                  </a:cubicBezTo>
                  <a:cubicBezTo>
                    <a:pt x="574168" y="205379"/>
                    <a:pt x="565121" y="205854"/>
                    <a:pt x="559693" y="200387"/>
                  </a:cubicBezTo>
                  <a:lnTo>
                    <a:pt x="510789" y="151612"/>
                  </a:lnTo>
                  <a:cubicBezTo>
                    <a:pt x="505742" y="146526"/>
                    <a:pt x="505742" y="138349"/>
                    <a:pt x="510789" y="133262"/>
                  </a:cubicBezTo>
                  <a:lnTo>
                    <a:pt x="574216" y="69988"/>
                  </a:lnTo>
                  <a:cubicBezTo>
                    <a:pt x="577430" y="66756"/>
                    <a:pt x="581775" y="65639"/>
                    <a:pt x="585775" y="66370"/>
                  </a:cubicBezTo>
                  <a:close/>
                  <a:moveTo>
                    <a:pt x="158702" y="26758"/>
                  </a:moveTo>
                  <a:cubicBezTo>
                    <a:pt x="163655" y="26758"/>
                    <a:pt x="168654" y="28660"/>
                    <a:pt x="172463" y="32464"/>
                  </a:cubicBezTo>
                  <a:lnTo>
                    <a:pt x="179701" y="39691"/>
                  </a:lnTo>
                  <a:lnTo>
                    <a:pt x="246935" y="106831"/>
                  </a:lnTo>
                  <a:lnTo>
                    <a:pt x="254886" y="114819"/>
                  </a:lnTo>
                  <a:cubicBezTo>
                    <a:pt x="261457" y="121334"/>
                    <a:pt x="262362" y="131414"/>
                    <a:pt x="257600" y="138879"/>
                  </a:cubicBezTo>
                  <a:cubicBezTo>
                    <a:pt x="256839" y="140068"/>
                    <a:pt x="255934" y="141209"/>
                    <a:pt x="254886" y="142255"/>
                  </a:cubicBezTo>
                  <a:lnTo>
                    <a:pt x="252315" y="144823"/>
                  </a:lnTo>
                  <a:lnTo>
                    <a:pt x="246696" y="150434"/>
                  </a:lnTo>
                  <a:lnTo>
                    <a:pt x="175892" y="221140"/>
                  </a:lnTo>
                  <a:lnTo>
                    <a:pt x="172463" y="224611"/>
                  </a:lnTo>
                  <a:cubicBezTo>
                    <a:pt x="171702" y="225324"/>
                    <a:pt x="170940" y="225990"/>
                    <a:pt x="170130" y="226560"/>
                  </a:cubicBezTo>
                  <a:cubicBezTo>
                    <a:pt x="167749" y="228319"/>
                    <a:pt x="165083" y="229413"/>
                    <a:pt x="162274" y="229936"/>
                  </a:cubicBezTo>
                  <a:cubicBezTo>
                    <a:pt x="161083" y="230174"/>
                    <a:pt x="159893" y="230269"/>
                    <a:pt x="158702" y="230269"/>
                  </a:cubicBezTo>
                  <a:cubicBezTo>
                    <a:pt x="153703" y="230269"/>
                    <a:pt x="148751" y="228367"/>
                    <a:pt x="144942" y="224611"/>
                  </a:cubicBezTo>
                  <a:lnTo>
                    <a:pt x="137609" y="217288"/>
                  </a:lnTo>
                  <a:lnTo>
                    <a:pt x="69804" y="149578"/>
                  </a:lnTo>
                  <a:lnTo>
                    <a:pt x="62519" y="142255"/>
                  </a:lnTo>
                  <a:cubicBezTo>
                    <a:pt x="54900" y="134647"/>
                    <a:pt x="54900" y="122380"/>
                    <a:pt x="62519" y="114819"/>
                  </a:cubicBezTo>
                  <a:lnTo>
                    <a:pt x="144942" y="32464"/>
                  </a:lnTo>
                  <a:cubicBezTo>
                    <a:pt x="148751" y="28660"/>
                    <a:pt x="153750" y="26758"/>
                    <a:pt x="158702" y="26758"/>
                  </a:cubicBezTo>
                  <a:close/>
                  <a:moveTo>
                    <a:pt x="254809" y="6542"/>
                  </a:moveTo>
                  <a:cubicBezTo>
                    <a:pt x="277279" y="4029"/>
                    <a:pt x="300492" y="9424"/>
                    <a:pt x="321015" y="29913"/>
                  </a:cubicBezTo>
                  <a:cubicBezTo>
                    <a:pt x="380347" y="89193"/>
                    <a:pt x="337205" y="46124"/>
                    <a:pt x="260017" y="97465"/>
                  </a:cubicBezTo>
                  <a:lnTo>
                    <a:pt x="193067" y="30626"/>
                  </a:lnTo>
                  <a:cubicBezTo>
                    <a:pt x="210614" y="19479"/>
                    <a:pt x="232340" y="9056"/>
                    <a:pt x="254809" y="6542"/>
                  </a:cubicBezTo>
                  <a:close/>
                  <a:moveTo>
                    <a:pt x="503105" y="953"/>
                  </a:moveTo>
                  <a:cubicBezTo>
                    <a:pt x="515252" y="2468"/>
                    <a:pt x="527216" y="5788"/>
                    <a:pt x="538560" y="10911"/>
                  </a:cubicBezTo>
                  <a:cubicBezTo>
                    <a:pt x="546131" y="14334"/>
                    <a:pt x="547940" y="24224"/>
                    <a:pt x="542083" y="30073"/>
                  </a:cubicBezTo>
                  <a:lnTo>
                    <a:pt x="465709" y="106341"/>
                  </a:lnTo>
                  <a:cubicBezTo>
                    <a:pt x="456424" y="115613"/>
                    <a:pt x="456424" y="130639"/>
                    <a:pt x="465709" y="139911"/>
                  </a:cubicBezTo>
                  <a:lnTo>
                    <a:pt x="542131" y="216227"/>
                  </a:lnTo>
                  <a:cubicBezTo>
                    <a:pt x="547940" y="222028"/>
                    <a:pt x="546178" y="231823"/>
                    <a:pt x="538655" y="235246"/>
                  </a:cubicBezTo>
                  <a:cubicBezTo>
                    <a:pt x="508181" y="249035"/>
                    <a:pt x="473184" y="249844"/>
                    <a:pt x="442187" y="237528"/>
                  </a:cubicBezTo>
                  <a:lnTo>
                    <a:pt x="399238" y="280370"/>
                  </a:lnTo>
                  <a:lnTo>
                    <a:pt x="328482" y="209712"/>
                  </a:lnTo>
                  <a:lnTo>
                    <a:pt x="372240" y="166015"/>
                  </a:lnTo>
                  <a:cubicBezTo>
                    <a:pt x="356051" y="122270"/>
                    <a:pt x="365527" y="71060"/>
                    <a:pt x="400571" y="36064"/>
                  </a:cubicBezTo>
                  <a:cubicBezTo>
                    <a:pt x="428569" y="8106"/>
                    <a:pt x="466664" y="-3592"/>
                    <a:pt x="503105" y="95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0" name="live-chat_72439"/>
            <p:cNvSpPr>
              <a:spLocks noChangeAspect="1"/>
            </p:cNvSpPr>
            <p:nvPr>
              <p:custDataLst>
                <p:tags r:id="rId15"/>
              </p:custDataLst>
            </p:nvPr>
          </p:nvSpPr>
          <p:spPr bwMode="auto">
            <a:xfrm>
              <a:off x="6605" y="6284"/>
              <a:ext cx="790" cy="789"/>
            </a:xfrm>
            <a:custGeom>
              <a:avLst/>
              <a:gdLst>
                <a:gd name="connsiteX0" fmla="*/ 290910 w 605702"/>
                <a:gd name="connsiteY0" fmla="*/ 156336 h 604568"/>
                <a:gd name="connsiteX1" fmla="*/ 335849 w 605702"/>
                <a:gd name="connsiteY1" fmla="*/ 164992 h 604568"/>
                <a:gd name="connsiteX2" fmla="*/ 288310 w 605702"/>
                <a:gd name="connsiteY2" fmla="*/ 212456 h 604568"/>
                <a:gd name="connsiteX3" fmla="*/ 203632 w 605702"/>
                <a:gd name="connsiteY3" fmla="*/ 244717 h 604568"/>
                <a:gd name="connsiteX4" fmla="*/ 203632 w 605702"/>
                <a:gd name="connsiteY4" fmla="*/ 401388 h 604568"/>
                <a:gd name="connsiteX5" fmla="*/ 360547 w 605702"/>
                <a:gd name="connsiteY5" fmla="*/ 401388 h 604568"/>
                <a:gd name="connsiteX6" fmla="*/ 392859 w 605702"/>
                <a:gd name="connsiteY6" fmla="*/ 316749 h 604568"/>
                <a:gd name="connsiteX7" fmla="*/ 440397 w 605702"/>
                <a:gd name="connsiteY7" fmla="*/ 269284 h 604568"/>
                <a:gd name="connsiteX8" fmla="*/ 400287 w 605702"/>
                <a:gd name="connsiteY8" fmla="*/ 441065 h 604568"/>
                <a:gd name="connsiteX9" fmla="*/ 163892 w 605702"/>
                <a:gd name="connsiteY9" fmla="*/ 441065 h 604568"/>
                <a:gd name="connsiteX10" fmla="*/ 163892 w 605702"/>
                <a:gd name="connsiteY10" fmla="*/ 205040 h 604568"/>
                <a:gd name="connsiteX11" fmla="*/ 290910 w 605702"/>
                <a:gd name="connsiteY11" fmla="*/ 156336 h 604568"/>
                <a:gd name="connsiteX12" fmla="*/ 246542 w 605702"/>
                <a:gd name="connsiteY12" fmla="*/ 43775 h 604568"/>
                <a:gd name="connsiteX13" fmla="*/ 422196 w 605702"/>
                <a:gd name="connsiteY13" fmla="*/ 78723 h 604568"/>
                <a:gd name="connsiteX14" fmla="*/ 376794 w 605702"/>
                <a:gd name="connsiteY14" fmla="*/ 124054 h 604568"/>
                <a:gd name="connsiteX15" fmla="*/ 126109 w 605702"/>
                <a:gd name="connsiteY15" fmla="*/ 167345 h 604568"/>
                <a:gd name="connsiteX16" fmla="*/ 126109 w 605702"/>
                <a:gd name="connsiteY16" fmla="*/ 478820 h 604568"/>
                <a:gd name="connsiteX17" fmla="*/ 438073 w 605702"/>
                <a:gd name="connsiteY17" fmla="*/ 478820 h 604568"/>
                <a:gd name="connsiteX18" fmla="*/ 481432 w 605702"/>
                <a:gd name="connsiteY18" fmla="*/ 228527 h 604568"/>
                <a:gd name="connsiteX19" fmla="*/ 526741 w 605702"/>
                <a:gd name="connsiteY19" fmla="*/ 183011 h 604568"/>
                <a:gd name="connsiteX20" fmla="*/ 481432 w 605702"/>
                <a:gd name="connsiteY20" fmla="*/ 522111 h 604568"/>
                <a:gd name="connsiteX21" fmla="*/ 82657 w 605702"/>
                <a:gd name="connsiteY21" fmla="*/ 522111 h 604568"/>
                <a:gd name="connsiteX22" fmla="*/ 82657 w 605702"/>
                <a:gd name="connsiteY22" fmla="*/ 123961 h 604568"/>
                <a:gd name="connsiteX23" fmla="*/ 246542 w 605702"/>
                <a:gd name="connsiteY23" fmla="*/ 43775 h 604568"/>
                <a:gd name="connsiteX24" fmla="*/ 536061 w 605702"/>
                <a:gd name="connsiteY24" fmla="*/ 0 h 604568"/>
                <a:gd name="connsiteX25" fmla="*/ 544232 w 605702"/>
                <a:gd name="connsiteY25" fmla="*/ 61368 h 604568"/>
                <a:gd name="connsiteX26" fmla="*/ 605702 w 605702"/>
                <a:gd name="connsiteY26" fmla="*/ 69526 h 604568"/>
                <a:gd name="connsiteX27" fmla="*/ 524361 w 605702"/>
                <a:gd name="connsiteY27" fmla="*/ 150732 h 604568"/>
                <a:gd name="connsiteX28" fmla="*/ 498361 w 605702"/>
                <a:gd name="connsiteY28" fmla="*/ 147302 h 604568"/>
                <a:gd name="connsiteX29" fmla="*/ 337721 w 605702"/>
                <a:gd name="connsiteY29" fmla="*/ 307767 h 604568"/>
                <a:gd name="connsiteX30" fmla="*/ 339764 w 605702"/>
                <a:gd name="connsiteY30" fmla="*/ 323063 h 604568"/>
                <a:gd name="connsiteX31" fmla="*/ 282101 w 605702"/>
                <a:gd name="connsiteY31" fmla="*/ 380630 h 604568"/>
                <a:gd name="connsiteX32" fmla="*/ 224437 w 605702"/>
                <a:gd name="connsiteY32" fmla="*/ 323063 h 604568"/>
                <a:gd name="connsiteX33" fmla="*/ 282101 w 605702"/>
                <a:gd name="connsiteY33" fmla="*/ 265495 h 604568"/>
                <a:gd name="connsiteX34" fmla="*/ 297422 w 605702"/>
                <a:gd name="connsiteY34" fmla="*/ 267535 h 604568"/>
                <a:gd name="connsiteX35" fmla="*/ 458155 w 605702"/>
                <a:gd name="connsiteY35" fmla="*/ 107162 h 604568"/>
                <a:gd name="connsiteX36" fmla="*/ 454719 w 605702"/>
                <a:gd name="connsiteY36" fmla="*/ 81206 h 604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5702" h="604568">
                  <a:moveTo>
                    <a:pt x="290910" y="156336"/>
                  </a:moveTo>
                  <a:cubicBezTo>
                    <a:pt x="306137" y="157147"/>
                    <a:pt x="321272" y="160032"/>
                    <a:pt x="335849" y="164992"/>
                  </a:cubicBezTo>
                  <a:lnTo>
                    <a:pt x="288310" y="212456"/>
                  </a:lnTo>
                  <a:cubicBezTo>
                    <a:pt x="257856" y="210695"/>
                    <a:pt x="226844" y="221449"/>
                    <a:pt x="203632" y="244717"/>
                  </a:cubicBezTo>
                  <a:cubicBezTo>
                    <a:pt x="160271" y="287918"/>
                    <a:pt x="160271" y="358187"/>
                    <a:pt x="203632" y="401388"/>
                  </a:cubicBezTo>
                  <a:cubicBezTo>
                    <a:pt x="246900" y="444680"/>
                    <a:pt x="317279" y="444680"/>
                    <a:pt x="360547" y="401388"/>
                  </a:cubicBezTo>
                  <a:cubicBezTo>
                    <a:pt x="383852" y="378211"/>
                    <a:pt x="394623" y="347156"/>
                    <a:pt x="392859" y="316749"/>
                  </a:cubicBezTo>
                  <a:lnTo>
                    <a:pt x="440397" y="269284"/>
                  </a:lnTo>
                  <a:cubicBezTo>
                    <a:pt x="460267" y="327595"/>
                    <a:pt x="446897" y="394620"/>
                    <a:pt x="400287" y="441065"/>
                  </a:cubicBezTo>
                  <a:cubicBezTo>
                    <a:pt x="335106" y="506236"/>
                    <a:pt x="229073" y="506236"/>
                    <a:pt x="163892" y="441065"/>
                  </a:cubicBezTo>
                  <a:cubicBezTo>
                    <a:pt x="98619" y="375987"/>
                    <a:pt x="98619" y="270118"/>
                    <a:pt x="163892" y="205040"/>
                  </a:cubicBezTo>
                  <a:cubicBezTo>
                    <a:pt x="198711" y="170137"/>
                    <a:pt x="245228" y="153902"/>
                    <a:pt x="290910" y="156336"/>
                  </a:cubicBezTo>
                  <a:close/>
                  <a:moveTo>
                    <a:pt x="246542" y="43775"/>
                  </a:moveTo>
                  <a:cubicBezTo>
                    <a:pt x="306463" y="36243"/>
                    <a:pt x="368345" y="47900"/>
                    <a:pt x="422196" y="78723"/>
                  </a:cubicBezTo>
                  <a:lnTo>
                    <a:pt x="376794" y="124054"/>
                  </a:lnTo>
                  <a:cubicBezTo>
                    <a:pt x="294811" y="85305"/>
                    <a:pt x="193980" y="99581"/>
                    <a:pt x="126109" y="167345"/>
                  </a:cubicBezTo>
                  <a:cubicBezTo>
                    <a:pt x="39948" y="253371"/>
                    <a:pt x="39948" y="392793"/>
                    <a:pt x="126109" y="478820"/>
                  </a:cubicBezTo>
                  <a:cubicBezTo>
                    <a:pt x="212271" y="564846"/>
                    <a:pt x="351912" y="564846"/>
                    <a:pt x="438073" y="478820"/>
                  </a:cubicBezTo>
                  <a:cubicBezTo>
                    <a:pt x="505944" y="411055"/>
                    <a:pt x="520428" y="310382"/>
                    <a:pt x="481432" y="228527"/>
                  </a:cubicBezTo>
                  <a:lnTo>
                    <a:pt x="526741" y="183011"/>
                  </a:lnTo>
                  <a:cubicBezTo>
                    <a:pt x="588484" y="290544"/>
                    <a:pt x="573350" y="430244"/>
                    <a:pt x="481432" y="522111"/>
                  </a:cubicBezTo>
                  <a:cubicBezTo>
                    <a:pt x="371316" y="632054"/>
                    <a:pt x="192866" y="632054"/>
                    <a:pt x="82657" y="522111"/>
                  </a:cubicBezTo>
                  <a:cubicBezTo>
                    <a:pt x="-27552" y="412168"/>
                    <a:pt x="-27552" y="233997"/>
                    <a:pt x="82657" y="123961"/>
                  </a:cubicBezTo>
                  <a:cubicBezTo>
                    <a:pt x="128662" y="78028"/>
                    <a:pt x="186622" y="51307"/>
                    <a:pt x="246542" y="43775"/>
                  </a:cubicBezTo>
                  <a:close/>
                  <a:moveTo>
                    <a:pt x="536061" y="0"/>
                  </a:moveTo>
                  <a:lnTo>
                    <a:pt x="544232" y="61368"/>
                  </a:lnTo>
                  <a:lnTo>
                    <a:pt x="605702" y="69526"/>
                  </a:lnTo>
                  <a:lnTo>
                    <a:pt x="524361" y="150732"/>
                  </a:lnTo>
                  <a:lnTo>
                    <a:pt x="498361" y="147302"/>
                  </a:lnTo>
                  <a:lnTo>
                    <a:pt x="337721" y="307767"/>
                  </a:lnTo>
                  <a:cubicBezTo>
                    <a:pt x="339021" y="312588"/>
                    <a:pt x="339764" y="317779"/>
                    <a:pt x="339764" y="323063"/>
                  </a:cubicBezTo>
                  <a:cubicBezTo>
                    <a:pt x="339764" y="354859"/>
                    <a:pt x="313950" y="380630"/>
                    <a:pt x="282101" y="380630"/>
                  </a:cubicBezTo>
                  <a:cubicBezTo>
                    <a:pt x="250251" y="380630"/>
                    <a:pt x="224437" y="354859"/>
                    <a:pt x="224437" y="323063"/>
                  </a:cubicBezTo>
                  <a:cubicBezTo>
                    <a:pt x="224437" y="291266"/>
                    <a:pt x="250251" y="265495"/>
                    <a:pt x="282101" y="265495"/>
                  </a:cubicBezTo>
                  <a:cubicBezTo>
                    <a:pt x="287393" y="265495"/>
                    <a:pt x="292500" y="266237"/>
                    <a:pt x="297422" y="267535"/>
                  </a:cubicBezTo>
                  <a:lnTo>
                    <a:pt x="458155" y="107162"/>
                  </a:lnTo>
                  <a:lnTo>
                    <a:pt x="454719" y="81206"/>
                  </a:lnTo>
                  <a:close/>
                </a:path>
              </a:pathLst>
            </a:custGeom>
            <a:solidFill>
              <a:srgbClr val="72719F"/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1" name="任意多边形 110"/>
            <p:cNvSpPr/>
            <p:nvPr>
              <p:custDataLst>
                <p:tags r:id="rId16"/>
              </p:custDataLst>
            </p:nvPr>
          </p:nvSpPr>
          <p:spPr bwMode="auto">
            <a:xfrm>
              <a:off x="6057" y="7789"/>
              <a:ext cx="867" cy="641"/>
            </a:xfrm>
            <a:custGeom>
              <a:avLst/>
              <a:gdLst>
                <a:gd name="T0" fmla="*/ 278945 h 440259"/>
                <a:gd name="T1" fmla="*/ 278945 h 440259"/>
                <a:gd name="T2" fmla="*/ 278945 h 440259"/>
                <a:gd name="T3" fmla="*/ 278945 h 440259"/>
                <a:gd name="T4" fmla="*/ 278945 h 440259"/>
                <a:gd name="T5" fmla="*/ 278945 h 440259"/>
                <a:gd name="T6" fmla="*/ 278945 h 440259"/>
                <a:gd name="T7" fmla="*/ 278945 h 440259"/>
                <a:gd name="T8" fmla="*/ 278945 h 440259"/>
                <a:gd name="T9" fmla="*/ 278945 h 440259"/>
                <a:gd name="T10" fmla="*/ 278945 h 440259"/>
                <a:gd name="T11" fmla="*/ 278945 h 440259"/>
                <a:gd name="T12" fmla="*/ 278945 h 440259"/>
                <a:gd name="T13" fmla="*/ 278945 h 440259"/>
                <a:gd name="T14" fmla="*/ 278945 h 440259"/>
                <a:gd name="T15" fmla="*/ 278945 h 440259"/>
                <a:gd name="T16" fmla="*/ 278945 h 440259"/>
                <a:gd name="T17" fmla="*/ 278945 h 440259"/>
                <a:gd name="T18" fmla="*/ 278945 h 440259"/>
                <a:gd name="T19" fmla="*/ 278945 h 440259"/>
                <a:gd name="T20" fmla="*/ 278945 h 440259"/>
                <a:gd name="T21" fmla="*/ 278945 h 440259"/>
                <a:gd name="T22" fmla="*/ 278945 h 440259"/>
                <a:gd name="T23" fmla="*/ 278945 h 440259"/>
                <a:gd name="T24" fmla="*/ 278945 h 440259"/>
                <a:gd name="T25" fmla="*/ 278945 h 440259"/>
                <a:gd name="T26" fmla="*/ 278945 h 440259"/>
                <a:gd name="T27" fmla="*/ 278945 h 440259"/>
                <a:gd name="T28" fmla="*/ 278945 h 440259"/>
                <a:gd name="T29" fmla="*/ 278945 h 440259"/>
                <a:gd name="T30" fmla="*/ 88862 h 440259"/>
                <a:gd name="T31" fmla="*/ 88862 h 440259"/>
                <a:gd name="T32" fmla="*/ 278945 h 440259"/>
                <a:gd name="T33" fmla="*/ 278945 h 440259"/>
                <a:gd name="T34" fmla="*/ 278945 h 440259"/>
                <a:gd name="T35" fmla="*/ 278945 h 440259"/>
                <a:gd name="T36" fmla="*/ 278945 h 440259"/>
                <a:gd name="T37" fmla="*/ 278945 h 440259"/>
                <a:gd name="T38" fmla="*/ 278945 h 440259"/>
                <a:gd name="T39" fmla="*/ 278945 h 440259"/>
                <a:gd name="T40" fmla="*/ 278945 h 440259"/>
                <a:gd name="T41" fmla="*/ 278945 h 440259"/>
                <a:gd name="T42" fmla="*/ 278945 h 440259"/>
                <a:gd name="T43" fmla="*/ 278945 h 440259"/>
                <a:gd name="T44" fmla="*/ 278945 h 440259"/>
                <a:gd name="T45" fmla="*/ 278945 h 440259"/>
                <a:gd name="T46" fmla="*/ 278945 h 440259"/>
                <a:gd name="T47" fmla="*/ 278945 h 440259"/>
                <a:gd name="T48" fmla="*/ 278945 h 440259"/>
                <a:gd name="T49" fmla="*/ 278945 h 440259"/>
                <a:gd name="T50" fmla="*/ 278945 h 440259"/>
                <a:gd name="T51" fmla="*/ 278945 h 440259"/>
                <a:gd name="T52" fmla="*/ 278945 h 440259"/>
                <a:gd name="T53" fmla="*/ 278945 h 440259"/>
                <a:gd name="T54" fmla="*/ 278945 h 440259"/>
                <a:gd name="T55" fmla="*/ 278945 h 440259"/>
                <a:gd name="T56" fmla="*/ 278945 h 440259"/>
                <a:gd name="T57" fmla="*/ 278945 h 440259"/>
                <a:gd name="T58" fmla="*/ 278945 h 440259"/>
                <a:gd name="T59" fmla="*/ 278945 h 440259"/>
                <a:gd name="T60" fmla="*/ 278945 h 440259"/>
                <a:gd name="T61" fmla="*/ 278945 h 440259"/>
                <a:gd name="T62" fmla="*/ 278945 h 440259"/>
                <a:gd name="T63" fmla="*/ 278945 h 440259"/>
                <a:gd name="T64" fmla="*/ 278945 h 440259"/>
                <a:gd name="T65" fmla="*/ 278945 h 440259"/>
                <a:gd name="T66" fmla="*/ 278945 h 440259"/>
                <a:gd name="T67" fmla="*/ 278945 h 440259"/>
                <a:gd name="T68" fmla="*/ 278945 h 440259"/>
                <a:gd name="T69" fmla="*/ 278945 h 440259"/>
                <a:gd name="T70" fmla="*/ 278945 h 440259"/>
                <a:gd name="T71" fmla="*/ 278945 h 440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608" h="4896">
                  <a:moveTo>
                    <a:pt x="6608" y="638"/>
                  </a:moveTo>
                  <a:lnTo>
                    <a:pt x="6608" y="2638"/>
                  </a:lnTo>
                  <a:cubicBezTo>
                    <a:pt x="6608" y="2638"/>
                    <a:pt x="6180" y="2723"/>
                    <a:pt x="6092" y="2734"/>
                  </a:cubicBezTo>
                  <a:cubicBezTo>
                    <a:pt x="6004" y="2745"/>
                    <a:pt x="5728" y="2834"/>
                    <a:pt x="5528" y="2642"/>
                  </a:cubicBezTo>
                  <a:cubicBezTo>
                    <a:pt x="5219" y="2346"/>
                    <a:pt x="4122" y="1254"/>
                    <a:pt x="4122" y="1254"/>
                  </a:cubicBezTo>
                  <a:cubicBezTo>
                    <a:pt x="4122" y="1254"/>
                    <a:pt x="3932" y="1069"/>
                    <a:pt x="3629" y="1229"/>
                  </a:cubicBezTo>
                  <a:cubicBezTo>
                    <a:pt x="3350" y="1376"/>
                    <a:pt x="2936" y="1592"/>
                    <a:pt x="2764" y="1675"/>
                  </a:cubicBezTo>
                  <a:cubicBezTo>
                    <a:pt x="2437" y="1849"/>
                    <a:pt x="2167" y="1574"/>
                    <a:pt x="2167" y="1364"/>
                  </a:cubicBezTo>
                  <a:cubicBezTo>
                    <a:pt x="2167" y="1201"/>
                    <a:pt x="2269" y="1090"/>
                    <a:pt x="2414" y="1009"/>
                  </a:cubicBezTo>
                  <a:cubicBezTo>
                    <a:pt x="2808" y="770"/>
                    <a:pt x="3637" y="305"/>
                    <a:pt x="3983" y="121"/>
                  </a:cubicBezTo>
                  <a:cubicBezTo>
                    <a:pt x="4193" y="9"/>
                    <a:pt x="4344" y="0"/>
                    <a:pt x="4633" y="243"/>
                  </a:cubicBezTo>
                  <a:cubicBezTo>
                    <a:pt x="4988" y="541"/>
                    <a:pt x="5304" y="814"/>
                    <a:pt x="5304" y="814"/>
                  </a:cubicBezTo>
                  <a:cubicBezTo>
                    <a:pt x="5304" y="814"/>
                    <a:pt x="5407" y="900"/>
                    <a:pt x="5571" y="865"/>
                  </a:cubicBezTo>
                  <a:cubicBezTo>
                    <a:pt x="5975" y="780"/>
                    <a:pt x="6608" y="638"/>
                    <a:pt x="6608" y="638"/>
                  </a:cubicBezTo>
                  <a:close/>
                  <a:moveTo>
                    <a:pt x="2241" y="4027"/>
                  </a:moveTo>
                  <a:cubicBezTo>
                    <a:pt x="2294" y="3891"/>
                    <a:pt x="2277" y="3738"/>
                    <a:pt x="2175" y="3633"/>
                  </a:cubicBezTo>
                  <a:cubicBezTo>
                    <a:pt x="2083" y="3540"/>
                    <a:pt x="1950" y="3515"/>
                    <a:pt x="1822" y="3544"/>
                  </a:cubicBezTo>
                  <a:cubicBezTo>
                    <a:pt x="1858" y="3418"/>
                    <a:pt x="1838" y="3283"/>
                    <a:pt x="1746" y="3188"/>
                  </a:cubicBezTo>
                  <a:cubicBezTo>
                    <a:pt x="1654" y="3095"/>
                    <a:pt x="1521" y="3070"/>
                    <a:pt x="1394" y="3099"/>
                  </a:cubicBezTo>
                  <a:cubicBezTo>
                    <a:pt x="1429" y="2973"/>
                    <a:pt x="1409" y="2838"/>
                    <a:pt x="1317" y="2744"/>
                  </a:cubicBezTo>
                  <a:cubicBezTo>
                    <a:pt x="1173" y="2596"/>
                    <a:pt x="924" y="2602"/>
                    <a:pt x="760" y="2758"/>
                  </a:cubicBezTo>
                  <a:cubicBezTo>
                    <a:pt x="597" y="2915"/>
                    <a:pt x="492" y="3198"/>
                    <a:pt x="638" y="3365"/>
                  </a:cubicBezTo>
                  <a:cubicBezTo>
                    <a:pt x="783" y="3531"/>
                    <a:pt x="950" y="3430"/>
                    <a:pt x="1077" y="3401"/>
                  </a:cubicBezTo>
                  <a:cubicBezTo>
                    <a:pt x="1042" y="3527"/>
                    <a:pt x="936" y="3645"/>
                    <a:pt x="1066" y="3810"/>
                  </a:cubicBezTo>
                  <a:cubicBezTo>
                    <a:pt x="1197" y="3975"/>
                    <a:pt x="1378" y="3875"/>
                    <a:pt x="1506" y="3846"/>
                  </a:cubicBezTo>
                  <a:cubicBezTo>
                    <a:pt x="1470" y="3972"/>
                    <a:pt x="1369" y="4101"/>
                    <a:pt x="1494" y="4254"/>
                  </a:cubicBezTo>
                  <a:cubicBezTo>
                    <a:pt x="1621" y="4408"/>
                    <a:pt x="1829" y="4326"/>
                    <a:pt x="1966" y="4283"/>
                  </a:cubicBezTo>
                  <a:cubicBezTo>
                    <a:pt x="1913" y="4419"/>
                    <a:pt x="1799" y="4566"/>
                    <a:pt x="1945" y="4730"/>
                  </a:cubicBezTo>
                  <a:cubicBezTo>
                    <a:pt x="2090" y="4896"/>
                    <a:pt x="2426" y="4819"/>
                    <a:pt x="2590" y="4663"/>
                  </a:cubicBezTo>
                  <a:cubicBezTo>
                    <a:pt x="2753" y="4506"/>
                    <a:pt x="2769" y="4258"/>
                    <a:pt x="2625" y="4110"/>
                  </a:cubicBezTo>
                  <a:cubicBezTo>
                    <a:pt x="2526" y="4008"/>
                    <a:pt x="2378" y="3985"/>
                    <a:pt x="2241" y="4027"/>
                  </a:cubicBezTo>
                  <a:close/>
                  <a:moveTo>
                    <a:pt x="5233" y="2987"/>
                  </a:moveTo>
                  <a:cubicBezTo>
                    <a:pt x="4047" y="1802"/>
                    <a:pt x="4605" y="2359"/>
                    <a:pt x="3967" y="1720"/>
                  </a:cubicBezTo>
                  <a:cubicBezTo>
                    <a:pt x="3967" y="1720"/>
                    <a:pt x="3775" y="1529"/>
                    <a:pt x="3523" y="1640"/>
                  </a:cubicBezTo>
                  <a:cubicBezTo>
                    <a:pt x="3346" y="1718"/>
                    <a:pt x="3117" y="1824"/>
                    <a:pt x="2945" y="1905"/>
                  </a:cubicBezTo>
                  <a:cubicBezTo>
                    <a:pt x="2757" y="2004"/>
                    <a:pt x="2621" y="2034"/>
                    <a:pt x="2557" y="2034"/>
                  </a:cubicBezTo>
                  <a:cubicBezTo>
                    <a:pt x="2192" y="2031"/>
                    <a:pt x="1896" y="1738"/>
                    <a:pt x="1896" y="1373"/>
                  </a:cubicBezTo>
                  <a:cubicBezTo>
                    <a:pt x="1896" y="1137"/>
                    <a:pt x="2022" y="931"/>
                    <a:pt x="2209" y="814"/>
                  </a:cubicBezTo>
                  <a:cubicBezTo>
                    <a:pt x="2472" y="632"/>
                    <a:pt x="3078" y="310"/>
                    <a:pt x="3078" y="310"/>
                  </a:cubicBezTo>
                  <a:cubicBezTo>
                    <a:pt x="3078" y="310"/>
                    <a:pt x="2894" y="76"/>
                    <a:pt x="2489" y="76"/>
                  </a:cubicBezTo>
                  <a:cubicBezTo>
                    <a:pt x="2085" y="76"/>
                    <a:pt x="1240" y="629"/>
                    <a:pt x="1240" y="629"/>
                  </a:cubicBezTo>
                  <a:cubicBezTo>
                    <a:pt x="1240" y="629"/>
                    <a:pt x="1000" y="783"/>
                    <a:pt x="659" y="644"/>
                  </a:cubicBezTo>
                  <a:lnTo>
                    <a:pt x="0" y="415"/>
                  </a:lnTo>
                  <a:lnTo>
                    <a:pt x="0" y="2704"/>
                  </a:lnTo>
                  <a:cubicBezTo>
                    <a:pt x="0" y="2704"/>
                    <a:pt x="188" y="2758"/>
                    <a:pt x="357" y="2827"/>
                  </a:cubicBezTo>
                  <a:cubicBezTo>
                    <a:pt x="395" y="2719"/>
                    <a:pt x="457" y="2618"/>
                    <a:pt x="542" y="2535"/>
                  </a:cubicBezTo>
                  <a:cubicBezTo>
                    <a:pt x="822" y="2268"/>
                    <a:pt x="1287" y="2265"/>
                    <a:pt x="1542" y="2528"/>
                  </a:cubicBezTo>
                  <a:cubicBezTo>
                    <a:pt x="1619" y="2608"/>
                    <a:pt x="1673" y="2703"/>
                    <a:pt x="1700" y="2808"/>
                  </a:cubicBezTo>
                  <a:cubicBezTo>
                    <a:pt x="1803" y="2840"/>
                    <a:pt x="1896" y="2896"/>
                    <a:pt x="1971" y="2973"/>
                  </a:cubicBezTo>
                  <a:cubicBezTo>
                    <a:pt x="2048" y="3053"/>
                    <a:pt x="2101" y="3148"/>
                    <a:pt x="2129" y="3253"/>
                  </a:cubicBezTo>
                  <a:cubicBezTo>
                    <a:pt x="2231" y="3285"/>
                    <a:pt x="2324" y="3341"/>
                    <a:pt x="2399" y="3418"/>
                  </a:cubicBezTo>
                  <a:cubicBezTo>
                    <a:pt x="2484" y="3505"/>
                    <a:pt x="2540" y="3611"/>
                    <a:pt x="2566" y="3725"/>
                  </a:cubicBezTo>
                  <a:cubicBezTo>
                    <a:pt x="2674" y="3756"/>
                    <a:pt x="2771" y="3814"/>
                    <a:pt x="2849" y="3894"/>
                  </a:cubicBezTo>
                  <a:cubicBezTo>
                    <a:pt x="3002" y="4051"/>
                    <a:pt x="3056" y="4265"/>
                    <a:pt x="3023" y="4471"/>
                  </a:cubicBezTo>
                  <a:cubicBezTo>
                    <a:pt x="3024" y="4471"/>
                    <a:pt x="3024" y="4471"/>
                    <a:pt x="3024" y="4472"/>
                  </a:cubicBezTo>
                  <a:cubicBezTo>
                    <a:pt x="3027" y="4475"/>
                    <a:pt x="3119" y="4578"/>
                    <a:pt x="3177" y="4636"/>
                  </a:cubicBezTo>
                  <a:cubicBezTo>
                    <a:pt x="3290" y="4749"/>
                    <a:pt x="3475" y="4749"/>
                    <a:pt x="3588" y="4636"/>
                  </a:cubicBezTo>
                  <a:cubicBezTo>
                    <a:pt x="3700" y="4523"/>
                    <a:pt x="3701" y="4339"/>
                    <a:pt x="3588" y="4225"/>
                  </a:cubicBezTo>
                  <a:cubicBezTo>
                    <a:pt x="3584" y="4221"/>
                    <a:pt x="3180" y="3799"/>
                    <a:pt x="3213" y="3766"/>
                  </a:cubicBezTo>
                  <a:cubicBezTo>
                    <a:pt x="3245" y="3734"/>
                    <a:pt x="3759" y="4269"/>
                    <a:pt x="3769" y="4279"/>
                  </a:cubicBezTo>
                  <a:cubicBezTo>
                    <a:pt x="3882" y="4391"/>
                    <a:pt x="4066" y="4391"/>
                    <a:pt x="4179" y="4279"/>
                  </a:cubicBezTo>
                  <a:cubicBezTo>
                    <a:pt x="4292" y="4166"/>
                    <a:pt x="4292" y="3981"/>
                    <a:pt x="4179" y="3868"/>
                  </a:cubicBezTo>
                  <a:cubicBezTo>
                    <a:pt x="4174" y="3863"/>
                    <a:pt x="4151" y="3841"/>
                    <a:pt x="4142" y="3832"/>
                  </a:cubicBezTo>
                  <a:cubicBezTo>
                    <a:pt x="4142" y="3832"/>
                    <a:pt x="3632" y="3378"/>
                    <a:pt x="3671" y="3339"/>
                  </a:cubicBezTo>
                  <a:cubicBezTo>
                    <a:pt x="3710" y="3300"/>
                    <a:pt x="4343" y="3891"/>
                    <a:pt x="4345" y="3891"/>
                  </a:cubicBezTo>
                  <a:cubicBezTo>
                    <a:pt x="4458" y="3993"/>
                    <a:pt x="4634" y="3992"/>
                    <a:pt x="4743" y="3883"/>
                  </a:cubicBezTo>
                  <a:cubicBezTo>
                    <a:pt x="4850" y="3776"/>
                    <a:pt x="4852" y="3608"/>
                    <a:pt x="4758" y="3494"/>
                  </a:cubicBezTo>
                  <a:cubicBezTo>
                    <a:pt x="4756" y="3488"/>
                    <a:pt x="4275" y="2986"/>
                    <a:pt x="4312" y="2948"/>
                  </a:cubicBezTo>
                  <a:cubicBezTo>
                    <a:pt x="4351" y="2910"/>
                    <a:pt x="4826" y="3400"/>
                    <a:pt x="4827" y="3401"/>
                  </a:cubicBezTo>
                  <a:cubicBezTo>
                    <a:pt x="4940" y="3513"/>
                    <a:pt x="5124" y="3513"/>
                    <a:pt x="5238" y="3401"/>
                  </a:cubicBezTo>
                  <a:cubicBezTo>
                    <a:pt x="5350" y="3288"/>
                    <a:pt x="5350" y="3103"/>
                    <a:pt x="5238" y="2990"/>
                  </a:cubicBezTo>
                  <a:cubicBezTo>
                    <a:pt x="5236" y="2989"/>
                    <a:pt x="5234" y="2988"/>
                    <a:pt x="5233" y="298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>
              <a:normAutofit fontScale="90000" lnSpcReduction="10000"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28" name="组合 127"/>
          <p:cNvGrpSpPr/>
          <p:nvPr>
            <p:custDataLst>
              <p:tags r:id="rId17"/>
            </p:custDataLst>
          </p:nvPr>
        </p:nvGrpSpPr>
        <p:grpSpPr>
          <a:xfrm>
            <a:off x="3138030" y="5402859"/>
            <a:ext cx="6905448" cy="834761"/>
            <a:chOff x="4615040" y="4771712"/>
            <a:chExt cx="3825991" cy="834761"/>
          </a:xfrm>
        </p:grpSpPr>
        <p:sp>
          <p:nvSpPr>
            <p:cNvPr id="113" name="文本框 112"/>
            <p:cNvSpPr txBox="1"/>
            <p:nvPr>
              <p:custDataLst>
                <p:tags r:id="rId18"/>
              </p:custDataLst>
            </p:nvPr>
          </p:nvSpPr>
          <p:spPr>
            <a:xfrm>
              <a:off x="4615042" y="5165102"/>
              <a:ext cx="3825989" cy="44137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5B625F"/>
                  </a:solidFill>
                  <a:latin typeface="Bahnschrift Condensed" panose="020B0502040204020203" charset="0"/>
                  <a:cs typeface="Bahnschrift Condensed" panose="020B0502040204020203" charset="0"/>
                  <a:sym typeface="+mn-ea"/>
                </a:rPr>
                <a:t>写入证据更新地图与复习队列</a:t>
              </a:r>
              <a:endParaRPr sz="150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  <a:sym typeface="+mn-ea"/>
              </a:endParaRPr>
            </a:p>
            <a:p>
              <a:pPr algn="r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>
                  <a:solidFill>
                    <a:schemeClr val="tx1"/>
                  </a:solidFill>
                  <a:latin typeface="Bahnschrift Condensed" panose="020B0502040204020203" charset="0"/>
                  <a:cs typeface="Bahnschrift Condensed" panose="020B0502040204020203" charset="0"/>
                  <a:sym typeface="+mn-ea"/>
                </a:rPr>
                <a:t>review</a:t>
              </a:r>
              <a:endParaRPr lang="en-US" altLang="zh-CN" sz="1600" b="1">
                <a:solidFill>
                  <a:schemeClr val="tx1"/>
                </a:solidFill>
                <a:latin typeface="Bahnschrift Condensed" panose="020B0502040204020203" charset="0"/>
                <a:cs typeface="Bahnschrift Condensed" panose="020B0502040204020203" charset="0"/>
                <a:sym typeface="+mn-ea"/>
              </a:endParaRPr>
            </a:p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>
                <a:solidFill>
                  <a:schemeClr val="tx1"/>
                </a:solidFill>
                <a:latin typeface="Bahnschrift Condensed" panose="020B0502040204020203" charset="0"/>
                <a:cs typeface="Bahnschrift Condensed" panose="020B0502040204020203" charset="0"/>
                <a:sym typeface="+mn-ea"/>
              </a:endParaRPr>
            </a:p>
          </p:txBody>
        </p:sp>
        <p:sp>
          <p:nvSpPr>
            <p:cNvPr id="114" name="文本框 113"/>
            <p:cNvSpPr txBox="1"/>
            <p:nvPr>
              <p:custDataLst>
                <p:tags r:id="rId19"/>
              </p:custDataLst>
            </p:nvPr>
          </p:nvSpPr>
          <p:spPr>
            <a:xfrm>
              <a:off x="4615040" y="4771712"/>
              <a:ext cx="3825991" cy="39338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/>
            <a:p>
              <a:r>
                <a:rPr sz="1600"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回</a:t>
              </a:r>
              <a:r>
                <a:rPr lang="en-US" sz="1600"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    </a:t>
              </a:r>
              <a:r>
                <a:rPr sz="1600"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流</a:t>
              </a:r>
              <a:endParaRPr sz="1600" b="1" i="0">
                <a:solidFill>
                  <a:srgbClr val="111111"/>
                </a:solidFill>
                <a:latin typeface="微软雅黑" panose="020B0503020204020204" charset="-122"/>
              </a:endParaRPr>
            </a:p>
            <a:p>
              <a:endParaRPr lang="zh-CN" altLang="en-US" sz="1600" b="1" dirty="0">
                <a:cs typeface="+mn-ea"/>
                <a:sym typeface="+mn-lt"/>
              </a:endParaRPr>
            </a:p>
          </p:txBody>
        </p:sp>
      </p:grpSp>
      <p:grpSp>
        <p:nvGrpSpPr>
          <p:cNvPr id="129" name="组合 128"/>
          <p:cNvGrpSpPr/>
          <p:nvPr>
            <p:custDataLst>
              <p:tags r:id="rId20"/>
            </p:custDataLst>
          </p:nvPr>
        </p:nvGrpSpPr>
        <p:grpSpPr>
          <a:xfrm>
            <a:off x="3461407" y="4493521"/>
            <a:ext cx="6582071" cy="834761"/>
            <a:chOff x="4938417" y="3863590"/>
            <a:chExt cx="3825991" cy="834761"/>
          </a:xfrm>
        </p:grpSpPr>
        <p:sp>
          <p:nvSpPr>
            <p:cNvPr id="117" name="文本框 116"/>
            <p:cNvSpPr txBox="1"/>
            <p:nvPr>
              <p:custDataLst>
                <p:tags r:id="rId21"/>
              </p:custDataLst>
            </p:nvPr>
          </p:nvSpPr>
          <p:spPr>
            <a:xfrm>
              <a:off x="4938419" y="4256980"/>
              <a:ext cx="3825989" cy="44137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5B625F"/>
                  </a:solidFill>
                  <a:latin typeface="微软雅黑" panose="020B0503020204020204" charset="-122"/>
                  <a:sym typeface="+mn-ea"/>
                </a:rPr>
                <a:t>判断表现、独立性记录错因与尝试</a:t>
              </a:r>
              <a:endParaRPr sz="1500">
                <a:solidFill>
                  <a:srgbClr val="5B625F"/>
                </a:solidFill>
                <a:latin typeface="微软雅黑" panose="020B0503020204020204" charset="-122"/>
                <a:sym typeface="+mn-ea"/>
              </a:endParaRPr>
            </a:p>
            <a:p>
              <a:pPr algn="r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chemeClr val="tx1"/>
                  </a:solidFill>
                  <a:latin typeface="Bahnschrift Condensed" panose="020B0502040204020203" charset="0"/>
                  <a:cs typeface="Bahnschrift Condensed" panose="020B0502040204020203" charset="0"/>
                  <a:sym typeface="+mn-ea"/>
                </a:rPr>
                <a:t>transfer</a:t>
              </a:r>
              <a:endParaRPr lang="en-US" altLang="zh-CN" sz="800" b="1" dirty="0">
                <a:solidFill>
                  <a:schemeClr val="tx1"/>
                </a:solidFill>
                <a:latin typeface="Bahnschrift Condensed" panose="020B0502040204020203" charset="0"/>
                <a:cs typeface="Bahnschrift Condensed" panose="020B0502040204020203" charset="0"/>
                <a:sym typeface="+mn-ea"/>
              </a:endParaRPr>
            </a:p>
          </p:txBody>
        </p:sp>
        <p:sp>
          <p:nvSpPr>
            <p:cNvPr id="118" name="文本框 117"/>
            <p:cNvSpPr txBox="1"/>
            <p:nvPr>
              <p:custDataLst>
                <p:tags r:id="rId22"/>
              </p:custDataLst>
            </p:nvPr>
          </p:nvSpPr>
          <p:spPr>
            <a:xfrm>
              <a:off x="4938417" y="3863590"/>
              <a:ext cx="3825991" cy="39338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评</a:t>
              </a:r>
              <a:r>
                <a:rPr lang="en-US" sz="1600"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    </a:t>
              </a:r>
              <a:r>
                <a:rPr sz="1600"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价</a:t>
              </a:r>
              <a:endParaRPr lang="zh-CN" altLang="en-US" sz="1600" b="1" dirty="0">
                <a:cs typeface="+mn-ea"/>
                <a:sym typeface="+mn-lt"/>
              </a:endParaRPr>
            </a:p>
          </p:txBody>
        </p:sp>
      </p:grpSp>
      <p:grpSp>
        <p:nvGrpSpPr>
          <p:cNvPr id="130" name="组合 129"/>
          <p:cNvGrpSpPr/>
          <p:nvPr>
            <p:custDataLst>
              <p:tags r:id="rId23"/>
            </p:custDataLst>
          </p:nvPr>
        </p:nvGrpSpPr>
        <p:grpSpPr>
          <a:xfrm>
            <a:off x="3784784" y="3584183"/>
            <a:ext cx="6258694" cy="834761"/>
            <a:chOff x="5261794" y="2953847"/>
            <a:chExt cx="3825991" cy="834761"/>
          </a:xfrm>
        </p:grpSpPr>
        <p:sp>
          <p:nvSpPr>
            <p:cNvPr id="120" name="文本框 119"/>
            <p:cNvSpPr txBox="1"/>
            <p:nvPr>
              <p:custDataLst>
                <p:tags r:id="rId24"/>
              </p:custDataLst>
            </p:nvPr>
          </p:nvSpPr>
          <p:spPr>
            <a:xfrm>
              <a:off x="5261796" y="3347237"/>
              <a:ext cx="3825989" cy="44137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5B625F"/>
                  </a:solidFill>
                  <a:latin typeface="微软雅黑" panose="020B0503020204020204" charset="-122"/>
                  <a:sym typeface="+mn-ea"/>
                </a:rPr>
                <a:t>一级方向</a:t>
              </a:r>
              <a:r>
                <a:rPr lang="zh-CN" sz="1500">
                  <a:solidFill>
                    <a:srgbClr val="5B625F"/>
                  </a:solidFill>
                  <a:latin typeface="微软雅黑" panose="020B0503020204020204" charset="-122"/>
                  <a:sym typeface="+mn-ea"/>
                </a:rPr>
                <a:t>、</a:t>
              </a:r>
              <a:r>
                <a:rPr sz="1500">
                  <a:solidFill>
                    <a:srgbClr val="5B625F"/>
                  </a:solidFill>
                  <a:latin typeface="微软雅黑" panose="020B0503020204020204" charset="-122"/>
                  <a:sym typeface="+mn-ea"/>
                </a:rPr>
                <a:t>二级关系</a:t>
              </a:r>
              <a:r>
                <a:rPr lang="zh-CN" sz="1500">
                  <a:solidFill>
                    <a:srgbClr val="5B625F"/>
                  </a:solidFill>
                  <a:latin typeface="微软雅黑" panose="020B0503020204020204" charset="-122"/>
                  <a:sym typeface="+mn-ea"/>
                </a:rPr>
                <a:t>、</a:t>
              </a:r>
              <a:r>
                <a:rPr sz="1500">
                  <a:solidFill>
                    <a:srgbClr val="5B625F"/>
                  </a:solidFill>
                  <a:latin typeface="微软雅黑" panose="020B0503020204020204" charset="-122"/>
                  <a:sym typeface="+mn-ea"/>
                </a:rPr>
                <a:t>三级步骤</a:t>
              </a:r>
              <a:endParaRPr sz="1500">
                <a:solidFill>
                  <a:srgbClr val="5B625F"/>
                </a:solidFill>
                <a:latin typeface="微软雅黑" panose="020B0503020204020204" charset="-122"/>
                <a:sym typeface="+mn-ea"/>
              </a:endParaRPr>
            </a:p>
            <a:p>
              <a:pPr algn="r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chemeClr val="tx1"/>
                  </a:solidFill>
                  <a:latin typeface="Bahnschrift Condensed" panose="020B0502040204020203" charset="0"/>
                  <a:cs typeface="Bahnschrift Condensed" panose="020B0502040204020203" charset="0"/>
                  <a:sym typeface="+mn-ea"/>
                </a:rPr>
                <a:t>teach_back </a:t>
              </a:r>
              <a:endParaRPr lang="en-US" altLang="zh-CN" sz="800" b="1" dirty="0">
                <a:solidFill>
                  <a:schemeClr val="tx1"/>
                </a:solidFill>
                <a:latin typeface="Bahnschrift Condensed" panose="020B0502040204020203" charset="0"/>
                <a:cs typeface="Bahnschrift Condensed" panose="020B0502040204020203" charset="0"/>
                <a:sym typeface="+mn-ea"/>
              </a:endParaRPr>
            </a:p>
          </p:txBody>
        </p:sp>
        <p:sp>
          <p:nvSpPr>
            <p:cNvPr id="121" name="文本框 120"/>
            <p:cNvSpPr txBox="1"/>
            <p:nvPr>
              <p:custDataLst>
                <p:tags r:id="rId25"/>
              </p:custDataLst>
            </p:nvPr>
          </p:nvSpPr>
          <p:spPr>
            <a:xfrm>
              <a:off x="5261794" y="2953847"/>
              <a:ext cx="3825991" cy="39338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分级提示</a:t>
              </a:r>
              <a:endParaRPr lang="zh-CN" altLang="en-US" sz="1600" b="1" dirty="0">
                <a:solidFill>
                  <a:srgbClr val="111111"/>
                </a:solidFill>
                <a:latin typeface="微软雅黑" panose="020B0503020204020204" charset="-122"/>
                <a:cs typeface="+mn-ea"/>
                <a:sym typeface="+mn-ea"/>
              </a:endParaRPr>
            </a:p>
          </p:txBody>
        </p:sp>
      </p:grpSp>
      <p:grpSp>
        <p:nvGrpSpPr>
          <p:cNvPr id="131" name="组合 130"/>
          <p:cNvGrpSpPr/>
          <p:nvPr>
            <p:custDataLst>
              <p:tags r:id="rId26"/>
            </p:custDataLst>
          </p:nvPr>
        </p:nvGrpSpPr>
        <p:grpSpPr>
          <a:xfrm>
            <a:off x="4109882" y="2674845"/>
            <a:ext cx="5933596" cy="834761"/>
            <a:chOff x="5586892" y="2045725"/>
            <a:chExt cx="3825991" cy="834761"/>
          </a:xfrm>
        </p:grpSpPr>
        <p:sp>
          <p:nvSpPr>
            <p:cNvPr id="123" name="文本框 122"/>
            <p:cNvSpPr txBox="1"/>
            <p:nvPr>
              <p:custDataLst>
                <p:tags r:id="rId27"/>
              </p:custDataLst>
            </p:nvPr>
          </p:nvSpPr>
          <p:spPr>
            <a:xfrm>
              <a:off x="5586894" y="2439115"/>
              <a:ext cx="3825989" cy="44137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5B625F"/>
                  </a:solidFill>
                  <a:latin typeface="微软雅黑" panose="020B0503020204020204" charset="-122"/>
                  <a:sym typeface="+mn-ea"/>
                </a:rPr>
                <a:t>识别短答案、公式、代码保持当前题目上下文</a:t>
              </a:r>
              <a:r>
                <a:rPr sz="1500" b="1">
                  <a:solidFill>
                    <a:schemeClr val="tx1"/>
                  </a:solidFill>
                  <a:latin typeface="Bahnschrift Condensed" panose="020B0502040204020203" charset="0"/>
                  <a:cs typeface="Bahnschrift Condensed" panose="020B0502040204020203" charset="0"/>
                  <a:sym typeface="+mn-ea"/>
                </a:rPr>
                <a:t> </a:t>
              </a:r>
              <a:endParaRPr sz="1500" b="1">
                <a:solidFill>
                  <a:schemeClr val="tx1"/>
                </a:solidFill>
                <a:latin typeface="Bahnschrift Condensed" panose="020B0502040204020203" charset="0"/>
                <a:cs typeface="Bahnschrift Condensed" panose="020B0502040204020203" charset="0"/>
                <a:sym typeface="+mn-ea"/>
              </a:endParaRPr>
            </a:p>
            <a:p>
              <a:pPr algn="r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chemeClr val="tx1"/>
                  </a:solidFill>
                  <a:latin typeface="Bahnschrift Condensed" panose="020B0502040204020203" charset="0"/>
                  <a:cs typeface="Bahnschrift Condensed" panose="020B0502040204020203" charset="0"/>
                  <a:sym typeface="+mn-ea"/>
                </a:rPr>
                <a:t>hint</a:t>
              </a:r>
              <a:endParaRPr sz="1500">
                <a:solidFill>
                  <a:schemeClr val="tx1"/>
                </a:solidFill>
                <a:latin typeface="Bahnschrift Condensed" panose="020B0502040204020203" charset="0"/>
                <a:cs typeface="Bahnschrift Condensed" panose="020B0502040204020203" charset="0"/>
                <a:sym typeface="+mn-ea"/>
              </a:endParaRPr>
            </a:p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800" dirty="0">
                <a:solidFill>
                  <a:schemeClr val="tx1"/>
                </a:solidFill>
                <a:latin typeface="Bahnschrift Condensed" panose="020B0502040204020203" charset="0"/>
                <a:cs typeface="Bahnschrift Condensed" panose="020B0502040204020203" charset="0"/>
                <a:sym typeface="+mn-ea"/>
              </a:endParaRPr>
            </a:p>
          </p:txBody>
        </p:sp>
        <p:sp>
          <p:nvSpPr>
            <p:cNvPr id="124" name="文本框 123"/>
            <p:cNvSpPr txBox="1"/>
            <p:nvPr>
              <p:custDataLst>
                <p:tags r:id="rId28"/>
              </p:custDataLst>
            </p:nvPr>
          </p:nvSpPr>
          <p:spPr>
            <a:xfrm>
              <a:off x="5586892" y="2045725"/>
              <a:ext cx="3825991" cy="39338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/>
            <a:p>
              <a:r>
                <a:rPr sz="1600"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等待作答</a:t>
              </a:r>
              <a:endParaRPr lang="zh-CN" altLang="en-US" sz="1600" b="1" dirty="0">
                <a:solidFill>
                  <a:srgbClr val="111111"/>
                </a:solidFill>
                <a:latin typeface="微软雅黑" panose="020B0503020204020204" charset="-122"/>
                <a:cs typeface="+mn-ea"/>
                <a:sym typeface="+mn-ea"/>
              </a:endParaRPr>
            </a:p>
          </p:txBody>
        </p:sp>
      </p:grpSp>
      <p:grpSp>
        <p:nvGrpSpPr>
          <p:cNvPr id="132" name="组合 131"/>
          <p:cNvGrpSpPr/>
          <p:nvPr>
            <p:custDataLst>
              <p:tags r:id="rId29"/>
            </p:custDataLst>
          </p:nvPr>
        </p:nvGrpSpPr>
        <p:grpSpPr>
          <a:xfrm>
            <a:off x="4433258" y="1765507"/>
            <a:ext cx="5610220" cy="834761"/>
            <a:chOff x="5910268" y="1134360"/>
            <a:chExt cx="3825991" cy="834761"/>
          </a:xfrm>
        </p:grpSpPr>
        <p:sp>
          <p:nvSpPr>
            <p:cNvPr id="126" name="文本框 125"/>
            <p:cNvSpPr txBox="1"/>
            <p:nvPr>
              <p:custDataLst>
                <p:tags r:id="rId30"/>
              </p:custDataLst>
            </p:nvPr>
          </p:nvSpPr>
          <p:spPr>
            <a:xfrm>
              <a:off x="5910270" y="1527750"/>
              <a:ext cx="3825989" cy="44137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5B625F"/>
                  </a:solidFill>
                  <a:latin typeface="微软雅黑" panose="020B0503020204020204" charset="-122"/>
                  <a:sym typeface="+mn-ea"/>
                </a:rPr>
                <a:t>绑定知识点不提前泄露答案</a:t>
              </a:r>
              <a:endParaRPr sz="1600">
                <a:solidFill>
                  <a:srgbClr val="5B625F"/>
                </a:solidFill>
                <a:latin typeface="微软雅黑" panose="020B0503020204020204" charset="-122"/>
                <a:sym typeface="+mn-ea"/>
              </a:endParaRPr>
            </a:p>
            <a:p>
              <a:pPr algn="r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chemeClr val="tx1"/>
                  </a:solidFill>
                  <a:latin typeface="Bahnschrift Condensed" panose="020B0502040204020203" charset="0"/>
                  <a:cs typeface="Bahnschrift Condensed" panose="020B0502040204020203" charset="0"/>
                  <a:sym typeface="+mn-ea"/>
                </a:rPr>
                <a:t>practice </a:t>
              </a:r>
              <a:endParaRPr lang="en-US" altLang="zh-CN" sz="1400" b="1" dirty="0">
                <a:solidFill>
                  <a:schemeClr val="tx1"/>
                </a:solidFill>
                <a:latin typeface="Bahnschrift Condensed" panose="020B0502040204020203" charset="0"/>
                <a:cs typeface="Bahnschrift Condensed" panose="020B0502040204020203" charset="0"/>
                <a:sym typeface="+mn-ea"/>
              </a:endParaRPr>
            </a:p>
          </p:txBody>
        </p:sp>
        <p:sp>
          <p:nvSpPr>
            <p:cNvPr id="127" name="文本框 126"/>
            <p:cNvSpPr txBox="1"/>
            <p:nvPr>
              <p:custDataLst>
                <p:tags r:id="rId31"/>
              </p:custDataLst>
            </p:nvPr>
          </p:nvSpPr>
          <p:spPr>
            <a:xfrm>
              <a:off x="5910268" y="1134360"/>
              <a:ext cx="3825991" cy="39338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/>
            <a:p>
              <a:r>
                <a:rPr sz="1600"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出</a:t>
              </a:r>
              <a:r>
                <a:rPr lang="en-US" sz="1600"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    </a:t>
              </a:r>
              <a:r>
                <a:rPr sz="1600"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题</a:t>
              </a:r>
              <a:endParaRPr sz="1600" b="1" i="0">
                <a:solidFill>
                  <a:srgbClr val="111111"/>
                </a:solidFill>
                <a:latin typeface="微软雅黑" panose="020B0503020204020204" charset="-122"/>
              </a:endParaRPr>
            </a:p>
            <a:p>
              <a:endParaRPr lang="zh-CN" altLang="en-US" sz="1600" b="1" dirty="0">
                <a:cs typeface="+mn-ea"/>
                <a:sym typeface="+mn-lt"/>
              </a:endParaRPr>
            </a:p>
          </p:txBody>
        </p:sp>
      </p:grpSp>
      <p:cxnSp>
        <p:nvCxnSpPr>
          <p:cNvPr id="134" name="直接连接符 133"/>
          <p:cNvCxnSpPr/>
          <p:nvPr>
            <p:custDataLst>
              <p:tags r:id="rId32"/>
            </p:custDataLst>
          </p:nvPr>
        </p:nvCxnSpPr>
        <p:spPr>
          <a:xfrm>
            <a:off x="4545100" y="2637557"/>
            <a:ext cx="5498378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/>
          <p:cNvCxnSpPr/>
          <p:nvPr>
            <p:custDataLst>
              <p:tags r:id="rId33"/>
            </p:custDataLst>
          </p:nvPr>
        </p:nvCxnSpPr>
        <p:spPr>
          <a:xfrm>
            <a:off x="4231063" y="3546895"/>
            <a:ext cx="5812415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连接符 138"/>
          <p:cNvCxnSpPr/>
          <p:nvPr>
            <p:custDataLst>
              <p:tags r:id="rId34"/>
            </p:custDataLst>
          </p:nvPr>
        </p:nvCxnSpPr>
        <p:spPr>
          <a:xfrm>
            <a:off x="3907687" y="4456233"/>
            <a:ext cx="613579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>
            <p:custDataLst>
              <p:tags r:id="rId35"/>
            </p:custDataLst>
          </p:nvPr>
        </p:nvCxnSpPr>
        <p:spPr>
          <a:xfrm>
            <a:off x="3582589" y="5365571"/>
            <a:ext cx="6460889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892810" y="269875"/>
            <a:ext cx="7273290" cy="876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24 / ADAPTIVE PRACTICE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练习不只是一次生成，更是一段学习状态的</a:t>
            </a: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更新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16000" y="1148715"/>
            <a:ext cx="7278370" cy="414020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indent="0" algn="l" fontAlgn="auto">
              <a:lnSpc>
                <a:spcPct val="150000"/>
              </a:lnSpc>
            </a:pPr>
            <a:r>
              <a:rPr sz="1400">
                <a:solidFill>
                  <a:srgbClr val="5B625F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出题、作答、提示、评价和证据写入被拆开，只有真实可评价的学生作答才更新学习状态</a:t>
            </a:r>
            <a:endParaRPr lang="zh-CN" altLang="en-US" sz="1400"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  <a:solidFill>
                <a:srgbClr val="5B625F"/>
              </a:solidFill>
              <a:effectLst/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36"/>
    </p:custDataLst>
  </p:cSld>
  <p:clrMapOvr>
    <a:masterClrMapping/>
  </p:clrMapOvr>
  <p:transition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2810" y="240030"/>
            <a:ext cx="520319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25 / TEACHING LOOP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教师终审裁决，</a:t>
            </a:r>
            <a:r>
              <a:rPr lang="en-US" altLang="zh-CN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AI</a:t>
            </a: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全程赋能提速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9600" y="2155190"/>
            <a:ext cx="2578100" cy="291211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4225" y="2219960"/>
            <a:ext cx="2277745" cy="2203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2719F"/>
                </a:solidFill>
                <a:latin typeface="Bahnschrift SemiBold" panose="020B0502040204020203" charset="0"/>
                <a:cs typeface="Bahnschrift SemiBold" panose="020B0502040204020203" charset="0"/>
              </a:rPr>
              <a:t>01</a:t>
            </a:r>
            <a:r>
              <a:rPr lang="en-US" sz="2000" b="1" i="0">
                <a:solidFill>
                  <a:srgbClr val="72719F"/>
                </a:solidFill>
                <a:latin typeface="Bahnschrift SemiBold" panose="020B0502040204020203" charset="0"/>
                <a:cs typeface="Bahnschrift SemiBold" panose="020B0502040204020203" charset="0"/>
              </a:rPr>
              <a:t> </a:t>
            </a:r>
            <a:r>
              <a:rPr lang="zh-CN" altLang="en-US" sz="2000" b="1" i="0">
                <a:solidFill>
                  <a:srgbClr val="72719F"/>
                </a:solidFill>
                <a:latin typeface="Bahnschrift SemiBold" panose="020B0502040204020203" charset="0"/>
                <a:cs typeface="Bahnschrift SemiBold" panose="020B0502040204020203" charset="0"/>
              </a:rPr>
              <a:t>建班布置</a:t>
            </a:r>
            <a:endParaRPr lang="zh-CN" altLang="en-US" sz="2000" b="1" i="0">
              <a:solidFill>
                <a:srgbClr val="72719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2000" y="3060065"/>
            <a:ext cx="2277745" cy="416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Bahnschrift SemiBold" panose="020B0502040204020203" charset="0"/>
              </a:rPr>
              <a:t>组织</a:t>
            </a:r>
            <a:endParaRPr sz="1600" b="1" i="0">
              <a:solidFill>
                <a:srgbClr val="FFFFFF"/>
              </a:solidFill>
              <a:latin typeface="Bahnschrift SemiBold" panose="020B0502040204020203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2000" y="3068955"/>
            <a:ext cx="2277745" cy="17125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chemeClr val="tx1"/>
                </a:solidFill>
                <a:latin typeface="Bahnschrift SemiBold" panose="020B0502040204020203" charset="0"/>
              </a:rPr>
              <a:t>创建班级、邀请学生加入、发布作业并设定提交窗口</a:t>
            </a:r>
            <a:endParaRPr lang="zh-CN" altLang="en-US" sz="1600" b="0" i="0">
              <a:solidFill>
                <a:schemeClr val="tx1"/>
              </a:solidFill>
              <a:latin typeface="Bahnschrift SemiBold" panose="020B0502040204020203" charset="0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3224212" y="3933824"/>
            <a:ext cx="167640" cy="0"/>
          </a:xfrm>
          <a:prstGeom prst="line">
            <a:avLst/>
          </a:prstGeom>
          <a:ln w="1905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33420" y="3754120"/>
            <a:ext cx="150495" cy="294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2FA7"/>
                </a:solidFill>
                <a:latin typeface="Bahnschrift SemiBold" panose="020B0502040204020203" charset="0"/>
                <a:cs typeface="Bahnschrift SemiBold" panose="020B0502040204020203" charset="0"/>
              </a:rPr>
              <a:t>&gt;</a:t>
            </a:r>
            <a:endParaRPr sz="1600" b="1" i="0">
              <a:solidFill>
                <a:srgbClr val="002FA7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395345" y="2155190"/>
            <a:ext cx="2578100" cy="291211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69970" y="2219960"/>
            <a:ext cx="2277745" cy="2203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2719F"/>
                </a:solidFill>
                <a:latin typeface="Bahnschrift SemiBold" panose="020B0502040204020203" charset="0"/>
                <a:cs typeface="Bahnschrift SemiBold" panose="020B0502040204020203" charset="0"/>
              </a:rPr>
              <a:t>02</a:t>
            </a:r>
            <a:r>
              <a:rPr lang="en-US" sz="2000" b="1" i="0">
                <a:solidFill>
                  <a:srgbClr val="72719F"/>
                </a:solidFill>
                <a:latin typeface="Bahnschrift SemiBold" panose="020B0502040204020203" charset="0"/>
                <a:cs typeface="Bahnschrift SemiBold" panose="020B0502040204020203" charset="0"/>
              </a:rPr>
              <a:t> </a:t>
            </a:r>
            <a:r>
              <a:rPr lang="en-US" altLang="zh-CN" sz="2000" b="1" i="0">
                <a:solidFill>
                  <a:srgbClr val="72719F"/>
                </a:solidFill>
                <a:latin typeface="Bahnschrift SemiBold" panose="020B0502040204020203" charset="0"/>
                <a:cs typeface="Bahnschrift SemiBold" panose="020B0502040204020203" charset="0"/>
              </a:rPr>
              <a:t>AI</a:t>
            </a:r>
            <a:r>
              <a:rPr lang="zh-CN" altLang="en-US" sz="2000" b="1" i="0">
                <a:solidFill>
                  <a:srgbClr val="72719F"/>
                </a:solidFill>
                <a:latin typeface="Bahnschrift SemiBold" panose="020B0502040204020203" charset="0"/>
                <a:cs typeface="Bahnschrift SemiBold" panose="020B0502040204020203" charset="0"/>
              </a:rPr>
              <a:t>智能分析</a:t>
            </a:r>
            <a:endParaRPr lang="zh-CN" altLang="en-US" sz="2000" b="1" i="0">
              <a:solidFill>
                <a:srgbClr val="72719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47745" y="3060065"/>
            <a:ext cx="2277745" cy="416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Bahnschrift SemiBold" panose="020B0502040204020203" charset="0"/>
              </a:rPr>
              <a:t>分析</a:t>
            </a:r>
            <a:endParaRPr sz="1600" b="1" i="0">
              <a:solidFill>
                <a:srgbClr val="FFFFFF"/>
              </a:solidFill>
              <a:latin typeface="Bahnschrift SemiBold" panose="020B0502040204020203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47745" y="3068955"/>
            <a:ext cx="2277745" cy="1712595"/>
          </a:xfrm>
          <a:prstGeom prst="rect">
            <a:avLst/>
          </a:prstGeom>
          <a:solidFill>
            <a:srgbClr val="8C8B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chemeClr val="bg1"/>
                </a:solidFill>
                <a:latin typeface="Bahnschrift SemiBold" panose="020B0502040204020203" charset="0"/>
                <a:cs typeface="Bahnschrift SemiBold" panose="020B0502040204020203" charset="0"/>
              </a:rPr>
              <a:t>系统结构化分析提交内</a:t>
            </a:r>
            <a:endParaRPr lang="zh-CN" altLang="en-US" sz="1600" b="0" i="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  <a:p>
            <a:pPr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chemeClr val="bg1"/>
                </a:solidFill>
                <a:latin typeface="Bahnschrift SemiBold" panose="020B0502040204020203" charset="0"/>
                <a:cs typeface="Bahnschrift SemiBold" panose="020B0502040204020203" charset="0"/>
              </a:rPr>
              <a:t>容，生成</a:t>
            </a:r>
            <a:r>
              <a:rPr lang="en-US" altLang="zh-CN" sz="1600" b="0" i="0">
                <a:solidFill>
                  <a:schemeClr val="bg1"/>
                </a:solidFill>
                <a:latin typeface="Bahnschrift SemiBold" panose="020B0502040204020203" charset="0"/>
                <a:cs typeface="Bahnschrift SemiBold" panose="020B0502040204020203" charset="0"/>
              </a:rPr>
              <a:t>ai_score</a:t>
            </a:r>
            <a:r>
              <a:rPr lang="zh-CN" altLang="en-US" sz="1600" b="0" i="0">
                <a:solidFill>
                  <a:schemeClr val="bg1"/>
                </a:solidFill>
                <a:latin typeface="Bahnschrift SemiBold" panose="020B0502040204020203" charset="0"/>
                <a:cs typeface="Bahnschrift SemiBold" panose="020B0502040204020203" charset="0"/>
              </a:rPr>
              <a:t>评分</a:t>
            </a:r>
            <a:endParaRPr lang="zh-CN" altLang="en-US" sz="1600" b="0" i="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  <a:p>
            <a:pPr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chemeClr val="bg1"/>
                </a:solidFill>
                <a:latin typeface="Bahnschrift SemiBold" panose="020B0502040204020203" charset="0"/>
                <a:cs typeface="Bahnschrift SemiBold" panose="020B0502040204020203" charset="0"/>
              </a:rPr>
              <a:t>建议与反馈草稿</a:t>
            </a:r>
            <a:endParaRPr lang="zh-CN" altLang="en-US" sz="1600" b="0" i="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6010274" y="3933824"/>
            <a:ext cx="167640" cy="0"/>
          </a:xfrm>
          <a:prstGeom prst="line">
            <a:avLst/>
          </a:prstGeom>
          <a:ln w="1905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19800" y="3754120"/>
            <a:ext cx="150495" cy="294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2FA7"/>
                </a:solidFill>
                <a:latin typeface="Bahnschrift SemiBold" panose="020B0502040204020203" charset="0"/>
                <a:cs typeface="Bahnschrift SemiBold" panose="020B0502040204020203" charset="0"/>
              </a:rPr>
              <a:t>&gt;</a:t>
            </a:r>
            <a:endParaRPr sz="1600" b="1" i="0">
              <a:solidFill>
                <a:srgbClr val="002FA7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181725" y="2155190"/>
            <a:ext cx="2578100" cy="291211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56350" y="2219960"/>
            <a:ext cx="2277745" cy="2203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2719F"/>
                </a:solidFill>
                <a:latin typeface="Bahnschrift SemiBold" panose="020B0502040204020203" charset="0"/>
                <a:cs typeface="Bahnschrift SemiBold" panose="020B0502040204020203" charset="0"/>
              </a:rPr>
              <a:t>03</a:t>
            </a:r>
            <a:r>
              <a:rPr lang="en-US" sz="2000" b="1" i="0">
                <a:solidFill>
                  <a:srgbClr val="72719F"/>
                </a:solidFill>
                <a:latin typeface="Bahnschrift SemiBold" panose="020B0502040204020203" charset="0"/>
                <a:cs typeface="Bahnschrift SemiBold" panose="020B0502040204020203" charset="0"/>
              </a:rPr>
              <a:t> </a:t>
            </a:r>
            <a:r>
              <a:rPr lang="zh-CN" altLang="en-US" sz="2000" b="1" i="0">
                <a:solidFill>
                  <a:srgbClr val="72719F"/>
                </a:solidFill>
                <a:latin typeface="Bahnschrift SemiBold" panose="020B0502040204020203" charset="0"/>
                <a:cs typeface="Bahnschrift SemiBold" panose="020B0502040204020203" charset="0"/>
              </a:rPr>
              <a:t>教师复核裁定</a:t>
            </a:r>
            <a:endParaRPr lang="zh-CN" altLang="en-US" sz="2000" b="1" i="0">
              <a:solidFill>
                <a:srgbClr val="72719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07785" y="3068955"/>
            <a:ext cx="2277745" cy="17125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chemeClr val="tx1"/>
                </a:solidFill>
                <a:latin typeface="Bahnschrift SemiBold" panose="020B0502040204020203" charset="0"/>
              </a:rPr>
              <a:t>逐题审核并修改</a:t>
            </a:r>
            <a:r>
              <a:rPr lang="en-US" altLang="zh-CN" sz="1600" b="0" i="0">
                <a:solidFill>
                  <a:schemeClr val="tx1"/>
                </a:solidFill>
                <a:latin typeface="Bahnschrift SemiBold" panose="020B0502040204020203" charset="0"/>
              </a:rPr>
              <a:t>AI</a:t>
            </a:r>
            <a:r>
              <a:rPr lang="zh-CN" altLang="en-US" sz="1600" b="0" i="0">
                <a:solidFill>
                  <a:schemeClr val="tx1"/>
                </a:solidFill>
                <a:latin typeface="Bahnschrift SemiBold" panose="020B0502040204020203" charset="0"/>
              </a:rPr>
              <a:t>建议，确认最终分数与反馈</a:t>
            </a:r>
            <a:endParaRPr lang="zh-CN" altLang="en-US" sz="1600" b="0" i="0">
              <a:solidFill>
                <a:schemeClr val="tx1"/>
              </a:solidFill>
              <a:latin typeface="Bahnschrift SemiBold" panose="020B0502040204020203" charset="0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8796337" y="3933824"/>
            <a:ext cx="167640" cy="0"/>
          </a:xfrm>
          <a:prstGeom prst="line">
            <a:avLst/>
          </a:prstGeom>
          <a:ln w="1905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805545" y="3754120"/>
            <a:ext cx="150495" cy="294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2FA7"/>
                </a:solidFill>
                <a:latin typeface="Bahnschrift SemiBold" panose="020B0502040204020203" charset="0"/>
                <a:cs typeface="Bahnschrift SemiBold" panose="020B0502040204020203" charset="0"/>
              </a:rPr>
              <a:t>&gt;</a:t>
            </a:r>
            <a:endParaRPr sz="1600" b="1" i="0">
              <a:solidFill>
                <a:srgbClr val="002FA7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967470" y="2155190"/>
            <a:ext cx="2578100" cy="291211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142095" y="2219960"/>
            <a:ext cx="2277745" cy="2203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2719F"/>
                </a:solidFill>
                <a:latin typeface="Bahnschrift SemiBold" panose="020B0502040204020203" charset="0"/>
                <a:cs typeface="Bahnschrift SemiBold" panose="020B0502040204020203" charset="0"/>
              </a:rPr>
              <a:t>04</a:t>
            </a:r>
            <a:r>
              <a:rPr lang="en-US" sz="2000" b="1" i="0">
                <a:solidFill>
                  <a:srgbClr val="72719F"/>
                </a:solidFill>
                <a:latin typeface="Bahnschrift SemiBold" panose="020B0502040204020203" charset="0"/>
                <a:cs typeface="Bahnschrift SemiBold" panose="020B0502040204020203" charset="0"/>
              </a:rPr>
              <a:t> </a:t>
            </a:r>
            <a:r>
              <a:rPr lang="zh-CN" altLang="en-US" sz="2000" b="1" i="0">
                <a:solidFill>
                  <a:srgbClr val="72719F"/>
                </a:solidFill>
                <a:latin typeface="Bahnschrift SemiBold" panose="020B0502040204020203" charset="0"/>
                <a:cs typeface="Bahnschrift SemiBold" panose="020B0502040204020203" charset="0"/>
              </a:rPr>
              <a:t>发布即证据</a:t>
            </a:r>
            <a:endParaRPr lang="zh-CN" altLang="en-US" sz="2000" b="1" i="0">
              <a:solidFill>
                <a:srgbClr val="72719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119870" y="3060065"/>
            <a:ext cx="2277745" cy="416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Bahnschrift SemiBold" panose="020B0502040204020203" charset="0"/>
              </a:rPr>
              <a:t>发布</a:t>
            </a:r>
            <a:endParaRPr sz="1600" b="1" i="0">
              <a:solidFill>
                <a:srgbClr val="FFFFFF"/>
              </a:solidFill>
              <a:latin typeface="Bahnschrift SemiBold" panose="020B0502040204020203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119870" y="3068955"/>
            <a:ext cx="2277745" cy="1712595"/>
          </a:xfrm>
          <a:prstGeom prst="rect">
            <a:avLst/>
          </a:prstGeom>
          <a:solidFill>
            <a:srgbClr val="8C8B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chemeClr val="bg1"/>
                </a:solidFill>
                <a:latin typeface="Bahnschrift SemiBold" panose="020B0502040204020203" charset="0"/>
              </a:rPr>
              <a:t>反馈发布后，数据自</a:t>
            </a:r>
            <a:endParaRPr lang="zh-CN" altLang="en-US" sz="1600" b="0" i="0">
              <a:solidFill>
                <a:schemeClr val="bg1"/>
              </a:solidFill>
              <a:latin typeface="Bahnschrift SemiBold" panose="020B0502040204020203" charset="0"/>
            </a:endParaRPr>
          </a:p>
          <a:p>
            <a:pPr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chemeClr val="bg1"/>
                </a:solidFill>
                <a:latin typeface="Bahnschrift SemiBold" panose="020B0502040204020203" charset="0"/>
              </a:rPr>
              <a:t>动纳入班级学情统计</a:t>
            </a:r>
            <a:endParaRPr lang="zh-CN" altLang="en-US" sz="1600" b="0" i="0">
              <a:solidFill>
                <a:schemeClr val="bg1"/>
              </a:solidFill>
              <a:latin typeface="Bahnschrift SemiBold" panose="020B0502040204020203" charset="0"/>
            </a:endParaRPr>
          </a:p>
          <a:p>
            <a:pPr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chemeClr val="bg1"/>
                </a:solidFill>
                <a:latin typeface="Bahnschrift SemiBold" panose="020B0502040204020203" charset="0"/>
              </a:rPr>
              <a:t>与教学证据池</a:t>
            </a:r>
            <a:endParaRPr lang="zh-CN" altLang="en-US" sz="1600" b="0" i="0">
              <a:solidFill>
                <a:schemeClr val="bg1"/>
              </a:solidFill>
              <a:latin typeface="Bahnschrift SemiBold" panose="020B0502040204020203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2810" y="1326515"/>
            <a:ext cx="7317740" cy="460375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indent="0" algn="ctr" fontAlgn="auto">
              <a:lnSpc>
                <a:spcPct val="150000"/>
              </a:lnSpc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方正楷体_GB2312" panose="02000000000000000000" charset="-122"/>
                <a:ea typeface="方正楷体_GB2312" panose="02000000000000000000" charset="-122"/>
                <a:sym typeface="+mn-ea"/>
              </a:rPr>
              <a:t>自动化的职责是生成结构化分析与可修改建议，教师保留评分与发布的最终判断</a:t>
            </a:r>
            <a:endParaRPr lang="zh-CN" altLang="en-US" sz="1600"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方正楷体_GB2312" panose="02000000000000000000" charset="-122"/>
              <a:ea typeface="方正楷体_GB2312" panose="02000000000000000000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8844" y="6196330"/>
            <a:ext cx="9334499" cy="19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</a:rPr>
              <a:t>AI 分析不能自动决定成绩</a:t>
            </a:r>
            <a:endParaRPr sz="1200" b="0" i="0">
              <a:solidFill>
                <a:schemeClr val="tx1">
                  <a:lumMod val="65000"/>
                  <a:lumOff val="35000"/>
                </a:schemeClr>
              </a:solidFill>
              <a:latin typeface="方正楷体_GB2312" panose="02000000000000000000" charset="-122"/>
              <a:ea typeface="方正楷体_GB2312" panose="02000000000000000000" charset="-122"/>
              <a:cs typeface="方正楷体_GB2312" panose="02000000000000000000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组合 111"/>
          <p:cNvGrpSpPr/>
          <p:nvPr>
            <p:custDataLst>
              <p:tags r:id="rId1"/>
            </p:custDataLst>
          </p:nvPr>
        </p:nvGrpSpPr>
        <p:grpSpPr>
          <a:xfrm>
            <a:off x="4718050" y="3934460"/>
            <a:ext cx="3539490" cy="1540510"/>
            <a:chOff x="7430" y="6196"/>
            <a:chExt cx="5574" cy="2426"/>
          </a:xfrm>
        </p:grpSpPr>
        <p:sp>
          <p:nvSpPr>
            <p:cNvPr id="86" name="矩形 85"/>
            <p:cNvSpPr/>
            <p:nvPr>
              <p:custDataLst>
                <p:tags r:id="rId2"/>
              </p:custDataLst>
            </p:nvPr>
          </p:nvSpPr>
          <p:spPr>
            <a:xfrm rot="1400643">
              <a:off x="7766" y="7266"/>
              <a:ext cx="5238" cy="1356"/>
            </a:xfrm>
            <a:prstGeom prst="rect">
              <a:avLst/>
            </a:prstGeom>
            <a:gradFill flip="none" rotWithShape="1">
              <a:gsLst>
                <a:gs pos="54000">
                  <a:schemeClr val="bg1">
                    <a:lumMod val="65000"/>
                    <a:lumOff val="35000"/>
                    <a:alpha val="0"/>
                  </a:schemeClr>
                </a:gs>
                <a:gs pos="0">
                  <a:schemeClr val="accent1">
                    <a:alpha val="54000"/>
                    <a:lumMod val="65000"/>
                    <a:lumOff val="35000"/>
                  </a:schemeClr>
                </a:gs>
                <a:gs pos="0">
                  <a:schemeClr val="bg1">
                    <a:lumMod val="75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108" name="组合 107"/>
            <p:cNvGrpSpPr/>
            <p:nvPr>
              <p:custDataLst>
                <p:tags r:id="rId3"/>
              </p:custDataLst>
            </p:nvPr>
          </p:nvGrpSpPr>
          <p:grpSpPr>
            <a:xfrm>
              <a:off x="7430" y="6196"/>
              <a:ext cx="1522" cy="1523"/>
              <a:chOff x="8551" y="7608"/>
              <a:chExt cx="1522" cy="1523"/>
            </a:xfrm>
            <a:solidFill>
              <a:srgbClr val="DADAE4"/>
            </a:solidFill>
          </p:grpSpPr>
          <p:sp>
            <p:nvSpPr>
              <p:cNvPr id="92" name="淘宝店chenying0907 11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8551" y="7608"/>
                <a:ext cx="1522" cy="1523"/>
              </a:xfrm>
              <a:custGeom>
                <a:avLst/>
                <a:gdLst>
                  <a:gd name="T0" fmla="*/ 1 w 4869"/>
                  <a:gd name="T1" fmla="*/ 2493 h 4872"/>
                  <a:gd name="T2" fmla="*/ 3 w 4869"/>
                  <a:gd name="T3" fmla="*/ 2311 h 4872"/>
                  <a:gd name="T4" fmla="*/ 76 w 4869"/>
                  <a:gd name="T5" fmla="*/ 1828 h 4872"/>
                  <a:gd name="T6" fmla="*/ 240 w 4869"/>
                  <a:gd name="T7" fmla="*/ 1380 h 4872"/>
                  <a:gd name="T8" fmla="*/ 483 w 4869"/>
                  <a:gd name="T9" fmla="*/ 979 h 4872"/>
                  <a:gd name="T10" fmla="*/ 798 w 4869"/>
                  <a:gd name="T11" fmla="*/ 634 h 4872"/>
                  <a:gd name="T12" fmla="*/ 1172 w 4869"/>
                  <a:gd name="T13" fmla="*/ 353 h 4872"/>
                  <a:gd name="T14" fmla="*/ 1598 w 4869"/>
                  <a:gd name="T15" fmla="*/ 148 h 4872"/>
                  <a:gd name="T16" fmla="*/ 2063 w 4869"/>
                  <a:gd name="T17" fmla="*/ 28 h 4872"/>
                  <a:gd name="T18" fmla="*/ 2559 w 4869"/>
                  <a:gd name="T19" fmla="*/ 3 h 4872"/>
                  <a:gd name="T20" fmla="*/ 3042 w 4869"/>
                  <a:gd name="T21" fmla="*/ 77 h 4872"/>
                  <a:gd name="T22" fmla="*/ 3490 w 4869"/>
                  <a:gd name="T23" fmla="*/ 240 h 4872"/>
                  <a:gd name="T24" fmla="*/ 3891 w 4869"/>
                  <a:gd name="T25" fmla="*/ 485 h 4872"/>
                  <a:gd name="T26" fmla="*/ 4236 w 4869"/>
                  <a:gd name="T27" fmla="*/ 798 h 4872"/>
                  <a:gd name="T28" fmla="*/ 4516 w 4869"/>
                  <a:gd name="T29" fmla="*/ 1174 h 4872"/>
                  <a:gd name="T30" fmla="*/ 4722 w 4869"/>
                  <a:gd name="T31" fmla="*/ 1599 h 4872"/>
                  <a:gd name="T32" fmla="*/ 4841 w 4869"/>
                  <a:gd name="T33" fmla="*/ 2066 h 4872"/>
                  <a:gd name="T34" fmla="*/ 4866 w 4869"/>
                  <a:gd name="T35" fmla="*/ 2562 h 4872"/>
                  <a:gd name="T36" fmla="*/ 4792 w 4869"/>
                  <a:gd name="T37" fmla="*/ 3045 h 4872"/>
                  <a:gd name="T38" fmla="*/ 4629 w 4869"/>
                  <a:gd name="T39" fmla="*/ 3492 h 4872"/>
                  <a:gd name="T40" fmla="*/ 4385 w 4869"/>
                  <a:gd name="T41" fmla="*/ 3893 h 4872"/>
                  <a:gd name="T42" fmla="*/ 4071 w 4869"/>
                  <a:gd name="T43" fmla="*/ 4239 h 4872"/>
                  <a:gd name="T44" fmla="*/ 3697 w 4869"/>
                  <a:gd name="T45" fmla="*/ 4519 h 4872"/>
                  <a:gd name="T46" fmla="*/ 3271 w 4869"/>
                  <a:gd name="T47" fmla="*/ 4724 h 4872"/>
                  <a:gd name="T48" fmla="*/ 2805 w 4869"/>
                  <a:gd name="T49" fmla="*/ 4844 h 4872"/>
                  <a:gd name="T50" fmla="*/ 2389 w 4869"/>
                  <a:gd name="T51" fmla="*/ 4872 h 4872"/>
                  <a:gd name="T52" fmla="*/ 2212 w 4869"/>
                  <a:gd name="T53" fmla="*/ 4862 h 4872"/>
                  <a:gd name="T54" fmla="*/ 2040 w 4869"/>
                  <a:gd name="T55" fmla="*/ 4840 h 4872"/>
                  <a:gd name="T56" fmla="*/ 1873 w 4869"/>
                  <a:gd name="T57" fmla="*/ 4808 h 4872"/>
                  <a:gd name="T58" fmla="*/ 1708 w 4869"/>
                  <a:gd name="T59" fmla="*/ 4762 h 4872"/>
                  <a:gd name="T60" fmla="*/ 1548 w 4869"/>
                  <a:gd name="T61" fmla="*/ 4705 h 4872"/>
                  <a:gd name="T62" fmla="*/ 1392 w 4869"/>
                  <a:gd name="T63" fmla="*/ 4636 h 4872"/>
                  <a:gd name="T64" fmla="*/ 1238 w 4869"/>
                  <a:gd name="T65" fmla="*/ 4556 h 4872"/>
                  <a:gd name="T66" fmla="*/ 1105 w 4869"/>
                  <a:gd name="T67" fmla="*/ 4477 h 4872"/>
                  <a:gd name="T68" fmla="*/ 1005 w 4869"/>
                  <a:gd name="T69" fmla="*/ 4416 h 4872"/>
                  <a:gd name="T70" fmla="*/ 933 w 4869"/>
                  <a:gd name="T71" fmla="*/ 4397 h 4872"/>
                  <a:gd name="T72" fmla="*/ 871 w 4869"/>
                  <a:gd name="T73" fmla="*/ 4416 h 4872"/>
                  <a:gd name="T74" fmla="*/ 792 w 4869"/>
                  <a:gd name="T75" fmla="*/ 4476 h 4872"/>
                  <a:gd name="T76" fmla="*/ 692 w 4869"/>
                  <a:gd name="T77" fmla="*/ 4554 h 4872"/>
                  <a:gd name="T78" fmla="*/ 580 w 4869"/>
                  <a:gd name="T79" fmla="*/ 4616 h 4872"/>
                  <a:gd name="T80" fmla="*/ 430 w 4869"/>
                  <a:gd name="T81" fmla="*/ 4663 h 4872"/>
                  <a:gd name="T82" fmla="*/ 231 w 4869"/>
                  <a:gd name="T83" fmla="*/ 4686 h 4872"/>
                  <a:gd name="T84" fmla="*/ 231 w 4869"/>
                  <a:gd name="T85" fmla="*/ 4650 h 4872"/>
                  <a:gd name="T86" fmla="*/ 295 w 4869"/>
                  <a:gd name="T87" fmla="*/ 4591 h 4872"/>
                  <a:gd name="T88" fmla="*/ 345 w 4869"/>
                  <a:gd name="T89" fmla="*/ 4522 h 4872"/>
                  <a:gd name="T90" fmla="*/ 380 w 4869"/>
                  <a:gd name="T91" fmla="*/ 4449 h 4872"/>
                  <a:gd name="T92" fmla="*/ 403 w 4869"/>
                  <a:gd name="T93" fmla="*/ 4371 h 4872"/>
                  <a:gd name="T94" fmla="*/ 416 w 4869"/>
                  <a:gd name="T95" fmla="*/ 4292 h 4872"/>
                  <a:gd name="T96" fmla="*/ 417 w 4869"/>
                  <a:gd name="T97" fmla="*/ 4163 h 4872"/>
                  <a:gd name="T98" fmla="*/ 390 w 4869"/>
                  <a:gd name="T99" fmla="*/ 4021 h 4872"/>
                  <a:gd name="T100" fmla="*/ 339 w 4869"/>
                  <a:gd name="T101" fmla="*/ 3867 h 4872"/>
                  <a:gd name="T102" fmla="*/ 222 w 4869"/>
                  <a:gd name="T103" fmla="*/ 3566 h 4872"/>
                  <a:gd name="T104" fmla="*/ 133 w 4869"/>
                  <a:gd name="T105" fmla="*/ 3319 h 4872"/>
                  <a:gd name="T106" fmla="*/ 70 w 4869"/>
                  <a:gd name="T107" fmla="*/ 3098 h 4872"/>
                  <a:gd name="T108" fmla="*/ 23 w 4869"/>
                  <a:gd name="T109" fmla="*/ 2854 h 4872"/>
                  <a:gd name="T110" fmla="*/ 1 w 4869"/>
                  <a:gd name="T111" fmla="*/ 2581 h 48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4869" h="4872">
                    <a:moveTo>
                      <a:pt x="0" y="2509"/>
                    </a:moveTo>
                    <a:lnTo>
                      <a:pt x="1" y="2510"/>
                    </a:lnTo>
                    <a:lnTo>
                      <a:pt x="2" y="2512"/>
                    </a:lnTo>
                    <a:lnTo>
                      <a:pt x="1" y="2493"/>
                    </a:lnTo>
                    <a:lnTo>
                      <a:pt x="1" y="2474"/>
                    </a:lnTo>
                    <a:lnTo>
                      <a:pt x="0" y="2456"/>
                    </a:lnTo>
                    <a:lnTo>
                      <a:pt x="0" y="2437"/>
                    </a:lnTo>
                    <a:lnTo>
                      <a:pt x="3" y="2311"/>
                    </a:lnTo>
                    <a:lnTo>
                      <a:pt x="12" y="2187"/>
                    </a:lnTo>
                    <a:lnTo>
                      <a:pt x="28" y="2066"/>
                    </a:lnTo>
                    <a:lnTo>
                      <a:pt x="49" y="1945"/>
                    </a:lnTo>
                    <a:lnTo>
                      <a:pt x="76" y="1828"/>
                    </a:lnTo>
                    <a:lnTo>
                      <a:pt x="109" y="1712"/>
                    </a:lnTo>
                    <a:lnTo>
                      <a:pt x="147" y="1599"/>
                    </a:lnTo>
                    <a:lnTo>
                      <a:pt x="191" y="1488"/>
                    </a:lnTo>
                    <a:lnTo>
                      <a:pt x="240" y="1380"/>
                    </a:lnTo>
                    <a:lnTo>
                      <a:pt x="294" y="1275"/>
                    </a:lnTo>
                    <a:lnTo>
                      <a:pt x="353" y="1174"/>
                    </a:lnTo>
                    <a:lnTo>
                      <a:pt x="416" y="1075"/>
                    </a:lnTo>
                    <a:lnTo>
                      <a:pt x="483" y="979"/>
                    </a:lnTo>
                    <a:lnTo>
                      <a:pt x="555" y="887"/>
                    </a:lnTo>
                    <a:lnTo>
                      <a:pt x="632" y="798"/>
                    </a:lnTo>
                    <a:lnTo>
                      <a:pt x="713" y="714"/>
                    </a:lnTo>
                    <a:lnTo>
                      <a:pt x="798" y="634"/>
                    </a:lnTo>
                    <a:lnTo>
                      <a:pt x="886" y="557"/>
                    </a:lnTo>
                    <a:lnTo>
                      <a:pt x="978" y="485"/>
                    </a:lnTo>
                    <a:lnTo>
                      <a:pt x="1073" y="416"/>
                    </a:lnTo>
                    <a:lnTo>
                      <a:pt x="1172" y="353"/>
                    </a:lnTo>
                    <a:lnTo>
                      <a:pt x="1274" y="294"/>
                    </a:lnTo>
                    <a:lnTo>
                      <a:pt x="1379" y="240"/>
                    </a:lnTo>
                    <a:lnTo>
                      <a:pt x="1486" y="192"/>
                    </a:lnTo>
                    <a:lnTo>
                      <a:pt x="1598" y="148"/>
                    </a:lnTo>
                    <a:lnTo>
                      <a:pt x="1710" y="111"/>
                    </a:lnTo>
                    <a:lnTo>
                      <a:pt x="1825" y="77"/>
                    </a:lnTo>
                    <a:lnTo>
                      <a:pt x="1944" y="50"/>
                    </a:lnTo>
                    <a:lnTo>
                      <a:pt x="2063" y="28"/>
                    </a:lnTo>
                    <a:lnTo>
                      <a:pt x="2185" y="14"/>
                    </a:lnTo>
                    <a:lnTo>
                      <a:pt x="2309" y="3"/>
                    </a:lnTo>
                    <a:lnTo>
                      <a:pt x="2434" y="0"/>
                    </a:lnTo>
                    <a:lnTo>
                      <a:pt x="2559" y="3"/>
                    </a:lnTo>
                    <a:lnTo>
                      <a:pt x="2683" y="14"/>
                    </a:lnTo>
                    <a:lnTo>
                      <a:pt x="2805" y="28"/>
                    </a:lnTo>
                    <a:lnTo>
                      <a:pt x="2925" y="50"/>
                    </a:lnTo>
                    <a:lnTo>
                      <a:pt x="3042" y="77"/>
                    </a:lnTo>
                    <a:lnTo>
                      <a:pt x="3159" y="111"/>
                    </a:lnTo>
                    <a:lnTo>
                      <a:pt x="3271" y="148"/>
                    </a:lnTo>
                    <a:lnTo>
                      <a:pt x="3382" y="192"/>
                    </a:lnTo>
                    <a:lnTo>
                      <a:pt x="3490" y="240"/>
                    </a:lnTo>
                    <a:lnTo>
                      <a:pt x="3595" y="294"/>
                    </a:lnTo>
                    <a:lnTo>
                      <a:pt x="3697" y="353"/>
                    </a:lnTo>
                    <a:lnTo>
                      <a:pt x="3795" y="416"/>
                    </a:lnTo>
                    <a:lnTo>
                      <a:pt x="3891" y="485"/>
                    </a:lnTo>
                    <a:lnTo>
                      <a:pt x="3982" y="557"/>
                    </a:lnTo>
                    <a:lnTo>
                      <a:pt x="4071" y="634"/>
                    </a:lnTo>
                    <a:lnTo>
                      <a:pt x="4156" y="714"/>
                    </a:lnTo>
                    <a:lnTo>
                      <a:pt x="4236" y="798"/>
                    </a:lnTo>
                    <a:lnTo>
                      <a:pt x="4312" y="887"/>
                    </a:lnTo>
                    <a:lnTo>
                      <a:pt x="4385" y="979"/>
                    </a:lnTo>
                    <a:lnTo>
                      <a:pt x="4453" y="1075"/>
                    </a:lnTo>
                    <a:lnTo>
                      <a:pt x="4516" y="1174"/>
                    </a:lnTo>
                    <a:lnTo>
                      <a:pt x="4575" y="1275"/>
                    </a:lnTo>
                    <a:lnTo>
                      <a:pt x="4629" y="1380"/>
                    </a:lnTo>
                    <a:lnTo>
                      <a:pt x="4678" y="1488"/>
                    </a:lnTo>
                    <a:lnTo>
                      <a:pt x="4722" y="1599"/>
                    </a:lnTo>
                    <a:lnTo>
                      <a:pt x="4759" y="1712"/>
                    </a:lnTo>
                    <a:lnTo>
                      <a:pt x="4792" y="1828"/>
                    </a:lnTo>
                    <a:lnTo>
                      <a:pt x="4820" y="1945"/>
                    </a:lnTo>
                    <a:lnTo>
                      <a:pt x="4841" y="2066"/>
                    </a:lnTo>
                    <a:lnTo>
                      <a:pt x="4856" y="2187"/>
                    </a:lnTo>
                    <a:lnTo>
                      <a:pt x="4866" y="2311"/>
                    </a:lnTo>
                    <a:lnTo>
                      <a:pt x="4869" y="2437"/>
                    </a:lnTo>
                    <a:lnTo>
                      <a:pt x="4866" y="2562"/>
                    </a:lnTo>
                    <a:lnTo>
                      <a:pt x="4856" y="2686"/>
                    </a:lnTo>
                    <a:lnTo>
                      <a:pt x="4841" y="2808"/>
                    </a:lnTo>
                    <a:lnTo>
                      <a:pt x="4820" y="2927"/>
                    </a:lnTo>
                    <a:lnTo>
                      <a:pt x="4792" y="3045"/>
                    </a:lnTo>
                    <a:lnTo>
                      <a:pt x="4759" y="3160"/>
                    </a:lnTo>
                    <a:lnTo>
                      <a:pt x="4722" y="3274"/>
                    </a:lnTo>
                    <a:lnTo>
                      <a:pt x="4678" y="3385"/>
                    </a:lnTo>
                    <a:lnTo>
                      <a:pt x="4629" y="3492"/>
                    </a:lnTo>
                    <a:lnTo>
                      <a:pt x="4575" y="3597"/>
                    </a:lnTo>
                    <a:lnTo>
                      <a:pt x="4516" y="3699"/>
                    </a:lnTo>
                    <a:lnTo>
                      <a:pt x="4453" y="3799"/>
                    </a:lnTo>
                    <a:lnTo>
                      <a:pt x="4385" y="3893"/>
                    </a:lnTo>
                    <a:lnTo>
                      <a:pt x="4312" y="3986"/>
                    </a:lnTo>
                    <a:lnTo>
                      <a:pt x="4236" y="4074"/>
                    </a:lnTo>
                    <a:lnTo>
                      <a:pt x="4156" y="4158"/>
                    </a:lnTo>
                    <a:lnTo>
                      <a:pt x="4071" y="4239"/>
                    </a:lnTo>
                    <a:lnTo>
                      <a:pt x="3982" y="4316"/>
                    </a:lnTo>
                    <a:lnTo>
                      <a:pt x="3891" y="4388"/>
                    </a:lnTo>
                    <a:lnTo>
                      <a:pt x="3795" y="4456"/>
                    </a:lnTo>
                    <a:lnTo>
                      <a:pt x="3697" y="4519"/>
                    </a:lnTo>
                    <a:lnTo>
                      <a:pt x="3595" y="4578"/>
                    </a:lnTo>
                    <a:lnTo>
                      <a:pt x="3490" y="4632"/>
                    </a:lnTo>
                    <a:lnTo>
                      <a:pt x="3382" y="4680"/>
                    </a:lnTo>
                    <a:lnTo>
                      <a:pt x="3271" y="4724"/>
                    </a:lnTo>
                    <a:lnTo>
                      <a:pt x="3159" y="4763"/>
                    </a:lnTo>
                    <a:lnTo>
                      <a:pt x="3042" y="4795"/>
                    </a:lnTo>
                    <a:lnTo>
                      <a:pt x="2925" y="4822"/>
                    </a:lnTo>
                    <a:lnTo>
                      <a:pt x="2805" y="4844"/>
                    </a:lnTo>
                    <a:lnTo>
                      <a:pt x="2683" y="4860"/>
                    </a:lnTo>
                    <a:lnTo>
                      <a:pt x="2559" y="4869"/>
                    </a:lnTo>
                    <a:lnTo>
                      <a:pt x="2434" y="4872"/>
                    </a:lnTo>
                    <a:lnTo>
                      <a:pt x="2389" y="4872"/>
                    </a:lnTo>
                    <a:lnTo>
                      <a:pt x="2345" y="4871"/>
                    </a:lnTo>
                    <a:lnTo>
                      <a:pt x="2300" y="4869"/>
                    </a:lnTo>
                    <a:lnTo>
                      <a:pt x="2256" y="4866"/>
                    </a:lnTo>
                    <a:lnTo>
                      <a:pt x="2212" y="4862"/>
                    </a:lnTo>
                    <a:lnTo>
                      <a:pt x="2169" y="4858"/>
                    </a:lnTo>
                    <a:lnTo>
                      <a:pt x="2125" y="4853"/>
                    </a:lnTo>
                    <a:lnTo>
                      <a:pt x="2082" y="4847"/>
                    </a:lnTo>
                    <a:lnTo>
                      <a:pt x="2040" y="4840"/>
                    </a:lnTo>
                    <a:lnTo>
                      <a:pt x="1998" y="4834"/>
                    </a:lnTo>
                    <a:lnTo>
                      <a:pt x="1956" y="4826"/>
                    </a:lnTo>
                    <a:lnTo>
                      <a:pt x="1913" y="4817"/>
                    </a:lnTo>
                    <a:lnTo>
                      <a:pt x="1873" y="4808"/>
                    </a:lnTo>
                    <a:lnTo>
                      <a:pt x="1831" y="4798"/>
                    </a:lnTo>
                    <a:lnTo>
                      <a:pt x="1789" y="4786"/>
                    </a:lnTo>
                    <a:lnTo>
                      <a:pt x="1749" y="4774"/>
                    </a:lnTo>
                    <a:lnTo>
                      <a:pt x="1708" y="4762"/>
                    </a:lnTo>
                    <a:lnTo>
                      <a:pt x="1668" y="4749"/>
                    </a:lnTo>
                    <a:lnTo>
                      <a:pt x="1628" y="4734"/>
                    </a:lnTo>
                    <a:lnTo>
                      <a:pt x="1588" y="4720"/>
                    </a:lnTo>
                    <a:lnTo>
                      <a:pt x="1548" y="4705"/>
                    </a:lnTo>
                    <a:lnTo>
                      <a:pt x="1509" y="4689"/>
                    </a:lnTo>
                    <a:lnTo>
                      <a:pt x="1469" y="4672"/>
                    </a:lnTo>
                    <a:lnTo>
                      <a:pt x="1431" y="4654"/>
                    </a:lnTo>
                    <a:lnTo>
                      <a:pt x="1392" y="4636"/>
                    </a:lnTo>
                    <a:lnTo>
                      <a:pt x="1353" y="4617"/>
                    </a:lnTo>
                    <a:lnTo>
                      <a:pt x="1315" y="4598"/>
                    </a:lnTo>
                    <a:lnTo>
                      <a:pt x="1277" y="4578"/>
                    </a:lnTo>
                    <a:lnTo>
                      <a:pt x="1238" y="4556"/>
                    </a:lnTo>
                    <a:lnTo>
                      <a:pt x="1201" y="4535"/>
                    </a:lnTo>
                    <a:lnTo>
                      <a:pt x="1163" y="4512"/>
                    </a:lnTo>
                    <a:lnTo>
                      <a:pt x="1126" y="4490"/>
                    </a:lnTo>
                    <a:lnTo>
                      <a:pt x="1105" y="4477"/>
                    </a:lnTo>
                    <a:lnTo>
                      <a:pt x="1083" y="4464"/>
                    </a:lnTo>
                    <a:lnTo>
                      <a:pt x="1057" y="4447"/>
                    </a:lnTo>
                    <a:lnTo>
                      <a:pt x="1026" y="4428"/>
                    </a:lnTo>
                    <a:lnTo>
                      <a:pt x="1005" y="4416"/>
                    </a:lnTo>
                    <a:lnTo>
                      <a:pt x="986" y="4407"/>
                    </a:lnTo>
                    <a:lnTo>
                      <a:pt x="967" y="4401"/>
                    </a:lnTo>
                    <a:lnTo>
                      <a:pt x="950" y="4397"/>
                    </a:lnTo>
                    <a:lnTo>
                      <a:pt x="933" y="4397"/>
                    </a:lnTo>
                    <a:lnTo>
                      <a:pt x="917" y="4398"/>
                    </a:lnTo>
                    <a:lnTo>
                      <a:pt x="901" y="4403"/>
                    </a:lnTo>
                    <a:lnTo>
                      <a:pt x="887" y="4409"/>
                    </a:lnTo>
                    <a:lnTo>
                      <a:pt x="871" y="4416"/>
                    </a:lnTo>
                    <a:lnTo>
                      <a:pt x="856" y="4426"/>
                    </a:lnTo>
                    <a:lnTo>
                      <a:pt x="840" y="4436"/>
                    </a:lnTo>
                    <a:lnTo>
                      <a:pt x="825" y="4448"/>
                    </a:lnTo>
                    <a:lnTo>
                      <a:pt x="792" y="4476"/>
                    </a:lnTo>
                    <a:lnTo>
                      <a:pt x="756" y="4507"/>
                    </a:lnTo>
                    <a:lnTo>
                      <a:pt x="736" y="4522"/>
                    </a:lnTo>
                    <a:lnTo>
                      <a:pt x="714" y="4538"/>
                    </a:lnTo>
                    <a:lnTo>
                      <a:pt x="692" y="4554"/>
                    </a:lnTo>
                    <a:lnTo>
                      <a:pt x="667" y="4571"/>
                    </a:lnTo>
                    <a:lnTo>
                      <a:pt x="640" y="4587"/>
                    </a:lnTo>
                    <a:lnTo>
                      <a:pt x="612" y="4601"/>
                    </a:lnTo>
                    <a:lnTo>
                      <a:pt x="580" y="4616"/>
                    </a:lnTo>
                    <a:lnTo>
                      <a:pt x="546" y="4630"/>
                    </a:lnTo>
                    <a:lnTo>
                      <a:pt x="510" y="4642"/>
                    </a:lnTo>
                    <a:lnTo>
                      <a:pt x="472" y="4653"/>
                    </a:lnTo>
                    <a:lnTo>
                      <a:pt x="430" y="4663"/>
                    </a:lnTo>
                    <a:lnTo>
                      <a:pt x="385" y="4672"/>
                    </a:lnTo>
                    <a:lnTo>
                      <a:pt x="338" y="4679"/>
                    </a:lnTo>
                    <a:lnTo>
                      <a:pt x="286" y="4684"/>
                    </a:lnTo>
                    <a:lnTo>
                      <a:pt x="231" y="4686"/>
                    </a:lnTo>
                    <a:lnTo>
                      <a:pt x="172" y="4686"/>
                    </a:lnTo>
                    <a:lnTo>
                      <a:pt x="193" y="4675"/>
                    </a:lnTo>
                    <a:lnTo>
                      <a:pt x="212" y="4662"/>
                    </a:lnTo>
                    <a:lnTo>
                      <a:pt x="231" y="4650"/>
                    </a:lnTo>
                    <a:lnTo>
                      <a:pt x="249" y="4636"/>
                    </a:lnTo>
                    <a:lnTo>
                      <a:pt x="265" y="4622"/>
                    </a:lnTo>
                    <a:lnTo>
                      <a:pt x="280" y="4606"/>
                    </a:lnTo>
                    <a:lnTo>
                      <a:pt x="295" y="4591"/>
                    </a:lnTo>
                    <a:lnTo>
                      <a:pt x="309" y="4574"/>
                    </a:lnTo>
                    <a:lnTo>
                      <a:pt x="321" y="4557"/>
                    </a:lnTo>
                    <a:lnTo>
                      <a:pt x="333" y="4541"/>
                    </a:lnTo>
                    <a:lnTo>
                      <a:pt x="345" y="4522"/>
                    </a:lnTo>
                    <a:lnTo>
                      <a:pt x="355" y="4504"/>
                    </a:lnTo>
                    <a:lnTo>
                      <a:pt x="364" y="4486"/>
                    </a:lnTo>
                    <a:lnTo>
                      <a:pt x="373" y="4467"/>
                    </a:lnTo>
                    <a:lnTo>
                      <a:pt x="380" y="4449"/>
                    </a:lnTo>
                    <a:lnTo>
                      <a:pt x="386" y="4430"/>
                    </a:lnTo>
                    <a:lnTo>
                      <a:pt x="393" y="4410"/>
                    </a:lnTo>
                    <a:lnTo>
                      <a:pt x="399" y="4391"/>
                    </a:lnTo>
                    <a:lnTo>
                      <a:pt x="403" y="4371"/>
                    </a:lnTo>
                    <a:lnTo>
                      <a:pt x="408" y="4351"/>
                    </a:lnTo>
                    <a:lnTo>
                      <a:pt x="411" y="4332"/>
                    </a:lnTo>
                    <a:lnTo>
                      <a:pt x="413" y="4313"/>
                    </a:lnTo>
                    <a:lnTo>
                      <a:pt x="416" y="4292"/>
                    </a:lnTo>
                    <a:lnTo>
                      <a:pt x="418" y="4273"/>
                    </a:lnTo>
                    <a:lnTo>
                      <a:pt x="419" y="4235"/>
                    </a:lnTo>
                    <a:lnTo>
                      <a:pt x="419" y="4199"/>
                    </a:lnTo>
                    <a:lnTo>
                      <a:pt x="417" y="4163"/>
                    </a:lnTo>
                    <a:lnTo>
                      <a:pt x="412" y="4129"/>
                    </a:lnTo>
                    <a:lnTo>
                      <a:pt x="407" y="4093"/>
                    </a:lnTo>
                    <a:lnTo>
                      <a:pt x="399" y="4057"/>
                    </a:lnTo>
                    <a:lnTo>
                      <a:pt x="390" y="4021"/>
                    </a:lnTo>
                    <a:lnTo>
                      <a:pt x="378" y="3984"/>
                    </a:lnTo>
                    <a:lnTo>
                      <a:pt x="367" y="3945"/>
                    </a:lnTo>
                    <a:lnTo>
                      <a:pt x="354" y="3907"/>
                    </a:lnTo>
                    <a:lnTo>
                      <a:pt x="339" y="3867"/>
                    </a:lnTo>
                    <a:lnTo>
                      <a:pt x="324" y="3827"/>
                    </a:lnTo>
                    <a:lnTo>
                      <a:pt x="292" y="3743"/>
                    </a:lnTo>
                    <a:lnTo>
                      <a:pt x="258" y="3657"/>
                    </a:lnTo>
                    <a:lnTo>
                      <a:pt x="222" y="3566"/>
                    </a:lnTo>
                    <a:lnTo>
                      <a:pt x="186" y="3472"/>
                    </a:lnTo>
                    <a:lnTo>
                      <a:pt x="168" y="3422"/>
                    </a:lnTo>
                    <a:lnTo>
                      <a:pt x="150" y="3371"/>
                    </a:lnTo>
                    <a:lnTo>
                      <a:pt x="133" y="3319"/>
                    </a:lnTo>
                    <a:lnTo>
                      <a:pt x="116" y="3266"/>
                    </a:lnTo>
                    <a:lnTo>
                      <a:pt x="100" y="3212"/>
                    </a:lnTo>
                    <a:lnTo>
                      <a:pt x="84" y="3156"/>
                    </a:lnTo>
                    <a:lnTo>
                      <a:pt x="70" y="3098"/>
                    </a:lnTo>
                    <a:lnTo>
                      <a:pt x="56" y="3040"/>
                    </a:lnTo>
                    <a:lnTo>
                      <a:pt x="44" y="2979"/>
                    </a:lnTo>
                    <a:lnTo>
                      <a:pt x="33" y="2917"/>
                    </a:lnTo>
                    <a:lnTo>
                      <a:pt x="23" y="2854"/>
                    </a:lnTo>
                    <a:lnTo>
                      <a:pt x="16" y="2788"/>
                    </a:lnTo>
                    <a:lnTo>
                      <a:pt x="9" y="2721"/>
                    </a:lnTo>
                    <a:lnTo>
                      <a:pt x="4" y="2652"/>
                    </a:lnTo>
                    <a:lnTo>
                      <a:pt x="1" y="2581"/>
                    </a:lnTo>
                    <a:lnTo>
                      <a:pt x="0" y="2509"/>
                    </a:lnTo>
                    <a:close/>
                  </a:path>
                </a:pathLst>
              </a:custGeom>
              <a:grpFill/>
              <a:ln>
                <a:solidFill>
                  <a:srgbClr val="DADAE4"/>
                </a:solidFill>
              </a:ln>
            </p:spPr>
            <p:txBody>
              <a:bodyPr vert="horz" wrap="square" lIns="91412" tIns="45706" rIns="91412" bIns="45706" numCol="1" anchor="t" anchorCtr="0" compatLnSpc="1"/>
              <a:lstStyle/>
              <a:p>
                <a:endPara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4" name="TextBox 80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9105" y="7985"/>
                <a:ext cx="414" cy="531"/>
              </a:xfrm>
              <a:prstGeom prst="roundRect">
                <a:avLst>
                  <a:gd name="adj" fmla="val 0"/>
                </a:avLst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3</a:t>
                </a:r>
                <a:endPara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09" name="组合 108"/>
          <p:cNvGrpSpPr/>
          <p:nvPr>
            <p:custDataLst>
              <p:tags r:id="rId6"/>
            </p:custDataLst>
          </p:nvPr>
        </p:nvGrpSpPr>
        <p:grpSpPr>
          <a:xfrm>
            <a:off x="4815205" y="2225675"/>
            <a:ext cx="3454400" cy="1505585"/>
            <a:chOff x="7583" y="3505"/>
            <a:chExt cx="5440" cy="2371"/>
          </a:xfrm>
        </p:grpSpPr>
        <p:sp>
          <p:nvSpPr>
            <p:cNvPr id="88" name="矩形 87"/>
            <p:cNvSpPr/>
            <p:nvPr>
              <p:custDataLst>
                <p:tags r:id="rId7"/>
              </p:custDataLst>
            </p:nvPr>
          </p:nvSpPr>
          <p:spPr>
            <a:xfrm rot="1400643">
              <a:off x="7785" y="4520"/>
              <a:ext cx="5238" cy="1356"/>
            </a:xfrm>
            <a:prstGeom prst="rect">
              <a:avLst/>
            </a:prstGeom>
            <a:gradFill flip="none" rotWithShape="1">
              <a:gsLst>
                <a:gs pos="54000">
                  <a:schemeClr val="bg1">
                    <a:lumMod val="65000"/>
                    <a:lumOff val="35000"/>
                    <a:alpha val="0"/>
                  </a:schemeClr>
                </a:gs>
                <a:gs pos="0">
                  <a:schemeClr val="accent1">
                    <a:alpha val="54000"/>
                    <a:lumMod val="65000"/>
                    <a:lumOff val="35000"/>
                  </a:schemeClr>
                </a:gs>
                <a:gs pos="0">
                  <a:schemeClr val="bg1">
                    <a:lumMod val="75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106" name="组合 105"/>
            <p:cNvGrpSpPr/>
            <p:nvPr>
              <p:custDataLst>
                <p:tags r:id="rId8"/>
              </p:custDataLst>
            </p:nvPr>
          </p:nvGrpSpPr>
          <p:grpSpPr>
            <a:xfrm>
              <a:off x="7583" y="3505"/>
              <a:ext cx="1522" cy="1523"/>
              <a:chOff x="8666" y="4906"/>
              <a:chExt cx="1522" cy="1523"/>
            </a:xfrm>
          </p:grpSpPr>
          <p:sp>
            <p:nvSpPr>
              <p:cNvPr id="90" name="淘宝店chenying0907 7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8666" y="4906"/>
                <a:ext cx="1522" cy="1523"/>
              </a:xfrm>
              <a:custGeom>
                <a:avLst/>
                <a:gdLst>
                  <a:gd name="T0" fmla="*/ 2 w 4869"/>
                  <a:gd name="T1" fmla="*/ 2493 h 4872"/>
                  <a:gd name="T2" fmla="*/ 3 w 4869"/>
                  <a:gd name="T3" fmla="*/ 2311 h 4872"/>
                  <a:gd name="T4" fmla="*/ 76 w 4869"/>
                  <a:gd name="T5" fmla="*/ 1827 h 4872"/>
                  <a:gd name="T6" fmla="*/ 240 w 4869"/>
                  <a:gd name="T7" fmla="*/ 1380 h 4872"/>
                  <a:gd name="T8" fmla="*/ 484 w 4869"/>
                  <a:gd name="T9" fmla="*/ 979 h 4872"/>
                  <a:gd name="T10" fmla="*/ 798 w 4869"/>
                  <a:gd name="T11" fmla="*/ 633 h 4872"/>
                  <a:gd name="T12" fmla="*/ 1172 w 4869"/>
                  <a:gd name="T13" fmla="*/ 353 h 4872"/>
                  <a:gd name="T14" fmla="*/ 1598 w 4869"/>
                  <a:gd name="T15" fmla="*/ 148 h 4872"/>
                  <a:gd name="T16" fmla="*/ 2064 w 4869"/>
                  <a:gd name="T17" fmla="*/ 29 h 4872"/>
                  <a:gd name="T18" fmla="*/ 2560 w 4869"/>
                  <a:gd name="T19" fmla="*/ 4 h 4872"/>
                  <a:gd name="T20" fmla="*/ 3043 w 4869"/>
                  <a:gd name="T21" fmla="*/ 77 h 4872"/>
                  <a:gd name="T22" fmla="*/ 3490 w 4869"/>
                  <a:gd name="T23" fmla="*/ 241 h 4872"/>
                  <a:gd name="T24" fmla="*/ 3891 w 4869"/>
                  <a:gd name="T25" fmla="*/ 484 h 4872"/>
                  <a:gd name="T26" fmla="*/ 4237 w 4869"/>
                  <a:gd name="T27" fmla="*/ 799 h 4872"/>
                  <a:gd name="T28" fmla="*/ 4516 w 4869"/>
                  <a:gd name="T29" fmla="*/ 1173 h 4872"/>
                  <a:gd name="T30" fmla="*/ 4721 w 4869"/>
                  <a:gd name="T31" fmla="*/ 1598 h 4872"/>
                  <a:gd name="T32" fmla="*/ 4841 w 4869"/>
                  <a:gd name="T33" fmla="*/ 2065 h 4872"/>
                  <a:gd name="T34" fmla="*/ 4866 w 4869"/>
                  <a:gd name="T35" fmla="*/ 2561 h 4872"/>
                  <a:gd name="T36" fmla="*/ 4792 w 4869"/>
                  <a:gd name="T37" fmla="*/ 3045 h 4872"/>
                  <a:gd name="T38" fmla="*/ 4629 w 4869"/>
                  <a:gd name="T39" fmla="*/ 3492 h 4872"/>
                  <a:gd name="T40" fmla="*/ 4386 w 4869"/>
                  <a:gd name="T41" fmla="*/ 3894 h 4872"/>
                  <a:gd name="T42" fmla="*/ 4071 w 4869"/>
                  <a:gd name="T43" fmla="*/ 4239 h 4872"/>
                  <a:gd name="T44" fmla="*/ 3697 w 4869"/>
                  <a:gd name="T45" fmla="*/ 4519 h 4872"/>
                  <a:gd name="T46" fmla="*/ 3271 w 4869"/>
                  <a:gd name="T47" fmla="*/ 4724 h 4872"/>
                  <a:gd name="T48" fmla="*/ 2806 w 4869"/>
                  <a:gd name="T49" fmla="*/ 4844 h 4872"/>
                  <a:gd name="T50" fmla="*/ 2390 w 4869"/>
                  <a:gd name="T51" fmla="*/ 4871 h 4872"/>
                  <a:gd name="T52" fmla="*/ 2213 w 4869"/>
                  <a:gd name="T53" fmla="*/ 4862 h 4872"/>
                  <a:gd name="T54" fmla="*/ 2041 w 4869"/>
                  <a:gd name="T55" fmla="*/ 4841 h 4872"/>
                  <a:gd name="T56" fmla="*/ 1873 w 4869"/>
                  <a:gd name="T57" fmla="*/ 4807 h 4872"/>
                  <a:gd name="T58" fmla="*/ 1709 w 4869"/>
                  <a:gd name="T59" fmla="*/ 4762 h 4872"/>
                  <a:gd name="T60" fmla="*/ 1549 w 4869"/>
                  <a:gd name="T61" fmla="*/ 4704 h 4872"/>
                  <a:gd name="T62" fmla="*/ 1393 w 4869"/>
                  <a:gd name="T63" fmla="*/ 4637 h 4872"/>
                  <a:gd name="T64" fmla="*/ 1239 w 4869"/>
                  <a:gd name="T65" fmla="*/ 4557 h 4872"/>
                  <a:gd name="T66" fmla="*/ 1106 w 4869"/>
                  <a:gd name="T67" fmla="*/ 4478 h 4872"/>
                  <a:gd name="T68" fmla="*/ 1006 w 4869"/>
                  <a:gd name="T69" fmla="*/ 4416 h 4872"/>
                  <a:gd name="T70" fmla="*/ 933 w 4869"/>
                  <a:gd name="T71" fmla="*/ 4397 h 4872"/>
                  <a:gd name="T72" fmla="*/ 872 w 4869"/>
                  <a:gd name="T73" fmla="*/ 4416 h 4872"/>
                  <a:gd name="T74" fmla="*/ 793 w 4869"/>
                  <a:gd name="T75" fmla="*/ 4475 h 4872"/>
                  <a:gd name="T76" fmla="*/ 692 w 4869"/>
                  <a:gd name="T77" fmla="*/ 4554 h 4872"/>
                  <a:gd name="T78" fmla="*/ 580 w 4869"/>
                  <a:gd name="T79" fmla="*/ 4616 h 4872"/>
                  <a:gd name="T80" fmla="*/ 430 w 4869"/>
                  <a:gd name="T81" fmla="*/ 4664 h 4872"/>
                  <a:gd name="T82" fmla="*/ 231 w 4869"/>
                  <a:gd name="T83" fmla="*/ 4686 h 4872"/>
                  <a:gd name="T84" fmla="*/ 231 w 4869"/>
                  <a:gd name="T85" fmla="*/ 4649 h 4872"/>
                  <a:gd name="T86" fmla="*/ 295 w 4869"/>
                  <a:gd name="T87" fmla="*/ 4590 h 4872"/>
                  <a:gd name="T88" fmla="*/ 345 w 4869"/>
                  <a:gd name="T89" fmla="*/ 4523 h 4872"/>
                  <a:gd name="T90" fmla="*/ 381 w 4869"/>
                  <a:gd name="T91" fmla="*/ 4448 h 4872"/>
                  <a:gd name="T92" fmla="*/ 403 w 4869"/>
                  <a:gd name="T93" fmla="*/ 4371 h 4872"/>
                  <a:gd name="T94" fmla="*/ 417 w 4869"/>
                  <a:gd name="T95" fmla="*/ 4293 h 4872"/>
                  <a:gd name="T96" fmla="*/ 417 w 4869"/>
                  <a:gd name="T97" fmla="*/ 4163 h 4872"/>
                  <a:gd name="T98" fmla="*/ 390 w 4869"/>
                  <a:gd name="T99" fmla="*/ 4020 h 4872"/>
                  <a:gd name="T100" fmla="*/ 340 w 4869"/>
                  <a:gd name="T101" fmla="*/ 3867 h 4872"/>
                  <a:gd name="T102" fmla="*/ 222 w 4869"/>
                  <a:gd name="T103" fmla="*/ 3567 h 4872"/>
                  <a:gd name="T104" fmla="*/ 133 w 4869"/>
                  <a:gd name="T105" fmla="*/ 3320 h 4872"/>
                  <a:gd name="T106" fmla="*/ 70 w 4869"/>
                  <a:gd name="T107" fmla="*/ 3099 h 4872"/>
                  <a:gd name="T108" fmla="*/ 23 w 4869"/>
                  <a:gd name="T109" fmla="*/ 2853 h 4872"/>
                  <a:gd name="T110" fmla="*/ 1 w 4869"/>
                  <a:gd name="T111" fmla="*/ 2581 h 48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4869" h="4872">
                    <a:moveTo>
                      <a:pt x="0" y="2508"/>
                    </a:moveTo>
                    <a:lnTo>
                      <a:pt x="1" y="2510"/>
                    </a:lnTo>
                    <a:lnTo>
                      <a:pt x="2" y="2512"/>
                    </a:lnTo>
                    <a:lnTo>
                      <a:pt x="2" y="2493"/>
                    </a:lnTo>
                    <a:lnTo>
                      <a:pt x="1" y="2474"/>
                    </a:lnTo>
                    <a:lnTo>
                      <a:pt x="0" y="2455"/>
                    </a:lnTo>
                    <a:lnTo>
                      <a:pt x="0" y="2436"/>
                    </a:lnTo>
                    <a:lnTo>
                      <a:pt x="3" y="2311"/>
                    </a:lnTo>
                    <a:lnTo>
                      <a:pt x="12" y="2187"/>
                    </a:lnTo>
                    <a:lnTo>
                      <a:pt x="28" y="2065"/>
                    </a:lnTo>
                    <a:lnTo>
                      <a:pt x="49" y="1945"/>
                    </a:lnTo>
                    <a:lnTo>
                      <a:pt x="76" y="1827"/>
                    </a:lnTo>
                    <a:lnTo>
                      <a:pt x="109" y="1712"/>
                    </a:lnTo>
                    <a:lnTo>
                      <a:pt x="147" y="1598"/>
                    </a:lnTo>
                    <a:lnTo>
                      <a:pt x="191" y="1488"/>
                    </a:lnTo>
                    <a:lnTo>
                      <a:pt x="240" y="1380"/>
                    </a:lnTo>
                    <a:lnTo>
                      <a:pt x="294" y="1276"/>
                    </a:lnTo>
                    <a:lnTo>
                      <a:pt x="352" y="1173"/>
                    </a:lnTo>
                    <a:lnTo>
                      <a:pt x="416" y="1074"/>
                    </a:lnTo>
                    <a:lnTo>
                      <a:pt x="484" y="979"/>
                    </a:lnTo>
                    <a:lnTo>
                      <a:pt x="556" y="887"/>
                    </a:lnTo>
                    <a:lnTo>
                      <a:pt x="633" y="799"/>
                    </a:lnTo>
                    <a:lnTo>
                      <a:pt x="713" y="714"/>
                    </a:lnTo>
                    <a:lnTo>
                      <a:pt x="798" y="633"/>
                    </a:lnTo>
                    <a:lnTo>
                      <a:pt x="887" y="556"/>
                    </a:lnTo>
                    <a:lnTo>
                      <a:pt x="978" y="484"/>
                    </a:lnTo>
                    <a:lnTo>
                      <a:pt x="1074" y="416"/>
                    </a:lnTo>
                    <a:lnTo>
                      <a:pt x="1172" y="353"/>
                    </a:lnTo>
                    <a:lnTo>
                      <a:pt x="1274" y="295"/>
                    </a:lnTo>
                    <a:lnTo>
                      <a:pt x="1379" y="241"/>
                    </a:lnTo>
                    <a:lnTo>
                      <a:pt x="1487" y="192"/>
                    </a:lnTo>
                    <a:lnTo>
                      <a:pt x="1598" y="148"/>
                    </a:lnTo>
                    <a:lnTo>
                      <a:pt x="1710" y="110"/>
                    </a:lnTo>
                    <a:lnTo>
                      <a:pt x="1826" y="77"/>
                    </a:lnTo>
                    <a:lnTo>
                      <a:pt x="1944" y="50"/>
                    </a:lnTo>
                    <a:lnTo>
                      <a:pt x="2064" y="29"/>
                    </a:lnTo>
                    <a:lnTo>
                      <a:pt x="2186" y="13"/>
                    </a:lnTo>
                    <a:lnTo>
                      <a:pt x="2310" y="4"/>
                    </a:lnTo>
                    <a:lnTo>
                      <a:pt x="2435" y="0"/>
                    </a:lnTo>
                    <a:lnTo>
                      <a:pt x="2560" y="4"/>
                    </a:lnTo>
                    <a:lnTo>
                      <a:pt x="2684" y="13"/>
                    </a:lnTo>
                    <a:lnTo>
                      <a:pt x="2806" y="29"/>
                    </a:lnTo>
                    <a:lnTo>
                      <a:pt x="2925" y="50"/>
                    </a:lnTo>
                    <a:lnTo>
                      <a:pt x="3043" y="77"/>
                    </a:lnTo>
                    <a:lnTo>
                      <a:pt x="3158" y="110"/>
                    </a:lnTo>
                    <a:lnTo>
                      <a:pt x="3271" y="148"/>
                    </a:lnTo>
                    <a:lnTo>
                      <a:pt x="3383" y="192"/>
                    </a:lnTo>
                    <a:lnTo>
                      <a:pt x="3490" y="241"/>
                    </a:lnTo>
                    <a:lnTo>
                      <a:pt x="3594" y="295"/>
                    </a:lnTo>
                    <a:lnTo>
                      <a:pt x="3697" y="353"/>
                    </a:lnTo>
                    <a:lnTo>
                      <a:pt x="3796" y="416"/>
                    </a:lnTo>
                    <a:lnTo>
                      <a:pt x="3891" y="484"/>
                    </a:lnTo>
                    <a:lnTo>
                      <a:pt x="3983" y="556"/>
                    </a:lnTo>
                    <a:lnTo>
                      <a:pt x="4071" y="633"/>
                    </a:lnTo>
                    <a:lnTo>
                      <a:pt x="4156" y="714"/>
                    </a:lnTo>
                    <a:lnTo>
                      <a:pt x="4237" y="799"/>
                    </a:lnTo>
                    <a:lnTo>
                      <a:pt x="4313" y="887"/>
                    </a:lnTo>
                    <a:lnTo>
                      <a:pt x="4386" y="979"/>
                    </a:lnTo>
                    <a:lnTo>
                      <a:pt x="4453" y="1074"/>
                    </a:lnTo>
                    <a:lnTo>
                      <a:pt x="4516" y="1173"/>
                    </a:lnTo>
                    <a:lnTo>
                      <a:pt x="4575" y="1276"/>
                    </a:lnTo>
                    <a:lnTo>
                      <a:pt x="4629" y="1380"/>
                    </a:lnTo>
                    <a:lnTo>
                      <a:pt x="4677" y="1488"/>
                    </a:lnTo>
                    <a:lnTo>
                      <a:pt x="4721" y="1598"/>
                    </a:lnTo>
                    <a:lnTo>
                      <a:pt x="4760" y="1712"/>
                    </a:lnTo>
                    <a:lnTo>
                      <a:pt x="4792" y="1827"/>
                    </a:lnTo>
                    <a:lnTo>
                      <a:pt x="4819" y="1945"/>
                    </a:lnTo>
                    <a:lnTo>
                      <a:pt x="4841" y="2065"/>
                    </a:lnTo>
                    <a:lnTo>
                      <a:pt x="4857" y="2187"/>
                    </a:lnTo>
                    <a:lnTo>
                      <a:pt x="4866" y="2311"/>
                    </a:lnTo>
                    <a:lnTo>
                      <a:pt x="4869" y="2436"/>
                    </a:lnTo>
                    <a:lnTo>
                      <a:pt x="4866" y="2561"/>
                    </a:lnTo>
                    <a:lnTo>
                      <a:pt x="4857" y="2685"/>
                    </a:lnTo>
                    <a:lnTo>
                      <a:pt x="4841" y="2807"/>
                    </a:lnTo>
                    <a:lnTo>
                      <a:pt x="4819" y="2927"/>
                    </a:lnTo>
                    <a:lnTo>
                      <a:pt x="4792" y="3045"/>
                    </a:lnTo>
                    <a:lnTo>
                      <a:pt x="4760" y="3161"/>
                    </a:lnTo>
                    <a:lnTo>
                      <a:pt x="4721" y="3274"/>
                    </a:lnTo>
                    <a:lnTo>
                      <a:pt x="4677" y="3384"/>
                    </a:lnTo>
                    <a:lnTo>
                      <a:pt x="4629" y="3492"/>
                    </a:lnTo>
                    <a:lnTo>
                      <a:pt x="4575" y="3597"/>
                    </a:lnTo>
                    <a:lnTo>
                      <a:pt x="4516" y="3699"/>
                    </a:lnTo>
                    <a:lnTo>
                      <a:pt x="4453" y="3798"/>
                    </a:lnTo>
                    <a:lnTo>
                      <a:pt x="4386" y="3894"/>
                    </a:lnTo>
                    <a:lnTo>
                      <a:pt x="4313" y="3985"/>
                    </a:lnTo>
                    <a:lnTo>
                      <a:pt x="4237" y="4074"/>
                    </a:lnTo>
                    <a:lnTo>
                      <a:pt x="4156" y="4159"/>
                    </a:lnTo>
                    <a:lnTo>
                      <a:pt x="4071" y="4239"/>
                    </a:lnTo>
                    <a:lnTo>
                      <a:pt x="3983" y="4315"/>
                    </a:lnTo>
                    <a:lnTo>
                      <a:pt x="3891" y="4388"/>
                    </a:lnTo>
                    <a:lnTo>
                      <a:pt x="3796" y="4456"/>
                    </a:lnTo>
                    <a:lnTo>
                      <a:pt x="3697" y="4519"/>
                    </a:lnTo>
                    <a:lnTo>
                      <a:pt x="3594" y="4578"/>
                    </a:lnTo>
                    <a:lnTo>
                      <a:pt x="3490" y="4631"/>
                    </a:lnTo>
                    <a:lnTo>
                      <a:pt x="3383" y="4681"/>
                    </a:lnTo>
                    <a:lnTo>
                      <a:pt x="3271" y="4724"/>
                    </a:lnTo>
                    <a:lnTo>
                      <a:pt x="3158" y="4762"/>
                    </a:lnTo>
                    <a:lnTo>
                      <a:pt x="3043" y="4796"/>
                    </a:lnTo>
                    <a:lnTo>
                      <a:pt x="2925" y="4823"/>
                    </a:lnTo>
                    <a:lnTo>
                      <a:pt x="2806" y="4844"/>
                    </a:lnTo>
                    <a:lnTo>
                      <a:pt x="2684" y="4859"/>
                    </a:lnTo>
                    <a:lnTo>
                      <a:pt x="2560" y="4869"/>
                    </a:lnTo>
                    <a:lnTo>
                      <a:pt x="2435" y="4872"/>
                    </a:lnTo>
                    <a:lnTo>
                      <a:pt x="2390" y="4871"/>
                    </a:lnTo>
                    <a:lnTo>
                      <a:pt x="2345" y="4870"/>
                    </a:lnTo>
                    <a:lnTo>
                      <a:pt x="2301" y="4868"/>
                    </a:lnTo>
                    <a:lnTo>
                      <a:pt x="2257" y="4866"/>
                    </a:lnTo>
                    <a:lnTo>
                      <a:pt x="2213" y="4862"/>
                    </a:lnTo>
                    <a:lnTo>
                      <a:pt x="2169" y="4858"/>
                    </a:lnTo>
                    <a:lnTo>
                      <a:pt x="2126" y="4853"/>
                    </a:lnTo>
                    <a:lnTo>
                      <a:pt x="2083" y="4848"/>
                    </a:lnTo>
                    <a:lnTo>
                      <a:pt x="2041" y="4841"/>
                    </a:lnTo>
                    <a:lnTo>
                      <a:pt x="1998" y="4833"/>
                    </a:lnTo>
                    <a:lnTo>
                      <a:pt x="1956" y="4825"/>
                    </a:lnTo>
                    <a:lnTo>
                      <a:pt x="1914" y="4817"/>
                    </a:lnTo>
                    <a:lnTo>
                      <a:pt x="1873" y="4807"/>
                    </a:lnTo>
                    <a:lnTo>
                      <a:pt x="1831" y="4797"/>
                    </a:lnTo>
                    <a:lnTo>
                      <a:pt x="1790" y="4786"/>
                    </a:lnTo>
                    <a:lnTo>
                      <a:pt x="1750" y="4774"/>
                    </a:lnTo>
                    <a:lnTo>
                      <a:pt x="1709" y="4762"/>
                    </a:lnTo>
                    <a:lnTo>
                      <a:pt x="1669" y="4748"/>
                    </a:lnTo>
                    <a:lnTo>
                      <a:pt x="1628" y="4735"/>
                    </a:lnTo>
                    <a:lnTo>
                      <a:pt x="1589" y="4720"/>
                    </a:lnTo>
                    <a:lnTo>
                      <a:pt x="1549" y="4704"/>
                    </a:lnTo>
                    <a:lnTo>
                      <a:pt x="1510" y="4689"/>
                    </a:lnTo>
                    <a:lnTo>
                      <a:pt x="1470" y="4672"/>
                    </a:lnTo>
                    <a:lnTo>
                      <a:pt x="1431" y="4655"/>
                    </a:lnTo>
                    <a:lnTo>
                      <a:pt x="1393" y="4637"/>
                    </a:lnTo>
                    <a:lnTo>
                      <a:pt x="1353" y="4618"/>
                    </a:lnTo>
                    <a:lnTo>
                      <a:pt x="1315" y="4597"/>
                    </a:lnTo>
                    <a:lnTo>
                      <a:pt x="1276" y="4577"/>
                    </a:lnTo>
                    <a:lnTo>
                      <a:pt x="1239" y="4557"/>
                    </a:lnTo>
                    <a:lnTo>
                      <a:pt x="1201" y="4535"/>
                    </a:lnTo>
                    <a:lnTo>
                      <a:pt x="1164" y="4513"/>
                    </a:lnTo>
                    <a:lnTo>
                      <a:pt x="1125" y="4489"/>
                    </a:lnTo>
                    <a:lnTo>
                      <a:pt x="1106" y="4478"/>
                    </a:lnTo>
                    <a:lnTo>
                      <a:pt x="1083" y="4463"/>
                    </a:lnTo>
                    <a:lnTo>
                      <a:pt x="1057" y="4447"/>
                    </a:lnTo>
                    <a:lnTo>
                      <a:pt x="1026" y="4428"/>
                    </a:lnTo>
                    <a:lnTo>
                      <a:pt x="1006" y="4416"/>
                    </a:lnTo>
                    <a:lnTo>
                      <a:pt x="986" y="4407"/>
                    </a:lnTo>
                    <a:lnTo>
                      <a:pt x="968" y="4401"/>
                    </a:lnTo>
                    <a:lnTo>
                      <a:pt x="950" y="4398"/>
                    </a:lnTo>
                    <a:lnTo>
                      <a:pt x="933" y="4397"/>
                    </a:lnTo>
                    <a:lnTo>
                      <a:pt x="917" y="4399"/>
                    </a:lnTo>
                    <a:lnTo>
                      <a:pt x="901" y="4402"/>
                    </a:lnTo>
                    <a:lnTo>
                      <a:pt x="887" y="4408"/>
                    </a:lnTo>
                    <a:lnTo>
                      <a:pt x="872" y="4416"/>
                    </a:lnTo>
                    <a:lnTo>
                      <a:pt x="856" y="4425"/>
                    </a:lnTo>
                    <a:lnTo>
                      <a:pt x="841" y="4436"/>
                    </a:lnTo>
                    <a:lnTo>
                      <a:pt x="826" y="4448"/>
                    </a:lnTo>
                    <a:lnTo>
                      <a:pt x="793" y="4475"/>
                    </a:lnTo>
                    <a:lnTo>
                      <a:pt x="756" y="4506"/>
                    </a:lnTo>
                    <a:lnTo>
                      <a:pt x="736" y="4522"/>
                    </a:lnTo>
                    <a:lnTo>
                      <a:pt x="714" y="4539"/>
                    </a:lnTo>
                    <a:lnTo>
                      <a:pt x="692" y="4554"/>
                    </a:lnTo>
                    <a:lnTo>
                      <a:pt x="667" y="4570"/>
                    </a:lnTo>
                    <a:lnTo>
                      <a:pt x="640" y="4586"/>
                    </a:lnTo>
                    <a:lnTo>
                      <a:pt x="612" y="4602"/>
                    </a:lnTo>
                    <a:lnTo>
                      <a:pt x="580" y="4616"/>
                    </a:lnTo>
                    <a:lnTo>
                      <a:pt x="547" y="4630"/>
                    </a:lnTo>
                    <a:lnTo>
                      <a:pt x="511" y="4642"/>
                    </a:lnTo>
                    <a:lnTo>
                      <a:pt x="472" y="4654"/>
                    </a:lnTo>
                    <a:lnTo>
                      <a:pt x="430" y="4664"/>
                    </a:lnTo>
                    <a:lnTo>
                      <a:pt x="386" y="4672"/>
                    </a:lnTo>
                    <a:lnTo>
                      <a:pt x="338" y="4678"/>
                    </a:lnTo>
                    <a:lnTo>
                      <a:pt x="286" y="4683"/>
                    </a:lnTo>
                    <a:lnTo>
                      <a:pt x="231" y="4686"/>
                    </a:lnTo>
                    <a:lnTo>
                      <a:pt x="172" y="4686"/>
                    </a:lnTo>
                    <a:lnTo>
                      <a:pt x="192" y="4675"/>
                    </a:lnTo>
                    <a:lnTo>
                      <a:pt x="213" y="4663"/>
                    </a:lnTo>
                    <a:lnTo>
                      <a:pt x="231" y="4649"/>
                    </a:lnTo>
                    <a:lnTo>
                      <a:pt x="249" y="4636"/>
                    </a:lnTo>
                    <a:lnTo>
                      <a:pt x="266" y="4621"/>
                    </a:lnTo>
                    <a:lnTo>
                      <a:pt x="280" y="4606"/>
                    </a:lnTo>
                    <a:lnTo>
                      <a:pt x="295" y="4590"/>
                    </a:lnTo>
                    <a:lnTo>
                      <a:pt x="310" y="4575"/>
                    </a:lnTo>
                    <a:lnTo>
                      <a:pt x="322" y="4558"/>
                    </a:lnTo>
                    <a:lnTo>
                      <a:pt x="333" y="4541"/>
                    </a:lnTo>
                    <a:lnTo>
                      <a:pt x="345" y="4523"/>
                    </a:lnTo>
                    <a:lnTo>
                      <a:pt x="355" y="4505"/>
                    </a:lnTo>
                    <a:lnTo>
                      <a:pt x="364" y="4487"/>
                    </a:lnTo>
                    <a:lnTo>
                      <a:pt x="373" y="4468"/>
                    </a:lnTo>
                    <a:lnTo>
                      <a:pt x="381" y="4448"/>
                    </a:lnTo>
                    <a:lnTo>
                      <a:pt x="387" y="4429"/>
                    </a:lnTo>
                    <a:lnTo>
                      <a:pt x="393" y="4410"/>
                    </a:lnTo>
                    <a:lnTo>
                      <a:pt x="399" y="4391"/>
                    </a:lnTo>
                    <a:lnTo>
                      <a:pt x="403" y="4371"/>
                    </a:lnTo>
                    <a:lnTo>
                      <a:pt x="408" y="4351"/>
                    </a:lnTo>
                    <a:lnTo>
                      <a:pt x="411" y="4332"/>
                    </a:lnTo>
                    <a:lnTo>
                      <a:pt x="414" y="4312"/>
                    </a:lnTo>
                    <a:lnTo>
                      <a:pt x="417" y="4293"/>
                    </a:lnTo>
                    <a:lnTo>
                      <a:pt x="418" y="4274"/>
                    </a:lnTo>
                    <a:lnTo>
                      <a:pt x="420" y="4235"/>
                    </a:lnTo>
                    <a:lnTo>
                      <a:pt x="419" y="4198"/>
                    </a:lnTo>
                    <a:lnTo>
                      <a:pt x="417" y="4163"/>
                    </a:lnTo>
                    <a:lnTo>
                      <a:pt x="413" y="4129"/>
                    </a:lnTo>
                    <a:lnTo>
                      <a:pt x="407" y="4093"/>
                    </a:lnTo>
                    <a:lnTo>
                      <a:pt x="399" y="4057"/>
                    </a:lnTo>
                    <a:lnTo>
                      <a:pt x="390" y="4020"/>
                    </a:lnTo>
                    <a:lnTo>
                      <a:pt x="379" y="3983"/>
                    </a:lnTo>
                    <a:lnTo>
                      <a:pt x="367" y="3944"/>
                    </a:lnTo>
                    <a:lnTo>
                      <a:pt x="354" y="3906"/>
                    </a:lnTo>
                    <a:lnTo>
                      <a:pt x="340" y="3867"/>
                    </a:lnTo>
                    <a:lnTo>
                      <a:pt x="324" y="3826"/>
                    </a:lnTo>
                    <a:lnTo>
                      <a:pt x="293" y="3744"/>
                    </a:lnTo>
                    <a:lnTo>
                      <a:pt x="258" y="3657"/>
                    </a:lnTo>
                    <a:lnTo>
                      <a:pt x="222" y="3567"/>
                    </a:lnTo>
                    <a:lnTo>
                      <a:pt x="186" y="3471"/>
                    </a:lnTo>
                    <a:lnTo>
                      <a:pt x="168" y="3421"/>
                    </a:lnTo>
                    <a:lnTo>
                      <a:pt x="150" y="3372"/>
                    </a:lnTo>
                    <a:lnTo>
                      <a:pt x="133" y="3320"/>
                    </a:lnTo>
                    <a:lnTo>
                      <a:pt x="116" y="3266"/>
                    </a:lnTo>
                    <a:lnTo>
                      <a:pt x="100" y="3212"/>
                    </a:lnTo>
                    <a:lnTo>
                      <a:pt x="84" y="3155"/>
                    </a:lnTo>
                    <a:lnTo>
                      <a:pt x="70" y="3099"/>
                    </a:lnTo>
                    <a:lnTo>
                      <a:pt x="57" y="3039"/>
                    </a:lnTo>
                    <a:lnTo>
                      <a:pt x="45" y="2979"/>
                    </a:lnTo>
                    <a:lnTo>
                      <a:pt x="34" y="2917"/>
                    </a:lnTo>
                    <a:lnTo>
                      <a:pt x="23" y="2853"/>
                    </a:lnTo>
                    <a:lnTo>
                      <a:pt x="15" y="2788"/>
                    </a:lnTo>
                    <a:lnTo>
                      <a:pt x="9" y="2721"/>
                    </a:lnTo>
                    <a:lnTo>
                      <a:pt x="4" y="2651"/>
                    </a:lnTo>
                    <a:lnTo>
                      <a:pt x="1" y="2581"/>
                    </a:lnTo>
                    <a:lnTo>
                      <a:pt x="0" y="2508"/>
                    </a:lnTo>
                    <a:close/>
                  </a:path>
                </a:pathLst>
              </a:custGeom>
              <a:solidFill>
                <a:srgbClr val="8C8BB1"/>
              </a:solidFill>
              <a:ln>
                <a:noFill/>
              </a:ln>
            </p:spPr>
            <p:txBody>
              <a:bodyPr vert="horz" wrap="square" lIns="91412" tIns="45706" rIns="91412" bIns="45706" numCol="1" anchor="t" anchorCtr="0" compatLnSpc="1"/>
              <a:lstStyle/>
              <a:p>
                <a:endPara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2" name="TextBox 78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9175" y="5227"/>
                <a:ext cx="414" cy="531"/>
              </a:xfrm>
              <a:prstGeom prst="roundRect">
                <a:avLst>
                  <a:gd name="adj" fmla="val 0"/>
                </a:avLst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1</a:t>
                </a:r>
                <a:endPara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11" name="组合 110"/>
          <p:cNvGrpSpPr/>
          <p:nvPr>
            <p:custDataLst>
              <p:tags r:id="rId11"/>
            </p:custDataLst>
          </p:nvPr>
        </p:nvGrpSpPr>
        <p:grpSpPr>
          <a:xfrm>
            <a:off x="5474335" y="4804410"/>
            <a:ext cx="3570605" cy="1582420"/>
            <a:chOff x="8621" y="7566"/>
            <a:chExt cx="5623" cy="2492"/>
          </a:xfrm>
        </p:grpSpPr>
        <p:sp>
          <p:nvSpPr>
            <p:cNvPr id="85" name="矩形 84"/>
            <p:cNvSpPr/>
            <p:nvPr>
              <p:custDataLst>
                <p:tags r:id="rId12"/>
              </p:custDataLst>
            </p:nvPr>
          </p:nvSpPr>
          <p:spPr>
            <a:xfrm rot="1400643">
              <a:off x="9006" y="8702"/>
              <a:ext cx="5238" cy="1356"/>
            </a:xfrm>
            <a:prstGeom prst="rect">
              <a:avLst/>
            </a:prstGeom>
            <a:gradFill flip="none" rotWithShape="1">
              <a:gsLst>
                <a:gs pos="54000">
                  <a:schemeClr val="bg1">
                    <a:lumMod val="65000"/>
                    <a:lumOff val="35000"/>
                    <a:alpha val="0"/>
                  </a:schemeClr>
                </a:gs>
                <a:gs pos="0">
                  <a:schemeClr val="accent1">
                    <a:alpha val="54000"/>
                    <a:lumMod val="65000"/>
                    <a:lumOff val="35000"/>
                  </a:schemeClr>
                </a:gs>
                <a:gs pos="0">
                  <a:schemeClr val="bg1">
                    <a:lumMod val="75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107" name="组合 106"/>
            <p:cNvGrpSpPr/>
            <p:nvPr>
              <p:custDataLst>
                <p:tags r:id="rId13"/>
              </p:custDataLst>
            </p:nvPr>
          </p:nvGrpSpPr>
          <p:grpSpPr>
            <a:xfrm>
              <a:off x="8621" y="7566"/>
              <a:ext cx="1522" cy="1523"/>
              <a:chOff x="7139" y="6131"/>
              <a:chExt cx="1522" cy="1523"/>
            </a:xfrm>
            <a:solidFill>
              <a:srgbClr val="8C8BB1"/>
            </a:solidFill>
          </p:grpSpPr>
          <p:sp>
            <p:nvSpPr>
              <p:cNvPr id="91" name="淘宝店chenying0907 9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7139" y="6131"/>
                <a:ext cx="1522" cy="1523"/>
              </a:xfrm>
              <a:custGeom>
                <a:avLst/>
                <a:gdLst>
                  <a:gd name="T0" fmla="*/ 4867 w 4869"/>
                  <a:gd name="T1" fmla="*/ 2493 h 4872"/>
                  <a:gd name="T2" fmla="*/ 4866 w 4869"/>
                  <a:gd name="T3" fmla="*/ 2310 h 4872"/>
                  <a:gd name="T4" fmla="*/ 4793 w 4869"/>
                  <a:gd name="T5" fmla="*/ 1827 h 4872"/>
                  <a:gd name="T6" fmla="*/ 4629 w 4869"/>
                  <a:gd name="T7" fmla="*/ 1380 h 4872"/>
                  <a:gd name="T8" fmla="*/ 4385 w 4869"/>
                  <a:gd name="T9" fmla="*/ 978 h 4872"/>
                  <a:gd name="T10" fmla="*/ 4071 w 4869"/>
                  <a:gd name="T11" fmla="*/ 632 h 4872"/>
                  <a:gd name="T12" fmla="*/ 3697 w 4869"/>
                  <a:gd name="T13" fmla="*/ 353 h 4872"/>
                  <a:gd name="T14" fmla="*/ 3271 w 4869"/>
                  <a:gd name="T15" fmla="*/ 147 h 4872"/>
                  <a:gd name="T16" fmla="*/ 2805 w 4869"/>
                  <a:gd name="T17" fmla="*/ 28 h 4872"/>
                  <a:gd name="T18" fmla="*/ 2309 w 4869"/>
                  <a:gd name="T19" fmla="*/ 3 h 4872"/>
                  <a:gd name="T20" fmla="*/ 1826 w 4869"/>
                  <a:gd name="T21" fmla="*/ 76 h 4872"/>
                  <a:gd name="T22" fmla="*/ 1379 w 4869"/>
                  <a:gd name="T23" fmla="*/ 240 h 4872"/>
                  <a:gd name="T24" fmla="*/ 978 w 4869"/>
                  <a:gd name="T25" fmla="*/ 483 h 4872"/>
                  <a:gd name="T26" fmla="*/ 632 w 4869"/>
                  <a:gd name="T27" fmla="*/ 798 h 4872"/>
                  <a:gd name="T28" fmla="*/ 353 w 4869"/>
                  <a:gd name="T29" fmla="*/ 1172 h 4872"/>
                  <a:gd name="T30" fmla="*/ 148 w 4869"/>
                  <a:gd name="T31" fmla="*/ 1599 h 4872"/>
                  <a:gd name="T32" fmla="*/ 28 w 4869"/>
                  <a:gd name="T33" fmla="*/ 2065 h 4872"/>
                  <a:gd name="T34" fmla="*/ 3 w 4869"/>
                  <a:gd name="T35" fmla="*/ 2561 h 4872"/>
                  <a:gd name="T36" fmla="*/ 77 w 4869"/>
                  <a:gd name="T37" fmla="*/ 3044 h 4872"/>
                  <a:gd name="T38" fmla="*/ 240 w 4869"/>
                  <a:gd name="T39" fmla="*/ 3492 h 4872"/>
                  <a:gd name="T40" fmla="*/ 483 w 4869"/>
                  <a:gd name="T41" fmla="*/ 3893 h 4872"/>
                  <a:gd name="T42" fmla="*/ 798 w 4869"/>
                  <a:gd name="T43" fmla="*/ 4239 h 4872"/>
                  <a:gd name="T44" fmla="*/ 1172 w 4869"/>
                  <a:gd name="T45" fmla="*/ 4519 h 4872"/>
                  <a:gd name="T46" fmla="*/ 1598 w 4869"/>
                  <a:gd name="T47" fmla="*/ 4724 h 4872"/>
                  <a:gd name="T48" fmla="*/ 2063 w 4869"/>
                  <a:gd name="T49" fmla="*/ 4843 h 4872"/>
                  <a:gd name="T50" fmla="*/ 2479 w 4869"/>
                  <a:gd name="T51" fmla="*/ 4871 h 4872"/>
                  <a:gd name="T52" fmla="*/ 2656 w 4869"/>
                  <a:gd name="T53" fmla="*/ 4862 h 4872"/>
                  <a:gd name="T54" fmla="*/ 2828 w 4869"/>
                  <a:gd name="T55" fmla="*/ 4840 h 4872"/>
                  <a:gd name="T56" fmla="*/ 2996 w 4869"/>
                  <a:gd name="T57" fmla="*/ 4806 h 4872"/>
                  <a:gd name="T58" fmla="*/ 3160 w 4869"/>
                  <a:gd name="T59" fmla="*/ 4761 h 4872"/>
                  <a:gd name="T60" fmla="*/ 3320 w 4869"/>
                  <a:gd name="T61" fmla="*/ 4705 h 4872"/>
                  <a:gd name="T62" fmla="*/ 3476 w 4869"/>
                  <a:gd name="T63" fmla="*/ 4636 h 4872"/>
                  <a:gd name="T64" fmla="*/ 3630 w 4869"/>
                  <a:gd name="T65" fmla="*/ 4556 h 4872"/>
                  <a:gd name="T66" fmla="*/ 3763 w 4869"/>
                  <a:gd name="T67" fmla="*/ 4477 h 4872"/>
                  <a:gd name="T68" fmla="*/ 3863 w 4869"/>
                  <a:gd name="T69" fmla="*/ 4415 h 4872"/>
                  <a:gd name="T70" fmla="*/ 3936 w 4869"/>
                  <a:gd name="T71" fmla="*/ 4397 h 4872"/>
                  <a:gd name="T72" fmla="*/ 3997 w 4869"/>
                  <a:gd name="T73" fmla="*/ 4415 h 4872"/>
                  <a:gd name="T74" fmla="*/ 4076 w 4869"/>
                  <a:gd name="T75" fmla="*/ 4475 h 4872"/>
                  <a:gd name="T76" fmla="*/ 4177 w 4869"/>
                  <a:gd name="T77" fmla="*/ 4554 h 4872"/>
                  <a:gd name="T78" fmla="*/ 4289 w 4869"/>
                  <a:gd name="T79" fmla="*/ 4616 h 4872"/>
                  <a:gd name="T80" fmla="*/ 4439 w 4869"/>
                  <a:gd name="T81" fmla="*/ 4663 h 4872"/>
                  <a:gd name="T82" fmla="*/ 4638 w 4869"/>
                  <a:gd name="T83" fmla="*/ 4686 h 4872"/>
                  <a:gd name="T84" fmla="*/ 4638 w 4869"/>
                  <a:gd name="T85" fmla="*/ 4650 h 4872"/>
                  <a:gd name="T86" fmla="*/ 4574 w 4869"/>
                  <a:gd name="T87" fmla="*/ 4590 h 4872"/>
                  <a:gd name="T88" fmla="*/ 4524 w 4869"/>
                  <a:gd name="T89" fmla="*/ 4522 h 4872"/>
                  <a:gd name="T90" fmla="*/ 4488 w 4869"/>
                  <a:gd name="T91" fmla="*/ 4448 h 4872"/>
                  <a:gd name="T92" fmla="*/ 4466 w 4869"/>
                  <a:gd name="T93" fmla="*/ 4371 h 4872"/>
                  <a:gd name="T94" fmla="*/ 4452 w 4869"/>
                  <a:gd name="T95" fmla="*/ 4292 h 4872"/>
                  <a:gd name="T96" fmla="*/ 4452 w 4869"/>
                  <a:gd name="T97" fmla="*/ 4162 h 4872"/>
                  <a:gd name="T98" fmla="*/ 4479 w 4869"/>
                  <a:gd name="T99" fmla="*/ 4019 h 4872"/>
                  <a:gd name="T100" fmla="*/ 4529 w 4869"/>
                  <a:gd name="T101" fmla="*/ 3866 h 4872"/>
                  <a:gd name="T102" fmla="*/ 4647 w 4869"/>
                  <a:gd name="T103" fmla="*/ 3566 h 4872"/>
                  <a:gd name="T104" fmla="*/ 4736 w 4869"/>
                  <a:gd name="T105" fmla="*/ 3319 h 4872"/>
                  <a:gd name="T106" fmla="*/ 4799 w 4869"/>
                  <a:gd name="T107" fmla="*/ 3098 h 4872"/>
                  <a:gd name="T108" fmla="*/ 4846 w 4869"/>
                  <a:gd name="T109" fmla="*/ 2852 h 4872"/>
                  <a:gd name="T110" fmla="*/ 4868 w 4869"/>
                  <a:gd name="T111" fmla="*/ 2581 h 48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4869" h="4872">
                    <a:moveTo>
                      <a:pt x="4869" y="2508"/>
                    </a:moveTo>
                    <a:lnTo>
                      <a:pt x="4868" y="2510"/>
                    </a:lnTo>
                    <a:lnTo>
                      <a:pt x="4867" y="2512"/>
                    </a:lnTo>
                    <a:lnTo>
                      <a:pt x="4867" y="2493"/>
                    </a:lnTo>
                    <a:lnTo>
                      <a:pt x="4868" y="2473"/>
                    </a:lnTo>
                    <a:lnTo>
                      <a:pt x="4869" y="2454"/>
                    </a:lnTo>
                    <a:lnTo>
                      <a:pt x="4869" y="2436"/>
                    </a:lnTo>
                    <a:lnTo>
                      <a:pt x="4866" y="2310"/>
                    </a:lnTo>
                    <a:lnTo>
                      <a:pt x="4857" y="2187"/>
                    </a:lnTo>
                    <a:lnTo>
                      <a:pt x="4841" y="2065"/>
                    </a:lnTo>
                    <a:lnTo>
                      <a:pt x="4820" y="1945"/>
                    </a:lnTo>
                    <a:lnTo>
                      <a:pt x="4793" y="1827"/>
                    </a:lnTo>
                    <a:lnTo>
                      <a:pt x="4760" y="1711"/>
                    </a:lnTo>
                    <a:lnTo>
                      <a:pt x="4722" y="1599"/>
                    </a:lnTo>
                    <a:lnTo>
                      <a:pt x="4678" y="1488"/>
                    </a:lnTo>
                    <a:lnTo>
                      <a:pt x="4629" y="1380"/>
                    </a:lnTo>
                    <a:lnTo>
                      <a:pt x="4575" y="1275"/>
                    </a:lnTo>
                    <a:lnTo>
                      <a:pt x="4517" y="1172"/>
                    </a:lnTo>
                    <a:lnTo>
                      <a:pt x="4453" y="1074"/>
                    </a:lnTo>
                    <a:lnTo>
                      <a:pt x="4385" y="978"/>
                    </a:lnTo>
                    <a:lnTo>
                      <a:pt x="4313" y="886"/>
                    </a:lnTo>
                    <a:lnTo>
                      <a:pt x="4236" y="798"/>
                    </a:lnTo>
                    <a:lnTo>
                      <a:pt x="4156" y="713"/>
                    </a:lnTo>
                    <a:lnTo>
                      <a:pt x="4071" y="632"/>
                    </a:lnTo>
                    <a:lnTo>
                      <a:pt x="3982" y="557"/>
                    </a:lnTo>
                    <a:lnTo>
                      <a:pt x="3891" y="483"/>
                    </a:lnTo>
                    <a:lnTo>
                      <a:pt x="3795" y="416"/>
                    </a:lnTo>
                    <a:lnTo>
                      <a:pt x="3697" y="353"/>
                    </a:lnTo>
                    <a:lnTo>
                      <a:pt x="3595" y="294"/>
                    </a:lnTo>
                    <a:lnTo>
                      <a:pt x="3490" y="240"/>
                    </a:lnTo>
                    <a:lnTo>
                      <a:pt x="3382" y="191"/>
                    </a:lnTo>
                    <a:lnTo>
                      <a:pt x="3271" y="147"/>
                    </a:lnTo>
                    <a:lnTo>
                      <a:pt x="3159" y="109"/>
                    </a:lnTo>
                    <a:lnTo>
                      <a:pt x="3043" y="76"/>
                    </a:lnTo>
                    <a:lnTo>
                      <a:pt x="2925" y="49"/>
                    </a:lnTo>
                    <a:lnTo>
                      <a:pt x="2805" y="28"/>
                    </a:lnTo>
                    <a:lnTo>
                      <a:pt x="2683" y="12"/>
                    </a:lnTo>
                    <a:lnTo>
                      <a:pt x="2559" y="3"/>
                    </a:lnTo>
                    <a:lnTo>
                      <a:pt x="2434" y="0"/>
                    </a:lnTo>
                    <a:lnTo>
                      <a:pt x="2309" y="3"/>
                    </a:lnTo>
                    <a:lnTo>
                      <a:pt x="2185" y="12"/>
                    </a:lnTo>
                    <a:lnTo>
                      <a:pt x="2063" y="28"/>
                    </a:lnTo>
                    <a:lnTo>
                      <a:pt x="1944" y="49"/>
                    </a:lnTo>
                    <a:lnTo>
                      <a:pt x="1826" y="76"/>
                    </a:lnTo>
                    <a:lnTo>
                      <a:pt x="1711" y="109"/>
                    </a:lnTo>
                    <a:lnTo>
                      <a:pt x="1598" y="147"/>
                    </a:lnTo>
                    <a:lnTo>
                      <a:pt x="1486" y="191"/>
                    </a:lnTo>
                    <a:lnTo>
                      <a:pt x="1379" y="240"/>
                    </a:lnTo>
                    <a:lnTo>
                      <a:pt x="1275" y="294"/>
                    </a:lnTo>
                    <a:lnTo>
                      <a:pt x="1172" y="353"/>
                    </a:lnTo>
                    <a:lnTo>
                      <a:pt x="1073" y="416"/>
                    </a:lnTo>
                    <a:lnTo>
                      <a:pt x="978" y="483"/>
                    </a:lnTo>
                    <a:lnTo>
                      <a:pt x="886" y="557"/>
                    </a:lnTo>
                    <a:lnTo>
                      <a:pt x="798" y="632"/>
                    </a:lnTo>
                    <a:lnTo>
                      <a:pt x="713" y="713"/>
                    </a:lnTo>
                    <a:lnTo>
                      <a:pt x="632" y="798"/>
                    </a:lnTo>
                    <a:lnTo>
                      <a:pt x="556" y="886"/>
                    </a:lnTo>
                    <a:lnTo>
                      <a:pt x="483" y="978"/>
                    </a:lnTo>
                    <a:lnTo>
                      <a:pt x="416" y="1074"/>
                    </a:lnTo>
                    <a:lnTo>
                      <a:pt x="353" y="1172"/>
                    </a:lnTo>
                    <a:lnTo>
                      <a:pt x="294" y="1275"/>
                    </a:lnTo>
                    <a:lnTo>
                      <a:pt x="240" y="1380"/>
                    </a:lnTo>
                    <a:lnTo>
                      <a:pt x="192" y="1488"/>
                    </a:lnTo>
                    <a:lnTo>
                      <a:pt x="148" y="1599"/>
                    </a:lnTo>
                    <a:lnTo>
                      <a:pt x="109" y="1711"/>
                    </a:lnTo>
                    <a:lnTo>
                      <a:pt x="77" y="1827"/>
                    </a:lnTo>
                    <a:lnTo>
                      <a:pt x="50" y="1945"/>
                    </a:lnTo>
                    <a:lnTo>
                      <a:pt x="28" y="2065"/>
                    </a:lnTo>
                    <a:lnTo>
                      <a:pt x="12" y="2187"/>
                    </a:lnTo>
                    <a:lnTo>
                      <a:pt x="3" y="2310"/>
                    </a:lnTo>
                    <a:lnTo>
                      <a:pt x="0" y="2436"/>
                    </a:lnTo>
                    <a:lnTo>
                      <a:pt x="3" y="2561"/>
                    </a:lnTo>
                    <a:lnTo>
                      <a:pt x="12" y="2684"/>
                    </a:lnTo>
                    <a:lnTo>
                      <a:pt x="28" y="2807"/>
                    </a:lnTo>
                    <a:lnTo>
                      <a:pt x="50" y="2927"/>
                    </a:lnTo>
                    <a:lnTo>
                      <a:pt x="77" y="3044"/>
                    </a:lnTo>
                    <a:lnTo>
                      <a:pt x="109" y="3160"/>
                    </a:lnTo>
                    <a:lnTo>
                      <a:pt x="148" y="3273"/>
                    </a:lnTo>
                    <a:lnTo>
                      <a:pt x="192" y="3383"/>
                    </a:lnTo>
                    <a:lnTo>
                      <a:pt x="240" y="3492"/>
                    </a:lnTo>
                    <a:lnTo>
                      <a:pt x="294" y="3596"/>
                    </a:lnTo>
                    <a:lnTo>
                      <a:pt x="353" y="3699"/>
                    </a:lnTo>
                    <a:lnTo>
                      <a:pt x="416" y="3797"/>
                    </a:lnTo>
                    <a:lnTo>
                      <a:pt x="483" y="3893"/>
                    </a:lnTo>
                    <a:lnTo>
                      <a:pt x="556" y="3985"/>
                    </a:lnTo>
                    <a:lnTo>
                      <a:pt x="632" y="4073"/>
                    </a:lnTo>
                    <a:lnTo>
                      <a:pt x="713" y="4158"/>
                    </a:lnTo>
                    <a:lnTo>
                      <a:pt x="798" y="4239"/>
                    </a:lnTo>
                    <a:lnTo>
                      <a:pt x="886" y="4316"/>
                    </a:lnTo>
                    <a:lnTo>
                      <a:pt x="978" y="4388"/>
                    </a:lnTo>
                    <a:lnTo>
                      <a:pt x="1073" y="4456"/>
                    </a:lnTo>
                    <a:lnTo>
                      <a:pt x="1172" y="4519"/>
                    </a:lnTo>
                    <a:lnTo>
                      <a:pt x="1275" y="4577"/>
                    </a:lnTo>
                    <a:lnTo>
                      <a:pt x="1379" y="4631"/>
                    </a:lnTo>
                    <a:lnTo>
                      <a:pt x="1486" y="4680"/>
                    </a:lnTo>
                    <a:lnTo>
                      <a:pt x="1598" y="4724"/>
                    </a:lnTo>
                    <a:lnTo>
                      <a:pt x="1711" y="4762"/>
                    </a:lnTo>
                    <a:lnTo>
                      <a:pt x="1826" y="4795"/>
                    </a:lnTo>
                    <a:lnTo>
                      <a:pt x="1944" y="4822"/>
                    </a:lnTo>
                    <a:lnTo>
                      <a:pt x="2063" y="4843"/>
                    </a:lnTo>
                    <a:lnTo>
                      <a:pt x="2185" y="4859"/>
                    </a:lnTo>
                    <a:lnTo>
                      <a:pt x="2309" y="4868"/>
                    </a:lnTo>
                    <a:lnTo>
                      <a:pt x="2434" y="4872"/>
                    </a:lnTo>
                    <a:lnTo>
                      <a:pt x="2479" y="4871"/>
                    </a:lnTo>
                    <a:lnTo>
                      <a:pt x="2524" y="4869"/>
                    </a:lnTo>
                    <a:lnTo>
                      <a:pt x="2568" y="4868"/>
                    </a:lnTo>
                    <a:lnTo>
                      <a:pt x="2612" y="4865"/>
                    </a:lnTo>
                    <a:lnTo>
                      <a:pt x="2656" y="4862"/>
                    </a:lnTo>
                    <a:lnTo>
                      <a:pt x="2700" y="4857"/>
                    </a:lnTo>
                    <a:lnTo>
                      <a:pt x="2743" y="4852"/>
                    </a:lnTo>
                    <a:lnTo>
                      <a:pt x="2786" y="4847"/>
                    </a:lnTo>
                    <a:lnTo>
                      <a:pt x="2828" y="4840"/>
                    </a:lnTo>
                    <a:lnTo>
                      <a:pt x="2871" y="4833"/>
                    </a:lnTo>
                    <a:lnTo>
                      <a:pt x="2913" y="4825"/>
                    </a:lnTo>
                    <a:lnTo>
                      <a:pt x="2955" y="4816"/>
                    </a:lnTo>
                    <a:lnTo>
                      <a:pt x="2996" y="4806"/>
                    </a:lnTo>
                    <a:lnTo>
                      <a:pt x="3038" y="4796"/>
                    </a:lnTo>
                    <a:lnTo>
                      <a:pt x="3079" y="4786"/>
                    </a:lnTo>
                    <a:lnTo>
                      <a:pt x="3119" y="4774"/>
                    </a:lnTo>
                    <a:lnTo>
                      <a:pt x="3160" y="4761"/>
                    </a:lnTo>
                    <a:lnTo>
                      <a:pt x="3200" y="4748"/>
                    </a:lnTo>
                    <a:lnTo>
                      <a:pt x="3241" y="4734"/>
                    </a:lnTo>
                    <a:lnTo>
                      <a:pt x="3280" y="4719"/>
                    </a:lnTo>
                    <a:lnTo>
                      <a:pt x="3320" y="4705"/>
                    </a:lnTo>
                    <a:lnTo>
                      <a:pt x="3359" y="4688"/>
                    </a:lnTo>
                    <a:lnTo>
                      <a:pt x="3399" y="4671"/>
                    </a:lnTo>
                    <a:lnTo>
                      <a:pt x="3438" y="4654"/>
                    </a:lnTo>
                    <a:lnTo>
                      <a:pt x="3476" y="4636"/>
                    </a:lnTo>
                    <a:lnTo>
                      <a:pt x="3516" y="4617"/>
                    </a:lnTo>
                    <a:lnTo>
                      <a:pt x="3554" y="4598"/>
                    </a:lnTo>
                    <a:lnTo>
                      <a:pt x="3593" y="4577"/>
                    </a:lnTo>
                    <a:lnTo>
                      <a:pt x="3630" y="4556"/>
                    </a:lnTo>
                    <a:lnTo>
                      <a:pt x="3668" y="4535"/>
                    </a:lnTo>
                    <a:lnTo>
                      <a:pt x="3705" y="4512"/>
                    </a:lnTo>
                    <a:lnTo>
                      <a:pt x="3744" y="4489"/>
                    </a:lnTo>
                    <a:lnTo>
                      <a:pt x="3763" y="4477"/>
                    </a:lnTo>
                    <a:lnTo>
                      <a:pt x="3786" y="4462"/>
                    </a:lnTo>
                    <a:lnTo>
                      <a:pt x="3812" y="4447"/>
                    </a:lnTo>
                    <a:lnTo>
                      <a:pt x="3843" y="4427"/>
                    </a:lnTo>
                    <a:lnTo>
                      <a:pt x="3863" y="4415"/>
                    </a:lnTo>
                    <a:lnTo>
                      <a:pt x="3883" y="4407"/>
                    </a:lnTo>
                    <a:lnTo>
                      <a:pt x="3901" y="4400"/>
                    </a:lnTo>
                    <a:lnTo>
                      <a:pt x="3919" y="4397"/>
                    </a:lnTo>
                    <a:lnTo>
                      <a:pt x="3936" y="4397"/>
                    </a:lnTo>
                    <a:lnTo>
                      <a:pt x="3952" y="4398"/>
                    </a:lnTo>
                    <a:lnTo>
                      <a:pt x="3968" y="4401"/>
                    </a:lnTo>
                    <a:lnTo>
                      <a:pt x="3982" y="4408"/>
                    </a:lnTo>
                    <a:lnTo>
                      <a:pt x="3997" y="4415"/>
                    </a:lnTo>
                    <a:lnTo>
                      <a:pt x="4013" y="4425"/>
                    </a:lnTo>
                    <a:lnTo>
                      <a:pt x="4028" y="4435"/>
                    </a:lnTo>
                    <a:lnTo>
                      <a:pt x="4043" y="4448"/>
                    </a:lnTo>
                    <a:lnTo>
                      <a:pt x="4076" y="4475"/>
                    </a:lnTo>
                    <a:lnTo>
                      <a:pt x="4113" y="4505"/>
                    </a:lnTo>
                    <a:lnTo>
                      <a:pt x="4133" y="4522"/>
                    </a:lnTo>
                    <a:lnTo>
                      <a:pt x="4155" y="4538"/>
                    </a:lnTo>
                    <a:lnTo>
                      <a:pt x="4177" y="4554"/>
                    </a:lnTo>
                    <a:lnTo>
                      <a:pt x="4202" y="4569"/>
                    </a:lnTo>
                    <a:lnTo>
                      <a:pt x="4229" y="4585"/>
                    </a:lnTo>
                    <a:lnTo>
                      <a:pt x="4257" y="4601"/>
                    </a:lnTo>
                    <a:lnTo>
                      <a:pt x="4289" y="4616"/>
                    </a:lnTo>
                    <a:lnTo>
                      <a:pt x="4322" y="4629"/>
                    </a:lnTo>
                    <a:lnTo>
                      <a:pt x="4358" y="4642"/>
                    </a:lnTo>
                    <a:lnTo>
                      <a:pt x="4397" y="4653"/>
                    </a:lnTo>
                    <a:lnTo>
                      <a:pt x="4439" y="4663"/>
                    </a:lnTo>
                    <a:lnTo>
                      <a:pt x="4483" y="4672"/>
                    </a:lnTo>
                    <a:lnTo>
                      <a:pt x="4531" y="4678"/>
                    </a:lnTo>
                    <a:lnTo>
                      <a:pt x="4583" y="4683"/>
                    </a:lnTo>
                    <a:lnTo>
                      <a:pt x="4638" y="4686"/>
                    </a:lnTo>
                    <a:lnTo>
                      <a:pt x="4697" y="4686"/>
                    </a:lnTo>
                    <a:lnTo>
                      <a:pt x="4677" y="4674"/>
                    </a:lnTo>
                    <a:lnTo>
                      <a:pt x="4656" y="4662"/>
                    </a:lnTo>
                    <a:lnTo>
                      <a:pt x="4638" y="4650"/>
                    </a:lnTo>
                    <a:lnTo>
                      <a:pt x="4620" y="4635"/>
                    </a:lnTo>
                    <a:lnTo>
                      <a:pt x="4603" y="4621"/>
                    </a:lnTo>
                    <a:lnTo>
                      <a:pt x="4589" y="4606"/>
                    </a:lnTo>
                    <a:lnTo>
                      <a:pt x="4574" y="4590"/>
                    </a:lnTo>
                    <a:lnTo>
                      <a:pt x="4559" y="4574"/>
                    </a:lnTo>
                    <a:lnTo>
                      <a:pt x="4547" y="4557"/>
                    </a:lnTo>
                    <a:lnTo>
                      <a:pt x="4536" y="4540"/>
                    </a:lnTo>
                    <a:lnTo>
                      <a:pt x="4524" y="4522"/>
                    </a:lnTo>
                    <a:lnTo>
                      <a:pt x="4514" y="4504"/>
                    </a:lnTo>
                    <a:lnTo>
                      <a:pt x="4505" y="4486"/>
                    </a:lnTo>
                    <a:lnTo>
                      <a:pt x="4496" y="4467"/>
                    </a:lnTo>
                    <a:lnTo>
                      <a:pt x="4488" y="4448"/>
                    </a:lnTo>
                    <a:lnTo>
                      <a:pt x="4482" y="4429"/>
                    </a:lnTo>
                    <a:lnTo>
                      <a:pt x="4476" y="4409"/>
                    </a:lnTo>
                    <a:lnTo>
                      <a:pt x="4470" y="4390"/>
                    </a:lnTo>
                    <a:lnTo>
                      <a:pt x="4466" y="4371"/>
                    </a:lnTo>
                    <a:lnTo>
                      <a:pt x="4461" y="4351"/>
                    </a:lnTo>
                    <a:lnTo>
                      <a:pt x="4458" y="4332"/>
                    </a:lnTo>
                    <a:lnTo>
                      <a:pt x="4455" y="4311"/>
                    </a:lnTo>
                    <a:lnTo>
                      <a:pt x="4452" y="4292"/>
                    </a:lnTo>
                    <a:lnTo>
                      <a:pt x="4451" y="4273"/>
                    </a:lnTo>
                    <a:lnTo>
                      <a:pt x="4449" y="4235"/>
                    </a:lnTo>
                    <a:lnTo>
                      <a:pt x="4450" y="4197"/>
                    </a:lnTo>
                    <a:lnTo>
                      <a:pt x="4452" y="4162"/>
                    </a:lnTo>
                    <a:lnTo>
                      <a:pt x="4456" y="4129"/>
                    </a:lnTo>
                    <a:lnTo>
                      <a:pt x="4462" y="4093"/>
                    </a:lnTo>
                    <a:lnTo>
                      <a:pt x="4470" y="4056"/>
                    </a:lnTo>
                    <a:lnTo>
                      <a:pt x="4479" y="4019"/>
                    </a:lnTo>
                    <a:lnTo>
                      <a:pt x="4490" y="3982"/>
                    </a:lnTo>
                    <a:lnTo>
                      <a:pt x="4502" y="3945"/>
                    </a:lnTo>
                    <a:lnTo>
                      <a:pt x="4515" y="3905"/>
                    </a:lnTo>
                    <a:lnTo>
                      <a:pt x="4529" y="3866"/>
                    </a:lnTo>
                    <a:lnTo>
                      <a:pt x="4545" y="3826"/>
                    </a:lnTo>
                    <a:lnTo>
                      <a:pt x="4576" y="3743"/>
                    </a:lnTo>
                    <a:lnTo>
                      <a:pt x="4611" y="3656"/>
                    </a:lnTo>
                    <a:lnTo>
                      <a:pt x="4647" y="3566"/>
                    </a:lnTo>
                    <a:lnTo>
                      <a:pt x="4683" y="3470"/>
                    </a:lnTo>
                    <a:lnTo>
                      <a:pt x="4701" y="3422"/>
                    </a:lnTo>
                    <a:lnTo>
                      <a:pt x="4719" y="3371"/>
                    </a:lnTo>
                    <a:lnTo>
                      <a:pt x="4736" y="3319"/>
                    </a:lnTo>
                    <a:lnTo>
                      <a:pt x="4753" y="3266"/>
                    </a:lnTo>
                    <a:lnTo>
                      <a:pt x="4769" y="3211"/>
                    </a:lnTo>
                    <a:lnTo>
                      <a:pt x="4785" y="3156"/>
                    </a:lnTo>
                    <a:lnTo>
                      <a:pt x="4799" y="3098"/>
                    </a:lnTo>
                    <a:lnTo>
                      <a:pt x="4812" y="3039"/>
                    </a:lnTo>
                    <a:lnTo>
                      <a:pt x="4824" y="2979"/>
                    </a:lnTo>
                    <a:lnTo>
                      <a:pt x="4835" y="2917"/>
                    </a:lnTo>
                    <a:lnTo>
                      <a:pt x="4846" y="2852"/>
                    </a:lnTo>
                    <a:lnTo>
                      <a:pt x="4854" y="2787"/>
                    </a:lnTo>
                    <a:lnTo>
                      <a:pt x="4860" y="2720"/>
                    </a:lnTo>
                    <a:lnTo>
                      <a:pt x="4865" y="2652"/>
                    </a:lnTo>
                    <a:lnTo>
                      <a:pt x="4868" y="2581"/>
                    </a:lnTo>
                    <a:lnTo>
                      <a:pt x="4869" y="2508"/>
                    </a:lnTo>
                    <a:close/>
                  </a:path>
                </a:pathLst>
              </a:custGeom>
              <a:grpFill/>
              <a:ln>
                <a:solidFill>
                  <a:srgbClr val="DADAE4"/>
                </a:solidFill>
              </a:ln>
            </p:spPr>
            <p:txBody>
              <a:bodyPr vert="horz" wrap="square" lIns="91412" tIns="45706" rIns="91412" bIns="45706" numCol="1" anchor="t" anchorCtr="0" compatLnSpc="1"/>
              <a:lstStyle/>
              <a:p>
                <a:endPara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3" name="TextBox 79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7623" y="6440"/>
                <a:ext cx="414" cy="531"/>
              </a:xfrm>
              <a:prstGeom prst="roundRect">
                <a:avLst>
                  <a:gd name="adj" fmla="val 0"/>
                </a:avLst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4</a:t>
                </a:r>
                <a:endPara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</p:grpSp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2810" y="240030"/>
            <a:ext cx="520319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26/ TEACHING CONTRACT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分数、反馈和学习证据各有状态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2810" y="1245235"/>
            <a:ext cx="7317740" cy="506730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indent="0" algn="dist" fontAlgn="auto"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  <a:sym typeface="+mn-ea"/>
              </a:rPr>
              <a:t>教学数据契约把建议、最终判断、发布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  <a:sym typeface="+mn-ea"/>
              </a:rPr>
              <a:t>时间</a:t>
            </a:r>
            <a:r>
              <a:rPr lang="zh-CN" altLang="en-US"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  <a:sym typeface="+mn-ea"/>
              </a:rPr>
              <a:t>和学习证据分开记录</a:t>
            </a:r>
            <a:endParaRPr lang="zh-CN" altLang="en-US" sz="16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432560" y="2315210"/>
            <a:ext cx="2883535" cy="1940560"/>
            <a:chOff x="2256" y="3646"/>
            <a:chExt cx="4541" cy="3056"/>
          </a:xfrm>
        </p:grpSpPr>
        <p:sp>
          <p:nvSpPr>
            <p:cNvPr id="93" name="文本框 21"/>
            <p:cNvSpPr txBox="1"/>
            <p:nvPr>
              <p:custDataLst>
                <p:tags r:id="rId16"/>
              </p:custDataLst>
            </p:nvPr>
          </p:nvSpPr>
          <p:spPr>
            <a:xfrm>
              <a:off x="4453" y="3646"/>
              <a:ext cx="2344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ai_score</a:t>
              </a:r>
              <a:endParaRPr lang="en-US" altLang="zh-CN" sz="1600" b="1" dirty="0">
                <a:solidFill>
                  <a:srgbClr val="123E6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pPr algn="r"/>
              <a:endParaRPr lang="en-US" altLang="zh-CN" sz="1600" b="1" dirty="0">
                <a:solidFill>
                  <a:srgbClr val="123E6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97" name="TextBox 73"/>
            <p:cNvSpPr txBox="1"/>
            <p:nvPr>
              <p:custDataLst>
                <p:tags r:id="rId17"/>
              </p:custDataLst>
            </p:nvPr>
          </p:nvSpPr>
          <p:spPr>
            <a:xfrm>
              <a:off x="2256" y="4236"/>
              <a:ext cx="4540" cy="2466"/>
            </a:xfrm>
            <a:prstGeom prst="roundRect">
              <a:avLst>
                <a:gd name="adj" fmla="val 0"/>
              </a:avLst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模型生成的作业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分数，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AI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分析建议定位于教师的辅助工具，可用于批改时的参考，但不会替代教师的最终评分决策</a:t>
              </a:r>
              <a:endPara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pPr algn="r">
                <a:lnSpc>
                  <a:spcPct val="120000"/>
                </a:lnSpc>
              </a:pPr>
              <a:endPara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7609205" y="2496820"/>
            <a:ext cx="3347720" cy="1654810"/>
            <a:chOff x="11850" y="5083"/>
            <a:chExt cx="5272" cy="2606"/>
          </a:xfrm>
        </p:grpSpPr>
        <p:sp>
          <p:nvSpPr>
            <p:cNvPr id="94" name="文本框 21"/>
            <p:cNvSpPr txBox="1"/>
            <p:nvPr>
              <p:custDataLst>
                <p:tags r:id="rId18"/>
              </p:custDataLst>
            </p:nvPr>
          </p:nvSpPr>
          <p:spPr>
            <a:xfrm>
              <a:off x="11850" y="5083"/>
              <a:ext cx="2593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final_score</a:t>
              </a:r>
              <a:endPara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endPara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98" name="TextBox 74"/>
            <p:cNvSpPr txBox="1"/>
            <p:nvPr>
              <p:custDataLst>
                <p:tags r:id="rId19"/>
              </p:custDataLst>
            </p:nvPr>
          </p:nvSpPr>
          <p:spPr>
            <a:xfrm>
              <a:off x="11850" y="5687"/>
              <a:ext cx="5273" cy="2002"/>
            </a:xfrm>
            <a:prstGeom prst="roundRect">
              <a:avLst>
                <a:gd name="adj" fmla="val 0"/>
              </a:avLst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AI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生成分析建议后，教师可进行复核或修改，系统以教师确认的最终结果为教学反馈的依据，同时保留原始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AI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建议供查阅对比</a:t>
              </a:r>
              <a:endPara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441450" y="4354830"/>
            <a:ext cx="2874010" cy="1932305"/>
            <a:chOff x="2248" y="6402"/>
            <a:chExt cx="4526" cy="3043"/>
          </a:xfrm>
        </p:grpSpPr>
        <p:sp>
          <p:nvSpPr>
            <p:cNvPr id="95" name="文本框 21"/>
            <p:cNvSpPr txBox="1"/>
            <p:nvPr>
              <p:custDataLst>
                <p:tags r:id="rId20"/>
              </p:custDataLst>
            </p:nvPr>
          </p:nvSpPr>
          <p:spPr>
            <a:xfrm>
              <a:off x="3938" y="6402"/>
              <a:ext cx="283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reviewed_</a:t>
              </a:r>
              <a:r>
                <a: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at</a:t>
              </a:r>
              <a:endPara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99" name="TextBox 75"/>
            <p:cNvSpPr txBox="1"/>
            <p:nvPr>
              <p:custDataLst>
                <p:tags r:id="rId21"/>
              </p:custDataLst>
            </p:nvPr>
          </p:nvSpPr>
          <p:spPr>
            <a:xfrm>
              <a:off x="2248" y="6979"/>
              <a:ext cx="4526" cy="2466"/>
            </a:xfrm>
            <a:prstGeom prst="roundRect">
              <a:avLst>
                <a:gd name="adj" fmla="val 0"/>
              </a:avLst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系统支持对人工复核行为进行留痕，记录每次复核的发生时间与处理状态，为批改流程提供可追溯的审计日志</a:t>
              </a:r>
              <a:endPara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endParaRPr>
            </a:p>
            <a:p>
              <a:pPr algn="r">
                <a:lnSpc>
                  <a:spcPct val="120000"/>
                </a:lnSpc>
              </a:pPr>
              <a:endPara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599680" y="4511040"/>
            <a:ext cx="3265170" cy="1670050"/>
            <a:chOff x="11850" y="7820"/>
            <a:chExt cx="5142" cy="2630"/>
          </a:xfrm>
        </p:grpSpPr>
        <p:sp>
          <p:nvSpPr>
            <p:cNvPr id="96" name="文本框 21"/>
            <p:cNvSpPr txBox="1"/>
            <p:nvPr>
              <p:custDataLst>
                <p:tags r:id="rId22"/>
              </p:custDataLst>
            </p:nvPr>
          </p:nvSpPr>
          <p:spPr>
            <a:xfrm>
              <a:off x="11850" y="7820"/>
              <a:ext cx="299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published_at</a:t>
              </a:r>
              <a:endPara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0" name="TextBox 76"/>
            <p:cNvSpPr txBox="1"/>
            <p:nvPr>
              <p:custDataLst>
                <p:tags r:id="rId23"/>
              </p:custDataLst>
            </p:nvPr>
          </p:nvSpPr>
          <p:spPr>
            <a:xfrm>
              <a:off x="11850" y="8448"/>
              <a:ext cx="5142" cy="2002"/>
            </a:xfrm>
            <a:prstGeom prst="roundRect">
              <a:avLst>
                <a:gd name="adj" fmla="val 0"/>
              </a:avLst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任务发布后，学生端实时可见；学生作答数据将自动归入班级诊断体系，用于生成共性薄弱点分析与教学建议</a:t>
              </a:r>
              <a:endPara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endParaRPr>
            </a:p>
          </p:txBody>
        </p:sp>
      </p:grpSp>
      <p:grpSp>
        <p:nvGrpSpPr>
          <p:cNvPr id="110" name="组合 109"/>
          <p:cNvGrpSpPr/>
          <p:nvPr>
            <p:custDataLst>
              <p:tags r:id="rId24"/>
            </p:custDataLst>
          </p:nvPr>
        </p:nvGrpSpPr>
        <p:grpSpPr>
          <a:xfrm>
            <a:off x="5674995" y="3129280"/>
            <a:ext cx="3658235" cy="1555750"/>
            <a:chOff x="8751" y="4928"/>
            <a:chExt cx="5761" cy="2460"/>
          </a:xfrm>
        </p:grpSpPr>
        <p:sp>
          <p:nvSpPr>
            <p:cNvPr id="87" name="矩形 86"/>
            <p:cNvSpPr/>
            <p:nvPr>
              <p:custDataLst>
                <p:tags r:id="rId25"/>
              </p:custDataLst>
            </p:nvPr>
          </p:nvSpPr>
          <p:spPr>
            <a:xfrm rot="1400643">
              <a:off x="9274" y="6032"/>
              <a:ext cx="5238" cy="1356"/>
            </a:xfrm>
            <a:prstGeom prst="rect">
              <a:avLst/>
            </a:prstGeom>
            <a:gradFill flip="none" rotWithShape="1">
              <a:gsLst>
                <a:gs pos="54000">
                  <a:schemeClr val="bg1">
                    <a:lumMod val="65000"/>
                    <a:lumOff val="35000"/>
                    <a:alpha val="0"/>
                  </a:schemeClr>
                </a:gs>
                <a:gs pos="0">
                  <a:schemeClr val="accent1">
                    <a:alpha val="54000"/>
                    <a:lumMod val="65000"/>
                    <a:lumOff val="35000"/>
                  </a:schemeClr>
                </a:gs>
                <a:gs pos="0">
                  <a:schemeClr val="bg1">
                    <a:lumMod val="75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105" name="组合 104"/>
            <p:cNvGrpSpPr/>
            <p:nvPr>
              <p:custDataLst>
                <p:tags r:id="rId26"/>
              </p:custDataLst>
            </p:nvPr>
          </p:nvGrpSpPr>
          <p:grpSpPr>
            <a:xfrm>
              <a:off x="8751" y="4928"/>
              <a:ext cx="1522" cy="1523"/>
              <a:chOff x="7211" y="3493"/>
              <a:chExt cx="1522" cy="1523"/>
            </a:xfrm>
            <a:solidFill>
              <a:srgbClr val="DADAE4"/>
            </a:solidFill>
          </p:grpSpPr>
          <p:sp>
            <p:nvSpPr>
              <p:cNvPr id="89" name="淘宝店chenying0907 5"/>
              <p:cNvSpPr/>
              <p:nvPr>
                <p:custDataLst>
                  <p:tags r:id="rId27"/>
                </p:custDataLst>
              </p:nvPr>
            </p:nvSpPr>
            <p:spPr bwMode="auto">
              <a:xfrm>
                <a:off x="7211" y="3493"/>
                <a:ext cx="1522" cy="1523"/>
              </a:xfrm>
              <a:custGeom>
                <a:avLst/>
                <a:gdLst>
                  <a:gd name="T0" fmla="*/ 4869 w 4870"/>
                  <a:gd name="T1" fmla="*/ 2493 h 4872"/>
                  <a:gd name="T2" fmla="*/ 4866 w 4870"/>
                  <a:gd name="T3" fmla="*/ 2310 h 4872"/>
                  <a:gd name="T4" fmla="*/ 4793 w 4870"/>
                  <a:gd name="T5" fmla="*/ 1827 h 4872"/>
                  <a:gd name="T6" fmla="*/ 4630 w 4870"/>
                  <a:gd name="T7" fmla="*/ 1380 h 4872"/>
                  <a:gd name="T8" fmla="*/ 4386 w 4870"/>
                  <a:gd name="T9" fmla="*/ 979 h 4872"/>
                  <a:gd name="T10" fmla="*/ 4072 w 4870"/>
                  <a:gd name="T11" fmla="*/ 633 h 4872"/>
                  <a:gd name="T12" fmla="*/ 3698 w 4870"/>
                  <a:gd name="T13" fmla="*/ 353 h 4872"/>
                  <a:gd name="T14" fmla="*/ 3272 w 4870"/>
                  <a:gd name="T15" fmla="*/ 148 h 4872"/>
                  <a:gd name="T16" fmla="*/ 2805 w 4870"/>
                  <a:gd name="T17" fmla="*/ 28 h 4872"/>
                  <a:gd name="T18" fmla="*/ 2309 w 4870"/>
                  <a:gd name="T19" fmla="*/ 3 h 4872"/>
                  <a:gd name="T20" fmla="*/ 1826 w 4870"/>
                  <a:gd name="T21" fmla="*/ 77 h 4872"/>
                  <a:gd name="T22" fmla="*/ 1380 w 4870"/>
                  <a:gd name="T23" fmla="*/ 240 h 4872"/>
                  <a:gd name="T24" fmla="*/ 979 w 4870"/>
                  <a:gd name="T25" fmla="*/ 484 h 4872"/>
                  <a:gd name="T26" fmla="*/ 633 w 4870"/>
                  <a:gd name="T27" fmla="*/ 798 h 4872"/>
                  <a:gd name="T28" fmla="*/ 353 w 4870"/>
                  <a:gd name="T29" fmla="*/ 1173 h 4872"/>
                  <a:gd name="T30" fmla="*/ 148 w 4870"/>
                  <a:gd name="T31" fmla="*/ 1599 h 4872"/>
                  <a:gd name="T32" fmla="*/ 29 w 4870"/>
                  <a:gd name="T33" fmla="*/ 2064 h 4872"/>
                  <a:gd name="T34" fmla="*/ 4 w 4870"/>
                  <a:gd name="T35" fmla="*/ 2562 h 4872"/>
                  <a:gd name="T36" fmla="*/ 77 w 4870"/>
                  <a:gd name="T37" fmla="*/ 3044 h 4872"/>
                  <a:gd name="T38" fmla="*/ 240 w 4870"/>
                  <a:gd name="T39" fmla="*/ 3492 h 4872"/>
                  <a:gd name="T40" fmla="*/ 484 w 4870"/>
                  <a:gd name="T41" fmla="*/ 3893 h 4872"/>
                  <a:gd name="T42" fmla="*/ 798 w 4870"/>
                  <a:gd name="T43" fmla="*/ 4238 h 4872"/>
                  <a:gd name="T44" fmla="*/ 1172 w 4870"/>
                  <a:gd name="T45" fmla="*/ 4519 h 4872"/>
                  <a:gd name="T46" fmla="*/ 1598 w 4870"/>
                  <a:gd name="T47" fmla="*/ 4724 h 4872"/>
                  <a:gd name="T48" fmla="*/ 2064 w 4870"/>
                  <a:gd name="T49" fmla="*/ 4844 h 4872"/>
                  <a:gd name="T50" fmla="*/ 2480 w 4870"/>
                  <a:gd name="T51" fmla="*/ 4871 h 4872"/>
                  <a:gd name="T52" fmla="*/ 2656 w 4870"/>
                  <a:gd name="T53" fmla="*/ 4862 h 4872"/>
                  <a:gd name="T54" fmla="*/ 2829 w 4870"/>
                  <a:gd name="T55" fmla="*/ 4840 h 4872"/>
                  <a:gd name="T56" fmla="*/ 2997 w 4870"/>
                  <a:gd name="T57" fmla="*/ 4807 h 4872"/>
                  <a:gd name="T58" fmla="*/ 3160 w 4870"/>
                  <a:gd name="T59" fmla="*/ 4761 h 4872"/>
                  <a:gd name="T60" fmla="*/ 3320 w 4870"/>
                  <a:gd name="T61" fmla="*/ 4704 h 4872"/>
                  <a:gd name="T62" fmla="*/ 3477 w 4870"/>
                  <a:gd name="T63" fmla="*/ 4636 h 4872"/>
                  <a:gd name="T64" fmla="*/ 3630 w 4870"/>
                  <a:gd name="T65" fmla="*/ 4556 h 4872"/>
                  <a:gd name="T66" fmla="*/ 3763 w 4870"/>
                  <a:gd name="T67" fmla="*/ 4477 h 4872"/>
                  <a:gd name="T68" fmla="*/ 3863 w 4870"/>
                  <a:gd name="T69" fmla="*/ 4415 h 4872"/>
                  <a:gd name="T70" fmla="*/ 3937 w 4870"/>
                  <a:gd name="T71" fmla="*/ 4396 h 4872"/>
                  <a:gd name="T72" fmla="*/ 3997 w 4870"/>
                  <a:gd name="T73" fmla="*/ 4415 h 4872"/>
                  <a:gd name="T74" fmla="*/ 4077 w 4870"/>
                  <a:gd name="T75" fmla="*/ 4475 h 4872"/>
                  <a:gd name="T76" fmla="*/ 4178 w 4870"/>
                  <a:gd name="T77" fmla="*/ 4554 h 4872"/>
                  <a:gd name="T78" fmla="*/ 4289 w 4870"/>
                  <a:gd name="T79" fmla="*/ 4616 h 4872"/>
                  <a:gd name="T80" fmla="*/ 4439 w 4870"/>
                  <a:gd name="T81" fmla="*/ 4663 h 4872"/>
                  <a:gd name="T82" fmla="*/ 4639 w 4870"/>
                  <a:gd name="T83" fmla="*/ 4686 h 4872"/>
                  <a:gd name="T84" fmla="*/ 4639 w 4870"/>
                  <a:gd name="T85" fmla="*/ 4649 h 4872"/>
                  <a:gd name="T86" fmla="*/ 4574 w 4870"/>
                  <a:gd name="T87" fmla="*/ 4590 h 4872"/>
                  <a:gd name="T88" fmla="*/ 4525 w 4870"/>
                  <a:gd name="T89" fmla="*/ 4522 h 4872"/>
                  <a:gd name="T90" fmla="*/ 4489 w 4870"/>
                  <a:gd name="T91" fmla="*/ 4448 h 4872"/>
                  <a:gd name="T92" fmla="*/ 4466 w 4870"/>
                  <a:gd name="T93" fmla="*/ 4370 h 4872"/>
                  <a:gd name="T94" fmla="*/ 4453 w 4870"/>
                  <a:gd name="T95" fmla="*/ 4292 h 4872"/>
                  <a:gd name="T96" fmla="*/ 4453 w 4870"/>
                  <a:gd name="T97" fmla="*/ 4163 h 4872"/>
                  <a:gd name="T98" fmla="*/ 4480 w 4870"/>
                  <a:gd name="T99" fmla="*/ 4020 h 4872"/>
                  <a:gd name="T100" fmla="*/ 4529 w 4870"/>
                  <a:gd name="T101" fmla="*/ 3866 h 4872"/>
                  <a:gd name="T102" fmla="*/ 4648 w 4870"/>
                  <a:gd name="T103" fmla="*/ 3566 h 4872"/>
                  <a:gd name="T104" fmla="*/ 4737 w 4870"/>
                  <a:gd name="T105" fmla="*/ 3319 h 4872"/>
                  <a:gd name="T106" fmla="*/ 4800 w 4870"/>
                  <a:gd name="T107" fmla="*/ 3098 h 4872"/>
                  <a:gd name="T108" fmla="*/ 4846 w 4870"/>
                  <a:gd name="T109" fmla="*/ 2853 h 4872"/>
                  <a:gd name="T110" fmla="*/ 4869 w 4870"/>
                  <a:gd name="T111" fmla="*/ 2581 h 48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4870" h="4872">
                    <a:moveTo>
                      <a:pt x="4870" y="2508"/>
                    </a:moveTo>
                    <a:lnTo>
                      <a:pt x="4869" y="2510"/>
                    </a:lnTo>
                    <a:lnTo>
                      <a:pt x="4867" y="2512"/>
                    </a:lnTo>
                    <a:lnTo>
                      <a:pt x="4869" y="2493"/>
                    </a:lnTo>
                    <a:lnTo>
                      <a:pt x="4869" y="2474"/>
                    </a:lnTo>
                    <a:lnTo>
                      <a:pt x="4870" y="2455"/>
                    </a:lnTo>
                    <a:lnTo>
                      <a:pt x="4870" y="2435"/>
                    </a:lnTo>
                    <a:lnTo>
                      <a:pt x="4866" y="2310"/>
                    </a:lnTo>
                    <a:lnTo>
                      <a:pt x="4857" y="2186"/>
                    </a:lnTo>
                    <a:lnTo>
                      <a:pt x="4842" y="2064"/>
                    </a:lnTo>
                    <a:lnTo>
                      <a:pt x="4820" y="1945"/>
                    </a:lnTo>
                    <a:lnTo>
                      <a:pt x="4793" y="1827"/>
                    </a:lnTo>
                    <a:lnTo>
                      <a:pt x="4760" y="1712"/>
                    </a:lnTo>
                    <a:lnTo>
                      <a:pt x="4722" y="1599"/>
                    </a:lnTo>
                    <a:lnTo>
                      <a:pt x="4678" y="1487"/>
                    </a:lnTo>
                    <a:lnTo>
                      <a:pt x="4630" y="1380"/>
                    </a:lnTo>
                    <a:lnTo>
                      <a:pt x="4576" y="1275"/>
                    </a:lnTo>
                    <a:lnTo>
                      <a:pt x="4517" y="1173"/>
                    </a:lnTo>
                    <a:lnTo>
                      <a:pt x="4454" y="1073"/>
                    </a:lnTo>
                    <a:lnTo>
                      <a:pt x="4386" y="979"/>
                    </a:lnTo>
                    <a:lnTo>
                      <a:pt x="4313" y="886"/>
                    </a:lnTo>
                    <a:lnTo>
                      <a:pt x="4238" y="798"/>
                    </a:lnTo>
                    <a:lnTo>
                      <a:pt x="4156" y="714"/>
                    </a:lnTo>
                    <a:lnTo>
                      <a:pt x="4072" y="633"/>
                    </a:lnTo>
                    <a:lnTo>
                      <a:pt x="3984" y="556"/>
                    </a:lnTo>
                    <a:lnTo>
                      <a:pt x="3892" y="484"/>
                    </a:lnTo>
                    <a:lnTo>
                      <a:pt x="3796" y="416"/>
                    </a:lnTo>
                    <a:lnTo>
                      <a:pt x="3698" y="353"/>
                    </a:lnTo>
                    <a:lnTo>
                      <a:pt x="3595" y="294"/>
                    </a:lnTo>
                    <a:lnTo>
                      <a:pt x="3490" y="240"/>
                    </a:lnTo>
                    <a:lnTo>
                      <a:pt x="3382" y="192"/>
                    </a:lnTo>
                    <a:lnTo>
                      <a:pt x="3272" y="148"/>
                    </a:lnTo>
                    <a:lnTo>
                      <a:pt x="3159" y="109"/>
                    </a:lnTo>
                    <a:lnTo>
                      <a:pt x="3043" y="77"/>
                    </a:lnTo>
                    <a:lnTo>
                      <a:pt x="2926" y="50"/>
                    </a:lnTo>
                    <a:lnTo>
                      <a:pt x="2805" y="28"/>
                    </a:lnTo>
                    <a:lnTo>
                      <a:pt x="2684" y="12"/>
                    </a:lnTo>
                    <a:lnTo>
                      <a:pt x="2561" y="3"/>
                    </a:lnTo>
                    <a:lnTo>
                      <a:pt x="2434" y="0"/>
                    </a:lnTo>
                    <a:lnTo>
                      <a:pt x="2309" y="3"/>
                    </a:lnTo>
                    <a:lnTo>
                      <a:pt x="2187" y="12"/>
                    </a:lnTo>
                    <a:lnTo>
                      <a:pt x="2064" y="28"/>
                    </a:lnTo>
                    <a:lnTo>
                      <a:pt x="1944" y="50"/>
                    </a:lnTo>
                    <a:lnTo>
                      <a:pt x="1826" y="77"/>
                    </a:lnTo>
                    <a:lnTo>
                      <a:pt x="1711" y="109"/>
                    </a:lnTo>
                    <a:lnTo>
                      <a:pt x="1598" y="148"/>
                    </a:lnTo>
                    <a:lnTo>
                      <a:pt x="1488" y="192"/>
                    </a:lnTo>
                    <a:lnTo>
                      <a:pt x="1380" y="240"/>
                    </a:lnTo>
                    <a:lnTo>
                      <a:pt x="1275" y="294"/>
                    </a:lnTo>
                    <a:lnTo>
                      <a:pt x="1172" y="353"/>
                    </a:lnTo>
                    <a:lnTo>
                      <a:pt x="1074" y="416"/>
                    </a:lnTo>
                    <a:lnTo>
                      <a:pt x="979" y="484"/>
                    </a:lnTo>
                    <a:lnTo>
                      <a:pt x="886" y="556"/>
                    </a:lnTo>
                    <a:lnTo>
                      <a:pt x="798" y="633"/>
                    </a:lnTo>
                    <a:lnTo>
                      <a:pt x="714" y="714"/>
                    </a:lnTo>
                    <a:lnTo>
                      <a:pt x="633" y="798"/>
                    </a:lnTo>
                    <a:lnTo>
                      <a:pt x="556" y="886"/>
                    </a:lnTo>
                    <a:lnTo>
                      <a:pt x="484" y="979"/>
                    </a:lnTo>
                    <a:lnTo>
                      <a:pt x="416" y="1073"/>
                    </a:lnTo>
                    <a:lnTo>
                      <a:pt x="353" y="1173"/>
                    </a:lnTo>
                    <a:lnTo>
                      <a:pt x="295" y="1275"/>
                    </a:lnTo>
                    <a:lnTo>
                      <a:pt x="240" y="1380"/>
                    </a:lnTo>
                    <a:lnTo>
                      <a:pt x="192" y="1487"/>
                    </a:lnTo>
                    <a:lnTo>
                      <a:pt x="148" y="1599"/>
                    </a:lnTo>
                    <a:lnTo>
                      <a:pt x="110" y="1712"/>
                    </a:lnTo>
                    <a:lnTo>
                      <a:pt x="77" y="1827"/>
                    </a:lnTo>
                    <a:lnTo>
                      <a:pt x="50" y="1945"/>
                    </a:lnTo>
                    <a:lnTo>
                      <a:pt x="29" y="2064"/>
                    </a:lnTo>
                    <a:lnTo>
                      <a:pt x="13" y="2186"/>
                    </a:lnTo>
                    <a:lnTo>
                      <a:pt x="4" y="2310"/>
                    </a:lnTo>
                    <a:lnTo>
                      <a:pt x="0" y="2435"/>
                    </a:lnTo>
                    <a:lnTo>
                      <a:pt x="4" y="2562"/>
                    </a:lnTo>
                    <a:lnTo>
                      <a:pt x="13" y="2685"/>
                    </a:lnTo>
                    <a:lnTo>
                      <a:pt x="29" y="2806"/>
                    </a:lnTo>
                    <a:lnTo>
                      <a:pt x="50" y="2927"/>
                    </a:lnTo>
                    <a:lnTo>
                      <a:pt x="77" y="3044"/>
                    </a:lnTo>
                    <a:lnTo>
                      <a:pt x="110" y="3160"/>
                    </a:lnTo>
                    <a:lnTo>
                      <a:pt x="148" y="3273"/>
                    </a:lnTo>
                    <a:lnTo>
                      <a:pt x="192" y="3384"/>
                    </a:lnTo>
                    <a:lnTo>
                      <a:pt x="240" y="3492"/>
                    </a:lnTo>
                    <a:lnTo>
                      <a:pt x="295" y="3597"/>
                    </a:lnTo>
                    <a:lnTo>
                      <a:pt x="353" y="3699"/>
                    </a:lnTo>
                    <a:lnTo>
                      <a:pt x="416" y="3797"/>
                    </a:lnTo>
                    <a:lnTo>
                      <a:pt x="484" y="3893"/>
                    </a:lnTo>
                    <a:lnTo>
                      <a:pt x="556" y="3985"/>
                    </a:lnTo>
                    <a:lnTo>
                      <a:pt x="633" y="4074"/>
                    </a:lnTo>
                    <a:lnTo>
                      <a:pt x="714" y="4158"/>
                    </a:lnTo>
                    <a:lnTo>
                      <a:pt x="798" y="4238"/>
                    </a:lnTo>
                    <a:lnTo>
                      <a:pt x="886" y="4315"/>
                    </a:lnTo>
                    <a:lnTo>
                      <a:pt x="979" y="4387"/>
                    </a:lnTo>
                    <a:lnTo>
                      <a:pt x="1074" y="4456"/>
                    </a:lnTo>
                    <a:lnTo>
                      <a:pt x="1172" y="4519"/>
                    </a:lnTo>
                    <a:lnTo>
                      <a:pt x="1275" y="4578"/>
                    </a:lnTo>
                    <a:lnTo>
                      <a:pt x="1380" y="4632"/>
                    </a:lnTo>
                    <a:lnTo>
                      <a:pt x="1488" y="4680"/>
                    </a:lnTo>
                    <a:lnTo>
                      <a:pt x="1598" y="4724"/>
                    </a:lnTo>
                    <a:lnTo>
                      <a:pt x="1711" y="4761"/>
                    </a:lnTo>
                    <a:lnTo>
                      <a:pt x="1826" y="4795"/>
                    </a:lnTo>
                    <a:lnTo>
                      <a:pt x="1944" y="4822"/>
                    </a:lnTo>
                    <a:lnTo>
                      <a:pt x="2064" y="4844"/>
                    </a:lnTo>
                    <a:lnTo>
                      <a:pt x="2187" y="4858"/>
                    </a:lnTo>
                    <a:lnTo>
                      <a:pt x="2309" y="4869"/>
                    </a:lnTo>
                    <a:lnTo>
                      <a:pt x="2434" y="4872"/>
                    </a:lnTo>
                    <a:lnTo>
                      <a:pt x="2480" y="4871"/>
                    </a:lnTo>
                    <a:lnTo>
                      <a:pt x="2525" y="4870"/>
                    </a:lnTo>
                    <a:lnTo>
                      <a:pt x="2569" y="4869"/>
                    </a:lnTo>
                    <a:lnTo>
                      <a:pt x="2614" y="4865"/>
                    </a:lnTo>
                    <a:lnTo>
                      <a:pt x="2656" y="4862"/>
                    </a:lnTo>
                    <a:lnTo>
                      <a:pt x="2700" y="4857"/>
                    </a:lnTo>
                    <a:lnTo>
                      <a:pt x="2743" y="4853"/>
                    </a:lnTo>
                    <a:lnTo>
                      <a:pt x="2786" y="4847"/>
                    </a:lnTo>
                    <a:lnTo>
                      <a:pt x="2829" y="4840"/>
                    </a:lnTo>
                    <a:lnTo>
                      <a:pt x="2872" y="4832"/>
                    </a:lnTo>
                    <a:lnTo>
                      <a:pt x="2913" y="4825"/>
                    </a:lnTo>
                    <a:lnTo>
                      <a:pt x="2955" y="4817"/>
                    </a:lnTo>
                    <a:lnTo>
                      <a:pt x="2997" y="4807"/>
                    </a:lnTo>
                    <a:lnTo>
                      <a:pt x="3038" y="4796"/>
                    </a:lnTo>
                    <a:lnTo>
                      <a:pt x="3079" y="4785"/>
                    </a:lnTo>
                    <a:lnTo>
                      <a:pt x="3120" y="4774"/>
                    </a:lnTo>
                    <a:lnTo>
                      <a:pt x="3160" y="4761"/>
                    </a:lnTo>
                    <a:lnTo>
                      <a:pt x="3201" y="4748"/>
                    </a:lnTo>
                    <a:lnTo>
                      <a:pt x="3241" y="4734"/>
                    </a:lnTo>
                    <a:lnTo>
                      <a:pt x="3281" y="4720"/>
                    </a:lnTo>
                    <a:lnTo>
                      <a:pt x="3320" y="4704"/>
                    </a:lnTo>
                    <a:lnTo>
                      <a:pt x="3360" y="4688"/>
                    </a:lnTo>
                    <a:lnTo>
                      <a:pt x="3399" y="4671"/>
                    </a:lnTo>
                    <a:lnTo>
                      <a:pt x="3439" y="4654"/>
                    </a:lnTo>
                    <a:lnTo>
                      <a:pt x="3477" y="4636"/>
                    </a:lnTo>
                    <a:lnTo>
                      <a:pt x="3516" y="4617"/>
                    </a:lnTo>
                    <a:lnTo>
                      <a:pt x="3555" y="4597"/>
                    </a:lnTo>
                    <a:lnTo>
                      <a:pt x="3593" y="4577"/>
                    </a:lnTo>
                    <a:lnTo>
                      <a:pt x="3630" y="4556"/>
                    </a:lnTo>
                    <a:lnTo>
                      <a:pt x="3668" y="4535"/>
                    </a:lnTo>
                    <a:lnTo>
                      <a:pt x="3707" y="4512"/>
                    </a:lnTo>
                    <a:lnTo>
                      <a:pt x="3744" y="4489"/>
                    </a:lnTo>
                    <a:lnTo>
                      <a:pt x="3763" y="4477"/>
                    </a:lnTo>
                    <a:lnTo>
                      <a:pt x="3787" y="4463"/>
                    </a:lnTo>
                    <a:lnTo>
                      <a:pt x="3813" y="4447"/>
                    </a:lnTo>
                    <a:lnTo>
                      <a:pt x="3843" y="4428"/>
                    </a:lnTo>
                    <a:lnTo>
                      <a:pt x="3863" y="4415"/>
                    </a:lnTo>
                    <a:lnTo>
                      <a:pt x="3884" y="4406"/>
                    </a:lnTo>
                    <a:lnTo>
                      <a:pt x="3902" y="4401"/>
                    </a:lnTo>
                    <a:lnTo>
                      <a:pt x="3920" y="4397"/>
                    </a:lnTo>
                    <a:lnTo>
                      <a:pt x="3937" y="4396"/>
                    </a:lnTo>
                    <a:lnTo>
                      <a:pt x="3952" y="4398"/>
                    </a:lnTo>
                    <a:lnTo>
                      <a:pt x="3968" y="4402"/>
                    </a:lnTo>
                    <a:lnTo>
                      <a:pt x="3983" y="4407"/>
                    </a:lnTo>
                    <a:lnTo>
                      <a:pt x="3997" y="4415"/>
                    </a:lnTo>
                    <a:lnTo>
                      <a:pt x="4013" y="4424"/>
                    </a:lnTo>
                    <a:lnTo>
                      <a:pt x="4028" y="4436"/>
                    </a:lnTo>
                    <a:lnTo>
                      <a:pt x="4044" y="4448"/>
                    </a:lnTo>
                    <a:lnTo>
                      <a:pt x="4077" y="4475"/>
                    </a:lnTo>
                    <a:lnTo>
                      <a:pt x="4114" y="4505"/>
                    </a:lnTo>
                    <a:lnTo>
                      <a:pt x="4134" y="4521"/>
                    </a:lnTo>
                    <a:lnTo>
                      <a:pt x="4155" y="4538"/>
                    </a:lnTo>
                    <a:lnTo>
                      <a:pt x="4178" y="4554"/>
                    </a:lnTo>
                    <a:lnTo>
                      <a:pt x="4203" y="4570"/>
                    </a:lnTo>
                    <a:lnTo>
                      <a:pt x="4230" y="4586"/>
                    </a:lnTo>
                    <a:lnTo>
                      <a:pt x="4258" y="4601"/>
                    </a:lnTo>
                    <a:lnTo>
                      <a:pt x="4289" y="4616"/>
                    </a:lnTo>
                    <a:lnTo>
                      <a:pt x="4322" y="4630"/>
                    </a:lnTo>
                    <a:lnTo>
                      <a:pt x="4358" y="4642"/>
                    </a:lnTo>
                    <a:lnTo>
                      <a:pt x="4398" y="4653"/>
                    </a:lnTo>
                    <a:lnTo>
                      <a:pt x="4439" y="4663"/>
                    </a:lnTo>
                    <a:lnTo>
                      <a:pt x="4483" y="4671"/>
                    </a:lnTo>
                    <a:lnTo>
                      <a:pt x="4532" y="4678"/>
                    </a:lnTo>
                    <a:lnTo>
                      <a:pt x="4583" y="4683"/>
                    </a:lnTo>
                    <a:lnTo>
                      <a:pt x="4639" y="4686"/>
                    </a:lnTo>
                    <a:lnTo>
                      <a:pt x="4697" y="4686"/>
                    </a:lnTo>
                    <a:lnTo>
                      <a:pt x="4677" y="4675"/>
                    </a:lnTo>
                    <a:lnTo>
                      <a:pt x="4657" y="4662"/>
                    </a:lnTo>
                    <a:lnTo>
                      <a:pt x="4639" y="4649"/>
                    </a:lnTo>
                    <a:lnTo>
                      <a:pt x="4621" y="4635"/>
                    </a:lnTo>
                    <a:lnTo>
                      <a:pt x="4604" y="4620"/>
                    </a:lnTo>
                    <a:lnTo>
                      <a:pt x="4589" y="4606"/>
                    </a:lnTo>
                    <a:lnTo>
                      <a:pt x="4574" y="4590"/>
                    </a:lnTo>
                    <a:lnTo>
                      <a:pt x="4561" y="4574"/>
                    </a:lnTo>
                    <a:lnTo>
                      <a:pt x="4547" y="4557"/>
                    </a:lnTo>
                    <a:lnTo>
                      <a:pt x="4536" y="4540"/>
                    </a:lnTo>
                    <a:lnTo>
                      <a:pt x="4525" y="4522"/>
                    </a:lnTo>
                    <a:lnTo>
                      <a:pt x="4515" y="4504"/>
                    </a:lnTo>
                    <a:lnTo>
                      <a:pt x="4506" y="4486"/>
                    </a:lnTo>
                    <a:lnTo>
                      <a:pt x="4497" y="4467"/>
                    </a:lnTo>
                    <a:lnTo>
                      <a:pt x="4489" y="4448"/>
                    </a:lnTo>
                    <a:lnTo>
                      <a:pt x="4482" y="4429"/>
                    </a:lnTo>
                    <a:lnTo>
                      <a:pt x="4476" y="4410"/>
                    </a:lnTo>
                    <a:lnTo>
                      <a:pt x="4471" y="4390"/>
                    </a:lnTo>
                    <a:lnTo>
                      <a:pt x="4466" y="4370"/>
                    </a:lnTo>
                    <a:lnTo>
                      <a:pt x="4462" y="4351"/>
                    </a:lnTo>
                    <a:lnTo>
                      <a:pt x="4458" y="4332"/>
                    </a:lnTo>
                    <a:lnTo>
                      <a:pt x="4455" y="4312"/>
                    </a:lnTo>
                    <a:lnTo>
                      <a:pt x="4453" y="4292"/>
                    </a:lnTo>
                    <a:lnTo>
                      <a:pt x="4452" y="4273"/>
                    </a:lnTo>
                    <a:lnTo>
                      <a:pt x="4449" y="4235"/>
                    </a:lnTo>
                    <a:lnTo>
                      <a:pt x="4450" y="4198"/>
                    </a:lnTo>
                    <a:lnTo>
                      <a:pt x="4453" y="4163"/>
                    </a:lnTo>
                    <a:lnTo>
                      <a:pt x="4457" y="4129"/>
                    </a:lnTo>
                    <a:lnTo>
                      <a:pt x="4463" y="4093"/>
                    </a:lnTo>
                    <a:lnTo>
                      <a:pt x="4471" y="4057"/>
                    </a:lnTo>
                    <a:lnTo>
                      <a:pt x="4480" y="4020"/>
                    </a:lnTo>
                    <a:lnTo>
                      <a:pt x="4490" y="3982"/>
                    </a:lnTo>
                    <a:lnTo>
                      <a:pt x="4502" y="3944"/>
                    </a:lnTo>
                    <a:lnTo>
                      <a:pt x="4516" y="3906"/>
                    </a:lnTo>
                    <a:lnTo>
                      <a:pt x="4529" y="3866"/>
                    </a:lnTo>
                    <a:lnTo>
                      <a:pt x="4545" y="3826"/>
                    </a:lnTo>
                    <a:lnTo>
                      <a:pt x="4577" y="3743"/>
                    </a:lnTo>
                    <a:lnTo>
                      <a:pt x="4612" y="3656"/>
                    </a:lnTo>
                    <a:lnTo>
                      <a:pt x="4648" y="3566"/>
                    </a:lnTo>
                    <a:lnTo>
                      <a:pt x="4684" y="3470"/>
                    </a:lnTo>
                    <a:lnTo>
                      <a:pt x="4702" y="3421"/>
                    </a:lnTo>
                    <a:lnTo>
                      <a:pt x="4720" y="3371"/>
                    </a:lnTo>
                    <a:lnTo>
                      <a:pt x="4737" y="3319"/>
                    </a:lnTo>
                    <a:lnTo>
                      <a:pt x="4754" y="3266"/>
                    </a:lnTo>
                    <a:lnTo>
                      <a:pt x="4769" y="3211"/>
                    </a:lnTo>
                    <a:lnTo>
                      <a:pt x="4785" y="3156"/>
                    </a:lnTo>
                    <a:lnTo>
                      <a:pt x="4800" y="3098"/>
                    </a:lnTo>
                    <a:lnTo>
                      <a:pt x="4812" y="3039"/>
                    </a:lnTo>
                    <a:lnTo>
                      <a:pt x="4825" y="2979"/>
                    </a:lnTo>
                    <a:lnTo>
                      <a:pt x="4836" y="2917"/>
                    </a:lnTo>
                    <a:lnTo>
                      <a:pt x="4846" y="2853"/>
                    </a:lnTo>
                    <a:lnTo>
                      <a:pt x="4854" y="2787"/>
                    </a:lnTo>
                    <a:lnTo>
                      <a:pt x="4861" y="2721"/>
                    </a:lnTo>
                    <a:lnTo>
                      <a:pt x="4865" y="2652"/>
                    </a:lnTo>
                    <a:lnTo>
                      <a:pt x="4869" y="2581"/>
                    </a:lnTo>
                    <a:lnTo>
                      <a:pt x="4870" y="2508"/>
                    </a:lnTo>
                    <a:close/>
                  </a:path>
                </a:pathLst>
              </a:custGeom>
              <a:grpFill/>
              <a:ln>
                <a:solidFill>
                  <a:srgbClr val="DADAE4"/>
                </a:solidFill>
              </a:ln>
            </p:spPr>
            <p:txBody>
              <a:bodyPr vert="horz" wrap="square" lIns="91412" tIns="45706" rIns="91412" bIns="45706" numCol="1" anchor="t" anchorCtr="0" compatLnSpc="1"/>
              <a:lstStyle/>
              <a:p>
                <a:endPara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1" name="TextBox 77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7687" y="3818"/>
                <a:ext cx="414" cy="533"/>
              </a:xfrm>
              <a:prstGeom prst="roundRect">
                <a:avLst>
                  <a:gd name="adj" fmla="val 0"/>
                </a:avLst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2</a:t>
                </a:r>
                <a:endPara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</p:grpSp>
    </p:spTree>
    <p:custDataLst>
      <p:tags r:id="rId29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2810" y="269875"/>
            <a:ext cx="5203190" cy="876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27 / CLASS DIAGNOSIS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从一次批改到班级诊断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84" name="Rectangle 10"/>
          <p:cNvSpPr/>
          <p:nvPr/>
        </p:nvSpPr>
        <p:spPr>
          <a:xfrm>
            <a:off x="610235" y="4096385"/>
            <a:ext cx="2577465" cy="191897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9600" y="2155190"/>
            <a:ext cx="2578100" cy="291211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395345" y="2155190"/>
            <a:ext cx="2578100" cy="291211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181725" y="2155190"/>
            <a:ext cx="2578100" cy="291211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967470" y="2155190"/>
            <a:ext cx="2578100" cy="291211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2810" y="1326515"/>
            <a:ext cx="7317740" cy="506730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indent="0" algn="l" fontAlgn="auto">
              <a:lnSpc>
                <a:spcPct val="150000"/>
              </a:lnSpc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方正楷体_GB2312" panose="02000000000000000000" charset="-122"/>
                <a:ea typeface="方正楷体_GB2312" panose="02000000000000000000" charset="-122"/>
                <a:sym typeface="+mn-ea"/>
              </a:rPr>
              <a:t>班级诊断只聚合已发布反馈，既能看薄弱点，也能回溯前置知识原因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方正楷体_GB2312" panose="02000000000000000000" charset="-122"/>
              <a:ea typeface="方正楷体_GB2312" panose="02000000000000000000" charset="-122"/>
              <a:sym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8844" y="6196330"/>
            <a:ext cx="9334499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0" i="0">
                <a:solidFill>
                  <a:schemeClr val="tx1">
                    <a:lumMod val="65000"/>
                    <a:lumOff val="35000"/>
                  </a:schemeClr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</a:rPr>
              <a:t>班级看板只显示已发布反馈范围内的数据</a:t>
            </a:r>
            <a:endParaRPr lang="zh-CN" altLang="en-US" sz="1200" b="0" i="0">
              <a:solidFill>
                <a:schemeClr val="tx1">
                  <a:lumMod val="65000"/>
                  <a:lumOff val="35000"/>
                </a:schemeClr>
              </a:solidFill>
              <a:latin typeface="方正楷体_GB2312" panose="02000000000000000000" charset="-122"/>
              <a:ea typeface="方正楷体_GB2312" panose="02000000000000000000" charset="-122"/>
              <a:cs typeface="方正楷体_GB2312" panose="02000000000000000000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200" b="0" i="0">
              <a:solidFill>
                <a:schemeClr val="tx1">
                  <a:lumMod val="65000"/>
                  <a:lumOff val="35000"/>
                </a:schemeClr>
              </a:solidFill>
              <a:latin typeface="方正楷体_GB2312" panose="02000000000000000000" charset="-122"/>
              <a:ea typeface="方正楷体_GB2312" panose="02000000000000000000" charset="-122"/>
              <a:cs typeface="方正楷体_GB2312" panose="02000000000000000000" charset="-122"/>
            </a:endParaRPr>
          </a:p>
        </p:txBody>
      </p:sp>
      <p:sp>
        <p:nvSpPr>
          <p:cNvPr id="2" name="Rectangle 10"/>
          <p:cNvSpPr/>
          <p:nvPr>
            <p:custDataLst>
              <p:tags r:id="rId1"/>
            </p:custDataLst>
          </p:nvPr>
        </p:nvSpPr>
        <p:spPr>
          <a:xfrm>
            <a:off x="892810" y="2378710"/>
            <a:ext cx="2705735" cy="26035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8" name="TextBox 11"/>
          <p:cNvSpPr txBox="1"/>
          <p:nvPr>
            <p:custDataLst>
              <p:tags r:id="rId2"/>
            </p:custDataLst>
          </p:nvPr>
        </p:nvSpPr>
        <p:spPr>
          <a:xfrm>
            <a:off x="1053465" y="3008630"/>
            <a:ext cx="2413000" cy="6242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11111"/>
                </a:solidFill>
                <a:latin typeface="Bahnschrift SemiBold" panose="020B0502040204020203" charset="0"/>
                <a:cs typeface="Bahnschrift SemiBold" panose="020B0502040204020203" charset="0"/>
              </a:rPr>
              <a:t>KP SCORE</a:t>
            </a:r>
            <a:endParaRPr sz="2800" b="0" i="0">
              <a:solidFill>
                <a:srgbClr val="11111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0" name="TextBox 12"/>
          <p:cNvSpPr txBox="1"/>
          <p:nvPr>
            <p:custDataLst>
              <p:tags r:id="rId3"/>
            </p:custDataLst>
          </p:nvPr>
        </p:nvSpPr>
        <p:spPr>
          <a:xfrm>
            <a:off x="1053465" y="3681730"/>
            <a:ext cx="2413000" cy="2152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B625F"/>
                </a:solidFill>
                <a:latin typeface="Bahnschrift SemiBold" panose="020B0502040204020203" charset="0"/>
              </a:rPr>
              <a:t>知识点得分率</a:t>
            </a:r>
            <a:endParaRPr sz="1600" b="1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15" name="TextBox 13"/>
          <p:cNvSpPr txBox="1"/>
          <p:nvPr>
            <p:custDataLst>
              <p:tags r:id="rId4"/>
            </p:custDataLst>
          </p:nvPr>
        </p:nvSpPr>
        <p:spPr>
          <a:xfrm>
            <a:off x="1053465" y="3931920"/>
            <a:ext cx="2413000" cy="7524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di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25F"/>
                </a:solidFill>
                <a:latin typeface="Bahnschrift SemiBold" panose="020B0502040204020203" charset="0"/>
              </a:rPr>
              <a:t>从已发布作业反馈聚合，</a:t>
            </a:r>
            <a:endParaRPr sz="1400" b="0" i="0">
              <a:solidFill>
                <a:srgbClr val="5B625F"/>
              </a:solidFill>
              <a:latin typeface="Bahnschrift SemiBold" panose="020B0502040204020203" charset="0"/>
            </a:endParaRPr>
          </a:p>
          <a:p>
            <a:pPr algn="di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25F"/>
                </a:solidFill>
                <a:latin typeface="Bahnschrift SemiBold" panose="020B0502040204020203" charset="0"/>
              </a:rPr>
              <a:t>定位班级共性薄弱点</a:t>
            </a:r>
            <a:endParaRPr sz="14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16" name="Rectangle 14"/>
          <p:cNvSpPr/>
          <p:nvPr>
            <p:custDataLst>
              <p:tags r:id="rId5"/>
            </p:custDataLst>
          </p:nvPr>
        </p:nvSpPr>
        <p:spPr>
          <a:xfrm>
            <a:off x="977265" y="4733290"/>
            <a:ext cx="350520" cy="95250"/>
          </a:xfrm>
          <a:prstGeom prst="rect">
            <a:avLst/>
          </a:prstGeom>
          <a:solidFill>
            <a:srgbClr val="7E7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3" name="Rectangle 15"/>
          <p:cNvSpPr/>
          <p:nvPr>
            <p:custDataLst>
              <p:tags r:id="rId6"/>
            </p:custDataLst>
          </p:nvPr>
        </p:nvSpPr>
        <p:spPr>
          <a:xfrm>
            <a:off x="4613910" y="2378710"/>
            <a:ext cx="2705735" cy="26035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9" name="TextBox 16"/>
          <p:cNvSpPr txBox="1"/>
          <p:nvPr>
            <p:custDataLst>
              <p:tags r:id="rId7"/>
            </p:custDataLst>
          </p:nvPr>
        </p:nvSpPr>
        <p:spPr>
          <a:xfrm>
            <a:off x="4774565" y="3008630"/>
            <a:ext cx="2413000" cy="6242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11111"/>
                </a:solidFill>
                <a:latin typeface="Bahnschrift SemiBold" panose="020B0502040204020203" charset="0"/>
                <a:cs typeface="Bahnschrift SemiBold" panose="020B0502040204020203" charset="0"/>
              </a:rPr>
              <a:t>AT RISK</a:t>
            </a:r>
            <a:endParaRPr sz="2800" b="0" i="0">
              <a:solidFill>
                <a:srgbClr val="11111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1" name="TextBox 17"/>
          <p:cNvSpPr txBox="1"/>
          <p:nvPr>
            <p:custDataLst>
              <p:tags r:id="rId8"/>
            </p:custDataLst>
          </p:nvPr>
        </p:nvSpPr>
        <p:spPr>
          <a:xfrm>
            <a:off x="4774565" y="3681730"/>
            <a:ext cx="2413000" cy="2152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B625F"/>
                </a:solidFill>
                <a:latin typeface="Bahnschrift SemiBold" panose="020B0502040204020203" charset="0"/>
              </a:rPr>
              <a:t>薄弱人数</a:t>
            </a:r>
            <a:endParaRPr sz="1600" b="1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32" name="TextBox 18"/>
          <p:cNvSpPr txBox="1"/>
          <p:nvPr>
            <p:custDataLst>
              <p:tags r:id="rId9"/>
            </p:custDataLst>
          </p:nvPr>
        </p:nvSpPr>
        <p:spPr>
          <a:xfrm>
            <a:off x="4774565" y="3931920"/>
            <a:ext cx="2413000" cy="7524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di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25F"/>
                </a:solidFill>
                <a:latin typeface="Bahnschrift SemiBold" panose="020B0502040204020203" charset="0"/>
              </a:rPr>
              <a:t>不以单次答案决定结论，</a:t>
            </a:r>
            <a:endParaRPr sz="1400" b="0" i="0">
              <a:solidFill>
                <a:srgbClr val="5B625F"/>
              </a:solidFill>
              <a:latin typeface="Bahnschrift SemiBold" panose="020B0502040204020203" charset="0"/>
            </a:endParaRPr>
          </a:p>
          <a:p>
            <a:pPr algn="di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25F"/>
                </a:solidFill>
                <a:latin typeface="Bahnschrift SemiBold" panose="020B0502040204020203" charset="0"/>
              </a:rPr>
              <a:t>需要教师继续核验</a:t>
            </a:r>
            <a:endParaRPr sz="14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39" name="Rectangle 19"/>
          <p:cNvSpPr/>
          <p:nvPr>
            <p:custDataLst>
              <p:tags r:id="rId10"/>
            </p:custDataLst>
          </p:nvPr>
        </p:nvSpPr>
        <p:spPr>
          <a:xfrm>
            <a:off x="4705350" y="4739640"/>
            <a:ext cx="350520" cy="95250"/>
          </a:xfrm>
          <a:prstGeom prst="rect">
            <a:avLst/>
          </a:prstGeom>
          <a:solidFill>
            <a:srgbClr val="7E7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0" name="Rectangle 20"/>
          <p:cNvSpPr/>
          <p:nvPr>
            <p:custDataLst>
              <p:tags r:id="rId11"/>
            </p:custDataLst>
          </p:nvPr>
        </p:nvSpPr>
        <p:spPr>
          <a:xfrm>
            <a:off x="8335010" y="2378710"/>
            <a:ext cx="2705735" cy="26035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1" name="TextBox 21"/>
          <p:cNvSpPr txBox="1"/>
          <p:nvPr>
            <p:custDataLst>
              <p:tags r:id="rId12"/>
            </p:custDataLst>
          </p:nvPr>
        </p:nvSpPr>
        <p:spPr>
          <a:xfrm>
            <a:off x="8495665" y="3008630"/>
            <a:ext cx="2413000" cy="6242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11111"/>
                </a:solidFill>
                <a:latin typeface="Bahnschrift SemiBold" panose="020B0502040204020203" charset="0"/>
                <a:cs typeface="Bahnschrift SemiBold" panose="020B0502040204020203" charset="0"/>
              </a:rPr>
              <a:t>PREREQ</a:t>
            </a:r>
            <a:endParaRPr sz="2800" b="0" i="0">
              <a:solidFill>
                <a:srgbClr val="11111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2" name="TextBox 22"/>
          <p:cNvSpPr txBox="1"/>
          <p:nvPr>
            <p:custDataLst>
              <p:tags r:id="rId13"/>
            </p:custDataLst>
          </p:nvPr>
        </p:nvSpPr>
        <p:spPr>
          <a:xfrm>
            <a:off x="8495665" y="3681730"/>
            <a:ext cx="2413000" cy="2152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B625F"/>
                </a:solidFill>
                <a:latin typeface="Bahnschrift SemiBold" panose="020B0502040204020203" charset="0"/>
              </a:rPr>
              <a:t>前置根因</a:t>
            </a:r>
            <a:endParaRPr sz="1600" b="1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43" name="TextBox 23"/>
          <p:cNvSpPr txBox="1"/>
          <p:nvPr>
            <p:custDataLst>
              <p:tags r:id="rId14"/>
            </p:custDataLst>
          </p:nvPr>
        </p:nvSpPr>
        <p:spPr>
          <a:xfrm>
            <a:off x="8495665" y="3931920"/>
            <a:ext cx="2413000" cy="7524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di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25F"/>
                </a:solidFill>
                <a:latin typeface="Bahnschrift SemiBold" panose="020B0502040204020203" charset="0"/>
              </a:rPr>
              <a:t>沿课程图谱解释</a:t>
            </a:r>
            <a:endParaRPr sz="1400" b="0" i="0">
              <a:solidFill>
                <a:srgbClr val="5B625F"/>
              </a:solidFill>
              <a:latin typeface="Bahnschrift SemiBold" panose="020B0502040204020203" charset="0"/>
            </a:endParaRPr>
          </a:p>
          <a:p>
            <a:pPr algn="di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25F"/>
                </a:solidFill>
                <a:latin typeface="Bahnschrift SemiBold" panose="020B0502040204020203" charset="0"/>
              </a:rPr>
              <a:t>可能的前置缺</a:t>
            </a:r>
            <a:endParaRPr sz="14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44" name="Rectangle 24"/>
          <p:cNvSpPr/>
          <p:nvPr>
            <p:custDataLst>
              <p:tags r:id="rId15"/>
            </p:custDataLst>
          </p:nvPr>
        </p:nvSpPr>
        <p:spPr>
          <a:xfrm>
            <a:off x="8433435" y="4739640"/>
            <a:ext cx="350520" cy="95250"/>
          </a:xfrm>
          <a:prstGeom prst="rect">
            <a:avLst/>
          </a:prstGeom>
          <a:solidFill>
            <a:srgbClr val="7E7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</p:spTree>
    <p:custDataLst>
      <p:tags r:id="rId1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  <p:bldP spid="10" grpId="0"/>
      <p:bldP spid="15" grpId="0"/>
      <p:bldP spid="16" grpId="0" animBg="1"/>
      <p:bldP spid="23" grpId="0" animBg="1"/>
      <p:bldP spid="29" grpId="0"/>
      <p:bldP spid="31" grpId="0"/>
      <p:bldP spid="32" grpId="0"/>
      <p:bldP spid="39" grpId="0" animBg="1"/>
      <p:bldP spid="40" grpId="0" animBg="1"/>
      <p:bldP spid="41" grpId="0"/>
      <p:bldP spid="42" grpId="0"/>
      <p:bldP spid="43" grpId="0"/>
      <p:bldP spid="4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" name="Rounded Rectangle 43"/>
          <p:cNvSpPr/>
          <p:nvPr/>
        </p:nvSpPr>
        <p:spPr>
          <a:xfrm>
            <a:off x="5421630" y="5298440"/>
            <a:ext cx="806450" cy="807085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Rounded Rectangle 44"/>
          <p:cNvSpPr/>
          <p:nvPr/>
        </p:nvSpPr>
        <p:spPr>
          <a:xfrm>
            <a:off x="5356860" y="3916680"/>
            <a:ext cx="861695" cy="806450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Rounded Rectangle 46"/>
          <p:cNvSpPr/>
          <p:nvPr/>
        </p:nvSpPr>
        <p:spPr>
          <a:xfrm>
            <a:off x="5383530" y="1242060"/>
            <a:ext cx="807085" cy="812165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Rounded Rectangle 42"/>
          <p:cNvSpPr/>
          <p:nvPr/>
        </p:nvSpPr>
        <p:spPr>
          <a:xfrm>
            <a:off x="4660490" y="5298247"/>
            <a:ext cx="761221" cy="806824"/>
          </a:xfrm>
          <a:prstGeom prst="roundRect">
            <a:avLst>
              <a:gd name="adj" fmla="val 6000"/>
            </a:avLst>
          </a:prstGeom>
          <a:solidFill>
            <a:schemeClr val="bg2">
              <a:lumMod val="65000"/>
            </a:schemeClr>
          </a:solidFill>
          <a:ln>
            <a:noFill/>
          </a:ln>
          <a:effectLst>
            <a:outerShdw blurRad="152400" dist="38100" algn="l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1" name="Rounded Rectangle 40"/>
          <p:cNvSpPr/>
          <p:nvPr/>
        </p:nvSpPr>
        <p:spPr>
          <a:xfrm>
            <a:off x="4628105" y="3916885"/>
            <a:ext cx="761221" cy="806824"/>
          </a:xfrm>
          <a:prstGeom prst="roundRect">
            <a:avLst>
              <a:gd name="adj" fmla="val 6000"/>
            </a:avLst>
          </a:prstGeom>
          <a:solidFill>
            <a:srgbClr val="72719F"/>
          </a:solidFill>
          <a:ln>
            <a:noFill/>
          </a:ln>
          <a:effectLst>
            <a:outerShdw blurRad="152400" dist="38100" algn="l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2" name="Rounded Rectangle 38"/>
          <p:cNvSpPr/>
          <p:nvPr/>
        </p:nvSpPr>
        <p:spPr>
          <a:xfrm>
            <a:off x="4622390" y="2567365"/>
            <a:ext cx="761221" cy="806824"/>
          </a:xfrm>
          <a:prstGeom prst="roundRect">
            <a:avLst>
              <a:gd name="adj" fmla="val 6000"/>
            </a:avLst>
          </a:prstGeom>
          <a:solidFill>
            <a:schemeClr val="bg2">
              <a:lumMod val="65000"/>
            </a:schemeClr>
          </a:solidFill>
          <a:ln>
            <a:noFill/>
          </a:ln>
          <a:effectLst>
            <a:outerShdw blurRad="152400" dist="38100" algn="l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3" name="Rounded Rectangle 3"/>
          <p:cNvSpPr/>
          <p:nvPr/>
        </p:nvSpPr>
        <p:spPr>
          <a:xfrm>
            <a:off x="4622390" y="1241744"/>
            <a:ext cx="761221" cy="806824"/>
          </a:xfrm>
          <a:prstGeom prst="roundRect">
            <a:avLst>
              <a:gd name="adj" fmla="val 6000"/>
            </a:avLst>
          </a:prstGeom>
          <a:solidFill>
            <a:srgbClr val="72719F"/>
          </a:solidFill>
          <a:ln>
            <a:noFill/>
          </a:ln>
          <a:effectLst>
            <a:outerShdw blurRad="152400" dist="38100" algn="l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4" name="TextBox 9"/>
          <p:cNvSpPr txBox="1"/>
          <p:nvPr/>
        </p:nvSpPr>
        <p:spPr>
          <a:xfrm>
            <a:off x="5507355" y="1424305"/>
            <a:ext cx="586740" cy="271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 1</a:t>
            </a:r>
            <a:endParaRPr lang="en-US"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TextBox 11"/>
          <p:cNvSpPr txBox="1"/>
          <p:nvPr/>
        </p:nvSpPr>
        <p:spPr>
          <a:xfrm>
            <a:off x="5443220" y="4131310"/>
            <a:ext cx="688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 3</a:t>
            </a:r>
            <a:endParaRPr lang="en-US"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TextBox 12"/>
          <p:cNvSpPr txBox="1"/>
          <p:nvPr/>
        </p:nvSpPr>
        <p:spPr>
          <a:xfrm>
            <a:off x="5545455" y="5514975"/>
            <a:ext cx="645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 4</a:t>
            </a:r>
            <a:endParaRPr lang="en-US"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9" name="Group 13"/>
          <p:cNvGrpSpPr/>
          <p:nvPr/>
        </p:nvGrpSpPr>
        <p:grpSpPr>
          <a:xfrm>
            <a:off x="4935158" y="2884586"/>
            <a:ext cx="181116" cy="181861"/>
            <a:chOff x="7938" y="928688"/>
            <a:chExt cx="385763" cy="387350"/>
          </a:xfrm>
          <a:solidFill>
            <a:schemeClr val="bg2"/>
          </a:solidFill>
        </p:grpSpPr>
        <p:sp>
          <p:nvSpPr>
            <p:cNvPr id="20" name="Freeform 5"/>
            <p:cNvSpPr/>
            <p:nvPr/>
          </p:nvSpPr>
          <p:spPr bwMode="auto">
            <a:xfrm>
              <a:off x="7938" y="947738"/>
              <a:ext cx="369888" cy="368300"/>
            </a:xfrm>
            <a:custGeom>
              <a:avLst/>
              <a:gdLst>
                <a:gd name="T0" fmla="*/ 68 w 135"/>
                <a:gd name="T1" fmla="*/ 0 h 135"/>
                <a:gd name="T2" fmla="*/ 0 w 135"/>
                <a:gd name="T3" fmla="*/ 68 h 135"/>
                <a:gd name="T4" fmla="*/ 68 w 135"/>
                <a:gd name="T5" fmla="*/ 135 h 135"/>
                <a:gd name="T6" fmla="*/ 135 w 135"/>
                <a:gd name="T7" fmla="*/ 68 h 135"/>
                <a:gd name="T8" fmla="*/ 68 w 135"/>
                <a:gd name="T9" fmla="*/ 68 h 135"/>
                <a:gd name="T10" fmla="*/ 68 w 135"/>
                <a:gd name="T11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135">
                  <a:moveTo>
                    <a:pt x="68" y="0"/>
                  </a:moveTo>
                  <a:cubicBezTo>
                    <a:pt x="30" y="0"/>
                    <a:pt x="0" y="30"/>
                    <a:pt x="0" y="68"/>
                  </a:cubicBezTo>
                  <a:cubicBezTo>
                    <a:pt x="0" y="105"/>
                    <a:pt x="30" y="135"/>
                    <a:pt x="68" y="135"/>
                  </a:cubicBezTo>
                  <a:cubicBezTo>
                    <a:pt x="105" y="135"/>
                    <a:pt x="135" y="105"/>
                    <a:pt x="135" y="68"/>
                  </a:cubicBezTo>
                  <a:cubicBezTo>
                    <a:pt x="68" y="68"/>
                    <a:pt x="68" y="68"/>
                    <a:pt x="68" y="68"/>
                  </a:cubicBezTo>
                  <a:lnTo>
                    <a:pt x="6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1" name="Freeform 6"/>
            <p:cNvSpPr>
              <a:spLocks noEditPoints="1"/>
            </p:cNvSpPr>
            <p:nvPr/>
          </p:nvSpPr>
          <p:spPr bwMode="auto">
            <a:xfrm>
              <a:off x="207963" y="928688"/>
              <a:ext cx="185738" cy="188913"/>
            </a:xfrm>
            <a:custGeom>
              <a:avLst/>
              <a:gdLst>
                <a:gd name="T0" fmla="*/ 48 w 68"/>
                <a:gd name="T1" fmla="*/ 16 h 69"/>
                <a:gd name="T2" fmla="*/ 48 w 68"/>
                <a:gd name="T3" fmla="*/ 15 h 69"/>
                <a:gd name="T4" fmla="*/ 47 w 68"/>
                <a:gd name="T5" fmla="*/ 15 h 69"/>
                <a:gd name="T6" fmla="*/ 47 w 68"/>
                <a:gd name="T7" fmla="*/ 15 h 69"/>
                <a:gd name="T8" fmla="*/ 47 w 68"/>
                <a:gd name="T9" fmla="*/ 15 h 69"/>
                <a:gd name="T10" fmla="*/ 4 w 68"/>
                <a:gd name="T11" fmla="*/ 0 h 69"/>
                <a:gd name="T12" fmla="*/ 0 w 68"/>
                <a:gd name="T13" fmla="*/ 4 h 69"/>
                <a:gd name="T14" fmla="*/ 0 w 68"/>
                <a:gd name="T15" fmla="*/ 65 h 69"/>
                <a:gd name="T16" fmla="*/ 3 w 68"/>
                <a:gd name="T17" fmla="*/ 69 h 69"/>
                <a:gd name="T18" fmla="*/ 4 w 68"/>
                <a:gd name="T19" fmla="*/ 69 h 69"/>
                <a:gd name="T20" fmla="*/ 4 w 68"/>
                <a:gd name="T21" fmla="*/ 69 h 69"/>
                <a:gd name="T22" fmla="*/ 4 w 68"/>
                <a:gd name="T23" fmla="*/ 69 h 69"/>
                <a:gd name="T24" fmla="*/ 64 w 68"/>
                <a:gd name="T25" fmla="*/ 69 h 69"/>
                <a:gd name="T26" fmla="*/ 68 w 68"/>
                <a:gd name="T27" fmla="*/ 65 h 69"/>
                <a:gd name="T28" fmla="*/ 48 w 68"/>
                <a:gd name="T29" fmla="*/ 16 h 69"/>
                <a:gd name="T30" fmla="*/ 8 w 68"/>
                <a:gd name="T31" fmla="*/ 55 h 69"/>
                <a:gd name="T32" fmla="*/ 8 w 68"/>
                <a:gd name="T33" fmla="*/ 8 h 69"/>
                <a:gd name="T34" fmla="*/ 40 w 68"/>
                <a:gd name="T35" fmla="*/ 19 h 69"/>
                <a:gd name="T36" fmla="*/ 8 w 68"/>
                <a:gd name="T37" fmla="*/ 55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8" h="69">
                  <a:moveTo>
                    <a:pt x="48" y="16"/>
                  </a:moveTo>
                  <a:cubicBezTo>
                    <a:pt x="48" y="16"/>
                    <a:pt x="48" y="15"/>
                    <a:pt x="48" y="15"/>
                  </a:cubicBezTo>
                  <a:cubicBezTo>
                    <a:pt x="48" y="15"/>
                    <a:pt x="48" y="15"/>
                    <a:pt x="47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35" y="5"/>
                    <a:pt x="20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67"/>
                    <a:pt x="1" y="68"/>
                    <a:pt x="3" y="69"/>
                  </a:cubicBezTo>
                  <a:cubicBezTo>
                    <a:pt x="3" y="69"/>
                    <a:pt x="3" y="69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64" y="69"/>
                    <a:pt x="64" y="69"/>
                    <a:pt x="64" y="69"/>
                  </a:cubicBezTo>
                  <a:cubicBezTo>
                    <a:pt x="66" y="69"/>
                    <a:pt x="68" y="67"/>
                    <a:pt x="68" y="65"/>
                  </a:cubicBezTo>
                  <a:cubicBezTo>
                    <a:pt x="68" y="47"/>
                    <a:pt x="61" y="29"/>
                    <a:pt x="48" y="16"/>
                  </a:cubicBezTo>
                  <a:close/>
                  <a:moveTo>
                    <a:pt x="8" y="55"/>
                  </a:moveTo>
                  <a:cubicBezTo>
                    <a:pt x="8" y="8"/>
                    <a:pt x="8" y="8"/>
                    <a:pt x="8" y="8"/>
                  </a:cubicBezTo>
                  <a:cubicBezTo>
                    <a:pt x="19" y="8"/>
                    <a:pt x="30" y="12"/>
                    <a:pt x="40" y="19"/>
                  </a:cubicBezTo>
                  <a:lnTo>
                    <a:pt x="8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2" name="Group 16"/>
          <p:cNvGrpSpPr/>
          <p:nvPr/>
        </p:nvGrpSpPr>
        <p:grpSpPr>
          <a:xfrm>
            <a:off x="4973258" y="5609386"/>
            <a:ext cx="181861" cy="171427"/>
            <a:chOff x="20638" y="1901825"/>
            <a:chExt cx="387350" cy="365126"/>
          </a:xfrm>
          <a:solidFill>
            <a:schemeClr val="bg2"/>
          </a:solidFill>
        </p:grpSpPr>
        <p:sp>
          <p:nvSpPr>
            <p:cNvPr id="23" name="Freeform 7"/>
            <p:cNvSpPr/>
            <p:nvPr/>
          </p:nvSpPr>
          <p:spPr bwMode="auto">
            <a:xfrm>
              <a:off x="20638" y="2236788"/>
              <a:ext cx="350838" cy="30163"/>
            </a:xfrm>
            <a:custGeom>
              <a:avLst/>
              <a:gdLst>
                <a:gd name="T0" fmla="*/ 123 w 128"/>
                <a:gd name="T1" fmla="*/ 0 h 11"/>
                <a:gd name="T2" fmla="*/ 6 w 128"/>
                <a:gd name="T3" fmla="*/ 0 h 11"/>
                <a:gd name="T4" fmla="*/ 0 w 128"/>
                <a:gd name="T5" fmla="*/ 6 h 11"/>
                <a:gd name="T6" fmla="*/ 6 w 128"/>
                <a:gd name="T7" fmla="*/ 11 h 11"/>
                <a:gd name="T8" fmla="*/ 123 w 128"/>
                <a:gd name="T9" fmla="*/ 11 h 11"/>
                <a:gd name="T10" fmla="*/ 128 w 128"/>
                <a:gd name="T11" fmla="*/ 6 h 11"/>
                <a:gd name="T12" fmla="*/ 123 w 128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11">
                  <a:moveTo>
                    <a:pt x="123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6" y="11"/>
                    <a:pt x="128" y="9"/>
                    <a:pt x="128" y="6"/>
                  </a:cubicBezTo>
                  <a:cubicBezTo>
                    <a:pt x="128" y="3"/>
                    <a:pt x="126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4" name="Freeform 8"/>
            <p:cNvSpPr>
              <a:spLocks noEditPoints="1"/>
            </p:cNvSpPr>
            <p:nvPr/>
          </p:nvSpPr>
          <p:spPr bwMode="auto">
            <a:xfrm>
              <a:off x="46038" y="2032000"/>
              <a:ext cx="361950" cy="188913"/>
            </a:xfrm>
            <a:custGeom>
              <a:avLst/>
              <a:gdLst>
                <a:gd name="T0" fmla="*/ 132 w 132"/>
                <a:gd name="T1" fmla="*/ 20 h 69"/>
                <a:gd name="T2" fmla="*/ 129 w 132"/>
                <a:gd name="T3" fmla="*/ 17 h 69"/>
                <a:gd name="T4" fmla="*/ 117 w 132"/>
                <a:gd name="T5" fmla="*/ 13 h 69"/>
                <a:gd name="T6" fmla="*/ 110 w 132"/>
                <a:gd name="T7" fmla="*/ 9 h 69"/>
                <a:gd name="T8" fmla="*/ 108 w 132"/>
                <a:gd name="T9" fmla="*/ 3 h 69"/>
                <a:gd name="T10" fmla="*/ 102 w 132"/>
                <a:gd name="T11" fmla="*/ 0 h 69"/>
                <a:gd name="T12" fmla="*/ 8 w 132"/>
                <a:gd name="T13" fmla="*/ 0 h 69"/>
                <a:gd name="T14" fmla="*/ 3 w 132"/>
                <a:gd name="T15" fmla="*/ 3 h 69"/>
                <a:gd name="T16" fmla="*/ 3 w 132"/>
                <a:gd name="T17" fmla="*/ 16 h 69"/>
                <a:gd name="T18" fmla="*/ 14 w 132"/>
                <a:gd name="T19" fmla="*/ 53 h 69"/>
                <a:gd name="T20" fmla="*/ 19 w 132"/>
                <a:gd name="T21" fmla="*/ 66 h 69"/>
                <a:gd name="T22" fmla="*/ 24 w 132"/>
                <a:gd name="T23" fmla="*/ 69 h 69"/>
                <a:gd name="T24" fmla="*/ 89 w 132"/>
                <a:gd name="T25" fmla="*/ 69 h 69"/>
                <a:gd name="T26" fmla="*/ 95 w 132"/>
                <a:gd name="T27" fmla="*/ 66 h 69"/>
                <a:gd name="T28" fmla="*/ 98 w 132"/>
                <a:gd name="T29" fmla="*/ 59 h 69"/>
                <a:gd name="T30" fmla="*/ 106 w 132"/>
                <a:gd name="T31" fmla="*/ 56 h 69"/>
                <a:gd name="T32" fmla="*/ 114 w 132"/>
                <a:gd name="T33" fmla="*/ 56 h 69"/>
                <a:gd name="T34" fmla="*/ 119 w 132"/>
                <a:gd name="T35" fmla="*/ 53 h 69"/>
                <a:gd name="T36" fmla="*/ 132 w 132"/>
                <a:gd name="T37" fmla="*/ 24 h 69"/>
                <a:gd name="T38" fmla="*/ 132 w 132"/>
                <a:gd name="T39" fmla="*/ 20 h 69"/>
                <a:gd name="T40" fmla="*/ 116 w 132"/>
                <a:gd name="T41" fmla="*/ 32 h 69"/>
                <a:gd name="T42" fmla="*/ 114 w 132"/>
                <a:gd name="T43" fmla="*/ 38 h 69"/>
                <a:gd name="T44" fmla="*/ 106 w 132"/>
                <a:gd name="T45" fmla="*/ 46 h 69"/>
                <a:gd name="T46" fmla="*/ 103 w 132"/>
                <a:gd name="T47" fmla="*/ 38 h 69"/>
                <a:gd name="T48" fmla="*/ 105 w 132"/>
                <a:gd name="T49" fmla="*/ 28 h 69"/>
                <a:gd name="T50" fmla="*/ 113 w 132"/>
                <a:gd name="T51" fmla="*/ 23 h 69"/>
                <a:gd name="T52" fmla="*/ 116 w 132"/>
                <a:gd name="T53" fmla="*/ 3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2" h="69">
                  <a:moveTo>
                    <a:pt x="132" y="20"/>
                  </a:moveTo>
                  <a:cubicBezTo>
                    <a:pt x="131" y="19"/>
                    <a:pt x="130" y="18"/>
                    <a:pt x="129" y="17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3" y="11"/>
                    <a:pt x="110" y="9"/>
                    <a:pt x="110" y="9"/>
                  </a:cubicBezTo>
                  <a:cubicBezTo>
                    <a:pt x="110" y="9"/>
                    <a:pt x="110" y="5"/>
                    <a:pt x="108" y="3"/>
                  </a:cubicBezTo>
                  <a:cubicBezTo>
                    <a:pt x="107" y="1"/>
                    <a:pt x="105" y="0"/>
                    <a:pt x="10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0" y="5"/>
                    <a:pt x="1" y="12"/>
                    <a:pt x="3" y="16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5" y="57"/>
                    <a:pt x="16" y="64"/>
                    <a:pt x="19" y="66"/>
                  </a:cubicBezTo>
                  <a:cubicBezTo>
                    <a:pt x="20" y="68"/>
                    <a:pt x="22" y="69"/>
                    <a:pt x="24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91" y="69"/>
                    <a:pt x="93" y="68"/>
                    <a:pt x="95" y="66"/>
                  </a:cubicBezTo>
                  <a:cubicBezTo>
                    <a:pt x="97" y="64"/>
                    <a:pt x="97" y="60"/>
                    <a:pt x="98" y="59"/>
                  </a:cubicBezTo>
                  <a:cubicBezTo>
                    <a:pt x="98" y="57"/>
                    <a:pt x="102" y="56"/>
                    <a:pt x="106" y="56"/>
                  </a:cubicBezTo>
                  <a:cubicBezTo>
                    <a:pt x="114" y="56"/>
                    <a:pt x="114" y="56"/>
                    <a:pt x="114" y="56"/>
                  </a:cubicBezTo>
                  <a:cubicBezTo>
                    <a:pt x="116" y="56"/>
                    <a:pt x="118" y="55"/>
                    <a:pt x="119" y="53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2" y="23"/>
                    <a:pt x="132" y="21"/>
                    <a:pt x="132" y="20"/>
                  </a:cubicBezTo>
                  <a:close/>
                  <a:moveTo>
                    <a:pt x="116" y="32"/>
                  </a:moveTo>
                  <a:cubicBezTo>
                    <a:pt x="114" y="38"/>
                    <a:pt x="114" y="38"/>
                    <a:pt x="114" y="38"/>
                  </a:cubicBezTo>
                  <a:cubicBezTo>
                    <a:pt x="112" y="42"/>
                    <a:pt x="108" y="45"/>
                    <a:pt x="106" y="46"/>
                  </a:cubicBezTo>
                  <a:cubicBezTo>
                    <a:pt x="103" y="46"/>
                    <a:pt x="102" y="42"/>
                    <a:pt x="103" y="3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4"/>
                    <a:pt x="110" y="21"/>
                    <a:pt x="113" y="23"/>
                  </a:cubicBezTo>
                  <a:cubicBezTo>
                    <a:pt x="117" y="24"/>
                    <a:pt x="118" y="28"/>
                    <a:pt x="116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5" name="Freeform 9"/>
            <p:cNvSpPr/>
            <p:nvPr/>
          </p:nvSpPr>
          <p:spPr bwMode="auto">
            <a:xfrm>
              <a:off x="141288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6" name="Freeform 10"/>
            <p:cNvSpPr/>
            <p:nvPr/>
          </p:nvSpPr>
          <p:spPr bwMode="auto">
            <a:xfrm>
              <a:off x="209551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7" name="Group 21"/>
          <p:cNvGrpSpPr/>
          <p:nvPr/>
        </p:nvGrpSpPr>
        <p:grpSpPr>
          <a:xfrm>
            <a:off x="4943854" y="4236319"/>
            <a:ext cx="181861" cy="158756"/>
            <a:chOff x="20638" y="2970213"/>
            <a:chExt cx="387350" cy="338137"/>
          </a:xfrm>
          <a:solidFill>
            <a:schemeClr val="bg2"/>
          </a:solidFill>
        </p:grpSpPr>
        <p:sp>
          <p:nvSpPr>
            <p:cNvPr id="28" name="Freeform 11"/>
            <p:cNvSpPr/>
            <p:nvPr/>
          </p:nvSpPr>
          <p:spPr bwMode="auto">
            <a:xfrm>
              <a:off x="73026" y="3032125"/>
              <a:ext cx="279400" cy="276225"/>
            </a:xfrm>
            <a:custGeom>
              <a:avLst/>
              <a:gdLst>
                <a:gd name="T0" fmla="*/ 0 w 102"/>
                <a:gd name="T1" fmla="*/ 98 h 101"/>
                <a:gd name="T2" fmla="*/ 3 w 102"/>
                <a:gd name="T3" fmla="*/ 101 h 101"/>
                <a:gd name="T4" fmla="*/ 39 w 102"/>
                <a:gd name="T5" fmla="*/ 101 h 101"/>
                <a:gd name="T6" fmla="*/ 39 w 102"/>
                <a:gd name="T7" fmla="*/ 72 h 101"/>
                <a:gd name="T8" fmla="*/ 43 w 102"/>
                <a:gd name="T9" fmla="*/ 68 h 101"/>
                <a:gd name="T10" fmla="*/ 58 w 102"/>
                <a:gd name="T11" fmla="*/ 68 h 101"/>
                <a:gd name="T12" fmla="*/ 63 w 102"/>
                <a:gd name="T13" fmla="*/ 72 h 101"/>
                <a:gd name="T14" fmla="*/ 63 w 102"/>
                <a:gd name="T15" fmla="*/ 101 h 101"/>
                <a:gd name="T16" fmla="*/ 98 w 102"/>
                <a:gd name="T17" fmla="*/ 101 h 101"/>
                <a:gd name="T18" fmla="*/ 101 w 102"/>
                <a:gd name="T19" fmla="*/ 97 h 101"/>
                <a:gd name="T20" fmla="*/ 101 w 102"/>
                <a:gd name="T21" fmla="*/ 44 h 101"/>
                <a:gd name="T22" fmla="*/ 52 w 102"/>
                <a:gd name="T23" fmla="*/ 0 h 101"/>
                <a:gd name="T24" fmla="*/ 0 w 102"/>
                <a:gd name="T25" fmla="*/ 44 h 101"/>
                <a:gd name="T26" fmla="*/ 0 w 102"/>
                <a:gd name="T27" fmla="*/ 9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2" h="101">
                  <a:moveTo>
                    <a:pt x="0" y="98"/>
                  </a:moveTo>
                  <a:cubicBezTo>
                    <a:pt x="0" y="98"/>
                    <a:pt x="0" y="101"/>
                    <a:pt x="3" y="101"/>
                  </a:cubicBezTo>
                  <a:cubicBezTo>
                    <a:pt x="7" y="101"/>
                    <a:pt x="39" y="101"/>
                    <a:pt x="39" y="101"/>
                  </a:cubicBezTo>
                  <a:cubicBezTo>
                    <a:pt x="39" y="72"/>
                    <a:pt x="39" y="72"/>
                    <a:pt x="39" y="72"/>
                  </a:cubicBezTo>
                  <a:cubicBezTo>
                    <a:pt x="39" y="72"/>
                    <a:pt x="38" y="68"/>
                    <a:pt x="43" y="68"/>
                  </a:cubicBezTo>
                  <a:cubicBezTo>
                    <a:pt x="58" y="68"/>
                    <a:pt x="58" y="68"/>
                    <a:pt x="58" y="68"/>
                  </a:cubicBezTo>
                  <a:cubicBezTo>
                    <a:pt x="63" y="68"/>
                    <a:pt x="63" y="72"/>
                    <a:pt x="63" y="72"/>
                  </a:cubicBezTo>
                  <a:cubicBezTo>
                    <a:pt x="63" y="101"/>
                    <a:pt x="63" y="101"/>
                    <a:pt x="63" y="101"/>
                  </a:cubicBezTo>
                  <a:cubicBezTo>
                    <a:pt x="63" y="101"/>
                    <a:pt x="93" y="101"/>
                    <a:pt x="98" y="101"/>
                  </a:cubicBezTo>
                  <a:cubicBezTo>
                    <a:pt x="102" y="101"/>
                    <a:pt x="101" y="97"/>
                    <a:pt x="101" y="97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0" y="44"/>
                    <a:pt x="0" y="44"/>
                    <a:pt x="0" y="44"/>
                  </a:cubicBezTo>
                  <a:lnTo>
                    <a:pt x="0" y="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9" name="Freeform 12"/>
            <p:cNvSpPr/>
            <p:nvPr/>
          </p:nvSpPr>
          <p:spPr bwMode="auto">
            <a:xfrm>
              <a:off x="20638" y="2970213"/>
              <a:ext cx="387350" cy="193675"/>
            </a:xfrm>
            <a:custGeom>
              <a:avLst/>
              <a:gdLst>
                <a:gd name="T0" fmla="*/ 0 w 141"/>
                <a:gd name="T1" fmla="*/ 63 h 71"/>
                <a:gd name="T2" fmla="*/ 14 w 141"/>
                <a:gd name="T3" fmla="*/ 63 h 71"/>
                <a:gd name="T4" fmla="*/ 72 w 141"/>
                <a:gd name="T5" fmla="*/ 14 h 71"/>
                <a:gd name="T6" fmla="*/ 126 w 141"/>
                <a:gd name="T7" fmla="*/ 62 h 71"/>
                <a:gd name="T8" fmla="*/ 141 w 141"/>
                <a:gd name="T9" fmla="*/ 62 h 71"/>
                <a:gd name="T10" fmla="*/ 72 w 141"/>
                <a:gd name="T11" fmla="*/ 0 h 71"/>
                <a:gd name="T12" fmla="*/ 0 w 141"/>
                <a:gd name="T13" fmla="*/ 63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1" h="71">
                  <a:moveTo>
                    <a:pt x="0" y="63"/>
                  </a:moveTo>
                  <a:cubicBezTo>
                    <a:pt x="0" y="63"/>
                    <a:pt x="5" y="71"/>
                    <a:pt x="14" y="63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126" y="62"/>
                    <a:pt x="126" y="62"/>
                    <a:pt x="126" y="62"/>
                  </a:cubicBezTo>
                  <a:cubicBezTo>
                    <a:pt x="137" y="70"/>
                    <a:pt x="141" y="62"/>
                    <a:pt x="141" y="62"/>
                  </a:cubicBezTo>
                  <a:cubicBezTo>
                    <a:pt x="72" y="0"/>
                    <a:pt x="72" y="0"/>
                    <a:pt x="72" y="0"/>
                  </a:cubicBezTo>
                  <a:lnTo>
                    <a:pt x="0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0" name="Freeform 13"/>
            <p:cNvSpPr/>
            <p:nvPr/>
          </p:nvSpPr>
          <p:spPr bwMode="auto">
            <a:xfrm>
              <a:off x="325438" y="3008313"/>
              <a:ext cx="34925" cy="76200"/>
            </a:xfrm>
            <a:custGeom>
              <a:avLst/>
              <a:gdLst>
                <a:gd name="T0" fmla="*/ 22 w 22"/>
                <a:gd name="T1" fmla="*/ 0 h 48"/>
                <a:gd name="T2" fmla="*/ 0 w 22"/>
                <a:gd name="T3" fmla="*/ 0 h 48"/>
                <a:gd name="T4" fmla="*/ 0 w 22"/>
                <a:gd name="T5" fmla="*/ 29 h 48"/>
                <a:gd name="T6" fmla="*/ 22 w 22"/>
                <a:gd name="T7" fmla="*/ 48 h 48"/>
                <a:gd name="T8" fmla="*/ 22 w 22"/>
                <a:gd name="T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48">
                  <a:moveTo>
                    <a:pt x="22" y="0"/>
                  </a:moveTo>
                  <a:lnTo>
                    <a:pt x="0" y="0"/>
                  </a:lnTo>
                  <a:lnTo>
                    <a:pt x="0" y="29"/>
                  </a:lnTo>
                  <a:lnTo>
                    <a:pt x="22" y="48"/>
                  </a:ln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31" name="Group 25"/>
          <p:cNvGrpSpPr/>
          <p:nvPr/>
        </p:nvGrpSpPr>
        <p:grpSpPr>
          <a:xfrm>
            <a:off x="5024313" y="1520549"/>
            <a:ext cx="181116" cy="175153"/>
            <a:chOff x="842963" y="938213"/>
            <a:chExt cx="385763" cy="373062"/>
          </a:xfrm>
          <a:solidFill>
            <a:schemeClr val="bg2"/>
          </a:solidFill>
        </p:grpSpPr>
        <p:sp>
          <p:nvSpPr>
            <p:cNvPr id="32" name="Line 14"/>
            <p:cNvSpPr>
              <a:spLocks noChangeShapeType="1"/>
            </p:cNvSpPr>
            <p:nvPr/>
          </p:nvSpPr>
          <p:spPr bwMode="auto">
            <a:xfrm>
              <a:off x="842963" y="1311275"/>
              <a:ext cx="385763" cy="0"/>
            </a:xfrm>
            <a:prstGeom prst="line">
              <a:avLst/>
            </a:prstGeom>
            <a:grpFill/>
            <a:ln w="61913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3" name="Freeform 15"/>
            <p:cNvSpPr/>
            <p:nvPr/>
          </p:nvSpPr>
          <p:spPr bwMode="auto">
            <a:xfrm>
              <a:off x="842963" y="1141413"/>
              <a:ext cx="117475" cy="125413"/>
            </a:xfrm>
            <a:custGeom>
              <a:avLst/>
              <a:gdLst>
                <a:gd name="T0" fmla="*/ 37 w 43"/>
                <a:gd name="T1" fmla="*/ 0 h 46"/>
                <a:gd name="T2" fmla="*/ 6 w 43"/>
                <a:gd name="T3" fmla="*/ 0 h 46"/>
                <a:gd name="T4" fmla="*/ 0 w 43"/>
                <a:gd name="T5" fmla="*/ 6 h 46"/>
                <a:gd name="T6" fmla="*/ 0 w 43"/>
                <a:gd name="T7" fmla="*/ 40 h 46"/>
                <a:gd name="T8" fmla="*/ 6 w 43"/>
                <a:gd name="T9" fmla="*/ 46 h 46"/>
                <a:gd name="T10" fmla="*/ 37 w 43"/>
                <a:gd name="T11" fmla="*/ 46 h 46"/>
                <a:gd name="T12" fmla="*/ 43 w 43"/>
                <a:gd name="T13" fmla="*/ 40 h 46"/>
                <a:gd name="T14" fmla="*/ 43 w 43"/>
                <a:gd name="T15" fmla="*/ 6 h 46"/>
                <a:gd name="T16" fmla="*/ 37 w 43"/>
                <a:gd name="T1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46">
                  <a:moveTo>
                    <a:pt x="37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3"/>
                    <a:pt x="3" y="46"/>
                    <a:pt x="6" y="46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40" y="46"/>
                    <a:pt x="43" y="43"/>
                    <a:pt x="43" y="40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3"/>
                    <a:pt x="40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4" name="Freeform 16"/>
            <p:cNvSpPr/>
            <p:nvPr/>
          </p:nvSpPr>
          <p:spPr bwMode="auto">
            <a:xfrm>
              <a:off x="977901" y="938213"/>
              <a:ext cx="117475" cy="328613"/>
            </a:xfrm>
            <a:custGeom>
              <a:avLst/>
              <a:gdLst>
                <a:gd name="T0" fmla="*/ 37 w 43"/>
                <a:gd name="T1" fmla="*/ 0 h 121"/>
                <a:gd name="T2" fmla="*/ 6 w 43"/>
                <a:gd name="T3" fmla="*/ 0 h 121"/>
                <a:gd name="T4" fmla="*/ 0 w 43"/>
                <a:gd name="T5" fmla="*/ 6 h 121"/>
                <a:gd name="T6" fmla="*/ 0 w 43"/>
                <a:gd name="T7" fmla="*/ 115 h 121"/>
                <a:gd name="T8" fmla="*/ 6 w 43"/>
                <a:gd name="T9" fmla="*/ 121 h 121"/>
                <a:gd name="T10" fmla="*/ 37 w 43"/>
                <a:gd name="T11" fmla="*/ 121 h 121"/>
                <a:gd name="T12" fmla="*/ 43 w 43"/>
                <a:gd name="T13" fmla="*/ 115 h 121"/>
                <a:gd name="T14" fmla="*/ 43 w 43"/>
                <a:gd name="T15" fmla="*/ 6 h 121"/>
                <a:gd name="T16" fmla="*/ 37 w 43"/>
                <a:gd name="T17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121">
                  <a:moveTo>
                    <a:pt x="37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18"/>
                    <a:pt x="3" y="121"/>
                    <a:pt x="6" y="121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40" y="121"/>
                    <a:pt x="43" y="118"/>
                    <a:pt x="43" y="115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3"/>
                    <a:pt x="40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5" name="Freeform 17"/>
            <p:cNvSpPr/>
            <p:nvPr/>
          </p:nvSpPr>
          <p:spPr bwMode="auto">
            <a:xfrm>
              <a:off x="1111251" y="1057275"/>
              <a:ext cx="117475" cy="209550"/>
            </a:xfrm>
            <a:custGeom>
              <a:avLst/>
              <a:gdLst>
                <a:gd name="T0" fmla="*/ 37 w 43"/>
                <a:gd name="T1" fmla="*/ 0 h 77"/>
                <a:gd name="T2" fmla="*/ 6 w 43"/>
                <a:gd name="T3" fmla="*/ 0 h 77"/>
                <a:gd name="T4" fmla="*/ 0 w 43"/>
                <a:gd name="T5" fmla="*/ 6 h 77"/>
                <a:gd name="T6" fmla="*/ 0 w 43"/>
                <a:gd name="T7" fmla="*/ 71 h 77"/>
                <a:gd name="T8" fmla="*/ 6 w 43"/>
                <a:gd name="T9" fmla="*/ 77 h 77"/>
                <a:gd name="T10" fmla="*/ 37 w 43"/>
                <a:gd name="T11" fmla="*/ 77 h 77"/>
                <a:gd name="T12" fmla="*/ 43 w 43"/>
                <a:gd name="T13" fmla="*/ 71 h 77"/>
                <a:gd name="T14" fmla="*/ 43 w 43"/>
                <a:gd name="T15" fmla="*/ 6 h 77"/>
                <a:gd name="T16" fmla="*/ 37 w 43"/>
                <a:gd name="T17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77">
                  <a:moveTo>
                    <a:pt x="37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74"/>
                    <a:pt x="3" y="77"/>
                    <a:pt x="6" y="77"/>
                  </a:cubicBezTo>
                  <a:cubicBezTo>
                    <a:pt x="37" y="77"/>
                    <a:pt x="37" y="77"/>
                    <a:pt x="37" y="77"/>
                  </a:cubicBezTo>
                  <a:cubicBezTo>
                    <a:pt x="40" y="77"/>
                    <a:pt x="43" y="74"/>
                    <a:pt x="43" y="71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3"/>
                    <a:pt x="40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53" name="TextBox 31"/>
          <p:cNvSpPr txBox="1"/>
          <p:nvPr/>
        </p:nvSpPr>
        <p:spPr>
          <a:xfrm>
            <a:off x="892810" y="5759450"/>
            <a:ext cx="3729355" cy="6534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sz="900" b="0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sz="900" b="0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900" b="0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</a:rPr>
              <a:t>LSP / SANDBOX </a:t>
            </a:r>
            <a:r>
              <a:rPr lang="zh-CN" altLang="en-US" sz="900" b="0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</a:rPr>
              <a:t>为代码与部署支持，</a:t>
            </a:r>
            <a:r>
              <a:rPr lang="en-US" altLang="zh-CN" sz="900" b="0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</a:rPr>
              <a:t>Demo </a:t>
            </a:r>
            <a:r>
              <a:rPr lang="zh-CN" altLang="en-US" sz="900" b="0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</a:rPr>
              <a:t>启用状态以运行环境为准</a:t>
            </a:r>
            <a:endParaRPr lang="zh-CN" altLang="en-US" sz="900" b="0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900" b="0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7112635" y="1242060"/>
            <a:ext cx="3303905" cy="671830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sym typeface="+mn-ea"/>
              </a:rPr>
              <a:t>Monaco</a:t>
            </a:r>
            <a:endParaRPr lang="zh-CN" altLang="en-US"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t>代码块编辑、复制和运行入口。</a:t>
            </a:r>
          </a:p>
        </p:txBody>
      </p:sp>
      <p:sp>
        <p:nvSpPr>
          <p:cNvPr id="63" name="Rounded Rectangle 46"/>
          <p:cNvSpPr/>
          <p:nvPr/>
        </p:nvSpPr>
        <p:spPr>
          <a:xfrm>
            <a:off x="5383530" y="2567305"/>
            <a:ext cx="807085" cy="812165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TextBox 9"/>
          <p:cNvSpPr txBox="1"/>
          <p:nvPr/>
        </p:nvSpPr>
        <p:spPr>
          <a:xfrm>
            <a:off x="5507355" y="2749550"/>
            <a:ext cx="586740" cy="271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 2</a:t>
            </a:r>
            <a:endParaRPr lang="en-US"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892810" y="240030"/>
            <a:ext cx="4396105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28 / CODE BOUNDARY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把代码理解放回安全边界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  <a:buClrTx/>
              <a:buSzTx/>
              <a:buFontTx/>
            </a:pP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7184390" y="3916680"/>
            <a:ext cx="3303905" cy="1543685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>
                <a:solidFill>
                  <a:srgbClr val="5B625F"/>
                </a:solidFill>
                <a:latin typeface="微软雅黑" panose="020B0503020204020204" charset="-122"/>
                <a:sym typeface="+mn-ea"/>
              </a:rPr>
              <a:t>Sandbox</a:t>
            </a:r>
            <a:r>
              <a:rPr lang="zh-CN" altLang="en-US">
                <a:solidFill>
                  <a:srgbClr val="5B625F"/>
                </a:solidFill>
                <a:latin typeface="微软雅黑" panose="020B0503020204020204" charset="-122"/>
                <a:sym typeface="+mn-ea"/>
              </a:rPr>
              <a:t/>
            </a:r>
            <a:r>
              <a:rPr lang="en-US" altLang="zh-CN">
                <a:solidFill>
                  <a:srgbClr val="5B625F"/>
                </a:solidFill>
                <a:latin typeface="微软雅黑" panose="020B0503020204020204" charset="-122"/>
                <a:sym typeface="+mn-ea"/>
              </a:rPr>
              <a:t/>
            </a:r>
            <a:r>
              <a:rPr lang="zh-CN" altLang="en-US">
                <a:solidFill>
                  <a:srgbClr val="5B625F"/>
                </a:solidFill>
                <a:latin typeface="微软雅黑" panose="020B0503020204020204" charset="-122"/>
                <a:sym typeface="+mn-ea"/>
              </a:rPr>
              <a:t/>
            </a:r>
            <a:endParaRPr lang="zh-CN" altLang="en-US">
              <a:solidFill>
                <a:srgbClr val="5B625F"/>
              </a:solidFill>
              <a:latin typeface="微软雅黑" panose="020B0503020204020204" charset="-122"/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>
                <a:solidFill>
                  <a:srgbClr val="5B625F"/>
                </a:solidFill>
                <a:latin typeface="微软雅黑" panose="020B0503020204020204" charset="-122"/>
                <a:sym typeface="+mn-ea"/>
              </a:rPr>
              <a:t>Bubblewrap 设计支持 CPU、内存、网络边界；默认关闭，启用需核对主机条件。</a:t>
            </a:r>
            <a:endParaRPr lang="zh-CN" altLang="en-US">
              <a:solidFill>
                <a:srgbClr val="5B625F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7184390" y="5298440"/>
            <a:ext cx="3303905" cy="962660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>
                <a:solidFill>
                  <a:srgbClr val="5B625F"/>
                </a:solidFill>
                <a:latin typeface="微软雅黑" panose="020B0503020204020204" charset="-122"/>
                <a:sym typeface="+mn-ea"/>
              </a:rPr>
              <a:t>Audit</a:t>
            </a:r>
            <a:r>
              <a:rPr lang="zh-CN" altLang="en-US">
                <a:solidFill>
                  <a:srgbClr val="5B625F"/>
                </a:solidFill>
                <a:latin typeface="微软雅黑" panose="020B0503020204020204" charset="-122"/>
                <a:sym typeface="+mn-ea"/>
              </a:rPr>
              <a:t/>
            </a:r>
            <a:endParaRPr lang="zh-CN" altLang="en-US">
              <a:solidFill>
                <a:srgbClr val="5B625F"/>
              </a:solidFill>
              <a:latin typeface="微软雅黑" panose="020B0503020204020204" charset="-122"/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t>执行和关键教学操作保持可追踪。</a:t>
            </a:r>
            <a:endParaRPr lang="zh-CN" altLang="en-US">
              <a:solidFill>
                <a:srgbClr val="5B625F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7112635" y="2567305"/>
            <a:ext cx="3303905" cy="154368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5B625F"/>
                </a:solidFill>
                <a:latin typeface="微软雅黑" panose="020B0503020204020204" charset="-122"/>
                <a:sym typeface="+mn-ea"/>
              </a:rPr>
              <a:t>LSP</a:t>
            </a:r>
            <a:r>
              <a:rPr lang="zh-CN" altLang="en-US">
                <a:solidFill>
                  <a:srgbClr val="5B625F"/>
                </a:solidFill>
                <a:latin typeface="微软雅黑" panose="020B0503020204020204" charset="-122"/>
                <a:sym typeface="+mn-ea"/>
              </a:rPr>
              <a:t/>
            </a:r>
            <a:endParaRPr lang="zh-CN" altLang="en-US">
              <a:solidFill>
                <a:srgbClr val="5B625F"/>
              </a:solidFill>
              <a:latin typeface="微软雅黑" panose="020B0503020204020204" charset="-122"/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t>clangd / pyright 可接入；服务端不可用时降级为本地补全。</a:t>
            </a:r>
            <a:endParaRPr lang="zh-CN" altLang="en-US">
              <a:solidFill>
                <a:srgbClr val="5B625F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970915" y="1229360"/>
            <a:ext cx="3555365" cy="9690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 i="0">
                <a:solidFill>
                  <a:srgbClr val="5B625F"/>
                </a:solidFill>
                <a:latin typeface="华文楷体" panose="02010600040101010101" charset="-122"/>
                <a:ea typeface="华文楷体" panose="02010600040101010101" charset="-122"/>
              </a:rPr>
              <a:t>代码编辑、语言服务和执行能力分层提供；没有满足主机条件时，明确降级而不是假装可执行</a:t>
            </a:r>
            <a:endParaRPr lang="zh-CN" altLang="en-US" sz="1400" b="0" i="0">
              <a:solidFill>
                <a:srgbClr val="5B625F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5" name="TextBox 11"/>
          <p:cNvSpPr txBox="1"/>
          <p:nvPr/>
        </p:nvSpPr>
        <p:spPr>
          <a:xfrm>
            <a:off x="983614" y="2341880"/>
            <a:ext cx="4095749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CODE TOOLING BOUNDARY</a:t>
            </a:r>
            <a:endParaRPr sz="14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6" name="TextBox 12"/>
          <p:cNvSpPr txBox="1"/>
          <p:nvPr/>
        </p:nvSpPr>
        <p:spPr>
          <a:xfrm>
            <a:off x="983614" y="2684780"/>
            <a:ext cx="4333874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Monaco editor</a:t>
            </a:r>
            <a:endParaRPr sz="1400" b="0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6" name="TextBox 13"/>
          <p:cNvSpPr txBox="1"/>
          <p:nvPr/>
        </p:nvSpPr>
        <p:spPr>
          <a:xfrm>
            <a:off x="983614" y="2951480"/>
            <a:ext cx="4333874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  -&gt; local editing / copy / run entry</a:t>
            </a:r>
            <a:endParaRPr sz="1400" b="0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7" name="TextBox 14"/>
          <p:cNvSpPr txBox="1"/>
          <p:nvPr/>
        </p:nvSpPr>
        <p:spPr>
          <a:xfrm>
            <a:off x="983614" y="3218179"/>
            <a:ext cx="4333874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LSP service</a:t>
            </a:r>
            <a:endParaRPr sz="1400" b="0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8" name="TextBox 15"/>
          <p:cNvSpPr txBox="1"/>
          <p:nvPr/>
        </p:nvSpPr>
        <p:spPr>
          <a:xfrm>
            <a:off x="983614" y="3484880"/>
            <a:ext cx="4333874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  -&gt; clangd / pyright if enabled</a:t>
            </a:r>
            <a:endParaRPr sz="1400" b="0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9" name="TextBox 16"/>
          <p:cNvSpPr txBox="1"/>
          <p:nvPr/>
        </p:nvSpPr>
        <p:spPr>
          <a:xfrm>
            <a:off x="983614" y="3751579"/>
            <a:ext cx="4333874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Sandbox</a:t>
            </a:r>
            <a:endParaRPr sz="1400" b="0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0" name="TextBox 17"/>
          <p:cNvSpPr txBox="1"/>
          <p:nvPr/>
        </p:nvSpPr>
        <p:spPr>
          <a:xfrm>
            <a:off x="983614" y="4018280"/>
            <a:ext cx="4333874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  -&gt; Bubblewrap if host conditions pass</a:t>
            </a:r>
            <a:endParaRPr sz="1400" b="0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1" name="TextBox 18"/>
          <p:cNvSpPr txBox="1"/>
          <p:nvPr/>
        </p:nvSpPr>
        <p:spPr>
          <a:xfrm>
            <a:off x="983614" y="4284980"/>
            <a:ext cx="4333874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Audit</a:t>
            </a:r>
            <a:endParaRPr sz="1400" b="0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2" name="TextBox 19"/>
          <p:cNvSpPr txBox="1"/>
          <p:nvPr/>
        </p:nvSpPr>
        <p:spPr>
          <a:xfrm>
            <a:off x="983614" y="4551679"/>
            <a:ext cx="4333874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  -&gt; trace critical operations</a:t>
            </a:r>
            <a:endParaRPr sz="1400" b="0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 bldLvl="0" animBg="1"/>
      <p:bldP spid="3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/>
      <p:bldP spid="17" grpId="0"/>
      <p:bldP spid="18" grpId="0"/>
      <p:bldP spid="53" grpId="0"/>
      <p:bldP spid="56" grpId="0"/>
      <p:bldP spid="63" grpId="0" bldLvl="0" animBg="1"/>
      <p:bldP spid="64" grpId="0"/>
      <p:bldP spid="70" grpId="0"/>
      <p:bldP spid="76" grpId="0"/>
      <p:bldP spid="8" grpId="0"/>
      <p:bldP spid="7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2810" y="240030"/>
            <a:ext cx="574167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29/ RESEARCH WORKFLOWS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前沿、写作、数据分析形成科研工作流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84" name="Rectangle 10"/>
          <p:cNvSpPr/>
          <p:nvPr/>
        </p:nvSpPr>
        <p:spPr>
          <a:xfrm>
            <a:off x="610235" y="4096385"/>
            <a:ext cx="2577465" cy="191897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2810" y="1109980"/>
            <a:ext cx="7317740" cy="460375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indent="0" algn="l" fontAlgn="auto">
              <a:lnSpc>
                <a:spcPct val="1500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方正楷体_GB2312" panose="02000000000000000000" charset="-122"/>
                <a:ea typeface="方正楷体_GB2312" panose="02000000000000000000" charset="-122"/>
                <a:sym typeface="+mn-ea"/>
              </a:rPr>
              <a:t>把资料检索、论证、写作与数据分析接回同一个项目边界，降低上下文断裂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方正楷体_GB2312" panose="02000000000000000000" charset="-122"/>
              <a:ea typeface="方正楷体_GB2312" panose="02000000000000000000" charset="-122"/>
              <a:sym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8844" y="6196330"/>
            <a:ext cx="9334499" cy="19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</a:rPr>
              <a:t>AI 不伪造数据、来源或研究结论</a:t>
            </a:r>
            <a:endParaRPr sz="1200" b="0" i="0">
              <a:solidFill>
                <a:schemeClr val="tx1">
                  <a:lumMod val="65000"/>
                  <a:lumOff val="35000"/>
                </a:schemeClr>
              </a:solidFill>
              <a:latin typeface="方正楷体_GB2312" panose="02000000000000000000" charset="-122"/>
              <a:ea typeface="方正楷体_GB2312" panose="02000000000000000000" charset="-122"/>
              <a:cs typeface="方正楷体_GB2312" panose="02000000000000000000" charset="-122"/>
            </a:endParaRPr>
          </a:p>
        </p:txBody>
      </p:sp>
      <p:grpSp>
        <p:nvGrpSpPr>
          <p:cNvPr id="2" name="千图设计师MC：ID 29795607库_组合 2"/>
          <p:cNvGrpSpPr/>
          <p:nvPr>
            <p:custDataLst>
              <p:tags r:id="rId1"/>
            </p:custDataLst>
          </p:nvPr>
        </p:nvGrpSpPr>
        <p:grpSpPr>
          <a:xfrm>
            <a:off x="4566285" y="3833495"/>
            <a:ext cx="1798955" cy="1541780"/>
            <a:chOff x="4052312" y="2372849"/>
            <a:chExt cx="4087375" cy="3648439"/>
          </a:xfrm>
        </p:grpSpPr>
        <p:sp>
          <p:nvSpPr>
            <p:cNvPr id="8" name="Freeform: Shape 65"/>
            <p:cNvSpPr/>
            <p:nvPr>
              <p:custDataLst>
                <p:tags r:id="rId2"/>
              </p:custDataLst>
            </p:nvPr>
          </p:nvSpPr>
          <p:spPr bwMode="auto">
            <a:xfrm>
              <a:off x="5506048" y="3858802"/>
              <a:ext cx="2633639" cy="2162486"/>
            </a:xfrm>
            <a:custGeom>
              <a:avLst/>
              <a:gdLst/>
              <a:ahLst/>
              <a:cxnLst>
                <a:cxn ang="0">
                  <a:pos x="392" y="0"/>
                </a:cxn>
                <a:cxn ang="0">
                  <a:pos x="514" y="321"/>
                </a:cxn>
                <a:cxn ang="0">
                  <a:pos x="0" y="425"/>
                </a:cxn>
                <a:cxn ang="0">
                  <a:pos x="328" y="275"/>
                </a:cxn>
                <a:cxn ang="0">
                  <a:pos x="392" y="0"/>
                </a:cxn>
              </a:cxnLst>
              <a:rect l="0" t="0" r="r" b="b"/>
              <a:pathLst>
                <a:path w="617" h="507">
                  <a:moveTo>
                    <a:pt x="392" y="0"/>
                  </a:moveTo>
                  <a:cubicBezTo>
                    <a:pt x="392" y="0"/>
                    <a:pt x="617" y="168"/>
                    <a:pt x="514" y="321"/>
                  </a:cubicBezTo>
                  <a:cubicBezTo>
                    <a:pt x="388" y="507"/>
                    <a:pt x="0" y="425"/>
                    <a:pt x="0" y="425"/>
                  </a:cubicBezTo>
                  <a:cubicBezTo>
                    <a:pt x="0" y="425"/>
                    <a:pt x="203" y="411"/>
                    <a:pt x="328" y="275"/>
                  </a:cubicBezTo>
                  <a:cubicBezTo>
                    <a:pt x="414" y="180"/>
                    <a:pt x="392" y="0"/>
                    <a:pt x="392" y="0"/>
                  </a:cubicBezTo>
                  <a:close/>
                </a:path>
              </a:pathLst>
            </a:custGeom>
            <a:solidFill>
              <a:srgbClr val="7E7CA2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0" name="Freeform: Shape 66"/>
            <p:cNvSpPr/>
            <p:nvPr>
              <p:custDataLst>
                <p:tags r:id="rId3"/>
              </p:custDataLst>
            </p:nvPr>
          </p:nvSpPr>
          <p:spPr bwMode="auto">
            <a:xfrm>
              <a:off x="4052312" y="3097703"/>
              <a:ext cx="1864489" cy="2822909"/>
            </a:xfrm>
            <a:custGeom>
              <a:avLst/>
              <a:gdLst/>
              <a:ahLst/>
              <a:cxnLst>
                <a:cxn ang="0">
                  <a:pos x="437" y="552"/>
                </a:cxn>
                <a:cxn ang="0">
                  <a:pos x="99" y="497"/>
                </a:cxn>
                <a:cxn ang="0">
                  <a:pos x="265" y="0"/>
                </a:cxn>
                <a:cxn ang="0">
                  <a:pos x="232" y="359"/>
                </a:cxn>
                <a:cxn ang="0">
                  <a:pos x="437" y="552"/>
                </a:cxn>
              </a:cxnLst>
              <a:rect l="0" t="0" r="r" b="b"/>
              <a:pathLst>
                <a:path w="437" h="662">
                  <a:moveTo>
                    <a:pt x="437" y="552"/>
                  </a:moveTo>
                  <a:cubicBezTo>
                    <a:pt x="437" y="552"/>
                    <a:pt x="179" y="662"/>
                    <a:pt x="99" y="497"/>
                  </a:cubicBezTo>
                  <a:cubicBezTo>
                    <a:pt x="0" y="294"/>
                    <a:pt x="265" y="0"/>
                    <a:pt x="265" y="0"/>
                  </a:cubicBezTo>
                  <a:cubicBezTo>
                    <a:pt x="265" y="0"/>
                    <a:pt x="176" y="183"/>
                    <a:pt x="232" y="359"/>
                  </a:cubicBezTo>
                  <a:cubicBezTo>
                    <a:pt x="271" y="481"/>
                    <a:pt x="437" y="552"/>
                    <a:pt x="437" y="552"/>
                  </a:cubicBezTo>
                  <a:close/>
                </a:path>
              </a:pathLst>
            </a:custGeom>
            <a:solidFill>
              <a:srgbClr val="8C8BB1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5" name="Freeform: Shape 67"/>
            <p:cNvSpPr/>
            <p:nvPr>
              <p:custDataLst>
                <p:tags r:id="rId4"/>
              </p:custDataLst>
            </p:nvPr>
          </p:nvSpPr>
          <p:spPr bwMode="auto">
            <a:xfrm>
              <a:off x="5175836" y="2372849"/>
              <a:ext cx="2404104" cy="1731598"/>
            </a:xfrm>
            <a:custGeom>
              <a:avLst/>
              <a:gdLst/>
              <a:ahLst/>
              <a:cxnLst>
                <a:cxn ang="0">
                  <a:pos x="0" y="279"/>
                </a:cxn>
                <a:cxn ang="0">
                  <a:pos x="216" y="14"/>
                </a:cxn>
                <a:cxn ang="0">
                  <a:pos x="564" y="406"/>
                </a:cxn>
                <a:cxn ang="0">
                  <a:pos x="269" y="198"/>
                </a:cxn>
                <a:cxn ang="0">
                  <a:pos x="0" y="279"/>
                </a:cxn>
              </a:cxnLst>
              <a:rect l="0" t="0" r="r" b="b"/>
              <a:pathLst>
                <a:path w="564" h="406">
                  <a:moveTo>
                    <a:pt x="0" y="279"/>
                  </a:moveTo>
                  <a:cubicBezTo>
                    <a:pt x="0" y="279"/>
                    <a:pt x="33" y="0"/>
                    <a:pt x="216" y="14"/>
                  </a:cubicBezTo>
                  <a:cubicBezTo>
                    <a:pt x="441" y="29"/>
                    <a:pt x="564" y="406"/>
                    <a:pt x="564" y="406"/>
                  </a:cubicBezTo>
                  <a:cubicBezTo>
                    <a:pt x="564" y="406"/>
                    <a:pt x="449" y="237"/>
                    <a:pt x="269" y="198"/>
                  </a:cubicBezTo>
                  <a:cubicBezTo>
                    <a:pt x="144" y="170"/>
                    <a:pt x="0" y="279"/>
                    <a:pt x="0" y="279"/>
                  </a:cubicBezTo>
                  <a:close/>
                </a:path>
              </a:pathLst>
            </a:custGeom>
            <a:solidFill>
              <a:srgbClr val="DADAE4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16" name="Group 68"/>
            <p:cNvGrpSpPr/>
            <p:nvPr/>
          </p:nvGrpSpPr>
          <p:grpSpPr>
            <a:xfrm>
              <a:off x="4671116" y="4917324"/>
              <a:ext cx="456432" cy="459762"/>
              <a:chOff x="1905000" y="3457575"/>
              <a:chExt cx="217488" cy="219075"/>
            </a:xfrm>
            <a:solidFill>
              <a:schemeClr val="bg1"/>
            </a:solidFill>
          </p:grpSpPr>
          <p:sp>
            <p:nvSpPr>
              <p:cNvPr id="23" name="Freeform: Shape 69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1905000" y="3457575"/>
                <a:ext cx="217488" cy="219075"/>
              </a:xfrm>
              <a:custGeom>
                <a:avLst/>
                <a:gdLst/>
                <a:ahLst/>
                <a:cxnLst>
                  <a:cxn ang="0">
                    <a:pos x="76" y="9"/>
                  </a:cxn>
                  <a:cxn ang="0">
                    <a:pos x="53" y="0"/>
                  </a:cxn>
                  <a:cxn ang="0">
                    <a:pos x="30" y="9"/>
                  </a:cxn>
                  <a:cxn ang="0">
                    <a:pos x="21" y="32"/>
                  </a:cxn>
                  <a:cxn ang="0">
                    <a:pos x="25" y="48"/>
                  </a:cxn>
                  <a:cxn ang="0">
                    <a:pos x="1" y="73"/>
                  </a:cxn>
                  <a:cxn ang="0">
                    <a:pos x="0" y="75"/>
                  </a:cxn>
                  <a:cxn ang="0">
                    <a:pos x="1" y="77"/>
                  </a:cxn>
                  <a:cxn ang="0">
                    <a:pos x="8" y="85"/>
                  </a:cxn>
                  <a:cxn ang="0">
                    <a:pos x="10" y="85"/>
                  </a:cxn>
                  <a:cxn ang="0">
                    <a:pos x="12" y="85"/>
                  </a:cxn>
                  <a:cxn ang="0">
                    <a:pos x="37" y="60"/>
                  </a:cxn>
                  <a:cxn ang="0">
                    <a:pos x="53" y="64"/>
                  </a:cxn>
                  <a:cxn ang="0">
                    <a:pos x="76" y="55"/>
                  </a:cxn>
                  <a:cxn ang="0">
                    <a:pos x="85" y="32"/>
                  </a:cxn>
                  <a:cxn ang="0">
                    <a:pos x="76" y="9"/>
                  </a:cxn>
                  <a:cxn ang="0">
                    <a:pos x="10" y="79"/>
                  </a:cxn>
                  <a:cxn ang="0">
                    <a:pos x="6" y="75"/>
                  </a:cxn>
                  <a:cxn ang="0">
                    <a:pos x="28" y="53"/>
                  </a:cxn>
                  <a:cxn ang="0">
                    <a:pos x="30" y="55"/>
                  </a:cxn>
                  <a:cxn ang="0">
                    <a:pos x="32" y="57"/>
                  </a:cxn>
                  <a:cxn ang="0">
                    <a:pos x="10" y="79"/>
                  </a:cxn>
                  <a:cxn ang="0">
                    <a:pos x="72" y="51"/>
                  </a:cxn>
                  <a:cxn ang="0">
                    <a:pos x="53" y="59"/>
                  </a:cxn>
                  <a:cxn ang="0">
                    <a:pos x="34" y="51"/>
                  </a:cxn>
                  <a:cxn ang="0">
                    <a:pos x="26" y="32"/>
                  </a:cxn>
                  <a:cxn ang="0">
                    <a:pos x="34" y="13"/>
                  </a:cxn>
                  <a:cxn ang="0">
                    <a:pos x="53" y="5"/>
                  </a:cxn>
                  <a:cxn ang="0">
                    <a:pos x="72" y="13"/>
                  </a:cxn>
                  <a:cxn ang="0">
                    <a:pos x="80" y="32"/>
                  </a:cxn>
                  <a:cxn ang="0">
                    <a:pos x="72" y="51"/>
                  </a:cxn>
                </a:cxnLst>
                <a:rect l="0" t="0" r="r" b="b"/>
                <a:pathLst>
                  <a:path w="85" h="85">
                    <a:moveTo>
                      <a:pt x="76" y="9"/>
                    </a:moveTo>
                    <a:cubicBezTo>
                      <a:pt x="70" y="3"/>
                      <a:pt x="62" y="0"/>
                      <a:pt x="53" y="0"/>
                    </a:cubicBezTo>
                    <a:cubicBezTo>
                      <a:pt x="44" y="0"/>
                      <a:pt x="36" y="3"/>
                      <a:pt x="30" y="9"/>
                    </a:cubicBezTo>
                    <a:cubicBezTo>
                      <a:pt x="24" y="15"/>
                      <a:pt x="21" y="23"/>
                      <a:pt x="21" y="32"/>
                    </a:cubicBezTo>
                    <a:cubicBezTo>
                      <a:pt x="21" y="38"/>
                      <a:pt x="22" y="43"/>
                      <a:pt x="25" y="48"/>
                    </a:cubicBezTo>
                    <a:cubicBezTo>
                      <a:pt x="1" y="73"/>
                      <a:pt x="1" y="73"/>
                      <a:pt x="1" y="73"/>
                    </a:cubicBezTo>
                    <a:cubicBezTo>
                      <a:pt x="0" y="74"/>
                      <a:pt x="0" y="74"/>
                      <a:pt x="0" y="75"/>
                    </a:cubicBezTo>
                    <a:cubicBezTo>
                      <a:pt x="0" y="76"/>
                      <a:pt x="0" y="76"/>
                      <a:pt x="1" y="77"/>
                    </a:cubicBezTo>
                    <a:cubicBezTo>
                      <a:pt x="8" y="85"/>
                      <a:pt x="8" y="85"/>
                      <a:pt x="8" y="85"/>
                    </a:cubicBezTo>
                    <a:cubicBezTo>
                      <a:pt x="9" y="85"/>
                      <a:pt x="9" y="85"/>
                      <a:pt x="10" y="85"/>
                    </a:cubicBezTo>
                    <a:cubicBezTo>
                      <a:pt x="11" y="85"/>
                      <a:pt x="12" y="85"/>
                      <a:pt x="12" y="85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42" y="63"/>
                      <a:pt x="47" y="64"/>
                      <a:pt x="53" y="64"/>
                    </a:cubicBezTo>
                    <a:cubicBezTo>
                      <a:pt x="62" y="64"/>
                      <a:pt x="70" y="61"/>
                      <a:pt x="76" y="55"/>
                    </a:cubicBezTo>
                    <a:cubicBezTo>
                      <a:pt x="82" y="49"/>
                      <a:pt x="85" y="41"/>
                      <a:pt x="85" y="32"/>
                    </a:cubicBezTo>
                    <a:cubicBezTo>
                      <a:pt x="85" y="23"/>
                      <a:pt x="82" y="15"/>
                      <a:pt x="76" y="9"/>
                    </a:cubicBezTo>
                    <a:close/>
                    <a:moveTo>
                      <a:pt x="10" y="79"/>
                    </a:moveTo>
                    <a:cubicBezTo>
                      <a:pt x="6" y="75"/>
                      <a:pt x="6" y="75"/>
                      <a:pt x="6" y="75"/>
                    </a:cubicBezTo>
                    <a:cubicBezTo>
                      <a:pt x="28" y="53"/>
                      <a:pt x="28" y="53"/>
                      <a:pt x="28" y="53"/>
                    </a:cubicBezTo>
                    <a:cubicBezTo>
                      <a:pt x="29" y="53"/>
                      <a:pt x="30" y="54"/>
                      <a:pt x="30" y="55"/>
                    </a:cubicBezTo>
                    <a:cubicBezTo>
                      <a:pt x="31" y="56"/>
                      <a:pt x="32" y="56"/>
                      <a:pt x="32" y="57"/>
                    </a:cubicBezTo>
                    <a:lnTo>
                      <a:pt x="10" y="79"/>
                    </a:lnTo>
                    <a:close/>
                    <a:moveTo>
                      <a:pt x="72" y="51"/>
                    </a:moveTo>
                    <a:cubicBezTo>
                      <a:pt x="67" y="56"/>
                      <a:pt x="60" y="59"/>
                      <a:pt x="53" y="59"/>
                    </a:cubicBezTo>
                    <a:cubicBezTo>
                      <a:pt x="46" y="59"/>
                      <a:pt x="39" y="56"/>
                      <a:pt x="34" y="51"/>
                    </a:cubicBezTo>
                    <a:cubicBezTo>
                      <a:pt x="29" y="46"/>
                      <a:pt x="26" y="39"/>
                      <a:pt x="26" y="32"/>
                    </a:cubicBezTo>
                    <a:cubicBezTo>
                      <a:pt x="26" y="25"/>
                      <a:pt x="29" y="18"/>
                      <a:pt x="34" y="13"/>
                    </a:cubicBezTo>
                    <a:cubicBezTo>
                      <a:pt x="39" y="8"/>
                      <a:pt x="46" y="5"/>
                      <a:pt x="53" y="5"/>
                    </a:cubicBezTo>
                    <a:cubicBezTo>
                      <a:pt x="60" y="5"/>
                      <a:pt x="67" y="8"/>
                      <a:pt x="72" y="13"/>
                    </a:cubicBezTo>
                    <a:cubicBezTo>
                      <a:pt x="77" y="18"/>
                      <a:pt x="80" y="25"/>
                      <a:pt x="80" y="32"/>
                    </a:cubicBezTo>
                    <a:cubicBezTo>
                      <a:pt x="80" y="39"/>
                      <a:pt x="77" y="46"/>
                      <a:pt x="72" y="5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Freeform: Shape 70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1992313" y="3548063"/>
                <a:ext cx="107950" cy="50800"/>
              </a:xfrm>
              <a:custGeom>
                <a:avLst/>
                <a:gdLst/>
                <a:ahLst/>
                <a:cxnLst>
                  <a:cxn ang="0">
                    <a:pos x="40" y="0"/>
                  </a:cxn>
                  <a:cxn ang="0">
                    <a:pos x="38" y="2"/>
                  </a:cxn>
                  <a:cxn ang="0">
                    <a:pos x="33" y="11"/>
                  </a:cxn>
                  <a:cxn ang="0">
                    <a:pos x="19" y="17"/>
                  </a:cxn>
                  <a:cxn ang="0">
                    <a:pos x="5" y="11"/>
                  </a:cxn>
                  <a:cxn ang="0">
                    <a:pos x="3" y="9"/>
                  </a:cxn>
                  <a:cxn ang="0">
                    <a:pos x="1" y="8"/>
                  </a:cxn>
                  <a:cxn ang="0">
                    <a:pos x="1" y="11"/>
                  </a:cxn>
                  <a:cxn ang="0">
                    <a:pos x="3" y="13"/>
                  </a:cxn>
                  <a:cxn ang="0">
                    <a:pos x="19" y="20"/>
                  </a:cxn>
                  <a:cxn ang="0">
                    <a:pos x="35" y="13"/>
                  </a:cxn>
                  <a:cxn ang="0">
                    <a:pos x="42" y="2"/>
                  </a:cxn>
                  <a:cxn ang="0">
                    <a:pos x="40" y="0"/>
                  </a:cxn>
                </a:cxnLst>
                <a:rect l="0" t="0" r="r" b="b"/>
                <a:pathLst>
                  <a:path w="42" h="20">
                    <a:moveTo>
                      <a:pt x="40" y="0"/>
                    </a:moveTo>
                    <a:cubicBezTo>
                      <a:pt x="39" y="0"/>
                      <a:pt x="38" y="1"/>
                      <a:pt x="38" y="2"/>
                    </a:cubicBezTo>
                    <a:cubicBezTo>
                      <a:pt x="37" y="5"/>
                      <a:pt x="35" y="8"/>
                      <a:pt x="33" y="11"/>
                    </a:cubicBezTo>
                    <a:cubicBezTo>
                      <a:pt x="29" y="15"/>
                      <a:pt x="24" y="17"/>
                      <a:pt x="19" y="17"/>
                    </a:cubicBezTo>
                    <a:cubicBezTo>
                      <a:pt x="14" y="17"/>
                      <a:pt x="9" y="15"/>
                      <a:pt x="5" y="11"/>
                    </a:cubicBezTo>
                    <a:cubicBezTo>
                      <a:pt x="5" y="10"/>
                      <a:pt x="4" y="9"/>
                      <a:pt x="3" y="9"/>
                    </a:cubicBezTo>
                    <a:cubicBezTo>
                      <a:pt x="3" y="8"/>
                      <a:pt x="2" y="8"/>
                      <a:pt x="1" y="8"/>
                    </a:cubicBezTo>
                    <a:cubicBezTo>
                      <a:pt x="0" y="9"/>
                      <a:pt x="0" y="10"/>
                      <a:pt x="1" y="11"/>
                    </a:cubicBezTo>
                    <a:cubicBezTo>
                      <a:pt x="1" y="12"/>
                      <a:pt x="2" y="13"/>
                      <a:pt x="3" y="13"/>
                    </a:cubicBezTo>
                    <a:cubicBezTo>
                      <a:pt x="7" y="18"/>
                      <a:pt x="13" y="20"/>
                      <a:pt x="19" y="20"/>
                    </a:cubicBezTo>
                    <a:cubicBezTo>
                      <a:pt x="25" y="20"/>
                      <a:pt x="31" y="18"/>
                      <a:pt x="35" y="13"/>
                    </a:cubicBezTo>
                    <a:cubicBezTo>
                      <a:pt x="38" y="10"/>
                      <a:pt x="41" y="7"/>
                      <a:pt x="42" y="2"/>
                    </a:cubicBezTo>
                    <a:cubicBezTo>
                      <a:pt x="42" y="1"/>
                      <a:pt x="41" y="0"/>
                      <a:pt x="4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Freeform: Shape 71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976438" y="3481388"/>
                <a:ext cx="123825" cy="79375"/>
              </a:xfrm>
              <a:custGeom>
                <a:avLst/>
                <a:gdLst/>
                <a:ahLst/>
                <a:cxnLst>
                  <a:cxn ang="0">
                    <a:pos x="6" y="29"/>
                  </a:cxn>
                  <a:cxn ang="0">
                    <a:pos x="11" y="9"/>
                  </a:cxn>
                  <a:cxn ang="0">
                    <a:pos x="25" y="3"/>
                  </a:cxn>
                  <a:cxn ang="0">
                    <a:pos x="39" y="9"/>
                  </a:cxn>
                  <a:cxn ang="0">
                    <a:pos x="44" y="18"/>
                  </a:cxn>
                  <a:cxn ang="0">
                    <a:pos x="46" y="19"/>
                  </a:cxn>
                  <a:cxn ang="0">
                    <a:pos x="47" y="17"/>
                  </a:cxn>
                  <a:cxn ang="0">
                    <a:pos x="41" y="7"/>
                  </a:cxn>
                  <a:cxn ang="0">
                    <a:pos x="25" y="0"/>
                  </a:cxn>
                  <a:cxn ang="0">
                    <a:pos x="9" y="7"/>
                  </a:cxn>
                  <a:cxn ang="0">
                    <a:pos x="3" y="30"/>
                  </a:cxn>
                  <a:cxn ang="0">
                    <a:pos x="5" y="31"/>
                  </a:cxn>
                  <a:cxn ang="0">
                    <a:pos x="5" y="31"/>
                  </a:cxn>
                  <a:cxn ang="0">
                    <a:pos x="6" y="29"/>
                  </a:cxn>
                </a:cxnLst>
                <a:rect l="0" t="0" r="r" b="b"/>
                <a:pathLst>
                  <a:path w="48" h="31">
                    <a:moveTo>
                      <a:pt x="6" y="29"/>
                    </a:moveTo>
                    <a:cubicBezTo>
                      <a:pt x="4" y="22"/>
                      <a:pt x="6" y="14"/>
                      <a:pt x="11" y="9"/>
                    </a:cubicBezTo>
                    <a:cubicBezTo>
                      <a:pt x="15" y="6"/>
                      <a:pt x="20" y="3"/>
                      <a:pt x="25" y="3"/>
                    </a:cubicBezTo>
                    <a:cubicBezTo>
                      <a:pt x="30" y="3"/>
                      <a:pt x="35" y="6"/>
                      <a:pt x="39" y="9"/>
                    </a:cubicBezTo>
                    <a:cubicBezTo>
                      <a:pt x="41" y="12"/>
                      <a:pt x="43" y="15"/>
                      <a:pt x="44" y="18"/>
                    </a:cubicBezTo>
                    <a:cubicBezTo>
                      <a:pt x="44" y="19"/>
                      <a:pt x="45" y="20"/>
                      <a:pt x="46" y="19"/>
                    </a:cubicBezTo>
                    <a:cubicBezTo>
                      <a:pt x="47" y="19"/>
                      <a:pt x="48" y="18"/>
                      <a:pt x="47" y="17"/>
                    </a:cubicBezTo>
                    <a:cubicBezTo>
                      <a:pt x="46" y="13"/>
                      <a:pt x="44" y="10"/>
                      <a:pt x="41" y="7"/>
                    </a:cubicBezTo>
                    <a:cubicBezTo>
                      <a:pt x="37" y="2"/>
                      <a:pt x="31" y="0"/>
                      <a:pt x="25" y="0"/>
                    </a:cubicBezTo>
                    <a:cubicBezTo>
                      <a:pt x="19" y="0"/>
                      <a:pt x="13" y="2"/>
                      <a:pt x="9" y="7"/>
                    </a:cubicBezTo>
                    <a:cubicBezTo>
                      <a:pt x="3" y="13"/>
                      <a:pt x="0" y="22"/>
                      <a:pt x="3" y="30"/>
                    </a:cubicBezTo>
                    <a:cubicBezTo>
                      <a:pt x="3" y="31"/>
                      <a:pt x="4" y="31"/>
                      <a:pt x="5" y="31"/>
                    </a:cubicBezTo>
                    <a:cubicBezTo>
                      <a:pt x="5" y="31"/>
                      <a:pt x="5" y="31"/>
                      <a:pt x="5" y="31"/>
                    </a:cubicBezTo>
                    <a:cubicBezTo>
                      <a:pt x="6" y="31"/>
                      <a:pt x="7" y="30"/>
                      <a:pt x="6" y="2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Freeform: Shape 72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2043113" y="3498850"/>
                <a:ext cx="28575" cy="20638"/>
              </a:xfrm>
              <a:custGeom>
                <a:avLst/>
                <a:gdLst/>
                <a:ahLst/>
                <a:cxnLst>
                  <a:cxn ang="0">
                    <a:pos x="3" y="1"/>
                  </a:cxn>
                  <a:cxn ang="0">
                    <a:pos x="0" y="2"/>
                  </a:cxn>
                  <a:cxn ang="0">
                    <a:pos x="2" y="4"/>
                  </a:cxn>
                  <a:cxn ang="0">
                    <a:pos x="8" y="7"/>
                  </a:cxn>
                  <a:cxn ang="0">
                    <a:pos x="9" y="8"/>
                  </a:cxn>
                  <a:cxn ang="0">
                    <a:pos x="10" y="7"/>
                  </a:cxn>
                  <a:cxn ang="0">
                    <a:pos x="10" y="5"/>
                  </a:cxn>
                  <a:cxn ang="0">
                    <a:pos x="3" y="1"/>
                  </a:cxn>
                </a:cxnLst>
                <a:rect l="0" t="0" r="r" b="b"/>
                <a:pathLst>
                  <a:path w="11" h="8">
                    <a:moveTo>
                      <a:pt x="3" y="1"/>
                    </a:moveTo>
                    <a:cubicBezTo>
                      <a:pt x="2" y="0"/>
                      <a:pt x="1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4" y="5"/>
                      <a:pt x="6" y="6"/>
                      <a:pt x="8" y="7"/>
                    </a:cubicBezTo>
                    <a:cubicBezTo>
                      <a:pt x="8" y="8"/>
                      <a:pt x="8" y="8"/>
                      <a:pt x="9" y="8"/>
                    </a:cubicBezTo>
                    <a:cubicBezTo>
                      <a:pt x="9" y="8"/>
                      <a:pt x="10" y="8"/>
                      <a:pt x="10" y="7"/>
                    </a:cubicBezTo>
                    <a:cubicBezTo>
                      <a:pt x="11" y="7"/>
                      <a:pt x="11" y="6"/>
                      <a:pt x="10" y="5"/>
                    </a:cubicBezTo>
                    <a:cubicBezTo>
                      <a:pt x="8" y="3"/>
                      <a:pt x="5" y="1"/>
                      <a:pt x="3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9" name="Freeform: Shape 73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2070100" y="3522663"/>
                <a:ext cx="12700" cy="17463"/>
              </a:xfrm>
              <a:custGeom>
                <a:avLst/>
                <a:gdLst/>
                <a:ahLst/>
                <a:cxnLst>
                  <a:cxn ang="0">
                    <a:pos x="1" y="6"/>
                  </a:cxn>
                  <a:cxn ang="0">
                    <a:pos x="3" y="7"/>
                  </a:cxn>
                  <a:cxn ang="0">
                    <a:pos x="3" y="7"/>
                  </a:cxn>
                  <a:cxn ang="0">
                    <a:pos x="5" y="5"/>
                  </a:cxn>
                  <a:cxn ang="0">
                    <a:pos x="4" y="2"/>
                  </a:cxn>
                  <a:cxn ang="0">
                    <a:pos x="2" y="1"/>
                  </a:cxn>
                  <a:cxn ang="0">
                    <a:pos x="1" y="3"/>
                  </a:cxn>
                  <a:cxn ang="0">
                    <a:pos x="1" y="6"/>
                  </a:cxn>
                </a:cxnLst>
                <a:rect l="0" t="0" r="r" b="b"/>
                <a:pathLst>
                  <a:path w="5" h="7">
                    <a:moveTo>
                      <a:pt x="1" y="6"/>
                    </a:moveTo>
                    <a:cubicBezTo>
                      <a:pt x="1" y="7"/>
                      <a:pt x="2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4" y="7"/>
                      <a:pt x="5" y="6"/>
                      <a:pt x="5" y="5"/>
                    </a:cubicBezTo>
                    <a:cubicBezTo>
                      <a:pt x="5" y="4"/>
                      <a:pt x="4" y="3"/>
                      <a:pt x="4" y="2"/>
                    </a:cubicBezTo>
                    <a:cubicBezTo>
                      <a:pt x="4" y="1"/>
                      <a:pt x="3" y="0"/>
                      <a:pt x="2" y="1"/>
                    </a:cubicBezTo>
                    <a:cubicBezTo>
                      <a:pt x="1" y="1"/>
                      <a:pt x="0" y="2"/>
                      <a:pt x="1" y="3"/>
                    </a:cubicBezTo>
                    <a:cubicBezTo>
                      <a:pt x="1" y="4"/>
                      <a:pt x="1" y="5"/>
                      <a:pt x="1" y="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40" name="Group 74"/>
            <p:cNvGrpSpPr/>
            <p:nvPr/>
          </p:nvGrpSpPr>
          <p:grpSpPr>
            <a:xfrm>
              <a:off x="5762273" y="2593866"/>
              <a:ext cx="459763" cy="449769"/>
              <a:chOff x="6516688" y="1757363"/>
              <a:chExt cx="219075" cy="214313"/>
            </a:xfrm>
            <a:solidFill>
              <a:schemeClr val="bg1"/>
            </a:solidFill>
          </p:grpSpPr>
          <p:sp>
            <p:nvSpPr>
              <p:cNvPr id="41" name="Freeform: Shape 75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6583363" y="1822450"/>
                <a:ext cx="87313" cy="87313"/>
              </a:xfrm>
              <a:custGeom>
                <a:avLst/>
                <a:gdLst/>
                <a:ahLst/>
                <a:cxnLst>
                  <a:cxn ang="0">
                    <a:pos x="0" y="17"/>
                  </a:cxn>
                  <a:cxn ang="0">
                    <a:pos x="17" y="34"/>
                  </a:cxn>
                  <a:cxn ang="0">
                    <a:pos x="34" y="17"/>
                  </a:cxn>
                  <a:cxn ang="0">
                    <a:pos x="17" y="0"/>
                  </a:cxn>
                  <a:cxn ang="0">
                    <a:pos x="0" y="17"/>
                  </a:cxn>
                  <a:cxn ang="0">
                    <a:pos x="29" y="17"/>
                  </a:cxn>
                  <a:cxn ang="0">
                    <a:pos x="17" y="29"/>
                  </a:cxn>
                  <a:cxn ang="0">
                    <a:pos x="5" y="17"/>
                  </a:cxn>
                  <a:cxn ang="0">
                    <a:pos x="17" y="6"/>
                  </a:cxn>
                  <a:cxn ang="0">
                    <a:pos x="29" y="17"/>
                  </a:cxn>
                </a:cxnLst>
                <a:rect l="0" t="0" r="r" b="b"/>
                <a:pathLst>
                  <a:path w="34" h="34">
                    <a:moveTo>
                      <a:pt x="0" y="17"/>
                    </a:moveTo>
                    <a:cubicBezTo>
                      <a:pt x="0" y="27"/>
                      <a:pt x="7" y="34"/>
                      <a:pt x="17" y="34"/>
                    </a:cubicBezTo>
                    <a:cubicBezTo>
                      <a:pt x="26" y="34"/>
                      <a:pt x="34" y="27"/>
                      <a:pt x="34" y="17"/>
                    </a:cubicBezTo>
                    <a:cubicBezTo>
                      <a:pt x="34" y="8"/>
                      <a:pt x="26" y="0"/>
                      <a:pt x="17" y="0"/>
                    </a:cubicBezTo>
                    <a:cubicBezTo>
                      <a:pt x="7" y="0"/>
                      <a:pt x="0" y="8"/>
                      <a:pt x="0" y="17"/>
                    </a:cubicBezTo>
                    <a:close/>
                    <a:moveTo>
                      <a:pt x="29" y="17"/>
                    </a:moveTo>
                    <a:cubicBezTo>
                      <a:pt x="29" y="24"/>
                      <a:pt x="23" y="29"/>
                      <a:pt x="17" y="29"/>
                    </a:cubicBezTo>
                    <a:cubicBezTo>
                      <a:pt x="10" y="29"/>
                      <a:pt x="5" y="24"/>
                      <a:pt x="5" y="17"/>
                    </a:cubicBezTo>
                    <a:cubicBezTo>
                      <a:pt x="5" y="11"/>
                      <a:pt x="10" y="6"/>
                      <a:pt x="17" y="6"/>
                    </a:cubicBezTo>
                    <a:cubicBezTo>
                      <a:pt x="23" y="6"/>
                      <a:pt x="29" y="11"/>
                      <a:pt x="29" y="1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2" name="Freeform: Shape 76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6516688" y="1757363"/>
                <a:ext cx="219075" cy="214313"/>
              </a:xfrm>
              <a:custGeom>
                <a:avLst/>
                <a:gdLst/>
                <a:ahLst/>
                <a:cxnLst>
                  <a:cxn ang="0">
                    <a:pos x="77" y="39"/>
                  </a:cxn>
                  <a:cxn ang="0">
                    <a:pos x="79" y="27"/>
                  </a:cxn>
                  <a:cxn ang="0">
                    <a:pos x="73" y="12"/>
                  </a:cxn>
                  <a:cxn ang="0">
                    <a:pos x="67" y="11"/>
                  </a:cxn>
                  <a:cxn ang="0">
                    <a:pos x="54" y="10"/>
                  </a:cxn>
                  <a:cxn ang="0">
                    <a:pos x="48" y="0"/>
                  </a:cxn>
                  <a:cxn ang="0">
                    <a:pos x="38" y="0"/>
                  </a:cxn>
                  <a:cxn ang="0">
                    <a:pos x="32" y="10"/>
                  </a:cxn>
                  <a:cxn ang="0">
                    <a:pos x="18" y="11"/>
                  </a:cxn>
                  <a:cxn ang="0">
                    <a:pos x="12" y="12"/>
                  </a:cxn>
                  <a:cxn ang="0">
                    <a:pos x="6" y="27"/>
                  </a:cxn>
                  <a:cxn ang="0">
                    <a:pos x="8" y="39"/>
                  </a:cxn>
                  <a:cxn ang="0">
                    <a:pos x="0" y="47"/>
                  </a:cxn>
                  <a:cxn ang="0">
                    <a:pos x="8" y="61"/>
                  </a:cxn>
                  <a:cxn ang="0">
                    <a:pos x="19" y="67"/>
                  </a:cxn>
                  <a:cxn ang="0">
                    <a:pos x="20" y="78"/>
                  </a:cxn>
                  <a:cxn ang="0">
                    <a:pos x="31" y="83"/>
                  </a:cxn>
                  <a:cxn ang="0">
                    <a:pos x="39" y="77"/>
                  </a:cxn>
                  <a:cxn ang="0">
                    <a:pos x="46" y="77"/>
                  </a:cxn>
                  <a:cxn ang="0">
                    <a:pos x="54" y="83"/>
                  </a:cxn>
                  <a:cxn ang="0">
                    <a:pos x="66" y="78"/>
                  </a:cxn>
                  <a:cxn ang="0">
                    <a:pos x="67" y="67"/>
                  </a:cxn>
                  <a:cxn ang="0">
                    <a:pos x="78" y="61"/>
                  </a:cxn>
                  <a:cxn ang="0">
                    <a:pos x="85" y="47"/>
                  </a:cxn>
                  <a:cxn ang="0">
                    <a:pos x="61" y="20"/>
                  </a:cxn>
                  <a:cxn ang="0">
                    <a:pos x="75" y="23"/>
                  </a:cxn>
                  <a:cxn ang="0">
                    <a:pos x="71" y="26"/>
                  </a:cxn>
                  <a:cxn ang="0">
                    <a:pos x="68" y="27"/>
                  </a:cxn>
                  <a:cxn ang="0">
                    <a:pos x="46" y="71"/>
                  </a:cxn>
                  <a:cxn ang="0">
                    <a:pos x="14" y="46"/>
                  </a:cxn>
                  <a:cxn ang="0">
                    <a:pos x="25" y="19"/>
                  </a:cxn>
                  <a:cxn ang="0">
                    <a:pos x="26" y="19"/>
                  </a:cxn>
                  <a:cxn ang="0">
                    <a:pos x="36" y="14"/>
                  </a:cxn>
                  <a:cxn ang="0">
                    <a:pos x="49" y="14"/>
                  </a:cxn>
                  <a:cxn ang="0">
                    <a:pos x="61" y="20"/>
                  </a:cxn>
                  <a:cxn ang="0">
                    <a:pos x="43" y="5"/>
                  </a:cxn>
                  <a:cxn ang="0">
                    <a:pos x="48" y="10"/>
                  </a:cxn>
                  <a:cxn ang="0">
                    <a:pos x="37" y="10"/>
                  </a:cxn>
                  <a:cxn ang="0">
                    <a:pos x="16" y="16"/>
                  </a:cxn>
                  <a:cxn ang="0">
                    <a:pos x="17" y="22"/>
                  </a:cxn>
                  <a:cxn ang="0">
                    <a:pos x="11" y="23"/>
                  </a:cxn>
                  <a:cxn ang="0">
                    <a:pos x="6" y="47"/>
                  </a:cxn>
                  <a:cxn ang="0">
                    <a:pos x="11" y="46"/>
                  </a:cxn>
                  <a:cxn ang="0">
                    <a:pos x="8" y="56"/>
                  </a:cxn>
                  <a:cxn ang="0">
                    <a:pos x="23" y="74"/>
                  </a:cxn>
                  <a:cxn ang="0">
                    <a:pos x="35" y="74"/>
                  </a:cxn>
                  <a:cxn ang="0">
                    <a:pos x="23" y="74"/>
                  </a:cxn>
                  <a:cxn ang="0">
                    <a:pos x="51" y="74"/>
                  </a:cxn>
                  <a:cxn ang="0">
                    <a:pos x="63" y="74"/>
                  </a:cxn>
                  <a:cxn ang="0">
                    <a:pos x="78" y="56"/>
                  </a:cxn>
                  <a:cxn ang="0">
                    <a:pos x="75" y="44"/>
                  </a:cxn>
                  <a:cxn ang="0">
                    <a:pos x="78" y="56"/>
                  </a:cxn>
                </a:cxnLst>
                <a:rect l="0" t="0" r="r" b="b"/>
                <a:pathLst>
                  <a:path w="85" h="83">
                    <a:moveTo>
                      <a:pt x="82" y="42"/>
                    </a:moveTo>
                    <a:cubicBezTo>
                      <a:pt x="77" y="39"/>
                      <a:pt x="77" y="39"/>
                      <a:pt x="77" y="39"/>
                    </a:cubicBezTo>
                    <a:cubicBezTo>
                      <a:pt x="77" y="37"/>
                      <a:pt x="76" y="34"/>
                      <a:pt x="75" y="31"/>
                    </a:cubicBezTo>
                    <a:cubicBezTo>
                      <a:pt x="79" y="27"/>
                      <a:pt x="79" y="27"/>
                      <a:pt x="79" y="27"/>
                    </a:cubicBezTo>
                    <a:cubicBezTo>
                      <a:pt x="81" y="25"/>
                      <a:pt x="81" y="23"/>
                      <a:pt x="80" y="21"/>
                    </a:cubicBezTo>
                    <a:cubicBezTo>
                      <a:pt x="78" y="18"/>
                      <a:pt x="76" y="15"/>
                      <a:pt x="73" y="12"/>
                    </a:cubicBezTo>
                    <a:cubicBezTo>
                      <a:pt x="72" y="11"/>
                      <a:pt x="71" y="11"/>
                      <a:pt x="70" y="11"/>
                    </a:cubicBezTo>
                    <a:cubicBezTo>
                      <a:pt x="69" y="11"/>
                      <a:pt x="68" y="11"/>
                      <a:pt x="67" y="11"/>
                    </a:cubicBezTo>
                    <a:cubicBezTo>
                      <a:pt x="62" y="14"/>
                      <a:pt x="62" y="14"/>
                      <a:pt x="62" y="14"/>
                    </a:cubicBezTo>
                    <a:cubicBezTo>
                      <a:pt x="59" y="12"/>
                      <a:pt x="57" y="11"/>
                      <a:pt x="54" y="10"/>
                    </a:cubicBezTo>
                    <a:cubicBezTo>
                      <a:pt x="52" y="4"/>
                      <a:pt x="52" y="4"/>
                      <a:pt x="52" y="4"/>
                    </a:cubicBezTo>
                    <a:cubicBezTo>
                      <a:pt x="52" y="2"/>
                      <a:pt x="50" y="0"/>
                      <a:pt x="48" y="0"/>
                    </a:cubicBezTo>
                    <a:cubicBezTo>
                      <a:pt x="46" y="0"/>
                      <a:pt x="44" y="0"/>
                      <a:pt x="43" y="0"/>
                    </a:cubicBezTo>
                    <a:cubicBezTo>
                      <a:pt x="41" y="0"/>
                      <a:pt x="40" y="0"/>
                      <a:pt x="38" y="0"/>
                    </a:cubicBezTo>
                    <a:cubicBezTo>
                      <a:pt x="36" y="0"/>
                      <a:pt x="34" y="2"/>
                      <a:pt x="33" y="4"/>
                    </a:cubicBezTo>
                    <a:cubicBezTo>
                      <a:pt x="32" y="10"/>
                      <a:pt x="32" y="10"/>
                      <a:pt x="32" y="10"/>
                    </a:cubicBezTo>
                    <a:cubicBezTo>
                      <a:pt x="29" y="11"/>
                      <a:pt x="26" y="12"/>
                      <a:pt x="24" y="14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8" y="11"/>
                      <a:pt x="17" y="11"/>
                      <a:pt x="16" y="11"/>
                    </a:cubicBezTo>
                    <a:cubicBezTo>
                      <a:pt x="15" y="11"/>
                      <a:pt x="13" y="11"/>
                      <a:pt x="12" y="12"/>
                    </a:cubicBezTo>
                    <a:cubicBezTo>
                      <a:pt x="10" y="15"/>
                      <a:pt x="8" y="18"/>
                      <a:pt x="6" y="21"/>
                    </a:cubicBezTo>
                    <a:cubicBezTo>
                      <a:pt x="5" y="23"/>
                      <a:pt x="5" y="25"/>
                      <a:pt x="6" y="27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9" y="34"/>
                      <a:pt x="9" y="37"/>
                      <a:pt x="8" y="39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1" y="43"/>
                      <a:pt x="0" y="45"/>
                      <a:pt x="0" y="47"/>
                    </a:cubicBezTo>
                    <a:cubicBezTo>
                      <a:pt x="1" y="51"/>
                      <a:pt x="2" y="54"/>
                      <a:pt x="3" y="58"/>
                    </a:cubicBezTo>
                    <a:cubicBezTo>
                      <a:pt x="4" y="60"/>
                      <a:pt x="6" y="61"/>
                      <a:pt x="8" y="61"/>
                    </a:cubicBezTo>
                    <a:cubicBezTo>
                      <a:pt x="14" y="61"/>
                      <a:pt x="14" y="61"/>
                      <a:pt x="14" y="61"/>
                    </a:cubicBezTo>
                    <a:cubicBezTo>
                      <a:pt x="15" y="63"/>
                      <a:pt x="17" y="65"/>
                      <a:pt x="19" y="67"/>
                    </a:cubicBezTo>
                    <a:cubicBezTo>
                      <a:pt x="17" y="73"/>
                      <a:pt x="17" y="73"/>
                      <a:pt x="17" y="73"/>
                    </a:cubicBezTo>
                    <a:cubicBezTo>
                      <a:pt x="17" y="75"/>
                      <a:pt x="18" y="77"/>
                      <a:pt x="20" y="78"/>
                    </a:cubicBezTo>
                    <a:cubicBezTo>
                      <a:pt x="23" y="80"/>
                      <a:pt x="26" y="82"/>
                      <a:pt x="30" y="83"/>
                    </a:cubicBezTo>
                    <a:cubicBezTo>
                      <a:pt x="30" y="83"/>
                      <a:pt x="31" y="83"/>
                      <a:pt x="31" y="83"/>
                    </a:cubicBezTo>
                    <a:cubicBezTo>
                      <a:pt x="33" y="83"/>
                      <a:pt x="34" y="82"/>
                      <a:pt x="35" y="81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41" y="77"/>
                      <a:pt x="42" y="77"/>
                      <a:pt x="43" y="77"/>
                    </a:cubicBezTo>
                    <a:cubicBezTo>
                      <a:pt x="44" y="77"/>
                      <a:pt x="45" y="77"/>
                      <a:pt x="46" y="77"/>
                    </a:cubicBezTo>
                    <a:cubicBezTo>
                      <a:pt x="50" y="81"/>
                      <a:pt x="50" y="81"/>
                      <a:pt x="50" y="81"/>
                    </a:cubicBezTo>
                    <a:cubicBezTo>
                      <a:pt x="51" y="82"/>
                      <a:pt x="53" y="83"/>
                      <a:pt x="54" y="83"/>
                    </a:cubicBezTo>
                    <a:cubicBezTo>
                      <a:pt x="55" y="83"/>
                      <a:pt x="55" y="83"/>
                      <a:pt x="56" y="83"/>
                    </a:cubicBezTo>
                    <a:cubicBezTo>
                      <a:pt x="59" y="82"/>
                      <a:pt x="63" y="80"/>
                      <a:pt x="66" y="78"/>
                    </a:cubicBezTo>
                    <a:cubicBezTo>
                      <a:pt x="68" y="77"/>
                      <a:pt x="69" y="75"/>
                      <a:pt x="68" y="73"/>
                    </a:cubicBezTo>
                    <a:cubicBezTo>
                      <a:pt x="67" y="67"/>
                      <a:pt x="67" y="67"/>
                      <a:pt x="67" y="67"/>
                    </a:cubicBezTo>
                    <a:cubicBezTo>
                      <a:pt x="69" y="65"/>
                      <a:pt x="70" y="63"/>
                      <a:pt x="72" y="61"/>
                    </a:cubicBezTo>
                    <a:cubicBezTo>
                      <a:pt x="78" y="61"/>
                      <a:pt x="78" y="61"/>
                      <a:pt x="78" y="61"/>
                    </a:cubicBezTo>
                    <a:cubicBezTo>
                      <a:pt x="80" y="61"/>
                      <a:pt x="82" y="60"/>
                      <a:pt x="83" y="58"/>
                    </a:cubicBezTo>
                    <a:cubicBezTo>
                      <a:pt x="84" y="54"/>
                      <a:pt x="85" y="51"/>
                      <a:pt x="85" y="47"/>
                    </a:cubicBezTo>
                    <a:cubicBezTo>
                      <a:pt x="85" y="45"/>
                      <a:pt x="84" y="43"/>
                      <a:pt x="82" y="42"/>
                    </a:cubicBezTo>
                    <a:close/>
                    <a:moveTo>
                      <a:pt x="61" y="20"/>
                    </a:moveTo>
                    <a:cubicBezTo>
                      <a:pt x="70" y="16"/>
                      <a:pt x="70" y="16"/>
                      <a:pt x="70" y="16"/>
                    </a:cubicBezTo>
                    <a:cubicBezTo>
                      <a:pt x="72" y="18"/>
                      <a:pt x="73" y="21"/>
                      <a:pt x="75" y="23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1" y="27"/>
                      <a:pt x="71" y="26"/>
                      <a:pt x="71" y="26"/>
                    </a:cubicBezTo>
                    <a:cubicBezTo>
                      <a:pt x="70" y="25"/>
                      <a:pt x="69" y="24"/>
                      <a:pt x="68" y="25"/>
                    </a:cubicBezTo>
                    <a:cubicBezTo>
                      <a:pt x="67" y="25"/>
                      <a:pt x="67" y="27"/>
                      <a:pt x="68" y="27"/>
                    </a:cubicBezTo>
                    <a:cubicBezTo>
                      <a:pt x="70" y="31"/>
                      <a:pt x="71" y="35"/>
                      <a:pt x="72" y="39"/>
                    </a:cubicBezTo>
                    <a:cubicBezTo>
                      <a:pt x="73" y="55"/>
                      <a:pt x="62" y="69"/>
                      <a:pt x="46" y="71"/>
                    </a:cubicBezTo>
                    <a:cubicBezTo>
                      <a:pt x="38" y="72"/>
                      <a:pt x="31" y="70"/>
                      <a:pt x="25" y="65"/>
                    </a:cubicBezTo>
                    <a:cubicBezTo>
                      <a:pt x="19" y="60"/>
                      <a:pt x="15" y="53"/>
                      <a:pt x="14" y="46"/>
                    </a:cubicBezTo>
                    <a:cubicBezTo>
                      <a:pt x="13" y="38"/>
                      <a:pt x="15" y="30"/>
                      <a:pt x="20" y="24"/>
                    </a:cubicBezTo>
                    <a:cubicBezTo>
                      <a:pt x="22" y="22"/>
                      <a:pt x="23" y="21"/>
                      <a:pt x="25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9" y="17"/>
                      <a:pt x="32" y="15"/>
                      <a:pt x="36" y="14"/>
                    </a:cubicBezTo>
                    <a:cubicBezTo>
                      <a:pt x="36" y="14"/>
                      <a:pt x="36" y="14"/>
                      <a:pt x="36" y="14"/>
                    </a:cubicBezTo>
                    <a:cubicBezTo>
                      <a:pt x="37" y="14"/>
                      <a:pt x="38" y="14"/>
                      <a:pt x="40" y="14"/>
                    </a:cubicBezTo>
                    <a:cubicBezTo>
                      <a:pt x="43" y="13"/>
                      <a:pt x="46" y="13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54" y="15"/>
                      <a:pt x="58" y="17"/>
                      <a:pt x="61" y="20"/>
                    </a:cubicBezTo>
                    <a:close/>
                    <a:moveTo>
                      <a:pt x="38" y="5"/>
                    </a:moveTo>
                    <a:cubicBezTo>
                      <a:pt x="40" y="5"/>
                      <a:pt x="41" y="5"/>
                      <a:pt x="43" y="5"/>
                    </a:cubicBezTo>
                    <a:cubicBezTo>
                      <a:pt x="44" y="5"/>
                      <a:pt x="46" y="5"/>
                      <a:pt x="47" y="5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5" y="10"/>
                      <a:pt x="42" y="10"/>
                      <a:pt x="39" y="10"/>
                    </a:cubicBezTo>
                    <a:cubicBezTo>
                      <a:pt x="39" y="10"/>
                      <a:pt x="38" y="10"/>
                      <a:pt x="37" y="10"/>
                    </a:cubicBezTo>
                    <a:lnTo>
                      <a:pt x="38" y="5"/>
                    </a:lnTo>
                    <a:close/>
                    <a:moveTo>
                      <a:pt x="16" y="16"/>
                    </a:moveTo>
                    <a:cubicBezTo>
                      <a:pt x="21" y="18"/>
                      <a:pt x="21" y="18"/>
                      <a:pt x="21" y="18"/>
                    </a:cubicBezTo>
                    <a:cubicBezTo>
                      <a:pt x="20" y="19"/>
                      <a:pt x="18" y="21"/>
                      <a:pt x="17" y="22"/>
                    </a:cubicBezTo>
                    <a:cubicBezTo>
                      <a:pt x="16" y="24"/>
                      <a:pt x="15" y="26"/>
                      <a:pt x="14" y="28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2" y="21"/>
                      <a:pt x="14" y="18"/>
                      <a:pt x="16" y="16"/>
                    </a:cubicBezTo>
                    <a:close/>
                    <a:moveTo>
                      <a:pt x="6" y="47"/>
                    </a:moveTo>
                    <a:cubicBezTo>
                      <a:pt x="10" y="44"/>
                      <a:pt x="10" y="44"/>
                      <a:pt x="10" y="44"/>
                    </a:cubicBezTo>
                    <a:cubicBezTo>
                      <a:pt x="10" y="45"/>
                      <a:pt x="11" y="45"/>
                      <a:pt x="11" y="46"/>
                    </a:cubicBezTo>
                    <a:cubicBezTo>
                      <a:pt x="11" y="49"/>
                      <a:pt x="12" y="53"/>
                      <a:pt x="13" y="56"/>
                    </a:cubicBezTo>
                    <a:cubicBezTo>
                      <a:pt x="8" y="56"/>
                      <a:pt x="8" y="56"/>
                      <a:pt x="8" y="56"/>
                    </a:cubicBezTo>
                    <a:cubicBezTo>
                      <a:pt x="7" y="53"/>
                      <a:pt x="6" y="50"/>
                      <a:pt x="6" y="47"/>
                    </a:cubicBezTo>
                    <a:close/>
                    <a:moveTo>
                      <a:pt x="23" y="74"/>
                    </a:moveTo>
                    <a:cubicBezTo>
                      <a:pt x="24" y="69"/>
                      <a:pt x="24" y="69"/>
                      <a:pt x="24" y="69"/>
                    </a:cubicBezTo>
                    <a:cubicBezTo>
                      <a:pt x="27" y="71"/>
                      <a:pt x="31" y="73"/>
                      <a:pt x="35" y="74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28" y="77"/>
                      <a:pt x="25" y="75"/>
                      <a:pt x="23" y="74"/>
                    </a:cubicBezTo>
                    <a:close/>
                    <a:moveTo>
                      <a:pt x="54" y="78"/>
                    </a:moveTo>
                    <a:cubicBezTo>
                      <a:pt x="51" y="74"/>
                      <a:pt x="51" y="74"/>
                      <a:pt x="51" y="74"/>
                    </a:cubicBezTo>
                    <a:cubicBezTo>
                      <a:pt x="55" y="73"/>
                      <a:pt x="59" y="71"/>
                      <a:pt x="62" y="69"/>
                    </a:cubicBezTo>
                    <a:cubicBezTo>
                      <a:pt x="63" y="74"/>
                      <a:pt x="63" y="74"/>
                      <a:pt x="63" y="74"/>
                    </a:cubicBezTo>
                    <a:cubicBezTo>
                      <a:pt x="60" y="75"/>
                      <a:pt x="57" y="77"/>
                      <a:pt x="54" y="78"/>
                    </a:cubicBezTo>
                    <a:close/>
                    <a:moveTo>
                      <a:pt x="78" y="56"/>
                    </a:moveTo>
                    <a:cubicBezTo>
                      <a:pt x="72" y="56"/>
                      <a:pt x="72" y="56"/>
                      <a:pt x="72" y="56"/>
                    </a:cubicBezTo>
                    <a:cubicBezTo>
                      <a:pt x="74" y="52"/>
                      <a:pt x="75" y="48"/>
                      <a:pt x="75" y="44"/>
                    </a:cubicBezTo>
                    <a:cubicBezTo>
                      <a:pt x="80" y="47"/>
                      <a:pt x="80" y="47"/>
                      <a:pt x="80" y="47"/>
                    </a:cubicBezTo>
                    <a:cubicBezTo>
                      <a:pt x="80" y="50"/>
                      <a:pt x="79" y="53"/>
                      <a:pt x="78" y="5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3" name="Freeform: Shape 134"/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6562725" y="1804988"/>
                <a:ext cx="87313" cy="101600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5" y="40"/>
                  </a:cxn>
                  <a:cxn ang="0">
                    <a:pos x="7" y="40"/>
                  </a:cxn>
                  <a:cxn ang="0">
                    <a:pos x="8" y="40"/>
                  </a:cxn>
                  <a:cxn ang="0">
                    <a:pos x="8" y="37"/>
                  </a:cxn>
                  <a:cxn ang="0">
                    <a:pos x="4" y="24"/>
                  </a:cxn>
                  <a:cxn ang="0">
                    <a:pos x="25" y="3"/>
                  </a:cxn>
                  <a:cxn ang="0">
                    <a:pos x="31" y="4"/>
                  </a:cxn>
                  <a:cxn ang="0">
                    <a:pos x="34" y="3"/>
                  </a:cxn>
                  <a:cxn ang="0">
                    <a:pos x="33" y="1"/>
                  </a:cxn>
                  <a:cxn ang="0">
                    <a:pos x="25" y="0"/>
                  </a:cxn>
                  <a:cxn ang="0">
                    <a:pos x="0" y="24"/>
                  </a:cxn>
                </a:cxnLst>
                <a:rect l="0" t="0" r="r" b="b"/>
                <a:pathLst>
                  <a:path w="34" h="40">
                    <a:moveTo>
                      <a:pt x="0" y="24"/>
                    </a:moveTo>
                    <a:cubicBezTo>
                      <a:pt x="0" y="30"/>
                      <a:pt x="2" y="35"/>
                      <a:pt x="5" y="40"/>
                    </a:cubicBezTo>
                    <a:cubicBezTo>
                      <a:pt x="6" y="40"/>
                      <a:pt x="6" y="40"/>
                      <a:pt x="7" y="40"/>
                    </a:cubicBezTo>
                    <a:cubicBezTo>
                      <a:pt x="7" y="40"/>
                      <a:pt x="8" y="40"/>
                      <a:pt x="8" y="40"/>
                    </a:cubicBezTo>
                    <a:cubicBezTo>
                      <a:pt x="9" y="39"/>
                      <a:pt x="9" y="38"/>
                      <a:pt x="8" y="37"/>
                    </a:cubicBezTo>
                    <a:cubicBezTo>
                      <a:pt x="5" y="34"/>
                      <a:pt x="4" y="29"/>
                      <a:pt x="4" y="24"/>
                    </a:cubicBezTo>
                    <a:cubicBezTo>
                      <a:pt x="4" y="13"/>
                      <a:pt x="13" y="3"/>
                      <a:pt x="25" y="3"/>
                    </a:cubicBezTo>
                    <a:cubicBezTo>
                      <a:pt x="27" y="3"/>
                      <a:pt x="29" y="3"/>
                      <a:pt x="31" y="4"/>
                    </a:cubicBezTo>
                    <a:cubicBezTo>
                      <a:pt x="32" y="4"/>
                      <a:pt x="33" y="4"/>
                      <a:pt x="34" y="3"/>
                    </a:cubicBezTo>
                    <a:cubicBezTo>
                      <a:pt x="34" y="2"/>
                      <a:pt x="33" y="1"/>
                      <a:pt x="33" y="1"/>
                    </a:cubicBezTo>
                    <a:cubicBezTo>
                      <a:pt x="30" y="0"/>
                      <a:pt x="27" y="0"/>
                      <a:pt x="25" y="0"/>
                    </a:cubicBezTo>
                    <a:cubicBezTo>
                      <a:pt x="11" y="0"/>
                      <a:pt x="0" y="11"/>
                      <a:pt x="0" y="2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4" name="Freeform: Shape 135"/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6594475" y="1822450"/>
                <a:ext cx="96838" cy="107950"/>
              </a:xfrm>
              <a:custGeom>
                <a:avLst/>
                <a:gdLst/>
                <a:ahLst/>
                <a:cxnLst>
                  <a:cxn ang="0">
                    <a:pos x="34" y="17"/>
                  </a:cxn>
                  <a:cxn ang="0">
                    <a:pos x="13" y="38"/>
                  </a:cxn>
                  <a:cxn ang="0">
                    <a:pos x="3" y="36"/>
                  </a:cxn>
                  <a:cxn ang="0">
                    <a:pos x="1" y="37"/>
                  </a:cxn>
                  <a:cxn ang="0">
                    <a:pos x="2" y="39"/>
                  </a:cxn>
                  <a:cxn ang="0">
                    <a:pos x="13" y="42"/>
                  </a:cxn>
                  <a:cxn ang="0">
                    <a:pos x="38" y="17"/>
                  </a:cxn>
                  <a:cxn ang="0">
                    <a:pos x="31" y="1"/>
                  </a:cxn>
                  <a:cxn ang="0">
                    <a:pos x="29" y="1"/>
                  </a:cxn>
                  <a:cxn ang="0">
                    <a:pos x="29" y="3"/>
                  </a:cxn>
                  <a:cxn ang="0">
                    <a:pos x="34" y="17"/>
                  </a:cxn>
                </a:cxnLst>
                <a:rect l="0" t="0" r="r" b="b"/>
                <a:pathLst>
                  <a:path w="38" h="42">
                    <a:moveTo>
                      <a:pt x="34" y="17"/>
                    </a:moveTo>
                    <a:cubicBezTo>
                      <a:pt x="34" y="29"/>
                      <a:pt x="25" y="38"/>
                      <a:pt x="13" y="38"/>
                    </a:cubicBezTo>
                    <a:cubicBezTo>
                      <a:pt x="9" y="38"/>
                      <a:pt x="6" y="38"/>
                      <a:pt x="3" y="36"/>
                    </a:cubicBezTo>
                    <a:cubicBezTo>
                      <a:pt x="2" y="36"/>
                      <a:pt x="1" y="36"/>
                      <a:pt x="1" y="37"/>
                    </a:cubicBezTo>
                    <a:cubicBezTo>
                      <a:pt x="0" y="38"/>
                      <a:pt x="1" y="39"/>
                      <a:pt x="2" y="39"/>
                    </a:cubicBezTo>
                    <a:cubicBezTo>
                      <a:pt x="5" y="41"/>
                      <a:pt x="9" y="42"/>
                      <a:pt x="13" y="42"/>
                    </a:cubicBezTo>
                    <a:cubicBezTo>
                      <a:pt x="26" y="42"/>
                      <a:pt x="38" y="31"/>
                      <a:pt x="38" y="17"/>
                    </a:cubicBezTo>
                    <a:cubicBezTo>
                      <a:pt x="38" y="11"/>
                      <a:pt x="35" y="5"/>
                      <a:pt x="31" y="1"/>
                    </a:cubicBezTo>
                    <a:cubicBezTo>
                      <a:pt x="31" y="0"/>
                      <a:pt x="30" y="0"/>
                      <a:pt x="29" y="1"/>
                    </a:cubicBezTo>
                    <a:cubicBezTo>
                      <a:pt x="28" y="1"/>
                      <a:pt x="28" y="3"/>
                      <a:pt x="29" y="3"/>
                    </a:cubicBezTo>
                    <a:cubicBezTo>
                      <a:pt x="32" y="7"/>
                      <a:pt x="34" y="12"/>
                      <a:pt x="34" y="1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45" name="Group 136"/>
            <p:cNvGrpSpPr/>
            <p:nvPr/>
          </p:nvGrpSpPr>
          <p:grpSpPr>
            <a:xfrm>
              <a:off x="7264147" y="4776120"/>
              <a:ext cx="333161" cy="453099"/>
              <a:chOff x="6548438" y="2333625"/>
              <a:chExt cx="158750" cy="215900"/>
            </a:xfrm>
            <a:solidFill>
              <a:schemeClr val="bg1"/>
            </a:solidFill>
          </p:grpSpPr>
          <p:sp>
            <p:nvSpPr>
              <p:cNvPr id="46" name="Freeform: Shape 137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6548438" y="2333625"/>
                <a:ext cx="158750" cy="215900"/>
              </a:xfrm>
              <a:custGeom>
                <a:avLst/>
                <a:gdLst/>
                <a:ahLst/>
                <a:cxnLst>
                  <a:cxn ang="0">
                    <a:pos x="57" y="0"/>
                  </a:cxn>
                  <a:cxn ang="0">
                    <a:pos x="5" y="0"/>
                  </a:cxn>
                  <a:cxn ang="0">
                    <a:pos x="0" y="5"/>
                  </a:cxn>
                  <a:cxn ang="0">
                    <a:pos x="0" y="22"/>
                  </a:cxn>
                  <a:cxn ang="0">
                    <a:pos x="2" y="26"/>
                  </a:cxn>
                  <a:cxn ang="0">
                    <a:pos x="19" y="37"/>
                  </a:cxn>
                  <a:cxn ang="0">
                    <a:pos x="6" y="59"/>
                  </a:cxn>
                  <a:cxn ang="0">
                    <a:pos x="31" y="84"/>
                  </a:cxn>
                  <a:cxn ang="0">
                    <a:pos x="56" y="59"/>
                  </a:cxn>
                  <a:cxn ang="0">
                    <a:pos x="43" y="37"/>
                  </a:cxn>
                  <a:cxn ang="0">
                    <a:pos x="59" y="26"/>
                  </a:cxn>
                  <a:cxn ang="0">
                    <a:pos x="62" y="22"/>
                  </a:cxn>
                  <a:cxn ang="0">
                    <a:pos x="62" y="5"/>
                  </a:cxn>
                  <a:cxn ang="0">
                    <a:pos x="57" y="0"/>
                  </a:cxn>
                  <a:cxn ang="0">
                    <a:pos x="50" y="59"/>
                  </a:cxn>
                  <a:cxn ang="0">
                    <a:pos x="31" y="79"/>
                  </a:cxn>
                  <a:cxn ang="0">
                    <a:pos x="11" y="59"/>
                  </a:cxn>
                  <a:cxn ang="0">
                    <a:pos x="31" y="40"/>
                  </a:cxn>
                  <a:cxn ang="0">
                    <a:pos x="50" y="59"/>
                  </a:cxn>
                  <a:cxn ang="0">
                    <a:pos x="57" y="22"/>
                  </a:cxn>
                  <a:cxn ang="0">
                    <a:pos x="46" y="29"/>
                  </a:cxn>
                  <a:cxn ang="0">
                    <a:pos x="46" y="19"/>
                  </a:cxn>
                  <a:cxn ang="0">
                    <a:pos x="45" y="17"/>
                  </a:cxn>
                  <a:cxn ang="0">
                    <a:pos x="43" y="19"/>
                  </a:cxn>
                  <a:cxn ang="0">
                    <a:pos x="43" y="31"/>
                  </a:cxn>
                  <a:cxn ang="0">
                    <a:pos x="37" y="35"/>
                  </a:cxn>
                  <a:cxn ang="0">
                    <a:pos x="31" y="35"/>
                  </a:cxn>
                  <a:cxn ang="0">
                    <a:pos x="25" y="35"/>
                  </a:cxn>
                  <a:cxn ang="0">
                    <a:pos x="19" y="31"/>
                  </a:cxn>
                  <a:cxn ang="0">
                    <a:pos x="19" y="19"/>
                  </a:cxn>
                  <a:cxn ang="0">
                    <a:pos x="17" y="17"/>
                  </a:cxn>
                  <a:cxn ang="0">
                    <a:pos x="15" y="19"/>
                  </a:cxn>
                  <a:cxn ang="0">
                    <a:pos x="15" y="29"/>
                  </a:cxn>
                  <a:cxn ang="0">
                    <a:pos x="5" y="22"/>
                  </a:cxn>
                  <a:cxn ang="0">
                    <a:pos x="5" y="5"/>
                  </a:cxn>
                  <a:cxn ang="0">
                    <a:pos x="15" y="5"/>
                  </a:cxn>
                  <a:cxn ang="0">
                    <a:pos x="15" y="10"/>
                  </a:cxn>
                  <a:cxn ang="0">
                    <a:pos x="17" y="11"/>
                  </a:cxn>
                  <a:cxn ang="0">
                    <a:pos x="19" y="10"/>
                  </a:cxn>
                  <a:cxn ang="0">
                    <a:pos x="19" y="5"/>
                  </a:cxn>
                  <a:cxn ang="0">
                    <a:pos x="43" y="5"/>
                  </a:cxn>
                  <a:cxn ang="0">
                    <a:pos x="43" y="10"/>
                  </a:cxn>
                  <a:cxn ang="0">
                    <a:pos x="45" y="11"/>
                  </a:cxn>
                  <a:cxn ang="0">
                    <a:pos x="46" y="10"/>
                  </a:cxn>
                  <a:cxn ang="0">
                    <a:pos x="46" y="5"/>
                  </a:cxn>
                  <a:cxn ang="0">
                    <a:pos x="57" y="5"/>
                  </a:cxn>
                  <a:cxn ang="0">
                    <a:pos x="57" y="22"/>
                  </a:cxn>
                </a:cxnLst>
                <a:rect l="0" t="0" r="r" b="b"/>
                <a:pathLst>
                  <a:path w="62" h="84">
                    <a:moveTo>
                      <a:pt x="57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4"/>
                      <a:pt x="1" y="25"/>
                      <a:pt x="2" y="26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1" y="42"/>
                      <a:pt x="6" y="50"/>
                      <a:pt x="6" y="59"/>
                    </a:cubicBezTo>
                    <a:cubicBezTo>
                      <a:pt x="6" y="73"/>
                      <a:pt x="17" y="84"/>
                      <a:pt x="31" y="84"/>
                    </a:cubicBezTo>
                    <a:cubicBezTo>
                      <a:pt x="45" y="84"/>
                      <a:pt x="56" y="73"/>
                      <a:pt x="56" y="59"/>
                    </a:cubicBezTo>
                    <a:cubicBezTo>
                      <a:pt x="56" y="50"/>
                      <a:pt x="50" y="42"/>
                      <a:pt x="43" y="37"/>
                    </a:cubicBezTo>
                    <a:cubicBezTo>
                      <a:pt x="59" y="26"/>
                      <a:pt x="59" y="26"/>
                      <a:pt x="59" y="26"/>
                    </a:cubicBezTo>
                    <a:cubicBezTo>
                      <a:pt x="61" y="25"/>
                      <a:pt x="62" y="24"/>
                      <a:pt x="62" y="22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2"/>
                      <a:pt x="59" y="0"/>
                      <a:pt x="57" y="0"/>
                    </a:cubicBezTo>
                    <a:close/>
                    <a:moveTo>
                      <a:pt x="50" y="59"/>
                    </a:moveTo>
                    <a:cubicBezTo>
                      <a:pt x="50" y="70"/>
                      <a:pt x="42" y="79"/>
                      <a:pt x="31" y="79"/>
                    </a:cubicBezTo>
                    <a:cubicBezTo>
                      <a:pt x="20" y="79"/>
                      <a:pt x="11" y="70"/>
                      <a:pt x="11" y="59"/>
                    </a:cubicBezTo>
                    <a:cubicBezTo>
                      <a:pt x="11" y="49"/>
                      <a:pt x="20" y="40"/>
                      <a:pt x="31" y="40"/>
                    </a:cubicBezTo>
                    <a:cubicBezTo>
                      <a:pt x="42" y="40"/>
                      <a:pt x="50" y="49"/>
                      <a:pt x="50" y="59"/>
                    </a:cubicBezTo>
                    <a:close/>
                    <a:moveTo>
                      <a:pt x="57" y="22"/>
                    </a:moveTo>
                    <a:cubicBezTo>
                      <a:pt x="46" y="29"/>
                      <a:pt x="46" y="29"/>
                      <a:pt x="46" y="29"/>
                    </a:cubicBezTo>
                    <a:cubicBezTo>
                      <a:pt x="46" y="19"/>
                      <a:pt x="46" y="19"/>
                      <a:pt x="46" y="19"/>
                    </a:cubicBezTo>
                    <a:cubicBezTo>
                      <a:pt x="46" y="18"/>
                      <a:pt x="46" y="17"/>
                      <a:pt x="45" y="17"/>
                    </a:cubicBezTo>
                    <a:cubicBezTo>
                      <a:pt x="44" y="17"/>
                      <a:pt x="43" y="18"/>
                      <a:pt x="43" y="19"/>
                    </a:cubicBezTo>
                    <a:cubicBezTo>
                      <a:pt x="43" y="31"/>
                      <a:pt x="43" y="31"/>
                      <a:pt x="43" y="31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5" y="35"/>
                      <a:pt x="33" y="35"/>
                      <a:pt x="31" y="35"/>
                    </a:cubicBezTo>
                    <a:cubicBezTo>
                      <a:pt x="29" y="35"/>
                      <a:pt x="27" y="35"/>
                      <a:pt x="25" y="35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19" y="19"/>
                      <a:pt x="19" y="19"/>
                      <a:pt x="19" y="19"/>
                    </a:cubicBezTo>
                    <a:cubicBezTo>
                      <a:pt x="19" y="18"/>
                      <a:pt x="18" y="17"/>
                      <a:pt x="17" y="17"/>
                    </a:cubicBezTo>
                    <a:cubicBezTo>
                      <a:pt x="16" y="17"/>
                      <a:pt x="15" y="18"/>
                      <a:pt x="15" y="1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5" y="22"/>
                      <a:pt x="5" y="22"/>
                      <a:pt x="5" y="22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1"/>
                      <a:pt x="16" y="11"/>
                      <a:pt x="17" y="11"/>
                    </a:cubicBezTo>
                    <a:cubicBezTo>
                      <a:pt x="18" y="11"/>
                      <a:pt x="19" y="11"/>
                      <a:pt x="19" y="10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3" y="10"/>
                      <a:pt x="43" y="10"/>
                      <a:pt x="43" y="10"/>
                    </a:cubicBezTo>
                    <a:cubicBezTo>
                      <a:pt x="43" y="11"/>
                      <a:pt x="44" y="11"/>
                      <a:pt x="45" y="11"/>
                    </a:cubicBezTo>
                    <a:cubicBezTo>
                      <a:pt x="46" y="11"/>
                      <a:pt x="46" y="11"/>
                      <a:pt x="46" y="10"/>
                    </a:cubicBezTo>
                    <a:cubicBezTo>
                      <a:pt x="46" y="5"/>
                      <a:pt x="46" y="5"/>
                      <a:pt x="46" y="5"/>
                    </a:cubicBezTo>
                    <a:cubicBezTo>
                      <a:pt x="57" y="5"/>
                      <a:pt x="57" y="5"/>
                      <a:pt x="57" y="5"/>
                    </a:cubicBezTo>
                    <a:lnTo>
                      <a:pt x="57" y="2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7" name="Freeform: Shape 138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6586538" y="2446338"/>
                <a:ext cx="82550" cy="76200"/>
              </a:xfrm>
              <a:custGeom>
                <a:avLst/>
                <a:gdLst/>
                <a:ahLst/>
                <a:cxnLst>
                  <a:cxn ang="0">
                    <a:pos x="13" y="2"/>
                  </a:cxn>
                  <a:cxn ang="0">
                    <a:pos x="10" y="8"/>
                  </a:cxn>
                  <a:cxn ang="0">
                    <a:pos x="3" y="9"/>
                  </a:cxn>
                  <a:cxn ang="0">
                    <a:pos x="0" y="11"/>
                  </a:cxn>
                  <a:cxn ang="0">
                    <a:pos x="1" y="15"/>
                  </a:cxn>
                  <a:cxn ang="0">
                    <a:pos x="6" y="19"/>
                  </a:cxn>
                  <a:cxn ang="0">
                    <a:pos x="5" y="26"/>
                  </a:cxn>
                  <a:cxn ang="0">
                    <a:pos x="6" y="29"/>
                  </a:cxn>
                  <a:cxn ang="0">
                    <a:pos x="8" y="30"/>
                  </a:cxn>
                  <a:cxn ang="0">
                    <a:pos x="10" y="29"/>
                  </a:cxn>
                  <a:cxn ang="0">
                    <a:pos x="16" y="26"/>
                  </a:cxn>
                  <a:cxn ang="0">
                    <a:pos x="22" y="29"/>
                  </a:cxn>
                  <a:cxn ang="0">
                    <a:pos x="23" y="30"/>
                  </a:cxn>
                  <a:cxn ang="0">
                    <a:pos x="25" y="29"/>
                  </a:cxn>
                  <a:cxn ang="0">
                    <a:pos x="27" y="26"/>
                  </a:cxn>
                  <a:cxn ang="0">
                    <a:pos x="26" y="19"/>
                  </a:cxn>
                  <a:cxn ang="0">
                    <a:pos x="30" y="14"/>
                  </a:cxn>
                  <a:cxn ang="0">
                    <a:pos x="31" y="11"/>
                  </a:cxn>
                  <a:cxn ang="0">
                    <a:pos x="28" y="9"/>
                  </a:cxn>
                  <a:cxn ang="0">
                    <a:pos x="22" y="8"/>
                  </a:cxn>
                  <a:cxn ang="0">
                    <a:pos x="19" y="2"/>
                  </a:cxn>
                  <a:cxn ang="0">
                    <a:pos x="16" y="0"/>
                  </a:cxn>
                  <a:cxn ang="0">
                    <a:pos x="13" y="2"/>
                  </a:cxn>
                  <a:cxn ang="0">
                    <a:pos x="20" y="11"/>
                  </a:cxn>
                  <a:cxn ang="0">
                    <a:pos x="28" y="12"/>
                  </a:cxn>
                  <a:cxn ang="0">
                    <a:pos x="22" y="18"/>
                  </a:cxn>
                  <a:cxn ang="0">
                    <a:pos x="23" y="26"/>
                  </a:cxn>
                  <a:cxn ang="0">
                    <a:pos x="16" y="22"/>
                  </a:cxn>
                  <a:cxn ang="0">
                    <a:pos x="8" y="26"/>
                  </a:cxn>
                  <a:cxn ang="0">
                    <a:pos x="10" y="18"/>
                  </a:cxn>
                  <a:cxn ang="0">
                    <a:pos x="4" y="12"/>
                  </a:cxn>
                  <a:cxn ang="0">
                    <a:pos x="12" y="11"/>
                  </a:cxn>
                  <a:cxn ang="0">
                    <a:pos x="16" y="3"/>
                  </a:cxn>
                  <a:cxn ang="0">
                    <a:pos x="20" y="11"/>
                  </a:cxn>
                </a:cxnLst>
                <a:rect l="0" t="0" r="r" b="b"/>
                <a:pathLst>
                  <a:path w="32" h="30">
                    <a:moveTo>
                      <a:pt x="13" y="2"/>
                    </a:moveTo>
                    <a:cubicBezTo>
                      <a:pt x="10" y="8"/>
                      <a:pt x="10" y="8"/>
                      <a:pt x="10" y="8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2" y="9"/>
                      <a:pt x="1" y="10"/>
                      <a:pt x="0" y="11"/>
                    </a:cubicBezTo>
                    <a:cubicBezTo>
                      <a:pt x="0" y="12"/>
                      <a:pt x="0" y="14"/>
                      <a:pt x="1" y="15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7"/>
                      <a:pt x="5" y="28"/>
                      <a:pt x="6" y="29"/>
                    </a:cubicBezTo>
                    <a:cubicBezTo>
                      <a:pt x="7" y="30"/>
                      <a:pt x="8" y="30"/>
                      <a:pt x="8" y="30"/>
                    </a:cubicBezTo>
                    <a:cubicBezTo>
                      <a:pt x="9" y="30"/>
                      <a:pt x="9" y="30"/>
                      <a:pt x="10" y="29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22" y="29"/>
                      <a:pt x="22" y="29"/>
                      <a:pt x="22" y="29"/>
                    </a:cubicBezTo>
                    <a:cubicBezTo>
                      <a:pt x="22" y="30"/>
                      <a:pt x="23" y="30"/>
                      <a:pt x="23" y="30"/>
                    </a:cubicBezTo>
                    <a:cubicBezTo>
                      <a:pt x="24" y="30"/>
                      <a:pt x="25" y="30"/>
                      <a:pt x="25" y="29"/>
                    </a:cubicBezTo>
                    <a:cubicBezTo>
                      <a:pt x="26" y="28"/>
                      <a:pt x="27" y="27"/>
                      <a:pt x="27" y="26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30" y="14"/>
                      <a:pt x="30" y="14"/>
                      <a:pt x="30" y="14"/>
                    </a:cubicBezTo>
                    <a:cubicBezTo>
                      <a:pt x="31" y="14"/>
                      <a:pt x="32" y="12"/>
                      <a:pt x="31" y="11"/>
                    </a:cubicBezTo>
                    <a:cubicBezTo>
                      <a:pt x="31" y="10"/>
                      <a:pt x="30" y="9"/>
                      <a:pt x="28" y="9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8" y="0"/>
                      <a:pt x="17" y="0"/>
                      <a:pt x="16" y="0"/>
                    </a:cubicBezTo>
                    <a:cubicBezTo>
                      <a:pt x="14" y="0"/>
                      <a:pt x="13" y="0"/>
                      <a:pt x="13" y="2"/>
                    </a:cubicBezTo>
                    <a:close/>
                    <a:moveTo>
                      <a:pt x="20" y="11"/>
                    </a:moveTo>
                    <a:cubicBezTo>
                      <a:pt x="28" y="12"/>
                      <a:pt x="28" y="12"/>
                      <a:pt x="28" y="12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3" y="26"/>
                      <a:pt x="23" y="26"/>
                      <a:pt x="23" y="26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12" y="11"/>
                      <a:pt x="12" y="11"/>
                      <a:pt x="12" y="11"/>
                    </a:cubicBezTo>
                    <a:cubicBezTo>
                      <a:pt x="16" y="3"/>
                      <a:pt x="16" y="3"/>
                      <a:pt x="16" y="3"/>
                    </a:cubicBezTo>
                    <a:lnTo>
                      <a:pt x="20" y="1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</p:grpSp>
      <p:sp>
        <p:nvSpPr>
          <p:cNvPr id="70" name="TextBox 23"/>
          <p:cNvSpPr txBox="1"/>
          <p:nvPr>
            <p:custDataLst>
              <p:tags r:id="rId16"/>
            </p:custDataLst>
          </p:nvPr>
        </p:nvSpPr>
        <p:spPr>
          <a:xfrm>
            <a:off x="7613014" y="4210049"/>
            <a:ext cx="2895599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ANALYZE</a:t>
            </a:r>
            <a:endParaRPr sz="2000" b="1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71" name="TextBox 24"/>
          <p:cNvSpPr txBox="1"/>
          <p:nvPr>
            <p:custDataLst>
              <p:tags r:id="rId17"/>
            </p:custDataLst>
          </p:nvPr>
        </p:nvSpPr>
        <p:spPr>
          <a:xfrm>
            <a:off x="7613014" y="4671694"/>
            <a:ext cx="2895599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Bahnschrift SemiBold" panose="020B0502040204020203" charset="0"/>
              </a:rPr>
              <a:t>数据分析</a:t>
            </a:r>
            <a:endParaRPr sz="2000" b="1" i="0">
              <a:solidFill>
                <a:srgbClr val="111111"/>
              </a:solidFill>
              <a:latin typeface="Bahnschrift SemiBold" panose="020B0502040204020203" charset="0"/>
            </a:endParaRPr>
          </a:p>
        </p:txBody>
      </p:sp>
      <p:sp>
        <p:nvSpPr>
          <p:cNvPr id="72" name="TextBox 25"/>
          <p:cNvSpPr txBox="1"/>
          <p:nvPr>
            <p:custDataLst>
              <p:tags r:id="rId18"/>
            </p:custDataLst>
          </p:nvPr>
        </p:nvSpPr>
        <p:spPr>
          <a:xfrm>
            <a:off x="7613015" y="5205730"/>
            <a:ext cx="3118485" cy="923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B625F"/>
                </a:solidFill>
                <a:latin typeface="Bahnschrift SemiBold" panose="020B0502040204020203" charset="0"/>
              </a:rPr>
              <a:t>上传数据、提交分析任务、读取结果并留下项目内记录</a:t>
            </a:r>
            <a:endParaRPr sz="20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73" name="TextBox 11"/>
          <p:cNvSpPr txBox="1"/>
          <p:nvPr>
            <p:custDataLst>
              <p:tags r:id="rId19"/>
            </p:custDataLst>
          </p:nvPr>
        </p:nvSpPr>
        <p:spPr>
          <a:xfrm>
            <a:off x="987424" y="3620134"/>
            <a:ext cx="2895599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DISCOVER</a:t>
            </a:r>
            <a:endParaRPr sz="2000" b="1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74" name="TextBox 12"/>
          <p:cNvSpPr txBox="1"/>
          <p:nvPr>
            <p:custDataLst>
              <p:tags r:id="rId20"/>
            </p:custDataLst>
          </p:nvPr>
        </p:nvSpPr>
        <p:spPr>
          <a:xfrm>
            <a:off x="987424" y="4109084"/>
            <a:ext cx="2895599" cy="923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i="0">
                <a:solidFill>
                  <a:srgbClr val="111111"/>
                </a:solidFill>
                <a:latin typeface="Bahnschrift SemiBold" panose="020B0502040204020203" charset="0"/>
              </a:rPr>
              <a:t>前沿追踪</a:t>
            </a:r>
            <a:endParaRPr lang="zh-CN" altLang="en-US" sz="2000" b="1" i="0">
              <a:solidFill>
                <a:srgbClr val="111111"/>
              </a:solidFill>
              <a:latin typeface="Bahnschrift SemiBold" panose="020B0502040204020203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i="0">
              <a:solidFill>
                <a:srgbClr val="111111"/>
              </a:solidFill>
              <a:latin typeface="Bahnschrift SemiBold" panose="020B0502040204020203" charset="0"/>
            </a:endParaRPr>
          </a:p>
        </p:txBody>
      </p:sp>
      <p:sp>
        <p:nvSpPr>
          <p:cNvPr id="75" name="TextBox 13"/>
          <p:cNvSpPr txBox="1"/>
          <p:nvPr>
            <p:custDataLst>
              <p:tags r:id="rId21"/>
            </p:custDataLst>
          </p:nvPr>
        </p:nvSpPr>
        <p:spPr>
          <a:xfrm>
            <a:off x="987424" y="4671695"/>
            <a:ext cx="2895599" cy="923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B625F"/>
                </a:solidFill>
                <a:latin typeface="Bahnschrift SemiBold" panose="020B0502040204020203" charset="0"/>
              </a:rPr>
              <a:t>在时间窗和主题约束下检索、筛查和跟踪论文</a:t>
            </a:r>
            <a:endParaRPr sz="20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76" name="TextBox 17"/>
          <p:cNvSpPr txBox="1"/>
          <p:nvPr>
            <p:custDataLst>
              <p:tags r:id="rId22"/>
            </p:custDataLst>
          </p:nvPr>
        </p:nvSpPr>
        <p:spPr>
          <a:xfrm>
            <a:off x="4648199" y="1626235"/>
            <a:ext cx="2895599" cy="3219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WRITE</a:t>
            </a:r>
            <a:endParaRPr sz="2000" b="1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77" name="TextBox 18"/>
          <p:cNvSpPr txBox="1"/>
          <p:nvPr>
            <p:custDataLst>
              <p:tags r:id="rId23"/>
            </p:custDataLst>
          </p:nvPr>
        </p:nvSpPr>
        <p:spPr>
          <a:xfrm>
            <a:off x="4648199" y="1950720"/>
            <a:ext cx="2895599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Bahnschrift SemiBold" panose="020B0502040204020203" charset="0"/>
              </a:rPr>
              <a:t>写作协作</a:t>
            </a:r>
            <a:endParaRPr sz="2000" b="1" i="0">
              <a:solidFill>
                <a:srgbClr val="111111"/>
              </a:solidFill>
              <a:latin typeface="Bahnschrift SemiBold" panose="020B0502040204020203" charset="0"/>
            </a:endParaRPr>
          </a:p>
        </p:txBody>
      </p:sp>
      <p:sp>
        <p:nvSpPr>
          <p:cNvPr id="78" name="TextBox 19"/>
          <p:cNvSpPr txBox="1"/>
          <p:nvPr>
            <p:custDataLst>
              <p:tags r:id="rId24"/>
            </p:custDataLst>
          </p:nvPr>
        </p:nvSpPr>
        <p:spPr>
          <a:xfrm>
            <a:off x="4648200" y="2475865"/>
            <a:ext cx="3345180" cy="923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B625F"/>
                </a:solidFill>
                <a:latin typeface="Bahnschrift SemiBold" panose="020B0502040204020203" charset="0"/>
              </a:rPr>
              <a:t>从大纲到综述、润色与格式检查；来源不足时不伪造引用</a:t>
            </a:r>
            <a:endParaRPr sz="20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</p:spTree>
    <p:custDataLst>
      <p:tags r:id="rId2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2810" y="240030"/>
            <a:ext cx="520319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29 / RESEARCH WORKSPACE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科研空间以项目为资源边界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84" name="Rectangle 10"/>
          <p:cNvSpPr/>
          <p:nvPr/>
        </p:nvSpPr>
        <p:spPr>
          <a:xfrm>
            <a:off x="610235" y="4096385"/>
            <a:ext cx="2577465" cy="191897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TextBox 6"/>
          <p:cNvSpPr txBox="1"/>
          <p:nvPr/>
        </p:nvSpPr>
        <p:spPr>
          <a:xfrm>
            <a:off x="568325" y="5438775"/>
            <a:ext cx="6109335" cy="31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0" i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微软雅黑" panose="020B0503020204020204" charset="-122"/>
              </a:rPr>
              <a:t>科研工作不把所有资料混在全局聊天里，而是以项目组织资料、对话、任务和产出</a:t>
            </a:r>
            <a:endParaRPr lang="zh-CN" altLang="en-US" sz="1200" b="0" i="0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1"/>
            </p:custDataLst>
          </p:nvPr>
        </p:nvSpPr>
        <p:spPr>
          <a:xfrm>
            <a:off x="847725" y="1896110"/>
            <a:ext cx="4816475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PROJECT</a:t>
            </a:r>
            <a:endParaRPr sz="1600" b="1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3" name="TextBox 12"/>
          <p:cNvSpPr txBox="1"/>
          <p:nvPr>
            <p:custDataLst>
              <p:tags r:id="rId2"/>
            </p:custDataLst>
          </p:nvPr>
        </p:nvSpPr>
        <p:spPr>
          <a:xfrm>
            <a:off x="847725" y="2124710"/>
            <a:ext cx="4816475" cy="3060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SemiBold" panose="020B0502040204020203" charset="0"/>
              </a:rPr>
              <a:t>项目边界</a:t>
            </a:r>
            <a:endParaRPr sz="1600" b="1" i="0">
              <a:solidFill>
                <a:srgbClr val="111111"/>
              </a:solidFill>
              <a:latin typeface="Bahnschrift SemiBold" panose="020B0502040204020203" charset="0"/>
            </a:endParaRPr>
          </a:p>
        </p:txBody>
      </p:sp>
      <p:sp>
        <p:nvSpPr>
          <p:cNvPr id="14" name="TextBox 13"/>
          <p:cNvSpPr txBox="1"/>
          <p:nvPr>
            <p:custDataLst>
              <p:tags r:id="rId3"/>
            </p:custDataLst>
          </p:nvPr>
        </p:nvSpPr>
        <p:spPr>
          <a:xfrm>
            <a:off x="847725" y="2419985"/>
            <a:ext cx="4816475" cy="4946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</a:rPr>
              <a:t>每个项目独立组织研究目标、资料、附件、对话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</a:rPr>
              <a:t>和任务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17" name="Rectangle 16"/>
          <p:cNvSpPr/>
          <p:nvPr>
            <p:custDataLst>
              <p:tags r:id="rId4"/>
            </p:custDataLst>
          </p:nvPr>
        </p:nvSpPr>
        <p:spPr>
          <a:xfrm>
            <a:off x="6267450" y="1772285"/>
            <a:ext cx="5104765" cy="1375410"/>
          </a:xfrm>
          <a:prstGeom prst="rect">
            <a:avLst/>
          </a:prstGeom>
          <a:solidFill>
            <a:srgbClr val="AFBADD"/>
          </a:solidFill>
          <a:ln w="9525">
            <a:solidFill>
              <a:srgbClr val="B9B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8" name="TextBox 17"/>
          <p:cNvSpPr txBox="1"/>
          <p:nvPr>
            <p:custDataLst>
              <p:tags r:id="rId5"/>
            </p:custDataLst>
          </p:nvPr>
        </p:nvSpPr>
        <p:spPr>
          <a:xfrm>
            <a:off x="6419850" y="1896110"/>
            <a:ext cx="4816475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FRONTIER</a:t>
            </a:r>
            <a:endParaRPr sz="1600" b="1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9" name="TextBox 18"/>
          <p:cNvSpPr txBox="1"/>
          <p:nvPr>
            <p:custDataLst>
              <p:tags r:id="rId6"/>
            </p:custDataLst>
          </p:nvPr>
        </p:nvSpPr>
        <p:spPr>
          <a:xfrm>
            <a:off x="6419850" y="2124710"/>
            <a:ext cx="4816475" cy="3060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SemiBold" panose="020B0502040204020203" charset="0"/>
              </a:rPr>
              <a:t>前沿追踪</a:t>
            </a:r>
            <a:endParaRPr sz="1600" b="1" i="0">
              <a:solidFill>
                <a:srgbClr val="111111"/>
              </a:solidFill>
              <a:latin typeface="Bahnschrift SemiBold" panose="020B0502040204020203" charset="0"/>
            </a:endParaRPr>
          </a:p>
        </p:txBody>
      </p:sp>
      <p:sp>
        <p:nvSpPr>
          <p:cNvPr id="20" name="TextBox 19"/>
          <p:cNvSpPr txBox="1"/>
          <p:nvPr>
            <p:custDataLst>
              <p:tags r:id="rId7"/>
            </p:custDataLst>
          </p:nvPr>
        </p:nvSpPr>
        <p:spPr>
          <a:xfrm>
            <a:off x="6419850" y="2419985"/>
            <a:ext cx="4816475" cy="4946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arXiv 检索、时间窗、热点词与筛查信号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3" name="Rectangle 22"/>
          <p:cNvSpPr/>
          <p:nvPr>
            <p:custDataLst>
              <p:tags r:id="rId8"/>
            </p:custDataLst>
          </p:nvPr>
        </p:nvSpPr>
        <p:spPr>
          <a:xfrm>
            <a:off x="695325" y="3401060"/>
            <a:ext cx="5104765" cy="1375410"/>
          </a:xfrm>
          <a:prstGeom prst="rect">
            <a:avLst/>
          </a:prstGeom>
          <a:solidFill>
            <a:srgbClr val="AFBADD"/>
          </a:solidFill>
          <a:ln w="9525">
            <a:solidFill>
              <a:srgbClr val="B9B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" name="TextBox 23"/>
          <p:cNvSpPr txBox="1"/>
          <p:nvPr>
            <p:custDataLst>
              <p:tags r:id="rId9"/>
            </p:custDataLst>
          </p:nvPr>
        </p:nvSpPr>
        <p:spPr>
          <a:xfrm>
            <a:off x="847725" y="3524885"/>
            <a:ext cx="4816475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WRITING</a:t>
            </a:r>
            <a:endParaRPr sz="1600" b="1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5" name="TextBox 24"/>
          <p:cNvSpPr txBox="1"/>
          <p:nvPr>
            <p:custDataLst>
              <p:tags r:id="rId10"/>
            </p:custDataLst>
          </p:nvPr>
        </p:nvSpPr>
        <p:spPr>
          <a:xfrm>
            <a:off x="847725" y="3753485"/>
            <a:ext cx="4816475" cy="3060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i="0">
                <a:solidFill>
                  <a:srgbClr val="111111"/>
                </a:solidFill>
                <a:latin typeface="Bahnschrift SemiBold" panose="020B0502040204020203" charset="0"/>
              </a:rPr>
              <a:t>写作协作</a:t>
            </a:r>
            <a:endParaRPr lang="zh-CN" altLang="en-US" sz="1600" b="1" i="0">
              <a:solidFill>
                <a:srgbClr val="111111"/>
              </a:solidFill>
              <a:latin typeface="Bahnschrift SemiBold" panose="020B0502040204020203" charset="0"/>
            </a:endParaRPr>
          </a:p>
        </p:txBody>
      </p:sp>
      <p:sp>
        <p:nvSpPr>
          <p:cNvPr id="26" name="TextBox 25"/>
          <p:cNvSpPr txBox="1"/>
          <p:nvPr>
            <p:custDataLst>
              <p:tags r:id="rId11"/>
            </p:custDataLst>
          </p:nvPr>
        </p:nvSpPr>
        <p:spPr>
          <a:xfrm>
            <a:off x="847725" y="4048760"/>
            <a:ext cx="4816475" cy="4946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</a:rPr>
              <a:t>大纲、综述、润色、格式检查；缺证据时标记待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</a:rPr>
              <a:t>补来源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29" name="Rectangle 28"/>
          <p:cNvSpPr/>
          <p:nvPr>
            <p:custDataLst>
              <p:tags r:id="rId12"/>
            </p:custDataLst>
          </p:nvPr>
        </p:nvSpPr>
        <p:spPr>
          <a:xfrm>
            <a:off x="6267450" y="3401060"/>
            <a:ext cx="5104765" cy="137541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0" name="TextBox 29"/>
          <p:cNvSpPr txBox="1"/>
          <p:nvPr>
            <p:custDataLst>
              <p:tags r:id="rId13"/>
            </p:custDataLst>
          </p:nvPr>
        </p:nvSpPr>
        <p:spPr>
          <a:xfrm>
            <a:off x="6419850" y="3524885"/>
            <a:ext cx="4816475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DATA</a:t>
            </a:r>
            <a:endParaRPr sz="1600" b="1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1" name="TextBox 30"/>
          <p:cNvSpPr txBox="1"/>
          <p:nvPr>
            <p:custDataLst>
              <p:tags r:id="rId14"/>
            </p:custDataLst>
          </p:nvPr>
        </p:nvSpPr>
        <p:spPr>
          <a:xfrm>
            <a:off x="6419850" y="3753485"/>
            <a:ext cx="4816475" cy="3060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SemiBold" panose="020B0502040204020203" charset="0"/>
              </a:rPr>
              <a:t>数据分析</a:t>
            </a:r>
            <a:endParaRPr sz="1600" b="1" i="0">
              <a:solidFill>
                <a:srgbClr val="111111"/>
              </a:solidFill>
              <a:latin typeface="Bahnschrift SemiBold" panose="020B0502040204020203" charset="0"/>
            </a:endParaRPr>
          </a:p>
        </p:txBody>
      </p:sp>
      <p:sp>
        <p:nvSpPr>
          <p:cNvPr id="32" name="TextBox 31"/>
          <p:cNvSpPr txBox="1"/>
          <p:nvPr>
            <p:custDataLst>
              <p:tags r:id="rId15"/>
            </p:custDataLst>
          </p:nvPr>
        </p:nvSpPr>
        <p:spPr>
          <a:xfrm>
            <a:off x="6419850" y="4048760"/>
            <a:ext cx="4816475" cy="4946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</a:rPr>
              <a:t>数据集上传、分析任务、结果查询和任务状态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</p:spTree>
    <p:custDataLst>
      <p:tags r:id="rId1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8" grpId="0"/>
      <p:bldP spid="19" grpId="0"/>
      <p:bldP spid="20" grpId="0"/>
      <p:bldP spid="2" grpId="0"/>
      <p:bldP spid="25" grpId="0"/>
      <p:bldP spid="26" grpId="0"/>
      <p:bldP spid="29" grpId="0" animBg="1"/>
      <p:bldP spid="30" grpId="0"/>
      <p:bldP spid="31" grpId="0"/>
      <p:bldP spid="3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2810" y="240030"/>
            <a:ext cx="520319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30/ MULTIMODAL DOCIR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多格式输入先归一成可追溯文档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grpSp>
        <p:nvGrpSpPr>
          <p:cNvPr id="52" name="组合 51"/>
          <p:cNvGrpSpPr/>
          <p:nvPr>
            <p:custDataLst>
              <p:tags r:id="rId1"/>
            </p:custDataLst>
          </p:nvPr>
        </p:nvGrpSpPr>
        <p:grpSpPr>
          <a:xfrm>
            <a:off x="828192" y="1932645"/>
            <a:ext cx="10535920" cy="1907783"/>
            <a:chOff x="828192" y="2234334"/>
            <a:chExt cx="10535920" cy="1907783"/>
          </a:xfrm>
          <a:solidFill>
            <a:srgbClr val="8C8BB1"/>
          </a:solidFill>
        </p:grpSpPr>
        <p:sp>
          <p:nvSpPr>
            <p:cNvPr id="53" name="Freeform 36"/>
            <p:cNvSpPr/>
            <p:nvPr>
              <p:custDataLst>
                <p:tags r:id="rId2"/>
              </p:custDataLst>
            </p:nvPr>
          </p:nvSpPr>
          <p:spPr>
            <a:xfrm>
              <a:off x="828192" y="2682009"/>
              <a:ext cx="10535920" cy="756285"/>
            </a:xfrm>
            <a:custGeom>
              <a:avLst/>
              <a:gdLst>
                <a:gd name="connsiteX0" fmla="*/ 0 w 2683934"/>
                <a:gd name="connsiteY0" fmla="*/ 702733 h 799629"/>
                <a:gd name="connsiteX1" fmla="*/ 431800 w 2683934"/>
                <a:gd name="connsiteY1" fmla="*/ 533400 h 799629"/>
                <a:gd name="connsiteX2" fmla="*/ 897467 w 2683934"/>
                <a:gd name="connsiteY2" fmla="*/ 719667 h 799629"/>
                <a:gd name="connsiteX3" fmla="*/ 1151467 w 2683934"/>
                <a:gd name="connsiteY3" fmla="*/ 778933 h 799629"/>
                <a:gd name="connsiteX4" fmla="*/ 1456267 w 2683934"/>
                <a:gd name="connsiteY4" fmla="*/ 787400 h 799629"/>
                <a:gd name="connsiteX5" fmla="*/ 1769534 w 2683934"/>
                <a:gd name="connsiteY5" fmla="*/ 618067 h 799629"/>
                <a:gd name="connsiteX6" fmla="*/ 1981200 w 2683934"/>
                <a:gd name="connsiteY6" fmla="*/ 313267 h 799629"/>
                <a:gd name="connsiteX7" fmla="*/ 2218267 w 2683934"/>
                <a:gd name="connsiteY7" fmla="*/ 118533 h 799629"/>
                <a:gd name="connsiteX8" fmla="*/ 2463800 w 2683934"/>
                <a:gd name="connsiteY8" fmla="*/ 16933 h 799629"/>
                <a:gd name="connsiteX9" fmla="*/ 2683934 w 2683934"/>
                <a:gd name="connsiteY9" fmla="*/ 0 h 799629"/>
                <a:gd name="connsiteX0-1" fmla="*/ 0 w 2779669"/>
                <a:gd name="connsiteY0-2" fmla="*/ 686196 h 783092"/>
                <a:gd name="connsiteX1-3" fmla="*/ 431800 w 2779669"/>
                <a:gd name="connsiteY1-4" fmla="*/ 516863 h 783092"/>
                <a:gd name="connsiteX2-5" fmla="*/ 897467 w 2779669"/>
                <a:gd name="connsiteY2-6" fmla="*/ 703130 h 783092"/>
                <a:gd name="connsiteX3-7" fmla="*/ 1151467 w 2779669"/>
                <a:gd name="connsiteY3-8" fmla="*/ 762396 h 783092"/>
                <a:gd name="connsiteX4-9" fmla="*/ 1456267 w 2779669"/>
                <a:gd name="connsiteY4-10" fmla="*/ 770863 h 783092"/>
                <a:gd name="connsiteX5-11" fmla="*/ 1769534 w 2779669"/>
                <a:gd name="connsiteY5-12" fmla="*/ 601530 h 783092"/>
                <a:gd name="connsiteX6-13" fmla="*/ 1981200 w 2779669"/>
                <a:gd name="connsiteY6-14" fmla="*/ 296730 h 783092"/>
                <a:gd name="connsiteX7-15" fmla="*/ 2218267 w 2779669"/>
                <a:gd name="connsiteY7-16" fmla="*/ 101996 h 783092"/>
                <a:gd name="connsiteX8-17" fmla="*/ 2463800 w 2779669"/>
                <a:gd name="connsiteY8-18" fmla="*/ 396 h 783092"/>
                <a:gd name="connsiteX9-19" fmla="*/ 2779669 w 2779669"/>
                <a:gd name="connsiteY9-20" fmla="*/ 690837 h 783092"/>
                <a:gd name="connsiteX0-21" fmla="*/ 0 w 2779669"/>
                <a:gd name="connsiteY0-22" fmla="*/ 686190 h 783086"/>
                <a:gd name="connsiteX1-23" fmla="*/ 431800 w 2779669"/>
                <a:gd name="connsiteY1-24" fmla="*/ 516857 h 783086"/>
                <a:gd name="connsiteX2-25" fmla="*/ 897467 w 2779669"/>
                <a:gd name="connsiteY2-26" fmla="*/ 703124 h 783086"/>
                <a:gd name="connsiteX3-27" fmla="*/ 1151467 w 2779669"/>
                <a:gd name="connsiteY3-28" fmla="*/ 762390 h 783086"/>
                <a:gd name="connsiteX4-29" fmla="*/ 1456267 w 2779669"/>
                <a:gd name="connsiteY4-30" fmla="*/ 770857 h 783086"/>
                <a:gd name="connsiteX5-31" fmla="*/ 1769534 w 2779669"/>
                <a:gd name="connsiteY5-32" fmla="*/ 601524 h 783086"/>
                <a:gd name="connsiteX6-33" fmla="*/ 1981200 w 2779669"/>
                <a:gd name="connsiteY6-34" fmla="*/ 296724 h 783086"/>
                <a:gd name="connsiteX7-35" fmla="*/ 2218267 w 2779669"/>
                <a:gd name="connsiteY7-36" fmla="*/ 101990 h 783086"/>
                <a:gd name="connsiteX8-37" fmla="*/ 2463800 w 2779669"/>
                <a:gd name="connsiteY8-38" fmla="*/ 390 h 783086"/>
                <a:gd name="connsiteX9-39" fmla="*/ 2779669 w 2779669"/>
                <a:gd name="connsiteY9-40" fmla="*/ 690831 h 783086"/>
                <a:gd name="connsiteX0-41" fmla="*/ 0 w 2779669"/>
                <a:gd name="connsiteY0-42" fmla="*/ 588891 h 685787"/>
                <a:gd name="connsiteX1-43" fmla="*/ 431800 w 2779669"/>
                <a:gd name="connsiteY1-44" fmla="*/ 419558 h 685787"/>
                <a:gd name="connsiteX2-45" fmla="*/ 897467 w 2779669"/>
                <a:gd name="connsiteY2-46" fmla="*/ 605825 h 685787"/>
                <a:gd name="connsiteX3-47" fmla="*/ 1151467 w 2779669"/>
                <a:gd name="connsiteY3-48" fmla="*/ 665091 h 685787"/>
                <a:gd name="connsiteX4-49" fmla="*/ 1456267 w 2779669"/>
                <a:gd name="connsiteY4-50" fmla="*/ 673558 h 685787"/>
                <a:gd name="connsiteX5-51" fmla="*/ 1769534 w 2779669"/>
                <a:gd name="connsiteY5-52" fmla="*/ 504225 h 685787"/>
                <a:gd name="connsiteX6-53" fmla="*/ 1981200 w 2779669"/>
                <a:gd name="connsiteY6-54" fmla="*/ 199425 h 685787"/>
                <a:gd name="connsiteX7-55" fmla="*/ 2218267 w 2779669"/>
                <a:gd name="connsiteY7-56" fmla="*/ 4691 h 685787"/>
                <a:gd name="connsiteX8-57" fmla="*/ 2440824 w 2779669"/>
                <a:gd name="connsiteY8-58" fmla="*/ 46776 h 685787"/>
                <a:gd name="connsiteX9-59" fmla="*/ 2779669 w 2779669"/>
                <a:gd name="connsiteY9-60" fmla="*/ 593532 h 685787"/>
                <a:gd name="connsiteX0-61" fmla="*/ 0 w 2779669"/>
                <a:gd name="connsiteY0-62" fmla="*/ 598502 h 695398"/>
                <a:gd name="connsiteX1-63" fmla="*/ 431800 w 2779669"/>
                <a:gd name="connsiteY1-64" fmla="*/ 429169 h 695398"/>
                <a:gd name="connsiteX2-65" fmla="*/ 897467 w 2779669"/>
                <a:gd name="connsiteY2-66" fmla="*/ 615436 h 695398"/>
                <a:gd name="connsiteX3-67" fmla="*/ 1151467 w 2779669"/>
                <a:gd name="connsiteY3-68" fmla="*/ 674702 h 695398"/>
                <a:gd name="connsiteX4-69" fmla="*/ 1456267 w 2779669"/>
                <a:gd name="connsiteY4-70" fmla="*/ 683169 h 695398"/>
                <a:gd name="connsiteX5-71" fmla="*/ 1769534 w 2779669"/>
                <a:gd name="connsiteY5-72" fmla="*/ 513836 h 695398"/>
                <a:gd name="connsiteX6-73" fmla="*/ 1981200 w 2779669"/>
                <a:gd name="connsiteY6-74" fmla="*/ 209036 h 695398"/>
                <a:gd name="connsiteX7-75" fmla="*/ 2218267 w 2779669"/>
                <a:gd name="connsiteY7-76" fmla="*/ 14302 h 695398"/>
                <a:gd name="connsiteX8-77" fmla="*/ 2779669 w 2779669"/>
                <a:gd name="connsiteY8-78" fmla="*/ 603143 h 695398"/>
                <a:gd name="connsiteX0-79" fmla="*/ 0 w 2779669"/>
                <a:gd name="connsiteY0-80" fmla="*/ 584881 h 681777"/>
                <a:gd name="connsiteX1-81" fmla="*/ 431800 w 2779669"/>
                <a:gd name="connsiteY1-82" fmla="*/ 415548 h 681777"/>
                <a:gd name="connsiteX2-83" fmla="*/ 897467 w 2779669"/>
                <a:gd name="connsiteY2-84" fmla="*/ 601815 h 681777"/>
                <a:gd name="connsiteX3-85" fmla="*/ 1151467 w 2779669"/>
                <a:gd name="connsiteY3-86" fmla="*/ 661081 h 681777"/>
                <a:gd name="connsiteX4-87" fmla="*/ 1456267 w 2779669"/>
                <a:gd name="connsiteY4-88" fmla="*/ 669548 h 681777"/>
                <a:gd name="connsiteX5-89" fmla="*/ 1769534 w 2779669"/>
                <a:gd name="connsiteY5-90" fmla="*/ 500215 h 681777"/>
                <a:gd name="connsiteX6-91" fmla="*/ 1981200 w 2779669"/>
                <a:gd name="connsiteY6-92" fmla="*/ 195415 h 681777"/>
                <a:gd name="connsiteX7-93" fmla="*/ 2218267 w 2779669"/>
                <a:gd name="connsiteY7-94" fmla="*/ 681 h 681777"/>
                <a:gd name="connsiteX8-95" fmla="*/ 2779669 w 2779669"/>
                <a:gd name="connsiteY8-96" fmla="*/ 589522 h 681777"/>
                <a:gd name="connsiteX0-97" fmla="*/ 0 w 2779669"/>
                <a:gd name="connsiteY0-98" fmla="*/ 469032 h 565928"/>
                <a:gd name="connsiteX1-99" fmla="*/ 431800 w 2779669"/>
                <a:gd name="connsiteY1-100" fmla="*/ 299699 h 565928"/>
                <a:gd name="connsiteX2-101" fmla="*/ 897467 w 2779669"/>
                <a:gd name="connsiteY2-102" fmla="*/ 485966 h 565928"/>
                <a:gd name="connsiteX3-103" fmla="*/ 1151467 w 2779669"/>
                <a:gd name="connsiteY3-104" fmla="*/ 545232 h 565928"/>
                <a:gd name="connsiteX4-105" fmla="*/ 1456267 w 2779669"/>
                <a:gd name="connsiteY4-106" fmla="*/ 553699 h 565928"/>
                <a:gd name="connsiteX5-107" fmla="*/ 1769534 w 2779669"/>
                <a:gd name="connsiteY5-108" fmla="*/ 384366 h 565928"/>
                <a:gd name="connsiteX6-109" fmla="*/ 1981200 w 2779669"/>
                <a:gd name="connsiteY6-110" fmla="*/ 79566 h 565928"/>
                <a:gd name="connsiteX7-111" fmla="*/ 2224968 w 2779669"/>
                <a:gd name="connsiteY7-112" fmla="*/ 885 h 565928"/>
                <a:gd name="connsiteX8-113" fmla="*/ 2779669 w 2779669"/>
                <a:gd name="connsiteY8-114" fmla="*/ 473673 h 565928"/>
                <a:gd name="connsiteX0-115" fmla="*/ 0 w 2779669"/>
                <a:gd name="connsiteY0-116" fmla="*/ 471936 h 568832"/>
                <a:gd name="connsiteX1-117" fmla="*/ 431800 w 2779669"/>
                <a:gd name="connsiteY1-118" fmla="*/ 302603 h 568832"/>
                <a:gd name="connsiteX2-119" fmla="*/ 897467 w 2779669"/>
                <a:gd name="connsiteY2-120" fmla="*/ 488870 h 568832"/>
                <a:gd name="connsiteX3-121" fmla="*/ 1151467 w 2779669"/>
                <a:gd name="connsiteY3-122" fmla="*/ 548136 h 568832"/>
                <a:gd name="connsiteX4-123" fmla="*/ 1456267 w 2779669"/>
                <a:gd name="connsiteY4-124" fmla="*/ 556603 h 568832"/>
                <a:gd name="connsiteX5-125" fmla="*/ 1769534 w 2779669"/>
                <a:gd name="connsiteY5-126" fmla="*/ 387270 h 568832"/>
                <a:gd name="connsiteX6-127" fmla="*/ 1981200 w 2779669"/>
                <a:gd name="connsiteY6-128" fmla="*/ 82470 h 568832"/>
                <a:gd name="connsiteX7-129" fmla="*/ 2224968 w 2779669"/>
                <a:gd name="connsiteY7-130" fmla="*/ 3789 h 568832"/>
                <a:gd name="connsiteX8-131" fmla="*/ 2779669 w 2779669"/>
                <a:gd name="connsiteY8-132" fmla="*/ 476577 h 5688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2779669" h="568832">
                  <a:moveTo>
                    <a:pt x="0" y="471936"/>
                  </a:moveTo>
                  <a:cubicBezTo>
                    <a:pt x="141111" y="385858"/>
                    <a:pt x="282222" y="299781"/>
                    <a:pt x="431800" y="302603"/>
                  </a:cubicBezTo>
                  <a:cubicBezTo>
                    <a:pt x="581378" y="305425"/>
                    <a:pt x="777523" y="447948"/>
                    <a:pt x="897467" y="488870"/>
                  </a:cubicBezTo>
                  <a:cubicBezTo>
                    <a:pt x="1017411" y="529792"/>
                    <a:pt x="1058334" y="536847"/>
                    <a:pt x="1151467" y="548136"/>
                  </a:cubicBezTo>
                  <a:cubicBezTo>
                    <a:pt x="1244600" y="559425"/>
                    <a:pt x="1353256" y="583414"/>
                    <a:pt x="1456267" y="556603"/>
                  </a:cubicBezTo>
                  <a:cubicBezTo>
                    <a:pt x="1559278" y="529792"/>
                    <a:pt x="1682045" y="466292"/>
                    <a:pt x="1769534" y="387270"/>
                  </a:cubicBezTo>
                  <a:cubicBezTo>
                    <a:pt x="1857023" y="308248"/>
                    <a:pt x="1905294" y="146384"/>
                    <a:pt x="1981200" y="82470"/>
                  </a:cubicBezTo>
                  <a:cubicBezTo>
                    <a:pt x="2057106" y="18557"/>
                    <a:pt x="2093566" y="-11121"/>
                    <a:pt x="2224968" y="3789"/>
                  </a:cubicBezTo>
                  <a:cubicBezTo>
                    <a:pt x="2356370" y="18699"/>
                    <a:pt x="2662710" y="353902"/>
                    <a:pt x="2779669" y="476577"/>
                  </a:cubicBezTo>
                </a:path>
              </a:pathLst>
            </a:custGeom>
            <a:ln w="31750">
              <a:solidFill>
                <a:srgbClr val="AFBADD"/>
              </a:solidFill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bg-BG">
                <a:solidFill>
                  <a:schemeClr val="bg2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54" name="Group 15"/>
            <p:cNvGrpSpPr/>
            <p:nvPr/>
          </p:nvGrpSpPr>
          <p:grpSpPr>
            <a:xfrm>
              <a:off x="1614183" y="2234334"/>
              <a:ext cx="1430653" cy="1891891"/>
              <a:chOff x="2455123" y="2131468"/>
              <a:chExt cx="1430653" cy="1891891"/>
            </a:xfrm>
            <a:grpFill/>
          </p:grpSpPr>
          <p:sp>
            <p:nvSpPr>
              <p:cNvPr id="69" name="Chevron 16"/>
              <p:cNvSpPr/>
              <p:nvPr>
                <p:custDataLst>
                  <p:tags r:id="rId3"/>
                </p:custDataLst>
              </p:nvPr>
            </p:nvSpPr>
            <p:spPr>
              <a:xfrm>
                <a:off x="2455123" y="2131468"/>
                <a:ext cx="1091476" cy="1891891"/>
              </a:xfrm>
              <a:prstGeom prst="notchedRightArrow">
                <a:avLst/>
              </a:prstGeom>
              <a:grpFill/>
              <a:ln>
                <a:solidFill>
                  <a:srgbClr val="AFBAD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2">
                      <a:lumMod val="1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0" name="Oval 17"/>
              <p:cNvSpPr>
                <a:spLocks noChangeAspec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3228083" y="2732678"/>
                <a:ext cx="657693" cy="657689"/>
              </a:xfrm>
              <a:prstGeom prst="ellipse">
                <a:avLst/>
              </a:prstGeom>
              <a:grpFill/>
              <a:ln w="38100">
                <a:solidFill>
                  <a:srgbClr val="AFBADD"/>
                </a:solidFill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d-ID" sz="1400" b="1" dirty="0">
                    <a:solidFill>
                      <a:schemeClr val="bg2">
                        <a:lumMod val="10000"/>
                      </a:schemeClr>
                    </a:solidFill>
                    <a:cs typeface="+mn-ea"/>
                    <a:sym typeface="+mn-lt"/>
                  </a:rPr>
                  <a:t>I</a:t>
                </a:r>
                <a:endParaRPr lang="en-US" sz="1400" b="1" dirty="0">
                  <a:solidFill>
                    <a:schemeClr val="bg2">
                      <a:lumMod val="1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5" name="Group 18"/>
            <p:cNvGrpSpPr/>
            <p:nvPr/>
          </p:nvGrpSpPr>
          <p:grpSpPr>
            <a:xfrm>
              <a:off x="4292175" y="2250226"/>
              <a:ext cx="1437288" cy="1891891"/>
              <a:chOff x="5043531" y="2131468"/>
              <a:chExt cx="1437288" cy="1891891"/>
            </a:xfrm>
            <a:grpFill/>
          </p:grpSpPr>
          <p:sp>
            <p:nvSpPr>
              <p:cNvPr id="62" name="Chevron 19"/>
              <p:cNvSpPr/>
              <p:nvPr>
                <p:custDataLst>
                  <p:tags r:id="rId5"/>
                </p:custDataLst>
              </p:nvPr>
            </p:nvSpPr>
            <p:spPr>
              <a:xfrm>
                <a:off x="5043531" y="2131468"/>
                <a:ext cx="1091476" cy="1891891"/>
              </a:xfrm>
              <a:prstGeom prst="notchedRightArrow">
                <a:avLst/>
              </a:prstGeom>
              <a:grpFill/>
              <a:ln>
                <a:solidFill>
                  <a:srgbClr val="AFBAD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2">
                      <a:lumMod val="1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8" name="Oval 20"/>
              <p:cNvSpPr>
                <a:spLocks noChangeAspec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5823126" y="2732678"/>
                <a:ext cx="657693" cy="657689"/>
              </a:xfrm>
              <a:prstGeom prst="ellipse">
                <a:avLst/>
              </a:prstGeom>
              <a:grpFill/>
              <a:ln w="38100">
                <a:solidFill>
                  <a:srgbClr val="AFBADD"/>
                </a:solidFill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d-ID" sz="1400" b="1" dirty="0">
                    <a:solidFill>
                      <a:schemeClr val="bg2">
                        <a:lumMod val="10000"/>
                      </a:schemeClr>
                    </a:solidFill>
                    <a:cs typeface="+mn-ea"/>
                    <a:sym typeface="+mn-lt"/>
                  </a:rPr>
                  <a:t>II</a:t>
                </a:r>
                <a:endParaRPr lang="en-US" sz="1400" dirty="0">
                  <a:solidFill>
                    <a:schemeClr val="bg2">
                      <a:lumMod val="1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6" name="Group 21"/>
            <p:cNvGrpSpPr/>
            <p:nvPr/>
          </p:nvGrpSpPr>
          <p:grpSpPr>
            <a:xfrm>
              <a:off x="6976802" y="2250226"/>
              <a:ext cx="1434634" cy="1891891"/>
              <a:chOff x="7553925" y="2131468"/>
              <a:chExt cx="1434634" cy="1891891"/>
            </a:xfrm>
            <a:grpFill/>
          </p:grpSpPr>
          <p:sp>
            <p:nvSpPr>
              <p:cNvPr id="60" name="Chevron 22"/>
              <p:cNvSpPr/>
              <p:nvPr>
                <p:custDataLst>
                  <p:tags r:id="rId7"/>
                </p:custDataLst>
              </p:nvPr>
            </p:nvSpPr>
            <p:spPr>
              <a:xfrm>
                <a:off x="7553925" y="2131468"/>
                <a:ext cx="1091476" cy="1891891"/>
              </a:xfrm>
              <a:prstGeom prst="notchedRightArrow">
                <a:avLst/>
              </a:prstGeom>
              <a:grpFill/>
              <a:ln>
                <a:solidFill>
                  <a:srgbClr val="AFBAD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2">
                      <a:lumMod val="1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1" name="Oval 23"/>
              <p:cNvSpPr>
                <a:spLocks noChangeAspec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8330866" y="2732678"/>
                <a:ext cx="657693" cy="657689"/>
              </a:xfrm>
              <a:prstGeom prst="ellipse">
                <a:avLst/>
              </a:prstGeom>
              <a:grpFill/>
              <a:ln w="38100">
                <a:solidFill>
                  <a:srgbClr val="AFBADD"/>
                </a:solidFill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d-ID" sz="1400" b="1" dirty="0">
                    <a:solidFill>
                      <a:schemeClr val="bg2">
                        <a:lumMod val="10000"/>
                      </a:schemeClr>
                    </a:solidFill>
                    <a:cs typeface="+mn-ea"/>
                    <a:sym typeface="+mn-lt"/>
                  </a:rPr>
                  <a:t>III</a:t>
                </a:r>
                <a:endParaRPr lang="en-US" sz="1400" dirty="0">
                  <a:solidFill>
                    <a:schemeClr val="bg2">
                      <a:lumMod val="1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Group 24"/>
            <p:cNvGrpSpPr/>
            <p:nvPr/>
          </p:nvGrpSpPr>
          <p:grpSpPr>
            <a:xfrm>
              <a:off x="9658775" y="2250226"/>
              <a:ext cx="1470081" cy="1891891"/>
              <a:chOff x="10064319" y="2131468"/>
              <a:chExt cx="1470081" cy="1891891"/>
            </a:xfrm>
            <a:grpFill/>
          </p:grpSpPr>
          <p:sp>
            <p:nvSpPr>
              <p:cNvPr id="16" name="Chevron 25"/>
              <p:cNvSpPr/>
              <p:nvPr>
                <p:custDataLst>
                  <p:tags r:id="rId9"/>
                </p:custDataLst>
              </p:nvPr>
            </p:nvSpPr>
            <p:spPr>
              <a:xfrm>
                <a:off x="10064319" y="2131468"/>
                <a:ext cx="1091476" cy="1891891"/>
              </a:xfrm>
              <a:prstGeom prst="notchedRightArrow">
                <a:avLst/>
              </a:prstGeom>
              <a:grpFill/>
              <a:ln>
                <a:solidFill>
                  <a:srgbClr val="AFBAD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2">
                      <a:lumMod val="1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9" name="Oval 26"/>
              <p:cNvSpPr>
                <a:spLocks noChangeAspect="1"/>
              </p:cNvSpPr>
              <p:nvPr>
                <p:custDataLst>
                  <p:tags r:id="rId10"/>
                </p:custDataLst>
              </p:nvPr>
            </p:nvSpPr>
            <p:spPr>
              <a:xfrm>
                <a:off x="10876707" y="2732678"/>
                <a:ext cx="657693" cy="657689"/>
              </a:xfrm>
              <a:prstGeom prst="ellipse">
                <a:avLst/>
              </a:prstGeom>
              <a:grpFill/>
              <a:ln w="38100">
                <a:solidFill>
                  <a:srgbClr val="AFBADD"/>
                </a:solidFill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d-ID" sz="1400" b="1" dirty="0">
                    <a:solidFill>
                      <a:schemeClr val="bg2">
                        <a:lumMod val="10000"/>
                      </a:schemeClr>
                    </a:solidFill>
                    <a:cs typeface="+mn-ea"/>
                    <a:sym typeface="+mn-lt"/>
                  </a:rPr>
                  <a:t>IV</a:t>
                </a:r>
                <a:endParaRPr lang="en-US" sz="1400" dirty="0">
                  <a:solidFill>
                    <a:schemeClr val="bg2">
                      <a:lumMod val="1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84" name="Rectangle 10"/>
          <p:cNvSpPr/>
          <p:nvPr/>
        </p:nvSpPr>
        <p:spPr>
          <a:xfrm>
            <a:off x="610235" y="4096385"/>
            <a:ext cx="2577465" cy="191897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6" name="TextBox 12"/>
          <p:cNvSpPr txBox="1"/>
          <p:nvPr>
            <p:custDataLst>
              <p:tags r:id="rId11"/>
            </p:custDataLst>
          </p:nvPr>
        </p:nvSpPr>
        <p:spPr>
          <a:xfrm>
            <a:off x="762635" y="4448810"/>
            <a:ext cx="2277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i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PDF / Word / PPT</a:t>
            </a:r>
            <a:endParaRPr lang="en-US" altLang="zh-CN" b="1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b="1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7" name="TextBox 13"/>
          <p:cNvSpPr txBox="1"/>
          <p:nvPr>
            <p:custDataLst>
              <p:tags r:id="rId12"/>
            </p:custDataLst>
          </p:nvPr>
        </p:nvSpPr>
        <p:spPr>
          <a:xfrm>
            <a:off x="762635" y="4744085"/>
            <a:ext cx="2277110" cy="11290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 i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保留可引用文本、结构和页码/定位线索</a:t>
            </a:r>
            <a:endParaRPr lang="zh-CN" altLang="en-US" b="0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8" name="Rectangle 18"/>
          <p:cNvSpPr/>
          <p:nvPr>
            <p:custDataLst>
              <p:tags r:id="rId13"/>
            </p:custDataLst>
          </p:nvPr>
        </p:nvSpPr>
        <p:spPr>
          <a:xfrm>
            <a:off x="3395980" y="4096385"/>
            <a:ext cx="2577465" cy="1918970"/>
          </a:xfrm>
          <a:prstGeom prst="rect">
            <a:avLst/>
          </a:prstGeom>
          <a:noFill/>
          <a:ln w="9525">
            <a:solidFill>
              <a:srgbClr val="000000">
                <a:alpha val="0"/>
              </a:srgb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0" name="TextBox 20"/>
          <p:cNvSpPr txBox="1"/>
          <p:nvPr>
            <p:custDataLst>
              <p:tags r:id="rId14"/>
            </p:custDataLst>
          </p:nvPr>
        </p:nvSpPr>
        <p:spPr>
          <a:xfrm>
            <a:off x="3548380" y="4448810"/>
            <a:ext cx="2277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i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Excel / Table</a:t>
            </a:r>
            <a:endParaRPr lang="en-US" altLang="zh-CN" b="1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b="1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1" name="TextBox 21"/>
          <p:cNvSpPr txBox="1"/>
          <p:nvPr>
            <p:custDataLst>
              <p:tags r:id="rId15"/>
            </p:custDataLst>
          </p:nvPr>
        </p:nvSpPr>
        <p:spPr>
          <a:xfrm>
            <a:off x="3472815" y="4744085"/>
            <a:ext cx="2277110" cy="11290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 i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保留字段与表格语义，支持后续可追溯引用</a:t>
            </a:r>
            <a:endParaRPr lang="zh-CN" altLang="en-US" b="0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6" name="Rectangle 26"/>
          <p:cNvSpPr/>
          <p:nvPr/>
        </p:nvSpPr>
        <p:spPr>
          <a:xfrm>
            <a:off x="6182360" y="4096385"/>
            <a:ext cx="2577465" cy="191897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8" name="TextBox 28"/>
          <p:cNvSpPr txBox="1"/>
          <p:nvPr>
            <p:custDataLst>
              <p:tags r:id="rId16"/>
            </p:custDataLst>
          </p:nvPr>
        </p:nvSpPr>
        <p:spPr>
          <a:xfrm>
            <a:off x="6334760" y="4448810"/>
            <a:ext cx="2277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i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Image / MinerU</a:t>
            </a:r>
            <a:endParaRPr lang="en-US" altLang="zh-CN" b="1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b="1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9" name="TextBox 29"/>
          <p:cNvSpPr txBox="1"/>
          <p:nvPr>
            <p:custDataLst>
              <p:tags r:id="rId17"/>
            </p:custDataLst>
          </p:nvPr>
        </p:nvSpPr>
        <p:spPr>
          <a:xfrm>
            <a:off x="6334760" y="4744085"/>
            <a:ext cx="2277110" cy="13347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 i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多模态结果经过接受/拒绝决策，再决定是否进入检索</a:t>
            </a:r>
            <a:endParaRPr lang="zh-CN" altLang="en-US" b="0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0" name="Rectangle 34"/>
          <p:cNvSpPr/>
          <p:nvPr/>
        </p:nvSpPr>
        <p:spPr>
          <a:xfrm>
            <a:off x="8968105" y="4096385"/>
            <a:ext cx="2577465" cy="191897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2" name="TextBox 36"/>
          <p:cNvSpPr txBox="1"/>
          <p:nvPr>
            <p:custDataLst>
              <p:tags r:id="rId18"/>
            </p:custDataLst>
          </p:nvPr>
        </p:nvSpPr>
        <p:spPr>
          <a:xfrm>
            <a:off x="9120505" y="4448810"/>
            <a:ext cx="2277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i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DocIR / RAG</a:t>
            </a:r>
            <a:endParaRPr lang="en-US" altLang="zh-CN" b="1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b="1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4" name="Rectangle 38"/>
          <p:cNvSpPr/>
          <p:nvPr/>
        </p:nvSpPr>
        <p:spPr>
          <a:xfrm>
            <a:off x="9120505" y="6106160"/>
            <a:ext cx="60325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5" name="TextBox 39"/>
          <p:cNvSpPr txBox="1"/>
          <p:nvPr/>
        </p:nvSpPr>
        <p:spPr>
          <a:xfrm>
            <a:off x="9187180" y="6134735"/>
            <a:ext cx="471805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b="1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981709" y="1320799"/>
            <a:ext cx="103822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</a:rPr>
              <a:t>先持久化附件，再解析、归一和选择可引用证据；失败状态向前端反馈，不静默吞掉</a:t>
            </a:r>
            <a:endParaRPr sz="1600" b="0" i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4" name="TextBox 29"/>
          <p:cNvSpPr txBox="1"/>
          <p:nvPr>
            <p:custDataLst>
              <p:tags r:id="rId19"/>
            </p:custDataLst>
          </p:nvPr>
        </p:nvSpPr>
        <p:spPr>
          <a:xfrm>
            <a:off x="9070340" y="4723130"/>
            <a:ext cx="2277110" cy="13347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0" i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Element .Locator.</a:t>
            </a:r>
            <a:endParaRPr lang="en-US" altLang="zh-CN" b="0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0" i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Asset.provenance </a:t>
            </a:r>
            <a:r>
              <a:rPr lang="zh-CN" altLang="en-US" b="0" i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组成稳定中间表示</a:t>
            </a:r>
            <a:endParaRPr lang="zh-CN" altLang="en-US" b="0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b="0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20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 bldLvl="0" animBg="1"/>
      <p:bldP spid="125" grpId="0"/>
      <p:bldP spid="86" grpId="0"/>
      <p:bldP spid="87" grpId="0"/>
      <p:bldP spid="100" grpId="0"/>
      <p:bldP spid="101" grpId="0"/>
      <p:bldP spid="108" grpId="0"/>
      <p:bldP spid="109" grpId="0"/>
      <p:bldP spid="122" grpId="0"/>
      <p:bldP spid="1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2810" y="240030"/>
            <a:ext cx="477393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31 / MEMORY CONTROL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记忆可用，也必须可控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106" name="Rectangle 26"/>
          <p:cNvSpPr/>
          <p:nvPr/>
        </p:nvSpPr>
        <p:spPr>
          <a:xfrm>
            <a:off x="6182360" y="4096385"/>
            <a:ext cx="2577465" cy="191897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4" name="Rectangle 38"/>
          <p:cNvSpPr/>
          <p:nvPr/>
        </p:nvSpPr>
        <p:spPr>
          <a:xfrm>
            <a:off x="9120505" y="6106160"/>
            <a:ext cx="60325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5" name="TextBox 39"/>
          <p:cNvSpPr txBox="1"/>
          <p:nvPr/>
        </p:nvSpPr>
        <p:spPr>
          <a:xfrm>
            <a:off x="9187180" y="6134735"/>
            <a:ext cx="471805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b="1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981709" y="1320799"/>
            <a:ext cx="103822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</a:rPr>
              <a:t>当系统开始记住用户，用户必须知道记住了什么、在哪里生效、如何停止</a:t>
            </a:r>
            <a:endParaRPr lang="zh-CN" altLang="en-US" sz="1600" b="0" i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" name="Rectangle 10"/>
          <p:cNvSpPr/>
          <p:nvPr/>
        </p:nvSpPr>
        <p:spPr>
          <a:xfrm>
            <a:off x="1047115" y="2126615"/>
            <a:ext cx="10090785" cy="546100"/>
          </a:xfrm>
          <a:prstGeom prst="rect">
            <a:avLst/>
          </a:prstGeom>
          <a:solidFill>
            <a:srgbClr val="DADAE4"/>
          </a:solidFill>
          <a:ln w="9525">
            <a:solidFill>
              <a:srgbClr val="AFB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63650" y="2240280"/>
            <a:ext cx="2190115" cy="320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11111"/>
                </a:solidFill>
                <a:latin typeface="Bahnschrift SemiBold" panose="020B0502040204020203" charset="0"/>
              </a:rPr>
              <a:t>候选记忆</a:t>
            </a:r>
            <a:endParaRPr sz="1600" b="0" i="0">
              <a:solidFill>
                <a:srgbClr val="111111"/>
              </a:solidFill>
              <a:latin typeface="Bahnschrift SemiBold" panose="020B0502040204020203" charset="0"/>
            </a:endParaRPr>
          </a:p>
        </p:txBody>
      </p:sp>
      <p:sp>
        <p:nvSpPr>
          <p:cNvPr id="13" name="TextBox 12"/>
          <p:cNvSpPr txBox="1"/>
          <p:nvPr>
            <p:custDataLst>
              <p:tags r:id="rId1"/>
            </p:custDataLst>
          </p:nvPr>
        </p:nvSpPr>
        <p:spPr>
          <a:xfrm>
            <a:off x="4537710" y="2212340"/>
            <a:ext cx="1402080" cy="360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474479"/>
                </a:solidFill>
                <a:latin typeface="Bahnschrift SemiBold" panose="020B0502040204020203" charset="0"/>
                <a:cs typeface="Bahnschrift SemiBold" panose="020B0502040204020203" charset="0"/>
              </a:rPr>
              <a:t>candidate</a:t>
            </a:r>
            <a:endParaRPr b="1" i="0">
              <a:solidFill>
                <a:srgbClr val="474479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" name="TextBox 13"/>
          <p:cNvSpPr txBox="1"/>
          <p:nvPr>
            <p:custDataLst>
              <p:tags r:id="rId2"/>
            </p:custDataLst>
          </p:nvPr>
        </p:nvSpPr>
        <p:spPr>
          <a:xfrm>
            <a:off x="6671310" y="2231390"/>
            <a:ext cx="4467225" cy="320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</a:rPr>
              <a:t>由系统识别，等待用户接受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046480" y="2847975"/>
            <a:ext cx="10090785" cy="546100"/>
          </a:xfrm>
          <a:prstGeom prst="rect">
            <a:avLst/>
          </a:prstGeom>
          <a:solidFill>
            <a:srgbClr val="FFFFFF"/>
          </a:solidFill>
          <a:ln w="9525">
            <a:solidFill>
              <a:srgbClr val="AFB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9" name="TextBox 15"/>
          <p:cNvSpPr txBox="1"/>
          <p:nvPr/>
        </p:nvSpPr>
        <p:spPr>
          <a:xfrm>
            <a:off x="1263015" y="2961640"/>
            <a:ext cx="2190115" cy="320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11111"/>
                </a:solidFill>
                <a:latin typeface="Bahnschrift SemiBold" panose="020B0502040204020203" charset="0"/>
              </a:rPr>
              <a:t>已接受记忆</a:t>
            </a:r>
            <a:endParaRPr sz="1600" b="0" i="0">
              <a:solidFill>
                <a:srgbClr val="111111"/>
              </a:solidFill>
              <a:latin typeface="Bahnschrift SemiBold" panose="020B0502040204020203" charset="0"/>
            </a:endParaRPr>
          </a:p>
        </p:txBody>
      </p:sp>
      <p:sp>
        <p:nvSpPr>
          <p:cNvPr id="17" name="TextBox 16"/>
          <p:cNvSpPr txBox="1"/>
          <p:nvPr>
            <p:custDataLst>
              <p:tags r:id="rId3"/>
            </p:custDataLst>
          </p:nvPr>
        </p:nvSpPr>
        <p:spPr>
          <a:xfrm>
            <a:off x="4537075" y="2933700"/>
            <a:ext cx="1402080" cy="360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474479"/>
                </a:solidFill>
                <a:latin typeface="Bahnschrift SemiBold" panose="020B0502040204020203" charset="0"/>
                <a:cs typeface="Bahnschrift SemiBold" panose="020B0502040204020203" charset="0"/>
              </a:rPr>
              <a:t>versioned</a:t>
            </a:r>
            <a:endParaRPr b="1" i="0">
              <a:solidFill>
                <a:srgbClr val="474479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8" name="TextBox 17"/>
          <p:cNvSpPr txBox="1"/>
          <p:nvPr>
            <p:custDataLst>
              <p:tags r:id="rId4"/>
            </p:custDataLst>
          </p:nvPr>
        </p:nvSpPr>
        <p:spPr>
          <a:xfrm>
            <a:off x="6670675" y="2952750"/>
            <a:ext cx="4467225" cy="320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</a:rPr>
              <a:t>保留版本，能查看和恢复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10" name="Rectangle 18"/>
          <p:cNvSpPr/>
          <p:nvPr/>
        </p:nvSpPr>
        <p:spPr>
          <a:xfrm>
            <a:off x="1046480" y="3540125"/>
            <a:ext cx="10090785" cy="546100"/>
          </a:xfrm>
          <a:prstGeom prst="rect">
            <a:avLst/>
          </a:prstGeom>
          <a:solidFill>
            <a:srgbClr val="DADAE4"/>
          </a:solidFill>
          <a:ln w="9525">
            <a:solidFill>
              <a:srgbClr val="AFB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63015" y="3653790"/>
            <a:ext cx="2190115" cy="320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11111"/>
                </a:solidFill>
                <a:latin typeface="Bahnschrift SemiBold" panose="020B0502040204020203" charset="0"/>
              </a:rPr>
              <a:t>主动暂停</a:t>
            </a:r>
            <a:endParaRPr sz="1600" b="0" i="0">
              <a:solidFill>
                <a:srgbClr val="111111"/>
              </a:solidFill>
              <a:latin typeface="Bahnschrift SemiBold" panose="020B0502040204020203" charset="0"/>
            </a:endParaRPr>
          </a:p>
        </p:txBody>
      </p:sp>
      <p:sp>
        <p:nvSpPr>
          <p:cNvPr id="21" name="TextBox 20"/>
          <p:cNvSpPr txBox="1"/>
          <p:nvPr>
            <p:custDataLst>
              <p:tags r:id="rId5"/>
            </p:custDataLst>
          </p:nvPr>
        </p:nvSpPr>
        <p:spPr>
          <a:xfrm>
            <a:off x="4537075" y="3625850"/>
            <a:ext cx="1402080" cy="360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474479"/>
                </a:solidFill>
                <a:latin typeface="Bahnschrift SemiBold" panose="020B0502040204020203" charset="0"/>
                <a:cs typeface="Bahnschrift SemiBold" panose="020B0502040204020203" charset="0"/>
              </a:rPr>
              <a:t>suppressed</a:t>
            </a:r>
            <a:endParaRPr b="1" i="0">
              <a:solidFill>
                <a:srgbClr val="474479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2" name="TextBox 21"/>
          <p:cNvSpPr txBox="1"/>
          <p:nvPr>
            <p:custDataLst>
              <p:tags r:id="rId6"/>
            </p:custDataLst>
          </p:nvPr>
        </p:nvSpPr>
        <p:spPr>
          <a:xfrm>
            <a:off x="6670675" y="3644900"/>
            <a:ext cx="4467225" cy="320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</a:rPr>
              <a:t>不参与当前上下文，不等于删除全部数据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047115" y="4232275"/>
            <a:ext cx="10090785" cy="546100"/>
          </a:xfrm>
          <a:prstGeom prst="rect">
            <a:avLst/>
          </a:prstGeom>
          <a:solidFill>
            <a:srgbClr val="FFFFFF"/>
          </a:solidFill>
          <a:ln w="9525">
            <a:solidFill>
              <a:srgbClr val="AFB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5" name="TextBox 23"/>
          <p:cNvSpPr txBox="1"/>
          <p:nvPr/>
        </p:nvSpPr>
        <p:spPr>
          <a:xfrm>
            <a:off x="1263650" y="4345940"/>
            <a:ext cx="2190115" cy="320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11111"/>
                </a:solidFill>
                <a:latin typeface="Bahnschrift SemiBold" panose="020B0502040204020203" charset="0"/>
                <a:cs typeface="Bahnschrift SemiBold" panose="020B0502040204020203" charset="0"/>
              </a:rPr>
              <a:t>恢复 / 遗忘</a:t>
            </a:r>
            <a:endParaRPr sz="1600" b="0" i="0">
              <a:solidFill>
                <a:srgbClr val="11111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6" name="TextBox 24"/>
          <p:cNvSpPr txBox="1"/>
          <p:nvPr>
            <p:custDataLst>
              <p:tags r:id="rId7"/>
            </p:custDataLst>
          </p:nvPr>
        </p:nvSpPr>
        <p:spPr>
          <a:xfrm>
            <a:off x="4537710" y="4318000"/>
            <a:ext cx="1402080" cy="360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474479"/>
                </a:solidFill>
                <a:latin typeface="Bahnschrift SemiBold" panose="020B0502040204020203" charset="0"/>
                <a:cs typeface="Bahnschrift SemiBold" panose="020B0502040204020203" charset="0"/>
              </a:rPr>
              <a:t>restore</a:t>
            </a:r>
            <a:endParaRPr b="1" i="0">
              <a:solidFill>
                <a:srgbClr val="474479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7" name="TextBox 25"/>
          <p:cNvSpPr txBox="1"/>
          <p:nvPr>
            <p:custDataLst>
              <p:tags r:id="rId8"/>
            </p:custDataLst>
          </p:nvPr>
        </p:nvSpPr>
        <p:spPr>
          <a:xfrm>
            <a:off x="6671310" y="4337050"/>
            <a:ext cx="4467225" cy="320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</a:rPr>
              <a:t>显式操作，避免隐形长期画像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28" name="Rectangle 26"/>
          <p:cNvSpPr/>
          <p:nvPr/>
        </p:nvSpPr>
        <p:spPr>
          <a:xfrm>
            <a:off x="1046480" y="4944110"/>
            <a:ext cx="10090785" cy="546100"/>
          </a:xfrm>
          <a:prstGeom prst="rect">
            <a:avLst/>
          </a:prstGeom>
          <a:solidFill>
            <a:srgbClr val="DADAE4"/>
          </a:solidFill>
          <a:ln w="9525">
            <a:solidFill>
              <a:srgbClr val="AFB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9" name="TextBox 27"/>
          <p:cNvSpPr txBox="1"/>
          <p:nvPr/>
        </p:nvSpPr>
        <p:spPr>
          <a:xfrm>
            <a:off x="1263015" y="5057775"/>
            <a:ext cx="2190115" cy="320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11111"/>
                </a:solidFill>
                <a:latin typeface="Bahnschrift SemiBold" panose="020B0502040204020203" charset="0"/>
              </a:rPr>
              <a:t>范围</a:t>
            </a:r>
            <a:endParaRPr sz="1600" b="0" i="0">
              <a:solidFill>
                <a:srgbClr val="111111"/>
              </a:solidFill>
              <a:latin typeface="Bahnschrift SemiBold" panose="020B0502040204020203" charset="0"/>
            </a:endParaRPr>
          </a:p>
        </p:txBody>
      </p:sp>
      <p:sp>
        <p:nvSpPr>
          <p:cNvPr id="30" name="TextBox 28"/>
          <p:cNvSpPr txBox="1"/>
          <p:nvPr>
            <p:custDataLst>
              <p:tags r:id="rId9"/>
            </p:custDataLst>
          </p:nvPr>
        </p:nvSpPr>
        <p:spPr>
          <a:xfrm>
            <a:off x="4537075" y="5029835"/>
            <a:ext cx="1402080" cy="360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474479"/>
                </a:solidFill>
                <a:latin typeface="Bahnschrift SemiBold" panose="020B0502040204020203" charset="0"/>
                <a:cs typeface="Bahnschrift SemiBold" panose="020B0502040204020203" charset="0"/>
              </a:rPr>
              <a:t>workspace</a:t>
            </a:r>
            <a:endParaRPr b="1" i="0">
              <a:solidFill>
                <a:srgbClr val="474479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1" name="TextBox 29"/>
          <p:cNvSpPr txBox="1"/>
          <p:nvPr>
            <p:custDataLst>
              <p:tags r:id="rId10"/>
            </p:custDataLst>
          </p:nvPr>
        </p:nvSpPr>
        <p:spPr>
          <a:xfrm>
            <a:off x="6670675" y="5048885"/>
            <a:ext cx="4467225" cy="320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全局、Workspace、项目和用户授权边界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 bldLvl="0" animBg="1"/>
      <p:bldP spid="125" grpId="0"/>
      <p:bldP spid="2" grpId="0" animBg="1"/>
      <p:bldP spid="13" grpId="0"/>
      <p:bldP spid="3" grpId="0"/>
      <p:bldP spid="15" grpId="0" animBg="1"/>
      <p:bldP spid="9" grpId="0"/>
      <p:bldP spid="17" grpId="0"/>
      <p:bldP spid="18" grpId="0"/>
      <p:bldP spid="10" grpId="0" animBg="1"/>
      <p:bldP spid="20" grpId="0"/>
      <p:bldP spid="21" grpId="0"/>
      <p:bldP spid="22" grpId="0"/>
      <p:bldP spid="23" grpId="0" animBg="1"/>
      <p:bldP spid="25" grpId="0"/>
      <p:bldP spid="26" grpId="0"/>
      <p:bldP spid="27" grpId="0"/>
      <p:bldP spid="28" grpId="0" animBg="1"/>
      <p:bldP spid="30" grpId="0"/>
      <p:bldP spid="31" grpId="0"/>
      <p:bldP spid="12" grpId="0"/>
      <p:bldP spid="2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2810" y="240030"/>
            <a:ext cx="5895975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32 / TRUST &amp; SAFETY</a:t>
            </a:r>
            <a:endParaRPr lang="en-US" altLang="zh-CN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每个边界都对应一个可审计动作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124" name="Rectangle 38"/>
          <p:cNvSpPr/>
          <p:nvPr/>
        </p:nvSpPr>
        <p:spPr>
          <a:xfrm>
            <a:off x="9120505" y="6106160"/>
            <a:ext cx="60325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5" name="TextBox 39"/>
          <p:cNvSpPr txBox="1"/>
          <p:nvPr/>
        </p:nvSpPr>
        <p:spPr>
          <a:xfrm>
            <a:off x="9187180" y="6134735"/>
            <a:ext cx="471805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b="1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981709" y="1320799"/>
            <a:ext cx="103822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</a:rPr>
              <a:t>可靠性既在模型输出里，也在谁能看见什么、谁能改变什么、系统记录什么</a:t>
            </a:r>
            <a:endParaRPr lang="zh-CN" altLang="en-US" sz="1600" b="0" i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3564582" y="2321560"/>
            <a:ext cx="4771249" cy="3129280"/>
            <a:chOff x="5614" y="3656"/>
            <a:chExt cx="7514" cy="4928"/>
          </a:xfrm>
        </p:grpSpPr>
        <p:sp>
          <p:nvSpPr>
            <p:cNvPr id="48" name="矩形 47"/>
            <p:cNvSpPr/>
            <p:nvPr>
              <p:custDataLst>
                <p:tags r:id="rId1"/>
              </p:custDataLst>
            </p:nvPr>
          </p:nvSpPr>
          <p:spPr>
            <a:xfrm>
              <a:off x="6812" y="3656"/>
              <a:ext cx="1854" cy="1387"/>
            </a:xfrm>
            <a:prstGeom prst="rect">
              <a:avLst/>
            </a:prstGeom>
            <a:solidFill>
              <a:srgbClr val="6A68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>
                  <a:solidFill>
                    <a:schemeClr val="bg1"/>
                  </a:solidFill>
                  <a:latin typeface="Bahnschrift SemiBold" panose="020B0502040204020203" charset="0"/>
                  <a:cs typeface="Bahnschrift SemiBold" panose="020B0502040204020203" charset="0"/>
                  <a:sym typeface="+mn-ea"/>
                </a:rPr>
                <a:t>IDENTITY</a:t>
              </a:r>
              <a:endParaRPr lang="zh-CN" altLang="en-US" b="1">
                <a:solidFill>
                  <a:schemeClr val="bg1"/>
                </a:solidFill>
                <a:latin typeface="Bahnschrift SemiBold" panose="020B0502040204020203" charset="0"/>
                <a:ea typeface="微软雅黑" panose="020B0503020204020204" charset="-122"/>
                <a:cs typeface="Bahnschrift SemiBold" panose="020B0502040204020203" charset="0"/>
                <a:sym typeface="+mn-ea"/>
              </a:endParaRPr>
            </a:p>
          </p:txBody>
        </p:sp>
        <p:sp>
          <p:nvSpPr>
            <p:cNvPr id="49" name="矩形 48"/>
            <p:cNvSpPr/>
            <p:nvPr>
              <p:custDataLst>
                <p:tags r:id="rId2"/>
              </p:custDataLst>
            </p:nvPr>
          </p:nvSpPr>
          <p:spPr>
            <a:xfrm>
              <a:off x="9949" y="3656"/>
              <a:ext cx="1849" cy="1387"/>
            </a:xfrm>
            <a:prstGeom prst="rect">
              <a:avLst/>
            </a:prstGeom>
            <a:solidFill>
              <a:srgbClr val="8C8B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>
                  <a:solidFill>
                    <a:schemeClr val="bg1"/>
                  </a:solidFill>
                  <a:latin typeface="Bahnschrift SemiBold" panose="020B0502040204020203" charset="0"/>
                  <a:cs typeface="Bahnschrift SemiBold" panose="020B0502040204020203" charset="0"/>
                  <a:sym typeface="+mn-ea"/>
                </a:rPr>
                <a:t>SCOPE</a:t>
              </a:r>
              <a:endParaRPr lang="zh-CN" altLang="en-US" b="1" dirty="0">
                <a:solidFill>
                  <a:schemeClr val="bg1"/>
                </a:solidFill>
                <a:latin typeface="Bahnschrift SemiBold" panose="020B0502040204020203" charset="0"/>
                <a:ea typeface="微软雅黑" panose="020B0503020204020204" charset="-122"/>
                <a:cs typeface="Bahnschrift SemiBold" panose="020B0502040204020203" charset="0"/>
                <a:sym typeface="+mn-ea"/>
              </a:endParaRPr>
            </a:p>
          </p:txBody>
        </p:sp>
        <p:sp>
          <p:nvSpPr>
            <p:cNvPr id="50" name="矩形 49"/>
            <p:cNvSpPr/>
            <p:nvPr>
              <p:custDataLst>
                <p:tags r:id="rId3"/>
              </p:custDataLst>
            </p:nvPr>
          </p:nvSpPr>
          <p:spPr>
            <a:xfrm>
              <a:off x="6786" y="7197"/>
              <a:ext cx="1880" cy="1387"/>
            </a:xfrm>
            <a:prstGeom prst="rect">
              <a:avLst/>
            </a:prstGeom>
            <a:solidFill>
              <a:srgbClr val="8C8B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>
                  <a:solidFill>
                    <a:schemeClr val="bg1"/>
                  </a:solidFill>
                  <a:latin typeface="Bahnschrift SemiBold" panose="020B0502040204020203" charset="0"/>
                  <a:cs typeface="Bahnschrift SemiBold" panose="020B0502040204020203" charset="0"/>
                  <a:sym typeface="+mn-ea"/>
                </a:rPr>
                <a:t>AUDIT</a:t>
              </a:r>
              <a:endParaRPr lang="zh-CN" altLang="en-US" b="1">
                <a:solidFill>
                  <a:schemeClr val="bg1"/>
                </a:solidFill>
                <a:latin typeface="Bahnschrift SemiBold" panose="020B0502040204020203" charset="0"/>
                <a:ea typeface="微软雅黑" panose="020B0503020204020204" charset="-122"/>
                <a:cs typeface="Bahnschrift SemiBold" panose="020B0502040204020203" charset="0"/>
                <a:sym typeface="+mn-ea"/>
              </a:endParaRPr>
            </a:p>
          </p:txBody>
        </p:sp>
        <p:sp>
          <p:nvSpPr>
            <p:cNvPr id="51" name="矩形 50"/>
            <p:cNvSpPr/>
            <p:nvPr>
              <p:custDataLst>
                <p:tags r:id="rId4"/>
              </p:custDataLst>
            </p:nvPr>
          </p:nvSpPr>
          <p:spPr>
            <a:xfrm>
              <a:off x="9934" y="7197"/>
              <a:ext cx="1864" cy="1387"/>
            </a:xfrm>
            <a:prstGeom prst="rect">
              <a:avLst/>
            </a:prstGeom>
            <a:solidFill>
              <a:srgbClr val="6A68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latin typeface="Bahnschrift SemiBold" panose="020B0502040204020203" charset="0"/>
                  <a:ea typeface="微软雅黑" panose="020B0503020204020204" charset="-122"/>
                  <a:cs typeface="Bahnschrift SemiBold" panose="020B0502040204020203" charset="0"/>
                </a:rPr>
                <a:t>OPERATIONS</a:t>
              </a:r>
              <a:endParaRPr lang="zh-CN" altLang="en-US" sz="1200">
                <a:latin typeface="Bahnschrift SemiBold" panose="020B0502040204020203" charset="0"/>
                <a:ea typeface="微软雅黑" panose="020B0503020204020204" charset="-122"/>
                <a:cs typeface="Bahnschrift SemiBold" panose="020B0502040204020203" charset="0"/>
              </a:endParaRPr>
            </a:p>
          </p:txBody>
        </p:sp>
        <p:cxnSp>
          <p:nvCxnSpPr>
            <p:cNvPr id="52" name="直接连接符 51"/>
            <p:cNvCxnSpPr/>
            <p:nvPr>
              <p:custDataLst>
                <p:tags r:id="rId5"/>
              </p:custDataLst>
            </p:nvPr>
          </p:nvCxnSpPr>
          <p:spPr>
            <a:xfrm>
              <a:off x="5639" y="4375"/>
              <a:ext cx="1173" cy="1"/>
            </a:xfrm>
            <a:prstGeom prst="line">
              <a:avLst/>
            </a:prstGeom>
            <a:ln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>
              <p:custDataLst>
                <p:tags r:id="rId6"/>
              </p:custDataLst>
            </p:nvPr>
          </p:nvCxnSpPr>
          <p:spPr>
            <a:xfrm>
              <a:off x="5614" y="7957"/>
              <a:ext cx="1172" cy="0"/>
            </a:xfrm>
            <a:prstGeom prst="line">
              <a:avLst/>
            </a:prstGeom>
            <a:ln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>
              <p:custDataLst>
                <p:tags r:id="rId7"/>
              </p:custDataLst>
            </p:nvPr>
          </p:nvCxnSpPr>
          <p:spPr>
            <a:xfrm flipH="1">
              <a:off x="11798" y="4309"/>
              <a:ext cx="1330" cy="0"/>
            </a:xfrm>
            <a:prstGeom prst="line">
              <a:avLst/>
            </a:prstGeom>
            <a:ln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>
              <p:custDataLst>
                <p:tags r:id="rId8"/>
              </p:custDataLst>
            </p:nvPr>
          </p:nvCxnSpPr>
          <p:spPr>
            <a:xfrm flipH="1" flipV="1">
              <a:off x="11798" y="7972"/>
              <a:ext cx="1330" cy="7"/>
            </a:xfrm>
            <a:prstGeom prst="line">
              <a:avLst/>
            </a:prstGeom>
            <a:ln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文本框 59"/>
          <p:cNvSpPr txBox="1"/>
          <p:nvPr>
            <p:custDataLst>
              <p:tags r:id="rId9"/>
            </p:custDataLst>
          </p:nvPr>
        </p:nvSpPr>
        <p:spPr>
          <a:xfrm>
            <a:off x="667385" y="2249805"/>
            <a:ext cx="2729865" cy="1917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Hiragino Sans GB W3" panose="02010600030101010101" charset="-122"/>
              </a:rPr>
              <a:t>教师只访问本人班级；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iragino Sans GB W3" panose="02010600030101010101" charset="-122"/>
            </a:endParaRPr>
          </a:p>
          <a:p>
            <a:pPr algn="di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Hiragino Sans GB W3" panose="02010600030101010101" charset="-122"/>
              </a:rPr>
              <a:t>学生只访问自己的提交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iragino Sans GB W3" panose="02010600030101010101" charset="-122"/>
            </a:endParaRPr>
          </a:p>
          <a:p>
            <a:pPr algn="di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Hiragino Sans GB W3" panose="02010600030101010101" charset="-122"/>
              </a:rPr>
              <a:t>与已发布反馈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iragino Sans GB W3" panose="02010600030101010101" charset="-122"/>
            </a:endParaRPr>
          </a:p>
          <a:p>
            <a:pPr algn="dist">
              <a:lnSpc>
                <a:spcPct val="150000"/>
              </a:lnSpc>
              <a:spcBef>
                <a:spcPts val="600"/>
              </a:spcBef>
            </a:pP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iragino Sans GB W3" panose="02010600030101010101" charset="-122"/>
            </a:endParaRPr>
          </a:p>
        </p:txBody>
      </p:sp>
      <p:sp>
        <p:nvSpPr>
          <p:cNvPr id="61" name="Rectangle 24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135380" y="1948180"/>
            <a:ext cx="1743075" cy="32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角色隔离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11"/>
            </p:custDataLst>
          </p:nvPr>
        </p:nvSpPr>
        <p:spPr>
          <a:xfrm>
            <a:off x="667385" y="4530725"/>
            <a:ext cx="2729865" cy="1917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Hiragino Sans GB W3" panose="02010600030101010101" charset="-122"/>
              </a:rPr>
              <a:t>邀请、提交、分析、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iragino Sans GB W3" panose="02010600030101010101" charset="-122"/>
            </a:endParaRPr>
          </a:p>
          <a:p>
            <a:pPr algn="di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Hiragino Sans GB W3" panose="02010600030101010101" charset="-122"/>
              </a:rPr>
              <a:t>复核、发布、学生详情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iragino Sans GB W3" panose="02010600030101010101" charset="-122"/>
            </a:endParaRPr>
          </a:p>
          <a:p>
            <a:pPr algn="di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Hiragino Sans GB W3" panose="02010600030101010101" charset="-122"/>
              </a:rPr>
              <a:t>访问写入审计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iragino Sans GB W3" panose="02010600030101010101" charset="-122"/>
            </a:endParaRPr>
          </a:p>
          <a:p>
            <a:pPr algn="dist">
              <a:lnSpc>
                <a:spcPct val="150000"/>
              </a:lnSpc>
              <a:spcBef>
                <a:spcPts val="600"/>
              </a:spcBef>
            </a:pP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iragino Sans GB W3" panose="02010600030101010101" charset="-122"/>
            </a:endParaRPr>
          </a:p>
        </p:txBody>
      </p:sp>
      <p:sp>
        <p:nvSpPr>
          <p:cNvPr id="63" name="Rectangle 24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135380" y="4229100"/>
            <a:ext cx="1743075" cy="32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只追加日志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/>
          <p:cNvSpPr txBox="1"/>
          <p:nvPr>
            <p:custDataLst>
              <p:tags r:id="rId13"/>
            </p:custDataLst>
          </p:nvPr>
        </p:nvSpPr>
        <p:spPr>
          <a:xfrm>
            <a:off x="8575040" y="2249805"/>
            <a:ext cx="2729865" cy="1442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Hiragino Sans GB W3" panose="02010600030101010101" charset="-122"/>
              </a:rPr>
              <a:t>私人对话、记忆、科研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iragino Sans GB W3" panose="02010600030101010101" charset="-122"/>
            </a:endParaRPr>
          </a:p>
          <a:p>
            <a:pPr algn="di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Hiragino Sans GB W3" panose="02010600030101010101" charset="-122"/>
              </a:rPr>
              <a:t>项目、无关附件不进入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iragino Sans GB W3" panose="02010600030101010101" charset="-122"/>
            </a:endParaRPr>
          </a:p>
          <a:p>
            <a:pPr algn="di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Hiragino Sans GB W3" panose="02010600030101010101" charset="-122"/>
              </a:rPr>
              <a:t>教学证据范围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iragino Sans GB W3" panose="02010600030101010101" charset="-122"/>
            </a:endParaRPr>
          </a:p>
        </p:txBody>
      </p:sp>
      <p:sp>
        <p:nvSpPr>
          <p:cNvPr id="65" name="Rectangle 24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9043035" y="1948180"/>
            <a:ext cx="1743075" cy="678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最小必要访问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15"/>
            </p:custDataLst>
          </p:nvPr>
        </p:nvSpPr>
        <p:spPr>
          <a:xfrm>
            <a:off x="8435098" y="4602346"/>
            <a:ext cx="2869294" cy="1845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Hiragino Sans GB W3" panose="02010600030101010101" charset="-122"/>
              </a:rPr>
              <a:t>邮件验证码不写日志；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iragino Sans GB W3" panose="02010600030101010101" charset="-122"/>
            </a:endParaRPr>
          </a:p>
          <a:p>
            <a:pPr algn="di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Hiragino Sans GB W3" panose="02010600030101010101" charset="-122"/>
              </a:rPr>
              <a:t>临时账号独立交付，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iragino Sans GB W3" panose="02010600030101010101" charset="-122"/>
            </a:endParaRPr>
          </a:p>
          <a:p>
            <a:pPr algn="di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Hiragino Sans GB W3" panose="02010600030101010101" charset="-122"/>
              </a:rPr>
              <a:t>录制后重置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iragino Sans GB W3" panose="02010600030101010101" charset="-122"/>
            </a:endParaRPr>
          </a:p>
          <a:p>
            <a:pPr algn="ctr">
              <a:spcBef>
                <a:spcPts val="600"/>
              </a:spcBef>
            </a:pP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iragino Sans GB W3" panose="02010600030101010101" charset="-122"/>
            </a:endParaRPr>
          </a:p>
        </p:txBody>
      </p:sp>
      <p:sp>
        <p:nvSpPr>
          <p:cNvPr id="67" name="Rectangle 24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9043035" y="4300855"/>
            <a:ext cx="1743075" cy="678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演示安全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7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 bldLvl="0" animBg="1"/>
      <p:bldP spid="125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730115" y="1621155"/>
            <a:ext cx="226695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  <a:endParaRPr lang="en-US" altLang="zh-CN" sz="5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688465" y="2040255"/>
            <a:ext cx="8682990" cy="34283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7200" dirty="0">
                <a:solidFill>
                  <a:schemeClr val="bg1"/>
                </a:solidFill>
                <a:effectLst/>
                <a:cs typeface="+mn-ea"/>
                <a:sym typeface="+mn-lt"/>
              </a:rPr>
              <a:t> </a:t>
            </a:r>
            <a:r>
              <a:rPr lang="zh-CN" altLang="en-US" sz="7200" dirty="0">
                <a:solidFill>
                  <a:schemeClr val="bg1"/>
                </a:solidFill>
                <a:effectLst/>
                <a:cs typeface="+mn-ea"/>
                <a:sym typeface="+mn-lt"/>
              </a:rPr>
              <a:t>效果验证与典型问题 </a:t>
            </a:r>
            <a:r>
              <a:rPr lang="zh-CN" altLang="en-US" sz="7200" dirty="0">
                <a:solidFill>
                  <a:schemeClr val="bg1"/>
                </a:solidFill>
                <a:effectLst/>
                <a:cs typeface="+mn-ea"/>
                <a:sym typeface="+mn-lt"/>
              </a:rPr>
              <a:t> </a:t>
            </a:r>
            <a:endParaRPr lang="zh-CN" altLang="en-US" sz="7200" dirty="0">
              <a:solidFill>
                <a:schemeClr val="bg1"/>
              </a:solidFill>
              <a:effectLst/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endParaRPr lang="zh-CN" altLang="en-US" sz="7200" dirty="0" smtClean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066604" y="3806571"/>
            <a:ext cx="6222077" cy="1586171"/>
            <a:chOff x="2858885" y="3215810"/>
            <a:chExt cx="6222077" cy="1586171"/>
          </a:xfrm>
        </p:grpSpPr>
        <p:sp>
          <p:nvSpPr>
            <p:cNvPr id="19" name="椭圆 18"/>
            <p:cNvSpPr/>
            <p:nvPr/>
          </p:nvSpPr>
          <p:spPr>
            <a:xfrm rot="10800000">
              <a:off x="3611336" y="3215810"/>
              <a:ext cx="4717177" cy="1194265"/>
            </a:xfrm>
            <a:prstGeom prst="ellipse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72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 rot="10800000">
              <a:off x="2858885" y="3226715"/>
              <a:ext cx="6222077" cy="1575266"/>
            </a:xfrm>
            <a:prstGeom prst="ellipse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72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cxnSp>
        <p:nvCxnSpPr>
          <p:cNvPr id="21" name="直接连接符 20"/>
          <p:cNvCxnSpPr/>
          <p:nvPr/>
        </p:nvCxnSpPr>
        <p:spPr>
          <a:xfrm flipV="1">
            <a:off x="2547151" y="2701779"/>
            <a:ext cx="1" cy="1124532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3888998" y="1678308"/>
            <a:ext cx="0" cy="689121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V="1">
            <a:off x="9581039" y="2367774"/>
            <a:ext cx="0" cy="1438905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8018304" y="2040404"/>
            <a:ext cx="0" cy="810254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V="1">
            <a:off x="8933339" y="1083312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hteck"/>
          <p:cNvSpPr/>
          <p:nvPr/>
        </p:nvSpPr>
        <p:spPr>
          <a:xfrm>
            <a:off x="0" y="0"/>
            <a:ext cx="5690235" cy="6857365"/>
          </a:xfrm>
          <a:prstGeom prst="rect">
            <a:avLst/>
          </a:prstGeom>
          <a:solidFill>
            <a:srgbClr val="474479">
              <a:alpha val="20000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part.04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2810" y="240030"/>
            <a:ext cx="40633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34 / TYPICAL CASE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典型问题 01：单链表反转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2" name="TextBox 10"/>
          <p:cNvSpPr txBox="1"/>
          <p:nvPr/>
        </p:nvSpPr>
        <p:spPr>
          <a:xfrm>
            <a:off x="5994400" y="1171575"/>
            <a:ext cx="3805555" cy="290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LEFT / FOUR VERIFICATION BLOCKS</a:t>
            </a:r>
            <a:endParaRPr b="1" i="0">
              <a:solidFill>
                <a:schemeClr val="tx1">
                  <a:lumMod val="75000"/>
                  <a:lumOff val="2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94399" y="1677035"/>
            <a:ext cx="20002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74479"/>
                </a:solidFill>
                <a:latin typeface="Bahnschrift SemiBold" panose="020B0502040204020203" charset="0"/>
                <a:cs typeface="Bahnschrift SemiBold" panose="020B0502040204020203" charset="0"/>
              </a:rPr>
              <a:t>01 / 问题</a:t>
            </a:r>
            <a:endParaRPr sz="1600" b="1" i="0">
              <a:solidFill>
                <a:srgbClr val="474479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367010" y="1722120"/>
            <a:ext cx="782320" cy="76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74479"/>
                </a:solidFill>
                <a:latin typeface="Bahnschrift SemiBold" panose="020B0502040204020203" charset="0"/>
              </a:rPr>
              <a:t>核验目标</a:t>
            </a:r>
            <a:endParaRPr sz="1200" b="1" i="0">
              <a:solidFill>
                <a:srgbClr val="474479"/>
              </a:solidFill>
              <a:latin typeface="Bahnschrift SemiBold" panose="020B0502040204020203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94399" y="1975485"/>
            <a:ext cx="53530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</a:rPr>
              <a:t>给出单链表反转算法</a:t>
            </a:r>
            <a:endParaRPr sz="16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</a:endParaRPr>
          </a:p>
        </p:txBody>
      </p:sp>
      <p:sp>
        <p:nvSpPr>
          <p:cNvPr id="12" name="TextBox 17"/>
          <p:cNvSpPr txBox="1"/>
          <p:nvPr/>
        </p:nvSpPr>
        <p:spPr>
          <a:xfrm>
            <a:off x="5994399" y="2324100"/>
            <a:ext cx="53530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</a:rPr>
              <a:t>说明时间复杂度、额外空间复杂度，并覆盖空链表与单节点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22" name="TextBox 19"/>
          <p:cNvSpPr txBox="1"/>
          <p:nvPr/>
        </p:nvSpPr>
        <p:spPr>
          <a:xfrm>
            <a:off x="5994399" y="2664460"/>
            <a:ext cx="20002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74479"/>
                </a:solidFill>
                <a:latin typeface="Bahnschrift SemiBold" panose="020B0502040204020203" charset="0"/>
                <a:cs typeface="Bahnschrift SemiBold" panose="020B0502040204020203" charset="0"/>
              </a:rPr>
              <a:t>02 / 标准答案</a:t>
            </a:r>
            <a:endParaRPr sz="1600" b="1" i="0">
              <a:solidFill>
                <a:srgbClr val="474479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4" name="TextBox 21"/>
          <p:cNvSpPr txBox="1"/>
          <p:nvPr/>
        </p:nvSpPr>
        <p:spPr>
          <a:xfrm>
            <a:off x="10366375" y="2672715"/>
            <a:ext cx="683895" cy="387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05E8C"/>
                </a:solidFill>
                <a:latin typeface="Bahnschrift SemiBold" panose="020B0502040204020203" charset="0"/>
              </a:rPr>
              <a:t>对照基准</a:t>
            </a:r>
            <a:endParaRPr sz="1200" b="1" i="0">
              <a:solidFill>
                <a:srgbClr val="605E8C"/>
              </a:solidFill>
              <a:latin typeface="Bahnschrift SemiBold" panose="020B0502040204020203" charset="0"/>
            </a:endParaRPr>
          </a:p>
        </p:txBody>
      </p:sp>
      <p:sp>
        <p:nvSpPr>
          <p:cNvPr id="25" name="TextBox 22"/>
          <p:cNvSpPr txBox="1"/>
          <p:nvPr/>
        </p:nvSpPr>
        <p:spPr>
          <a:xfrm>
            <a:off x="5994399" y="2971164"/>
            <a:ext cx="53530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</a:rPr>
              <a:t>迭代式原地反转</a:t>
            </a:r>
            <a:endParaRPr sz="16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</a:endParaRPr>
          </a:p>
        </p:txBody>
      </p:sp>
      <p:sp>
        <p:nvSpPr>
          <p:cNvPr id="26" name="TextBox 23"/>
          <p:cNvSpPr txBox="1"/>
          <p:nvPr/>
        </p:nvSpPr>
        <p:spPr>
          <a:xfrm>
            <a:off x="5994399" y="3232149"/>
            <a:ext cx="5353049" cy="51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prev / curr / next_temp；时间 O(n)，额外空间 O(1)；None 返回 None，单节点返回自身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8" name="TextBox 25"/>
          <p:cNvSpPr txBox="1"/>
          <p:nvPr/>
        </p:nvSpPr>
        <p:spPr>
          <a:xfrm>
            <a:off x="5994399" y="3833495"/>
            <a:ext cx="20002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05E8C"/>
                </a:solidFill>
                <a:latin typeface="Bahnschrift SemiBold" panose="020B0502040204020203" charset="0"/>
                <a:cs typeface="Bahnschrift SemiBold" panose="020B0502040204020203" charset="0"/>
              </a:rPr>
              <a:t>03 / 权威来源</a:t>
            </a:r>
            <a:endParaRPr sz="1600" b="1" i="0">
              <a:solidFill>
                <a:srgbClr val="605E8C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0" name="TextBox 27"/>
          <p:cNvSpPr txBox="1"/>
          <p:nvPr/>
        </p:nvSpPr>
        <p:spPr>
          <a:xfrm>
            <a:off x="10366375" y="3798570"/>
            <a:ext cx="93345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05E8C"/>
                </a:solidFill>
                <a:latin typeface="Arial" panose="020B0604020202020204" pitchFamily="34" charset="0"/>
              </a:rPr>
              <a:t>来源定位</a:t>
            </a:r>
            <a:endParaRPr sz="1200" b="1" i="0">
              <a:solidFill>
                <a:srgbClr val="605E8C"/>
              </a:solidFill>
              <a:latin typeface="Arial" panose="020B0604020202020204" pitchFamily="34" charset="0"/>
            </a:endParaRPr>
          </a:p>
        </p:txBody>
      </p:sp>
      <p:sp>
        <p:nvSpPr>
          <p:cNvPr id="31" name="TextBox 28"/>
          <p:cNvSpPr txBox="1"/>
          <p:nvPr/>
        </p:nvSpPr>
        <p:spPr>
          <a:xfrm>
            <a:off x="5994399" y="4126865"/>
            <a:ext cx="53530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CLRS 第 4 版 · Chapter 10</a:t>
            </a:r>
            <a:endParaRPr sz="16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3" name="TextBox 29"/>
          <p:cNvSpPr txBox="1"/>
          <p:nvPr/>
        </p:nvSpPr>
        <p:spPr>
          <a:xfrm>
            <a:off x="5994399" y="4446270"/>
            <a:ext cx="5353049" cy="51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</a:rPr>
              <a:t>用于人工对照算法、复杂度与边界条件。当前可见回答未返回可展示的来源卡片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35" name="TextBox 31"/>
          <p:cNvSpPr txBox="1"/>
          <p:nvPr/>
        </p:nvSpPr>
        <p:spPr>
          <a:xfrm>
            <a:off x="5994399" y="5052060"/>
            <a:ext cx="20002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05E8C"/>
                </a:solidFill>
                <a:latin typeface="Bahnschrift SemiBold" panose="020B0502040204020203" charset="0"/>
                <a:cs typeface="Bahnschrift SemiBold" panose="020B0502040204020203" charset="0"/>
              </a:rPr>
              <a:t>04 / Demo 实测</a:t>
            </a:r>
            <a:endParaRPr sz="1600" b="1" i="0">
              <a:solidFill>
                <a:srgbClr val="605E8C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7" name="TextBox 33"/>
          <p:cNvSpPr txBox="1"/>
          <p:nvPr/>
        </p:nvSpPr>
        <p:spPr>
          <a:xfrm>
            <a:off x="10367010" y="5061585"/>
            <a:ext cx="942340" cy="19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05E8C"/>
                </a:solidFill>
                <a:latin typeface="微软雅黑" panose="020B0503020204020204" charset="-122"/>
                <a:ea typeface="微软雅黑" panose="020B0503020204020204" charset="-122"/>
                <a:cs typeface="Bahnschrift SemiBold" panose="020B0502040204020203" charset="0"/>
              </a:rPr>
              <a:t>通</a:t>
            </a:r>
            <a:r>
              <a:rPr lang="zh-CN" sz="1200" b="1" i="0">
                <a:solidFill>
                  <a:srgbClr val="605E8C"/>
                </a:solidFill>
                <a:latin typeface="微软雅黑" panose="020B0503020204020204" charset="-122"/>
                <a:ea typeface="微软雅黑" panose="020B0503020204020204" charset="-122"/>
                <a:cs typeface="Bahnschrift SemiBold" panose="020B0502040204020203" charset="0"/>
              </a:rPr>
              <a:t>过</a:t>
            </a:r>
            <a:r>
              <a:rPr lang="en-US" altLang="zh-CN" sz="1200" b="1" i="0">
                <a:solidFill>
                  <a:srgbClr val="605E8C"/>
                </a:solidFill>
                <a:latin typeface="Bahnschrift SemiBold" panose="020B0502040204020203" charset="0"/>
                <a:cs typeface="Bahnschrift SemiBold" panose="020B0502040204020203" charset="0"/>
              </a:rPr>
              <a:t>.</a:t>
            </a:r>
            <a:r>
              <a:rPr sz="1200" b="1" i="0">
                <a:solidFill>
                  <a:srgbClr val="605E8C"/>
                </a:solidFill>
                <a:latin typeface="Bahnschrift SemiBold" panose="020B0502040204020203" charset="0"/>
                <a:cs typeface="Bahnschrift SemiBold" panose="020B0502040204020203" charset="0"/>
              </a:rPr>
              <a:t> 20.95 s</a:t>
            </a:r>
            <a:endParaRPr sz="1200" b="1" i="0">
              <a:solidFill>
                <a:srgbClr val="605E8C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8" name="TextBox 34"/>
          <p:cNvSpPr txBox="1"/>
          <p:nvPr/>
        </p:nvSpPr>
        <p:spPr>
          <a:xfrm>
            <a:off x="5994399" y="5317489"/>
            <a:ext cx="53530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</a:rPr>
              <a:t>线上回答通过核验</a:t>
            </a:r>
            <a:endParaRPr sz="16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</a:endParaRPr>
          </a:p>
        </p:txBody>
      </p:sp>
      <p:sp>
        <p:nvSpPr>
          <p:cNvPr id="39" name="TextBox 35"/>
          <p:cNvSpPr txBox="1"/>
          <p:nvPr/>
        </p:nvSpPr>
        <p:spPr>
          <a:xfrm>
            <a:off x="5994399" y="5641340"/>
            <a:ext cx="5353049" cy="51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真实输出：Python 迭代实现 + O(n) / O(1) + 空链表/单节点说明；响应 20.95 s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88035" y="1075690"/>
            <a:ext cx="4978400" cy="386080"/>
          </a:xfrm>
          <a:prstGeom prst="rect">
            <a:avLst/>
          </a:prstGeom>
        </p:spPr>
        <p:txBody>
          <a:bodyPr wrap="square" anchor="t">
            <a:noAutofit/>
            <a:scene3d>
              <a:camera prst="orthographicFront"/>
              <a:lightRig rig="threePt" dir="t"/>
            </a:scene3d>
          </a:bodyPr>
          <a:p>
            <a:pPr indent="0" algn="l" fontAlgn="auto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数据结构题同时检验计算机知识、代码表达和边界意识</a:t>
            </a:r>
            <a:endParaRPr lang="zh-CN" altLang="en-US" sz="1400"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黑体" panose="02010609060101010101" charset="-122"/>
              <a:ea typeface="黑体" panose="0201060906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1" name="TextBox 8"/>
          <p:cNvSpPr txBox="1"/>
          <p:nvPr/>
        </p:nvSpPr>
        <p:spPr>
          <a:xfrm>
            <a:off x="918844" y="6348730"/>
            <a:ext cx="9334499" cy="160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25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标准答案 / 权威来源 / Demo 输出核验：不</a:t>
            </a:r>
            <a:r>
              <a:rPr sz="1000" b="0" i="0">
                <a:solidFill>
                  <a:srgbClr val="5B625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预先</a:t>
            </a:r>
            <a:r>
              <a:rPr sz="900" b="0" i="0">
                <a:solidFill>
                  <a:srgbClr val="5B625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宣称准确</a:t>
            </a:r>
            <a:endParaRPr sz="900" b="0" i="0">
              <a:solidFill>
                <a:srgbClr val="5B625F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8" name="图片 7" descr="C:/Users/Lenovo/Downloads/524b87aa-eb7b-461d-be5a-ec0e93d825d2.png524b87aa-eb7b-461d-be5a-ec0e93d825d2"/>
          <p:cNvPicPr>
            <a:picLocks noChangeAspect="1"/>
          </p:cNvPicPr>
          <p:nvPr/>
        </p:nvPicPr>
        <p:blipFill>
          <a:blip r:embed="rId1"/>
          <a:srcRect l="705" r="705"/>
          <a:stretch>
            <a:fillRect/>
          </a:stretch>
        </p:blipFill>
        <p:spPr>
          <a:xfrm>
            <a:off x="670560" y="2088515"/>
            <a:ext cx="4434840" cy="31070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part.04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2810" y="240030"/>
            <a:ext cx="2709545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33 /   USER SIGNAL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真实用户试用反馈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124" name="Rectangle 38"/>
          <p:cNvSpPr/>
          <p:nvPr/>
        </p:nvSpPr>
        <p:spPr>
          <a:xfrm>
            <a:off x="9120505" y="6106160"/>
            <a:ext cx="60325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5" name="TextBox 39"/>
          <p:cNvSpPr txBox="1"/>
          <p:nvPr/>
        </p:nvSpPr>
        <p:spPr>
          <a:xfrm>
            <a:off x="9187180" y="6134735"/>
            <a:ext cx="471805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b="1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981709" y="1320799"/>
            <a:ext cx="103822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</a:rPr>
              <a:t>至少 2 名真实目标用户的身份、时间、频次、场景与反馈须由本人确认</a:t>
            </a:r>
            <a:r>
              <a:rPr lang="en-US" altLang="zh-CN"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</a:rPr>
              <a:t/>
            </a:r>
            <a:r>
              <a:rPr lang="zh-CN" altLang="en-US"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</a:rPr>
              <a:t/>
            </a:r>
            <a:r>
              <a:rPr lang="zh-CN" altLang="en-US"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</a:rPr>
              <a:t/>
            </a:r>
            <a:endParaRPr lang="zh-CN" altLang="en-US" sz="1600" b="0" i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648335" y="2176145"/>
            <a:ext cx="10810875" cy="2983230"/>
            <a:chOff x="895" y="3725"/>
            <a:chExt cx="17025" cy="4698"/>
          </a:xfrm>
        </p:grpSpPr>
        <p:sp>
          <p:nvSpPr>
            <p:cNvPr id="2" name="Shape 1439"/>
            <p:cNvSpPr/>
            <p:nvPr>
              <p:custDataLst>
                <p:tags r:id="rId1"/>
              </p:custDataLst>
            </p:nvPr>
          </p:nvSpPr>
          <p:spPr>
            <a:xfrm>
              <a:off x="7415" y="3725"/>
              <a:ext cx="3644" cy="320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7640" y="57619"/>
                  </a:moveTo>
                  <a:lnTo>
                    <a:pt x="105609" y="57619"/>
                  </a:lnTo>
                  <a:lnTo>
                    <a:pt x="105449" y="55320"/>
                  </a:lnTo>
                  <a:lnTo>
                    <a:pt x="105340" y="53917"/>
                  </a:lnTo>
                  <a:lnTo>
                    <a:pt x="105206" y="52524"/>
                  </a:lnTo>
                  <a:lnTo>
                    <a:pt x="105030" y="51131"/>
                  </a:lnTo>
                  <a:lnTo>
                    <a:pt x="104837" y="49757"/>
                  </a:lnTo>
                  <a:lnTo>
                    <a:pt x="104610" y="48374"/>
                  </a:lnTo>
                  <a:lnTo>
                    <a:pt x="104367" y="47019"/>
                  </a:lnTo>
                  <a:lnTo>
                    <a:pt x="104082" y="45664"/>
                  </a:lnTo>
                  <a:lnTo>
                    <a:pt x="103771" y="44318"/>
                  </a:lnTo>
                  <a:lnTo>
                    <a:pt x="103444" y="42973"/>
                  </a:lnTo>
                  <a:lnTo>
                    <a:pt x="103083" y="41647"/>
                  </a:lnTo>
                  <a:lnTo>
                    <a:pt x="102697" y="40330"/>
                  </a:lnTo>
                  <a:lnTo>
                    <a:pt x="102278" y="39033"/>
                  </a:lnTo>
                  <a:lnTo>
                    <a:pt x="101841" y="37745"/>
                  </a:lnTo>
                  <a:lnTo>
                    <a:pt x="101380" y="36457"/>
                  </a:lnTo>
                  <a:lnTo>
                    <a:pt x="100885" y="35197"/>
                  </a:lnTo>
                  <a:lnTo>
                    <a:pt x="100365" y="33938"/>
                  </a:lnTo>
                  <a:lnTo>
                    <a:pt x="99819" y="32697"/>
                  </a:lnTo>
                  <a:lnTo>
                    <a:pt x="99257" y="31476"/>
                  </a:lnTo>
                  <a:lnTo>
                    <a:pt x="98661" y="30264"/>
                  </a:lnTo>
                  <a:lnTo>
                    <a:pt x="98040" y="29072"/>
                  </a:lnTo>
                  <a:lnTo>
                    <a:pt x="97394" y="27889"/>
                  </a:lnTo>
                  <a:lnTo>
                    <a:pt x="96731" y="26724"/>
                  </a:lnTo>
                  <a:lnTo>
                    <a:pt x="96026" y="25580"/>
                  </a:lnTo>
                  <a:lnTo>
                    <a:pt x="95313" y="24444"/>
                  </a:lnTo>
                  <a:lnTo>
                    <a:pt x="94566" y="23328"/>
                  </a:lnTo>
                  <a:lnTo>
                    <a:pt x="93803" y="22240"/>
                  </a:lnTo>
                  <a:lnTo>
                    <a:pt x="93022" y="21162"/>
                  </a:lnTo>
                  <a:lnTo>
                    <a:pt x="92208" y="20103"/>
                  </a:lnTo>
                  <a:lnTo>
                    <a:pt x="91369" y="19072"/>
                  </a:lnTo>
                  <a:lnTo>
                    <a:pt x="90513" y="18042"/>
                  </a:lnTo>
                  <a:lnTo>
                    <a:pt x="89632" y="17050"/>
                  </a:lnTo>
                  <a:lnTo>
                    <a:pt x="88726" y="16076"/>
                  </a:lnTo>
                  <a:lnTo>
                    <a:pt x="87795" y="15113"/>
                  </a:lnTo>
                  <a:lnTo>
                    <a:pt x="86855" y="14187"/>
                  </a:lnTo>
                  <a:lnTo>
                    <a:pt x="85890" y="13281"/>
                  </a:lnTo>
                  <a:lnTo>
                    <a:pt x="84917" y="12403"/>
                  </a:lnTo>
                  <a:lnTo>
                    <a:pt x="83926" y="11554"/>
                  </a:lnTo>
                  <a:lnTo>
                    <a:pt x="82911" y="10733"/>
                  </a:lnTo>
                  <a:lnTo>
                    <a:pt x="81887" y="9951"/>
                  </a:lnTo>
                  <a:lnTo>
                    <a:pt x="80855" y="9188"/>
                  </a:lnTo>
                  <a:lnTo>
                    <a:pt x="79807" y="8453"/>
                  </a:lnTo>
                  <a:lnTo>
                    <a:pt x="78741" y="7747"/>
                  </a:lnTo>
                  <a:lnTo>
                    <a:pt x="77658" y="7079"/>
                  </a:lnTo>
                  <a:lnTo>
                    <a:pt x="76568" y="6440"/>
                  </a:lnTo>
                  <a:lnTo>
                    <a:pt x="75468" y="5810"/>
                  </a:lnTo>
                  <a:lnTo>
                    <a:pt x="74352" y="5238"/>
                  </a:lnTo>
                  <a:lnTo>
                    <a:pt x="73220" y="4675"/>
                  </a:lnTo>
                  <a:lnTo>
                    <a:pt x="72095" y="4140"/>
                  </a:lnTo>
                  <a:lnTo>
                    <a:pt x="70946" y="3654"/>
                  </a:lnTo>
                  <a:lnTo>
                    <a:pt x="69788" y="3196"/>
                  </a:lnTo>
                  <a:lnTo>
                    <a:pt x="68621" y="2757"/>
                  </a:lnTo>
                  <a:lnTo>
                    <a:pt x="67447" y="2356"/>
                  </a:lnTo>
                  <a:lnTo>
                    <a:pt x="66263" y="1975"/>
                  </a:lnTo>
                  <a:lnTo>
                    <a:pt x="65063" y="1641"/>
                  </a:lnTo>
                  <a:lnTo>
                    <a:pt x="63872" y="1326"/>
                  </a:lnTo>
                  <a:lnTo>
                    <a:pt x="62664" y="1059"/>
                  </a:lnTo>
                  <a:lnTo>
                    <a:pt x="61447" y="811"/>
                  </a:lnTo>
                  <a:lnTo>
                    <a:pt x="60230" y="591"/>
                  </a:lnTo>
                  <a:lnTo>
                    <a:pt x="58997" y="410"/>
                  </a:lnTo>
                  <a:lnTo>
                    <a:pt x="57763" y="267"/>
                  </a:lnTo>
                  <a:lnTo>
                    <a:pt x="56530" y="143"/>
                  </a:lnTo>
                  <a:lnTo>
                    <a:pt x="55288" y="66"/>
                  </a:lnTo>
                  <a:lnTo>
                    <a:pt x="54038" y="19"/>
                  </a:lnTo>
                  <a:lnTo>
                    <a:pt x="52779" y="0"/>
                  </a:lnTo>
                  <a:lnTo>
                    <a:pt x="50077" y="85"/>
                  </a:lnTo>
                  <a:lnTo>
                    <a:pt x="47392" y="314"/>
                  </a:lnTo>
                  <a:lnTo>
                    <a:pt x="44757" y="696"/>
                  </a:lnTo>
                  <a:lnTo>
                    <a:pt x="42164" y="1221"/>
                  </a:lnTo>
                  <a:lnTo>
                    <a:pt x="39614" y="1898"/>
                  </a:lnTo>
                  <a:lnTo>
                    <a:pt x="37105" y="2700"/>
                  </a:lnTo>
                  <a:lnTo>
                    <a:pt x="34654" y="3644"/>
                  </a:lnTo>
                  <a:lnTo>
                    <a:pt x="32255" y="4722"/>
                  </a:lnTo>
                  <a:lnTo>
                    <a:pt x="29922" y="5925"/>
                  </a:lnTo>
                  <a:lnTo>
                    <a:pt x="27640" y="7251"/>
                  </a:lnTo>
                  <a:lnTo>
                    <a:pt x="25441" y="8701"/>
                  </a:lnTo>
                  <a:lnTo>
                    <a:pt x="23293" y="10266"/>
                  </a:lnTo>
                  <a:lnTo>
                    <a:pt x="21220" y="11936"/>
                  </a:lnTo>
                  <a:lnTo>
                    <a:pt x="19232" y="13720"/>
                  </a:lnTo>
                  <a:lnTo>
                    <a:pt x="17310" y="15618"/>
                  </a:lnTo>
                  <a:lnTo>
                    <a:pt x="15473" y="17594"/>
                  </a:lnTo>
                  <a:lnTo>
                    <a:pt x="13727" y="19693"/>
                  </a:lnTo>
                  <a:lnTo>
                    <a:pt x="12066" y="21868"/>
                  </a:lnTo>
                  <a:lnTo>
                    <a:pt x="10497" y="24139"/>
                  </a:lnTo>
                  <a:lnTo>
                    <a:pt x="9020" y="26486"/>
                  </a:lnTo>
                  <a:lnTo>
                    <a:pt x="7652" y="28928"/>
                  </a:lnTo>
                  <a:lnTo>
                    <a:pt x="6377" y="31428"/>
                  </a:lnTo>
                  <a:lnTo>
                    <a:pt x="5210" y="34024"/>
                  </a:lnTo>
                  <a:lnTo>
                    <a:pt x="4153" y="36686"/>
                  </a:lnTo>
                  <a:lnTo>
                    <a:pt x="3205" y="39414"/>
                  </a:lnTo>
                  <a:lnTo>
                    <a:pt x="2374" y="42200"/>
                  </a:lnTo>
                  <a:lnTo>
                    <a:pt x="1669" y="45044"/>
                  </a:lnTo>
                  <a:lnTo>
                    <a:pt x="1074" y="47944"/>
                  </a:lnTo>
                  <a:lnTo>
                    <a:pt x="612" y="50892"/>
                  </a:lnTo>
                  <a:lnTo>
                    <a:pt x="276" y="53898"/>
                  </a:lnTo>
                  <a:lnTo>
                    <a:pt x="75" y="56932"/>
                  </a:lnTo>
                  <a:lnTo>
                    <a:pt x="0" y="60023"/>
                  </a:lnTo>
                  <a:lnTo>
                    <a:pt x="67" y="63029"/>
                  </a:lnTo>
                  <a:lnTo>
                    <a:pt x="251" y="66006"/>
                  </a:lnTo>
                  <a:lnTo>
                    <a:pt x="587" y="68925"/>
                  </a:lnTo>
                  <a:lnTo>
                    <a:pt x="1023" y="71807"/>
                  </a:lnTo>
                  <a:lnTo>
                    <a:pt x="1585" y="74650"/>
                  </a:lnTo>
                  <a:lnTo>
                    <a:pt x="2257" y="77427"/>
                  </a:lnTo>
                  <a:lnTo>
                    <a:pt x="3054" y="80155"/>
                  </a:lnTo>
                  <a:lnTo>
                    <a:pt x="3952" y="82827"/>
                  </a:lnTo>
                  <a:lnTo>
                    <a:pt x="4967" y="85422"/>
                  </a:lnTo>
                  <a:lnTo>
                    <a:pt x="6075" y="87970"/>
                  </a:lnTo>
                  <a:lnTo>
                    <a:pt x="7291" y="90431"/>
                  </a:lnTo>
                  <a:lnTo>
                    <a:pt x="8600" y="92836"/>
                  </a:lnTo>
                  <a:lnTo>
                    <a:pt x="10010" y="95154"/>
                  </a:lnTo>
                  <a:lnTo>
                    <a:pt x="11504" y="97396"/>
                  </a:lnTo>
                  <a:lnTo>
                    <a:pt x="13089" y="99553"/>
                  </a:lnTo>
                  <a:lnTo>
                    <a:pt x="14768" y="101614"/>
                  </a:lnTo>
                  <a:lnTo>
                    <a:pt x="16513" y="103589"/>
                  </a:lnTo>
                  <a:lnTo>
                    <a:pt x="18342" y="105478"/>
                  </a:lnTo>
                  <a:lnTo>
                    <a:pt x="20264" y="107262"/>
                  </a:lnTo>
                  <a:lnTo>
                    <a:pt x="22236" y="108951"/>
                  </a:lnTo>
                  <a:lnTo>
                    <a:pt x="24292" y="110535"/>
                  </a:lnTo>
                  <a:lnTo>
                    <a:pt x="26414" y="112004"/>
                  </a:lnTo>
                  <a:lnTo>
                    <a:pt x="28588" y="113368"/>
                  </a:lnTo>
                  <a:lnTo>
                    <a:pt x="30837" y="114609"/>
                  </a:lnTo>
                  <a:lnTo>
                    <a:pt x="33136" y="115735"/>
                  </a:lnTo>
                  <a:lnTo>
                    <a:pt x="35494" y="116746"/>
                  </a:lnTo>
                  <a:lnTo>
                    <a:pt x="37893" y="117614"/>
                  </a:lnTo>
                  <a:lnTo>
                    <a:pt x="40360" y="118358"/>
                  </a:lnTo>
                  <a:lnTo>
                    <a:pt x="42852" y="118979"/>
                  </a:lnTo>
                  <a:lnTo>
                    <a:pt x="45395" y="119456"/>
                  </a:lnTo>
                  <a:lnTo>
                    <a:pt x="47979" y="119799"/>
                  </a:lnTo>
                  <a:lnTo>
                    <a:pt x="50589" y="120000"/>
                  </a:lnTo>
                  <a:lnTo>
                    <a:pt x="50589" y="103617"/>
                  </a:lnTo>
                  <a:lnTo>
                    <a:pt x="48718" y="103436"/>
                  </a:lnTo>
                  <a:lnTo>
                    <a:pt x="46863" y="103169"/>
                  </a:lnTo>
                  <a:lnTo>
                    <a:pt x="45043" y="102797"/>
                  </a:lnTo>
                  <a:lnTo>
                    <a:pt x="43255" y="102320"/>
                  </a:lnTo>
                  <a:lnTo>
                    <a:pt x="41493" y="101757"/>
                  </a:lnTo>
                  <a:lnTo>
                    <a:pt x="39765" y="101108"/>
                  </a:lnTo>
                  <a:lnTo>
                    <a:pt x="38078" y="100364"/>
                  </a:lnTo>
                  <a:lnTo>
                    <a:pt x="36442" y="99524"/>
                  </a:lnTo>
                  <a:lnTo>
                    <a:pt x="34822" y="98608"/>
                  </a:lnTo>
                  <a:lnTo>
                    <a:pt x="33270" y="97616"/>
                  </a:lnTo>
                  <a:lnTo>
                    <a:pt x="31751" y="96538"/>
                  </a:lnTo>
                  <a:lnTo>
                    <a:pt x="30283" y="95383"/>
                  </a:lnTo>
                  <a:lnTo>
                    <a:pt x="28865" y="94152"/>
                  </a:lnTo>
                  <a:lnTo>
                    <a:pt x="27497" y="92855"/>
                  </a:lnTo>
                  <a:lnTo>
                    <a:pt x="26188" y="91490"/>
                  </a:lnTo>
                  <a:lnTo>
                    <a:pt x="24938" y="90050"/>
                  </a:lnTo>
                  <a:lnTo>
                    <a:pt x="23746" y="88542"/>
                  </a:lnTo>
                  <a:lnTo>
                    <a:pt x="22605" y="86987"/>
                  </a:lnTo>
                  <a:lnTo>
                    <a:pt x="21539" y="85365"/>
                  </a:lnTo>
                  <a:lnTo>
                    <a:pt x="20532" y="83686"/>
                  </a:lnTo>
                  <a:lnTo>
                    <a:pt x="19593" y="81959"/>
                  </a:lnTo>
                  <a:lnTo>
                    <a:pt x="18728" y="80174"/>
                  </a:lnTo>
                  <a:lnTo>
                    <a:pt x="17940" y="78333"/>
                  </a:lnTo>
                  <a:lnTo>
                    <a:pt x="17218" y="76463"/>
                  </a:lnTo>
                  <a:lnTo>
                    <a:pt x="16572" y="74536"/>
                  </a:lnTo>
                  <a:lnTo>
                    <a:pt x="16001" y="72561"/>
                  </a:lnTo>
                  <a:lnTo>
                    <a:pt x="15523" y="70566"/>
                  </a:lnTo>
                  <a:lnTo>
                    <a:pt x="15120" y="68515"/>
                  </a:lnTo>
                  <a:lnTo>
                    <a:pt x="14801" y="66445"/>
                  </a:lnTo>
                  <a:lnTo>
                    <a:pt x="14575" y="64326"/>
                  </a:lnTo>
                  <a:lnTo>
                    <a:pt x="14440" y="62189"/>
                  </a:lnTo>
                  <a:lnTo>
                    <a:pt x="14390" y="60023"/>
                  </a:lnTo>
                  <a:lnTo>
                    <a:pt x="14449" y="57791"/>
                  </a:lnTo>
                  <a:lnTo>
                    <a:pt x="14591" y="55568"/>
                  </a:lnTo>
                  <a:lnTo>
                    <a:pt x="14835" y="53383"/>
                  </a:lnTo>
                  <a:lnTo>
                    <a:pt x="15179" y="51236"/>
                  </a:lnTo>
                  <a:lnTo>
                    <a:pt x="15607" y="49118"/>
                  </a:lnTo>
                  <a:lnTo>
                    <a:pt x="16119" y="47057"/>
                  </a:lnTo>
                  <a:lnTo>
                    <a:pt x="16723" y="45025"/>
                  </a:lnTo>
                  <a:lnTo>
                    <a:pt x="17419" y="43050"/>
                  </a:lnTo>
                  <a:lnTo>
                    <a:pt x="18183" y="41113"/>
                  </a:lnTo>
                  <a:lnTo>
                    <a:pt x="19030" y="39223"/>
                  </a:lnTo>
                  <a:lnTo>
                    <a:pt x="19962" y="37401"/>
                  </a:lnTo>
                  <a:lnTo>
                    <a:pt x="20960" y="35626"/>
                  </a:lnTo>
                  <a:lnTo>
                    <a:pt x="22026" y="33919"/>
                  </a:lnTo>
                  <a:lnTo>
                    <a:pt x="23167" y="32268"/>
                  </a:lnTo>
                  <a:lnTo>
                    <a:pt x="24384" y="30684"/>
                  </a:lnTo>
                  <a:lnTo>
                    <a:pt x="25651" y="29167"/>
                  </a:lnTo>
                  <a:lnTo>
                    <a:pt x="26985" y="27726"/>
                  </a:lnTo>
                  <a:lnTo>
                    <a:pt x="28378" y="26343"/>
                  </a:lnTo>
                  <a:lnTo>
                    <a:pt x="29830" y="25045"/>
                  </a:lnTo>
                  <a:lnTo>
                    <a:pt x="31332" y="23824"/>
                  </a:lnTo>
                  <a:lnTo>
                    <a:pt x="32892" y="22698"/>
                  </a:lnTo>
                  <a:lnTo>
                    <a:pt x="34495" y="21639"/>
                  </a:lnTo>
                  <a:lnTo>
                    <a:pt x="36156" y="20675"/>
                  </a:lnTo>
                  <a:lnTo>
                    <a:pt x="37851" y="19798"/>
                  </a:lnTo>
                  <a:lnTo>
                    <a:pt x="39597" y="19015"/>
                  </a:lnTo>
                  <a:lnTo>
                    <a:pt x="41376" y="18328"/>
                  </a:lnTo>
                  <a:lnTo>
                    <a:pt x="43205" y="17746"/>
                  </a:lnTo>
                  <a:lnTo>
                    <a:pt x="45059" y="17250"/>
                  </a:lnTo>
                  <a:lnTo>
                    <a:pt x="46947" y="16859"/>
                  </a:lnTo>
                  <a:lnTo>
                    <a:pt x="48860" y="16592"/>
                  </a:lnTo>
                  <a:lnTo>
                    <a:pt x="50807" y="16420"/>
                  </a:lnTo>
                  <a:lnTo>
                    <a:pt x="52779" y="16363"/>
                  </a:lnTo>
                  <a:lnTo>
                    <a:pt x="54600" y="16401"/>
                  </a:lnTo>
                  <a:lnTo>
                    <a:pt x="56396" y="16554"/>
                  </a:lnTo>
                  <a:lnTo>
                    <a:pt x="58166" y="16792"/>
                  </a:lnTo>
                  <a:lnTo>
                    <a:pt x="59920" y="17107"/>
                  </a:lnTo>
                  <a:lnTo>
                    <a:pt x="61640" y="17536"/>
                  </a:lnTo>
                  <a:lnTo>
                    <a:pt x="63335" y="18032"/>
                  </a:lnTo>
                  <a:lnTo>
                    <a:pt x="65005" y="18624"/>
                  </a:lnTo>
                  <a:lnTo>
                    <a:pt x="66633" y="19282"/>
                  </a:lnTo>
                  <a:lnTo>
                    <a:pt x="68227" y="20046"/>
                  </a:lnTo>
                  <a:lnTo>
                    <a:pt x="69796" y="20876"/>
                  </a:lnTo>
                  <a:lnTo>
                    <a:pt x="71315" y="21773"/>
                  </a:lnTo>
                  <a:lnTo>
                    <a:pt x="72800" y="22746"/>
                  </a:lnTo>
                  <a:lnTo>
                    <a:pt x="74243" y="23805"/>
                  </a:lnTo>
                  <a:lnTo>
                    <a:pt x="75645" y="24921"/>
                  </a:lnTo>
                  <a:lnTo>
                    <a:pt x="76996" y="26114"/>
                  </a:lnTo>
                  <a:lnTo>
                    <a:pt x="78296" y="27373"/>
                  </a:lnTo>
                  <a:lnTo>
                    <a:pt x="79555" y="28700"/>
                  </a:lnTo>
                  <a:lnTo>
                    <a:pt x="80755" y="30073"/>
                  </a:lnTo>
                  <a:lnTo>
                    <a:pt x="81896" y="31524"/>
                  </a:lnTo>
                  <a:lnTo>
                    <a:pt x="82995" y="33031"/>
                  </a:lnTo>
                  <a:lnTo>
                    <a:pt x="84027" y="34586"/>
                  </a:lnTo>
                  <a:lnTo>
                    <a:pt x="85001" y="36189"/>
                  </a:lnTo>
                  <a:lnTo>
                    <a:pt x="85898" y="37859"/>
                  </a:lnTo>
                  <a:lnTo>
                    <a:pt x="86746" y="39567"/>
                  </a:lnTo>
                  <a:lnTo>
                    <a:pt x="87535" y="41332"/>
                  </a:lnTo>
                  <a:lnTo>
                    <a:pt x="88231" y="43145"/>
                  </a:lnTo>
                  <a:lnTo>
                    <a:pt x="88869" y="44996"/>
                  </a:lnTo>
                  <a:lnTo>
                    <a:pt x="89448" y="46885"/>
                  </a:lnTo>
                  <a:lnTo>
                    <a:pt x="89934" y="48822"/>
                  </a:lnTo>
                  <a:lnTo>
                    <a:pt x="90346" y="50787"/>
                  </a:lnTo>
                  <a:lnTo>
                    <a:pt x="90690" y="52801"/>
                  </a:lnTo>
                  <a:lnTo>
                    <a:pt x="90941" y="54833"/>
                  </a:lnTo>
                  <a:lnTo>
                    <a:pt x="91235" y="57619"/>
                  </a:lnTo>
                  <a:lnTo>
                    <a:pt x="88760" y="57619"/>
                  </a:lnTo>
                  <a:lnTo>
                    <a:pt x="73480" y="57619"/>
                  </a:lnTo>
                  <a:lnTo>
                    <a:pt x="98300" y="95202"/>
                  </a:lnTo>
                  <a:lnTo>
                    <a:pt x="120000" y="57619"/>
                  </a:lnTo>
                  <a:lnTo>
                    <a:pt x="107640" y="57619"/>
                  </a:lnTo>
                  <a:close/>
                </a:path>
              </a:pathLst>
            </a:custGeom>
            <a:solidFill>
              <a:srgbClr val="AFBADD"/>
            </a:solidFill>
            <a:ln>
              <a:noFill/>
            </a:ln>
          </p:spPr>
          <p:txBody>
            <a:bodyPr lIns="60941" tIns="30462" rIns="60941" bIns="30462" anchor="t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" name="Shape 1440"/>
            <p:cNvSpPr/>
            <p:nvPr>
              <p:custDataLst>
                <p:tags r:id="rId2"/>
              </p:custDataLst>
            </p:nvPr>
          </p:nvSpPr>
          <p:spPr>
            <a:xfrm>
              <a:off x="8267" y="3800"/>
              <a:ext cx="3644" cy="320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9410" y="0"/>
                  </a:moveTo>
                  <a:lnTo>
                    <a:pt x="69410" y="16382"/>
                  </a:lnTo>
                  <a:lnTo>
                    <a:pt x="71281" y="16563"/>
                  </a:lnTo>
                  <a:lnTo>
                    <a:pt x="73136" y="16830"/>
                  </a:lnTo>
                  <a:lnTo>
                    <a:pt x="74956" y="17202"/>
                  </a:lnTo>
                  <a:lnTo>
                    <a:pt x="76744" y="17679"/>
                  </a:lnTo>
                  <a:lnTo>
                    <a:pt x="78506" y="18242"/>
                  </a:lnTo>
                  <a:lnTo>
                    <a:pt x="80234" y="18891"/>
                  </a:lnTo>
                  <a:lnTo>
                    <a:pt x="81921" y="19635"/>
                  </a:lnTo>
                  <a:lnTo>
                    <a:pt x="83557" y="20475"/>
                  </a:lnTo>
                  <a:lnTo>
                    <a:pt x="85177" y="21391"/>
                  </a:lnTo>
                  <a:lnTo>
                    <a:pt x="86729" y="22383"/>
                  </a:lnTo>
                  <a:lnTo>
                    <a:pt x="88248" y="23461"/>
                  </a:lnTo>
                  <a:lnTo>
                    <a:pt x="89716" y="24616"/>
                  </a:lnTo>
                  <a:lnTo>
                    <a:pt x="91134" y="25847"/>
                  </a:lnTo>
                  <a:lnTo>
                    <a:pt x="92502" y="27144"/>
                  </a:lnTo>
                  <a:lnTo>
                    <a:pt x="93811" y="28509"/>
                  </a:lnTo>
                  <a:lnTo>
                    <a:pt x="95061" y="29949"/>
                  </a:lnTo>
                  <a:lnTo>
                    <a:pt x="96253" y="31457"/>
                  </a:lnTo>
                  <a:lnTo>
                    <a:pt x="97394" y="33012"/>
                  </a:lnTo>
                  <a:lnTo>
                    <a:pt x="98460" y="34634"/>
                  </a:lnTo>
                  <a:lnTo>
                    <a:pt x="99467" y="36313"/>
                  </a:lnTo>
                  <a:lnTo>
                    <a:pt x="100406" y="38040"/>
                  </a:lnTo>
                  <a:lnTo>
                    <a:pt x="101271" y="39825"/>
                  </a:lnTo>
                  <a:lnTo>
                    <a:pt x="102059" y="41666"/>
                  </a:lnTo>
                  <a:lnTo>
                    <a:pt x="102781" y="43536"/>
                  </a:lnTo>
                  <a:lnTo>
                    <a:pt x="103427" y="45463"/>
                  </a:lnTo>
                  <a:lnTo>
                    <a:pt x="103998" y="47438"/>
                  </a:lnTo>
                  <a:lnTo>
                    <a:pt x="104476" y="49442"/>
                  </a:lnTo>
                  <a:lnTo>
                    <a:pt x="104879" y="51484"/>
                  </a:lnTo>
                  <a:lnTo>
                    <a:pt x="105189" y="53554"/>
                  </a:lnTo>
                  <a:lnTo>
                    <a:pt x="105424" y="55673"/>
                  </a:lnTo>
                  <a:lnTo>
                    <a:pt x="105559" y="57810"/>
                  </a:lnTo>
                  <a:lnTo>
                    <a:pt x="105609" y="59976"/>
                  </a:lnTo>
                  <a:lnTo>
                    <a:pt x="105550" y="62227"/>
                  </a:lnTo>
                  <a:lnTo>
                    <a:pt x="105408" y="64431"/>
                  </a:lnTo>
                  <a:lnTo>
                    <a:pt x="105164" y="66616"/>
                  </a:lnTo>
                  <a:lnTo>
                    <a:pt x="104820" y="68763"/>
                  </a:lnTo>
                  <a:lnTo>
                    <a:pt x="104392" y="70881"/>
                  </a:lnTo>
                  <a:lnTo>
                    <a:pt x="103880" y="72952"/>
                  </a:lnTo>
                  <a:lnTo>
                    <a:pt x="103276" y="74974"/>
                  </a:lnTo>
                  <a:lnTo>
                    <a:pt x="102580" y="76949"/>
                  </a:lnTo>
                  <a:lnTo>
                    <a:pt x="101816" y="78886"/>
                  </a:lnTo>
                  <a:lnTo>
                    <a:pt x="100969" y="80776"/>
                  </a:lnTo>
                  <a:lnTo>
                    <a:pt x="100037" y="82598"/>
                  </a:lnTo>
                  <a:lnTo>
                    <a:pt x="99039" y="84373"/>
                  </a:lnTo>
                  <a:lnTo>
                    <a:pt x="97973" y="86080"/>
                  </a:lnTo>
                  <a:lnTo>
                    <a:pt x="96832" y="87741"/>
                  </a:lnTo>
                  <a:lnTo>
                    <a:pt x="95615" y="89315"/>
                  </a:lnTo>
                  <a:lnTo>
                    <a:pt x="94348" y="90832"/>
                  </a:lnTo>
                  <a:lnTo>
                    <a:pt x="93014" y="92273"/>
                  </a:lnTo>
                  <a:lnTo>
                    <a:pt x="91621" y="93656"/>
                  </a:lnTo>
                  <a:lnTo>
                    <a:pt x="90169" y="94954"/>
                  </a:lnTo>
                  <a:lnTo>
                    <a:pt x="88667" y="96175"/>
                  </a:lnTo>
                  <a:lnTo>
                    <a:pt x="87107" y="97301"/>
                  </a:lnTo>
                  <a:lnTo>
                    <a:pt x="85504" y="98360"/>
                  </a:lnTo>
                  <a:lnTo>
                    <a:pt x="83843" y="99324"/>
                  </a:lnTo>
                  <a:lnTo>
                    <a:pt x="82139" y="100201"/>
                  </a:lnTo>
                  <a:lnTo>
                    <a:pt x="80402" y="100984"/>
                  </a:lnTo>
                  <a:lnTo>
                    <a:pt x="78623" y="101680"/>
                  </a:lnTo>
                  <a:lnTo>
                    <a:pt x="76794" y="102253"/>
                  </a:lnTo>
                  <a:lnTo>
                    <a:pt x="74940" y="102759"/>
                  </a:lnTo>
                  <a:lnTo>
                    <a:pt x="73052" y="103140"/>
                  </a:lnTo>
                  <a:lnTo>
                    <a:pt x="71139" y="103407"/>
                  </a:lnTo>
                  <a:lnTo>
                    <a:pt x="69192" y="103579"/>
                  </a:lnTo>
                  <a:lnTo>
                    <a:pt x="67212" y="103636"/>
                  </a:lnTo>
                  <a:lnTo>
                    <a:pt x="65399" y="103598"/>
                  </a:lnTo>
                  <a:lnTo>
                    <a:pt x="63603" y="103445"/>
                  </a:lnTo>
                  <a:lnTo>
                    <a:pt x="61833" y="103207"/>
                  </a:lnTo>
                  <a:lnTo>
                    <a:pt x="60079" y="102892"/>
                  </a:lnTo>
                  <a:lnTo>
                    <a:pt x="58359" y="102463"/>
                  </a:lnTo>
                  <a:lnTo>
                    <a:pt x="56664" y="101967"/>
                  </a:lnTo>
                  <a:lnTo>
                    <a:pt x="54994" y="101375"/>
                  </a:lnTo>
                  <a:lnTo>
                    <a:pt x="53366" y="100717"/>
                  </a:lnTo>
                  <a:lnTo>
                    <a:pt x="51764" y="99953"/>
                  </a:lnTo>
                  <a:lnTo>
                    <a:pt x="50203" y="99123"/>
                  </a:lnTo>
                  <a:lnTo>
                    <a:pt x="48684" y="98226"/>
                  </a:lnTo>
                  <a:lnTo>
                    <a:pt x="47199" y="97253"/>
                  </a:lnTo>
                  <a:lnTo>
                    <a:pt x="45756" y="96194"/>
                  </a:lnTo>
                  <a:lnTo>
                    <a:pt x="44354" y="95078"/>
                  </a:lnTo>
                  <a:lnTo>
                    <a:pt x="43003" y="93885"/>
                  </a:lnTo>
                  <a:lnTo>
                    <a:pt x="41703" y="92626"/>
                  </a:lnTo>
                  <a:lnTo>
                    <a:pt x="40444" y="91299"/>
                  </a:lnTo>
                  <a:lnTo>
                    <a:pt x="39236" y="89926"/>
                  </a:lnTo>
                  <a:lnTo>
                    <a:pt x="38103" y="88475"/>
                  </a:lnTo>
                  <a:lnTo>
                    <a:pt x="37004" y="86968"/>
                  </a:lnTo>
                  <a:lnTo>
                    <a:pt x="35972" y="85413"/>
                  </a:lnTo>
                  <a:lnTo>
                    <a:pt x="34998" y="83810"/>
                  </a:lnTo>
                  <a:lnTo>
                    <a:pt x="34092" y="82140"/>
                  </a:lnTo>
                  <a:lnTo>
                    <a:pt x="33253" y="80432"/>
                  </a:lnTo>
                  <a:lnTo>
                    <a:pt x="32464" y="78667"/>
                  </a:lnTo>
                  <a:lnTo>
                    <a:pt x="31768" y="76854"/>
                  </a:lnTo>
                  <a:lnTo>
                    <a:pt x="31113" y="75013"/>
                  </a:lnTo>
                  <a:lnTo>
                    <a:pt x="30551" y="73114"/>
                  </a:lnTo>
                  <a:lnTo>
                    <a:pt x="30065" y="71177"/>
                  </a:lnTo>
                  <a:lnTo>
                    <a:pt x="29653" y="69212"/>
                  </a:lnTo>
                  <a:lnTo>
                    <a:pt x="29309" y="67208"/>
                  </a:lnTo>
                  <a:lnTo>
                    <a:pt x="29058" y="65166"/>
                  </a:lnTo>
                  <a:lnTo>
                    <a:pt x="28764" y="62380"/>
                  </a:lnTo>
                  <a:lnTo>
                    <a:pt x="31231" y="62380"/>
                  </a:lnTo>
                  <a:lnTo>
                    <a:pt x="46519" y="62380"/>
                  </a:lnTo>
                  <a:lnTo>
                    <a:pt x="21690" y="24797"/>
                  </a:lnTo>
                  <a:lnTo>
                    <a:pt x="0" y="62380"/>
                  </a:lnTo>
                  <a:lnTo>
                    <a:pt x="12359" y="62380"/>
                  </a:lnTo>
                  <a:lnTo>
                    <a:pt x="14390" y="62380"/>
                  </a:lnTo>
                  <a:lnTo>
                    <a:pt x="14550" y="64679"/>
                  </a:lnTo>
                  <a:lnTo>
                    <a:pt x="14659" y="66082"/>
                  </a:lnTo>
                  <a:lnTo>
                    <a:pt x="14793" y="67475"/>
                  </a:lnTo>
                  <a:lnTo>
                    <a:pt x="14969" y="68868"/>
                  </a:lnTo>
                  <a:lnTo>
                    <a:pt x="15162" y="70242"/>
                  </a:lnTo>
                  <a:lnTo>
                    <a:pt x="15389" y="71625"/>
                  </a:lnTo>
                  <a:lnTo>
                    <a:pt x="15632" y="72980"/>
                  </a:lnTo>
                  <a:lnTo>
                    <a:pt x="15917" y="74335"/>
                  </a:lnTo>
                  <a:lnTo>
                    <a:pt x="16219" y="75681"/>
                  </a:lnTo>
                  <a:lnTo>
                    <a:pt x="16555" y="77026"/>
                  </a:lnTo>
                  <a:lnTo>
                    <a:pt x="16916" y="78352"/>
                  </a:lnTo>
                  <a:lnTo>
                    <a:pt x="17302" y="79669"/>
                  </a:lnTo>
                  <a:lnTo>
                    <a:pt x="17713" y="80966"/>
                  </a:lnTo>
                  <a:lnTo>
                    <a:pt x="18158" y="82264"/>
                  </a:lnTo>
                  <a:lnTo>
                    <a:pt x="18619" y="83542"/>
                  </a:lnTo>
                  <a:lnTo>
                    <a:pt x="19114" y="84802"/>
                  </a:lnTo>
                  <a:lnTo>
                    <a:pt x="19634" y="86061"/>
                  </a:lnTo>
                  <a:lnTo>
                    <a:pt x="20180" y="87302"/>
                  </a:lnTo>
                  <a:lnTo>
                    <a:pt x="20742" y="88523"/>
                  </a:lnTo>
                  <a:lnTo>
                    <a:pt x="21338" y="89735"/>
                  </a:lnTo>
                  <a:lnTo>
                    <a:pt x="21959" y="90927"/>
                  </a:lnTo>
                  <a:lnTo>
                    <a:pt x="22605" y="92110"/>
                  </a:lnTo>
                  <a:lnTo>
                    <a:pt x="23268" y="93275"/>
                  </a:lnTo>
                  <a:lnTo>
                    <a:pt x="23964" y="94419"/>
                  </a:lnTo>
                  <a:lnTo>
                    <a:pt x="24686" y="95555"/>
                  </a:lnTo>
                  <a:lnTo>
                    <a:pt x="25424" y="96671"/>
                  </a:lnTo>
                  <a:lnTo>
                    <a:pt x="26188" y="97759"/>
                  </a:lnTo>
                  <a:lnTo>
                    <a:pt x="26977" y="98837"/>
                  </a:lnTo>
                  <a:lnTo>
                    <a:pt x="27791" y="99896"/>
                  </a:lnTo>
                  <a:lnTo>
                    <a:pt x="28630" y="100927"/>
                  </a:lnTo>
                  <a:lnTo>
                    <a:pt x="29486" y="101957"/>
                  </a:lnTo>
                  <a:lnTo>
                    <a:pt x="30358" y="102949"/>
                  </a:lnTo>
                  <a:lnTo>
                    <a:pt x="31273" y="103923"/>
                  </a:lnTo>
                  <a:lnTo>
                    <a:pt x="32204" y="104886"/>
                  </a:lnTo>
                  <a:lnTo>
                    <a:pt x="33144" y="105812"/>
                  </a:lnTo>
                  <a:lnTo>
                    <a:pt x="34109" y="106728"/>
                  </a:lnTo>
                  <a:lnTo>
                    <a:pt x="35082" y="107596"/>
                  </a:lnTo>
                  <a:lnTo>
                    <a:pt x="36073" y="108445"/>
                  </a:lnTo>
                  <a:lnTo>
                    <a:pt x="37088" y="109266"/>
                  </a:lnTo>
                  <a:lnTo>
                    <a:pt x="38112" y="110048"/>
                  </a:lnTo>
                  <a:lnTo>
                    <a:pt x="39144" y="110811"/>
                  </a:lnTo>
                  <a:lnTo>
                    <a:pt x="40192" y="111546"/>
                  </a:lnTo>
                  <a:lnTo>
                    <a:pt x="41258" y="112252"/>
                  </a:lnTo>
                  <a:lnTo>
                    <a:pt x="42341" y="112920"/>
                  </a:lnTo>
                  <a:lnTo>
                    <a:pt x="43431" y="113559"/>
                  </a:lnTo>
                  <a:lnTo>
                    <a:pt x="44531" y="114189"/>
                  </a:lnTo>
                  <a:lnTo>
                    <a:pt x="45647" y="114761"/>
                  </a:lnTo>
                  <a:lnTo>
                    <a:pt x="46779" y="115324"/>
                  </a:lnTo>
                  <a:lnTo>
                    <a:pt x="47904" y="115859"/>
                  </a:lnTo>
                  <a:lnTo>
                    <a:pt x="49053" y="116345"/>
                  </a:lnTo>
                  <a:lnTo>
                    <a:pt x="50211" y="116803"/>
                  </a:lnTo>
                  <a:lnTo>
                    <a:pt x="51378" y="117242"/>
                  </a:lnTo>
                  <a:lnTo>
                    <a:pt x="52552" y="117643"/>
                  </a:lnTo>
                  <a:lnTo>
                    <a:pt x="53736" y="118024"/>
                  </a:lnTo>
                  <a:lnTo>
                    <a:pt x="54936" y="118358"/>
                  </a:lnTo>
                  <a:lnTo>
                    <a:pt x="56127" y="118673"/>
                  </a:lnTo>
                  <a:lnTo>
                    <a:pt x="57335" y="118940"/>
                  </a:lnTo>
                  <a:lnTo>
                    <a:pt x="58552" y="119188"/>
                  </a:lnTo>
                  <a:lnTo>
                    <a:pt x="59769" y="119408"/>
                  </a:lnTo>
                  <a:lnTo>
                    <a:pt x="61002" y="119589"/>
                  </a:lnTo>
                  <a:lnTo>
                    <a:pt x="62236" y="119732"/>
                  </a:lnTo>
                  <a:lnTo>
                    <a:pt x="63469" y="119856"/>
                  </a:lnTo>
                  <a:lnTo>
                    <a:pt x="64711" y="119933"/>
                  </a:lnTo>
                  <a:lnTo>
                    <a:pt x="65961" y="119980"/>
                  </a:lnTo>
                  <a:lnTo>
                    <a:pt x="67212" y="120000"/>
                  </a:lnTo>
                  <a:lnTo>
                    <a:pt x="69922" y="119914"/>
                  </a:lnTo>
                  <a:lnTo>
                    <a:pt x="72607" y="119685"/>
                  </a:lnTo>
                  <a:lnTo>
                    <a:pt x="75242" y="119303"/>
                  </a:lnTo>
                  <a:lnTo>
                    <a:pt x="77835" y="118778"/>
                  </a:lnTo>
                  <a:lnTo>
                    <a:pt x="80385" y="118101"/>
                  </a:lnTo>
                  <a:lnTo>
                    <a:pt x="82894" y="117299"/>
                  </a:lnTo>
                  <a:lnTo>
                    <a:pt x="85345" y="116355"/>
                  </a:lnTo>
                  <a:lnTo>
                    <a:pt x="87744" y="115277"/>
                  </a:lnTo>
                  <a:lnTo>
                    <a:pt x="90077" y="114074"/>
                  </a:lnTo>
                  <a:lnTo>
                    <a:pt x="92359" y="112748"/>
                  </a:lnTo>
                  <a:lnTo>
                    <a:pt x="94558" y="111298"/>
                  </a:lnTo>
                  <a:lnTo>
                    <a:pt x="96706" y="109733"/>
                  </a:lnTo>
                  <a:lnTo>
                    <a:pt x="98770" y="108063"/>
                  </a:lnTo>
                  <a:lnTo>
                    <a:pt x="100767" y="106279"/>
                  </a:lnTo>
                  <a:lnTo>
                    <a:pt x="102680" y="104390"/>
                  </a:lnTo>
                  <a:lnTo>
                    <a:pt x="104526" y="102405"/>
                  </a:lnTo>
                  <a:lnTo>
                    <a:pt x="106272" y="100306"/>
                  </a:lnTo>
                  <a:lnTo>
                    <a:pt x="107933" y="98131"/>
                  </a:lnTo>
                  <a:lnTo>
                    <a:pt x="109502" y="95860"/>
                  </a:lnTo>
                  <a:lnTo>
                    <a:pt x="110971" y="93513"/>
                  </a:lnTo>
                  <a:lnTo>
                    <a:pt x="112347" y="91071"/>
                  </a:lnTo>
                  <a:lnTo>
                    <a:pt x="113622" y="88571"/>
                  </a:lnTo>
                  <a:lnTo>
                    <a:pt x="114789" y="85975"/>
                  </a:lnTo>
                  <a:lnTo>
                    <a:pt x="115846" y="83313"/>
                  </a:lnTo>
                  <a:lnTo>
                    <a:pt x="116794" y="80585"/>
                  </a:lnTo>
                  <a:lnTo>
                    <a:pt x="117625" y="77799"/>
                  </a:lnTo>
                  <a:lnTo>
                    <a:pt x="118330" y="74955"/>
                  </a:lnTo>
                  <a:lnTo>
                    <a:pt x="118925" y="72055"/>
                  </a:lnTo>
                  <a:lnTo>
                    <a:pt x="119387" y="69107"/>
                  </a:lnTo>
                  <a:lnTo>
                    <a:pt x="119723" y="66101"/>
                  </a:lnTo>
                  <a:lnTo>
                    <a:pt x="119924" y="63067"/>
                  </a:lnTo>
                  <a:lnTo>
                    <a:pt x="120000" y="59976"/>
                  </a:lnTo>
                  <a:lnTo>
                    <a:pt x="119932" y="56970"/>
                  </a:lnTo>
                  <a:lnTo>
                    <a:pt x="119739" y="53993"/>
                  </a:lnTo>
                  <a:lnTo>
                    <a:pt x="119412" y="51074"/>
                  </a:lnTo>
                  <a:lnTo>
                    <a:pt x="118976" y="48192"/>
                  </a:lnTo>
                  <a:lnTo>
                    <a:pt x="118414" y="45349"/>
                  </a:lnTo>
                  <a:lnTo>
                    <a:pt x="117742" y="42572"/>
                  </a:lnTo>
                  <a:lnTo>
                    <a:pt x="116945" y="39844"/>
                  </a:lnTo>
                  <a:lnTo>
                    <a:pt x="116047" y="37172"/>
                  </a:lnTo>
                  <a:lnTo>
                    <a:pt x="115032" y="34577"/>
                  </a:lnTo>
                  <a:lnTo>
                    <a:pt x="113924" y="32029"/>
                  </a:lnTo>
                  <a:lnTo>
                    <a:pt x="112708" y="29568"/>
                  </a:lnTo>
                  <a:lnTo>
                    <a:pt x="111399" y="27163"/>
                  </a:lnTo>
                  <a:lnTo>
                    <a:pt x="109989" y="24854"/>
                  </a:lnTo>
                  <a:lnTo>
                    <a:pt x="108495" y="22603"/>
                  </a:lnTo>
                  <a:lnTo>
                    <a:pt x="106910" y="20446"/>
                  </a:lnTo>
                  <a:lnTo>
                    <a:pt x="105231" y="18385"/>
                  </a:lnTo>
                  <a:lnTo>
                    <a:pt x="103486" y="16410"/>
                  </a:lnTo>
                  <a:lnTo>
                    <a:pt x="101657" y="14521"/>
                  </a:lnTo>
                  <a:lnTo>
                    <a:pt x="99735" y="12737"/>
                  </a:lnTo>
                  <a:lnTo>
                    <a:pt x="97763" y="11048"/>
                  </a:lnTo>
                  <a:lnTo>
                    <a:pt x="95707" y="9474"/>
                  </a:lnTo>
                  <a:lnTo>
                    <a:pt x="93585" y="7995"/>
                  </a:lnTo>
                  <a:lnTo>
                    <a:pt x="91411" y="6631"/>
                  </a:lnTo>
                  <a:lnTo>
                    <a:pt x="89162" y="5390"/>
                  </a:lnTo>
                  <a:lnTo>
                    <a:pt x="86863" y="4264"/>
                  </a:lnTo>
                  <a:lnTo>
                    <a:pt x="84505" y="3263"/>
                  </a:lnTo>
                  <a:lnTo>
                    <a:pt x="82106" y="2385"/>
                  </a:lnTo>
                  <a:lnTo>
                    <a:pt x="79639" y="1641"/>
                  </a:lnTo>
                  <a:lnTo>
                    <a:pt x="77147" y="1020"/>
                  </a:lnTo>
                  <a:lnTo>
                    <a:pt x="74604" y="543"/>
                  </a:lnTo>
                  <a:lnTo>
                    <a:pt x="72020" y="200"/>
                  </a:lnTo>
                  <a:lnTo>
                    <a:pt x="69410" y="0"/>
                  </a:lnTo>
                  <a:close/>
                </a:path>
              </a:pathLst>
            </a:custGeom>
            <a:solidFill>
              <a:srgbClr val="6A6893"/>
            </a:solidFill>
            <a:ln>
              <a:noFill/>
            </a:ln>
          </p:spPr>
          <p:txBody>
            <a:bodyPr lIns="60941" tIns="30462" rIns="60941" bIns="30462" anchor="t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cxnSp>
          <p:nvCxnSpPr>
            <p:cNvPr id="9" name="Shape 1442"/>
            <p:cNvCxnSpPr/>
            <p:nvPr>
              <p:custDataLst>
                <p:tags r:id="rId3"/>
              </p:custDataLst>
            </p:nvPr>
          </p:nvCxnSpPr>
          <p:spPr>
            <a:xfrm>
              <a:off x="6261" y="5324"/>
              <a:ext cx="1152" cy="0"/>
            </a:xfrm>
            <a:prstGeom prst="straightConnector1">
              <a:avLst/>
            </a:prstGeom>
            <a:noFill/>
            <a:ln w="9525" cap="flat" cmpd="sng">
              <a:solidFill>
                <a:srgbClr val="414955"/>
              </a:solidFill>
              <a:prstDash val="solid"/>
              <a:miter/>
              <a:headEnd type="none" w="med" len="med"/>
              <a:tailEnd type="oval" w="med" len="med"/>
            </a:ln>
          </p:spPr>
        </p:cxnSp>
        <p:sp>
          <p:nvSpPr>
            <p:cNvPr id="10" name="Shape 1443"/>
            <p:cNvSpPr/>
            <p:nvPr>
              <p:custDataLst>
                <p:tags r:id="rId4"/>
              </p:custDataLst>
            </p:nvPr>
          </p:nvSpPr>
          <p:spPr>
            <a:xfrm>
              <a:off x="6274" y="5018"/>
              <a:ext cx="613" cy="613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414955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0941" tIns="30462" rIns="60941" bIns="30462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endParaRPr sz="12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" name="Shape 1444"/>
            <p:cNvSpPr/>
            <p:nvPr>
              <p:custDataLst>
                <p:tags r:id="rId5"/>
              </p:custDataLst>
            </p:nvPr>
          </p:nvSpPr>
          <p:spPr>
            <a:xfrm>
              <a:off x="6437" y="5188"/>
              <a:ext cx="294" cy="29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917" y="5342"/>
                  </a:moveTo>
                  <a:lnTo>
                    <a:pt x="115890" y="5136"/>
                  </a:lnTo>
                  <a:lnTo>
                    <a:pt x="115273" y="5136"/>
                  </a:lnTo>
                  <a:lnTo>
                    <a:pt x="114657" y="4726"/>
                  </a:lnTo>
                  <a:lnTo>
                    <a:pt x="114041" y="5136"/>
                  </a:lnTo>
                  <a:lnTo>
                    <a:pt x="113424" y="5342"/>
                  </a:lnTo>
                  <a:lnTo>
                    <a:pt x="112602" y="5547"/>
                  </a:lnTo>
                  <a:lnTo>
                    <a:pt x="111986" y="5958"/>
                  </a:lnTo>
                  <a:lnTo>
                    <a:pt x="111369" y="6369"/>
                  </a:lnTo>
                  <a:lnTo>
                    <a:pt x="101301" y="16643"/>
                  </a:lnTo>
                  <a:lnTo>
                    <a:pt x="99041" y="14589"/>
                  </a:lnTo>
                  <a:lnTo>
                    <a:pt x="96986" y="12739"/>
                  </a:lnTo>
                  <a:lnTo>
                    <a:pt x="94726" y="11095"/>
                  </a:lnTo>
                  <a:lnTo>
                    <a:pt x="92260" y="9452"/>
                  </a:lnTo>
                  <a:lnTo>
                    <a:pt x="89794" y="8219"/>
                  </a:lnTo>
                  <a:lnTo>
                    <a:pt x="87328" y="6780"/>
                  </a:lnTo>
                  <a:lnTo>
                    <a:pt x="84657" y="5547"/>
                  </a:lnTo>
                  <a:lnTo>
                    <a:pt x="81986" y="4315"/>
                  </a:lnTo>
                  <a:lnTo>
                    <a:pt x="79315" y="3287"/>
                  </a:lnTo>
                  <a:lnTo>
                    <a:pt x="76643" y="2465"/>
                  </a:lnTo>
                  <a:lnTo>
                    <a:pt x="73972" y="1643"/>
                  </a:lnTo>
                  <a:lnTo>
                    <a:pt x="71095" y="1027"/>
                  </a:lnTo>
                  <a:lnTo>
                    <a:pt x="68424" y="616"/>
                  </a:lnTo>
                  <a:lnTo>
                    <a:pt x="65547" y="205"/>
                  </a:lnTo>
                  <a:lnTo>
                    <a:pt x="62671" y="0"/>
                  </a:lnTo>
                  <a:lnTo>
                    <a:pt x="59794" y="0"/>
                  </a:lnTo>
                  <a:lnTo>
                    <a:pt x="56917" y="205"/>
                  </a:lnTo>
                  <a:lnTo>
                    <a:pt x="53835" y="410"/>
                  </a:lnTo>
                  <a:lnTo>
                    <a:pt x="50958" y="616"/>
                  </a:lnTo>
                  <a:lnTo>
                    <a:pt x="47876" y="1232"/>
                  </a:lnTo>
                  <a:lnTo>
                    <a:pt x="45000" y="1849"/>
                  </a:lnTo>
                  <a:lnTo>
                    <a:pt x="42328" y="2671"/>
                  </a:lnTo>
                  <a:lnTo>
                    <a:pt x="39452" y="3698"/>
                  </a:lnTo>
                  <a:lnTo>
                    <a:pt x="36575" y="4726"/>
                  </a:lnTo>
                  <a:lnTo>
                    <a:pt x="33904" y="5958"/>
                  </a:lnTo>
                  <a:lnTo>
                    <a:pt x="31232" y="7191"/>
                  </a:lnTo>
                  <a:lnTo>
                    <a:pt x="28767" y="8835"/>
                  </a:lnTo>
                  <a:lnTo>
                    <a:pt x="26301" y="10273"/>
                  </a:lnTo>
                  <a:lnTo>
                    <a:pt x="23835" y="11917"/>
                  </a:lnTo>
                  <a:lnTo>
                    <a:pt x="21575" y="13767"/>
                  </a:lnTo>
                  <a:lnTo>
                    <a:pt x="19520" y="15616"/>
                  </a:lnTo>
                  <a:lnTo>
                    <a:pt x="17465" y="17465"/>
                  </a:lnTo>
                  <a:lnTo>
                    <a:pt x="15410" y="19726"/>
                  </a:lnTo>
                  <a:lnTo>
                    <a:pt x="13767" y="21780"/>
                  </a:lnTo>
                  <a:lnTo>
                    <a:pt x="11917" y="24041"/>
                  </a:lnTo>
                  <a:lnTo>
                    <a:pt x="10068" y="26301"/>
                  </a:lnTo>
                  <a:lnTo>
                    <a:pt x="8630" y="28767"/>
                  </a:lnTo>
                  <a:lnTo>
                    <a:pt x="7191" y="31438"/>
                  </a:lnTo>
                  <a:lnTo>
                    <a:pt x="5958" y="33904"/>
                  </a:lnTo>
                  <a:lnTo>
                    <a:pt x="4520" y="36780"/>
                  </a:lnTo>
                  <a:lnTo>
                    <a:pt x="3493" y="39452"/>
                  </a:lnTo>
                  <a:lnTo>
                    <a:pt x="2671" y="42328"/>
                  </a:lnTo>
                  <a:lnTo>
                    <a:pt x="1643" y="45205"/>
                  </a:lnTo>
                  <a:lnTo>
                    <a:pt x="1027" y="48082"/>
                  </a:lnTo>
                  <a:lnTo>
                    <a:pt x="616" y="50958"/>
                  </a:lnTo>
                  <a:lnTo>
                    <a:pt x="205" y="54041"/>
                  </a:lnTo>
                  <a:lnTo>
                    <a:pt x="0" y="56917"/>
                  </a:lnTo>
                  <a:lnTo>
                    <a:pt x="0" y="59999"/>
                  </a:lnTo>
                  <a:lnTo>
                    <a:pt x="0" y="62876"/>
                  </a:lnTo>
                  <a:lnTo>
                    <a:pt x="205" y="66164"/>
                  </a:lnTo>
                  <a:lnTo>
                    <a:pt x="616" y="69041"/>
                  </a:lnTo>
                  <a:lnTo>
                    <a:pt x="1027" y="72123"/>
                  </a:lnTo>
                  <a:lnTo>
                    <a:pt x="1643" y="75000"/>
                  </a:lnTo>
                  <a:lnTo>
                    <a:pt x="2671" y="77671"/>
                  </a:lnTo>
                  <a:lnTo>
                    <a:pt x="3493" y="80547"/>
                  </a:lnTo>
                  <a:lnTo>
                    <a:pt x="4520" y="83424"/>
                  </a:lnTo>
                  <a:lnTo>
                    <a:pt x="5958" y="86095"/>
                  </a:lnTo>
                  <a:lnTo>
                    <a:pt x="7191" y="88767"/>
                  </a:lnTo>
                  <a:lnTo>
                    <a:pt x="8630" y="91232"/>
                  </a:lnTo>
                  <a:lnTo>
                    <a:pt x="10068" y="93493"/>
                  </a:lnTo>
                  <a:lnTo>
                    <a:pt x="11917" y="95958"/>
                  </a:lnTo>
                  <a:lnTo>
                    <a:pt x="13767" y="98219"/>
                  </a:lnTo>
                  <a:lnTo>
                    <a:pt x="15410" y="100479"/>
                  </a:lnTo>
                  <a:lnTo>
                    <a:pt x="17465" y="102534"/>
                  </a:lnTo>
                  <a:lnTo>
                    <a:pt x="19520" y="104383"/>
                  </a:lnTo>
                  <a:lnTo>
                    <a:pt x="21575" y="106232"/>
                  </a:lnTo>
                  <a:lnTo>
                    <a:pt x="23835" y="108082"/>
                  </a:lnTo>
                  <a:lnTo>
                    <a:pt x="26301" y="109726"/>
                  </a:lnTo>
                  <a:lnTo>
                    <a:pt x="28767" y="111369"/>
                  </a:lnTo>
                  <a:lnTo>
                    <a:pt x="31232" y="112602"/>
                  </a:lnTo>
                  <a:lnTo>
                    <a:pt x="33904" y="114041"/>
                  </a:lnTo>
                  <a:lnTo>
                    <a:pt x="36575" y="115273"/>
                  </a:lnTo>
                  <a:lnTo>
                    <a:pt x="39452" y="116506"/>
                  </a:lnTo>
                  <a:lnTo>
                    <a:pt x="42328" y="117328"/>
                  </a:lnTo>
                  <a:lnTo>
                    <a:pt x="45000" y="118150"/>
                  </a:lnTo>
                  <a:lnTo>
                    <a:pt x="47876" y="118767"/>
                  </a:lnTo>
                  <a:lnTo>
                    <a:pt x="50958" y="119383"/>
                  </a:lnTo>
                  <a:lnTo>
                    <a:pt x="53835" y="119794"/>
                  </a:lnTo>
                  <a:lnTo>
                    <a:pt x="56917" y="119999"/>
                  </a:lnTo>
                  <a:lnTo>
                    <a:pt x="59794" y="119999"/>
                  </a:lnTo>
                  <a:lnTo>
                    <a:pt x="63082" y="119999"/>
                  </a:lnTo>
                  <a:lnTo>
                    <a:pt x="66575" y="119794"/>
                  </a:lnTo>
                  <a:lnTo>
                    <a:pt x="69863" y="119383"/>
                  </a:lnTo>
                  <a:lnTo>
                    <a:pt x="72945" y="118561"/>
                  </a:lnTo>
                  <a:lnTo>
                    <a:pt x="76232" y="117739"/>
                  </a:lnTo>
                  <a:lnTo>
                    <a:pt x="79315" y="116917"/>
                  </a:lnTo>
                  <a:lnTo>
                    <a:pt x="82397" y="115684"/>
                  </a:lnTo>
                  <a:lnTo>
                    <a:pt x="85273" y="114452"/>
                  </a:lnTo>
                  <a:lnTo>
                    <a:pt x="88561" y="112808"/>
                  </a:lnTo>
                  <a:lnTo>
                    <a:pt x="91438" y="111369"/>
                  </a:lnTo>
                  <a:lnTo>
                    <a:pt x="94109" y="109520"/>
                  </a:lnTo>
                  <a:lnTo>
                    <a:pt x="96780" y="107465"/>
                  </a:lnTo>
                  <a:lnTo>
                    <a:pt x="99041" y="105616"/>
                  </a:lnTo>
                  <a:lnTo>
                    <a:pt x="101506" y="103356"/>
                  </a:lnTo>
                  <a:lnTo>
                    <a:pt x="103972" y="100890"/>
                  </a:lnTo>
                  <a:lnTo>
                    <a:pt x="106027" y="98424"/>
                  </a:lnTo>
                  <a:lnTo>
                    <a:pt x="106438" y="97602"/>
                  </a:lnTo>
                  <a:lnTo>
                    <a:pt x="106643" y="96780"/>
                  </a:lnTo>
                  <a:lnTo>
                    <a:pt x="106438" y="95753"/>
                  </a:lnTo>
                  <a:lnTo>
                    <a:pt x="106027" y="95136"/>
                  </a:lnTo>
                  <a:lnTo>
                    <a:pt x="95136" y="84246"/>
                  </a:lnTo>
                  <a:lnTo>
                    <a:pt x="94315" y="83835"/>
                  </a:lnTo>
                  <a:lnTo>
                    <a:pt x="93287" y="83630"/>
                  </a:lnTo>
                  <a:lnTo>
                    <a:pt x="92260" y="83835"/>
                  </a:lnTo>
                  <a:lnTo>
                    <a:pt x="91643" y="84452"/>
                  </a:lnTo>
                  <a:lnTo>
                    <a:pt x="90000" y="86301"/>
                  </a:lnTo>
                  <a:lnTo>
                    <a:pt x="88561" y="87945"/>
                  </a:lnTo>
                  <a:lnTo>
                    <a:pt x="86917" y="89589"/>
                  </a:lnTo>
                  <a:lnTo>
                    <a:pt x="85068" y="91232"/>
                  </a:lnTo>
                  <a:lnTo>
                    <a:pt x="83424" y="92465"/>
                  </a:lnTo>
                  <a:lnTo>
                    <a:pt x="81369" y="93698"/>
                  </a:lnTo>
                  <a:lnTo>
                    <a:pt x="79520" y="94931"/>
                  </a:lnTo>
                  <a:lnTo>
                    <a:pt x="77465" y="95958"/>
                  </a:lnTo>
                  <a:lnTo>
                    <a:pt x="75410" y="96986"/>
                  </a:lnTo>
                  <a:lnTo>
                    <a:pt x="73356" y="97808"/>
                  </a:lnTo>
                  <a:lnTo>
                    <a:pt x="71095" y="98424"/>
                  </a:lnTo>
                  <a:lnTo>
                    <a:pt x="69041" y="99041"/>
                  </a:lnTo>
                  <a:lnTo>
                    <a:pt x="66780" y="99657"/>
                  </a:lnTo>
                  <a:lnTo>
                    <a:pt x="64520" y="99863"/>
                  </a:lnTo>
                  <a:lnTo>
                    <a:pt x="62260" y="100068"/>
                  </a:lnTo>
                  <a:lnTo>
                    <a:pt x="59794" y="100068"/>
                  </a:lnTo>
                  <a:lnTo>
                    <a:pt x="55890" y="99863"/>
                  </a:lnTo>
                  <a:lnTo>
                    <a:pt x="51780" y="99246"/>
                  </a:lnTo>
                  <a:lnTo>
                    <a:pt x="48082" y="98219"/>
                  </a:lnTo>
                  <a:lnTo>
                    <a:pt x="44383" y="96986"/>
                  </a:lnTo>
                  <a:lnTo>
                    <a:pt x="40684" y="95136"/>
                  </a:lnTo>
                  <a:lnTo>
                    <a:pt x="37397" y="93082"/>
                  </a:lnTo>
                  <a:lnTo>
                    <a:pt x="34315" y="90821"/>
                  </a:lnTo>
                  <a:lnTo>
                    <a:pt x="31643" y="88150"/>
                  </a:lnTo>
                  <a:lnTo>
                    <a:pt x="28972" y="85684"/>
                  </a:lnTo>
                  <a:lnTo>
                    <a:pt x="26712" y="82397"/>
                  </a:lnTo>
                  <a:lnTo>
                    <a:pt x="24863" y="79109"/>
                  </a:lnTo>
                  <a:lnTo>
                    <a:pt x="23013" y="75616"/>
                  </a:lnTo>
                  <a:lnTo>
                    <a:pt x="21575" y="71917"/>
                  </a:lnTo>
                  <a:lnTo>
                    <a:pt x="20547" y="68013"/>
                  </a:lnTo>
                  <a:lnTo>
                    <a:pt x="20136" y="64109"/>
                  </a:lnTo>
                  <a:lnTo>
                    <a:pt x="19931" y="59999"/>
                  </a:lnTo>
                  <a:lnTo>
                    <a:pt x="20136" y="56095"/>
                  </a:lnTo>
                  <a:lnTo>
                    <a:pt x="20547" y="51986"/>
                  </a:lnTo>
                  <a:lnTo>
                    <a:pt x="21575" y="48287"/>
                  </a:lnTo>
                  <a:lnTo>
                    <a:pt x="23013" y="44589"/>
                  </a:lnTo>
                  <a:lnTo>
                    <a:pt x="24863" y="40890"/>
                  </a:lnTo>
                  <a:lnTo>
                    <a:pt x="26712" y="37602"/>
                  </a:lnTo>
                  <a:lnTo>
                    <a:pt x="28972" y="34520"/>
                  </a:lnTo>
                  <a:lnTo>
                    <a:pt x="31643" y="31643"/>
                  </a:lnTo>
                  <a:lnTo>
                    <a:pt x="34315" y="29178"/>
                  </a:lnTo>
                  <a:lnTo>
                    <a:pt x="37397" y="26712"/>
                  </a:lnTo>
                  <a:lnTo>
                    <a:pt x="40684" y="24863"/>
                  </a:lnTo>
                  <a:lnTo>
                    <a:pt x="44383" y="23219"/>
                  </a:lnTo>
                  <a:lnTo>
                    <a:pt x="48082" y="21780"/>
                  </a:lnTo>
                  <a:lnTo>
                    <a:pt x="51780" y="20753"/>
                  </a:lnTo>
                  <a:lnTo>
                    <a:pt x="55890" y="20136"/>
                  </a:lnTo>
                  <a:lnTo>
                    <a:pt x="59794" y="19931"/>
                  </a:lnTo>
                  <a:lnTo>
                    <a:pt x="63904" y="20136"/>
                  </a:lnTo>
                  <a:lnTo>
                    <a:pt x="67397" y="20547"/>
                  </a:lnTo>
                  <a:lnTo>
                    <a:pt x="71095" y="21369"/>
                  </a:lnTo>
                  <a:lnTo>
                    <a:pt x="74589" y="22602"/>
                  </a:lnTo>
                  <a:lnTo>
                    <a:pt x="77876" y="24041"/>
                  </a:lnTo>
                  <a:lnTo>
                    <a:pt x="81164" y="26095"/>
                  </a:lnTo>
                  <a:lnTo>
                    <a:pt x="84246" y="28150"/>
                  </a:lnTo>
                  <a:lnTo>
                    <a:pt x="87123" y="30821"/>
                  </a:lnTo>
                  <a:lnTo>
                    <a:pt x="76438" y="41506"/>
                  </a:lnTo>
                  <a:lnTo>
                    <a:pt x="75821" y="42123"/>
                  </a:lnTo>
                  <a:lnTo>
                    <a:pt x="75410" y="42739"/>
                  </a:lnTo>
                  <a:lnTo>
                    <a:pt x="75205" y="43356"/>
                  </a:lnTo>
                  <a:lnTo>
                    <a:pt x="75000" y="44178"/>
                  </a:lnTo>
                  <a:lnTo>
                    <a:pt x="74794" y="44794"/>
                  </a:lnTo>
                  <a:lnTo>
                    <a:pt x="75000" y="45410"/>
                  </a:lnTo>
                  <a:lnTo>
                    <a:pt x="75000" y="46027"/>
                  </a:lnTo>
                  <a:lnTo>
                    <a:pt x="75410" y="47054"/>
                  </a:lnTo>
                  <a:lnTo>
                    <a:pt x="76027" y="48287"/>
                  </a:lnTo>
                  <a:lnTo>
                    <a:pt x="77054" y="49109"/>
                  </a:lnTo>
                  <a:lnTo>
                    <a:pt x="78493" y="49931"/>
                  </a:lnTo>
                  <a:lnTo>
                    <a:pt x="79726" y="50136"/>
                  </a:lnTo>
                  <a:lnTo>
                    <a:pt x="114863" y="50136"/>
                  </a:lnTo>
                  <a:lnTo>
                    <a:pt x="115890" y="49931"/>
                  </a:lnTo>
                  <a:lnTo>
                    <a:pt x="116917" y="49726"/>
                  </a:lnTo>
                  <a:lnTo>
                    <a:pt x="117739" y="49109"/>
                  </a:lnTo>
                  <a:lnTo>
                    <a:pt x="118356" y="48493"/>
                  </a:lnTo>
                  <a:lnTo>
                    <a:pt x="119178" y="47671"/>
                  </a:lnTo>
                  <a:lnTo>
                    <a:pt x="119589" y="47054"/>
                  </a:lnTo>
                  <a:lnTo>
                    <a:pt x="119794" y="46027"/>
                  </a:lnTo>
                  <a:lnTo>
                    <a:pt x="119999" y="45000"/>
                  </a:lnTo>
                  <a:lnTo>
                    <a:pt x="119999" y="9863"/>
                  </a:lnTo>
                  <a:lnTo>
                    <a:pt x="119794" y="8424"/>
                  </a:lnTo>
                  <a:lnTo>
                    <a:pt x="119178" y="7191"/>
                  </a:lnTo>
                  <a:lnTo>
                    <a:pt x="118150" y="6164"/>
                  </a:lnTo>
                  <a:lnTo>
                    <a:pt x="116917" y="5342"/>
                  </a:lnTo>
                  <a:close/>
                </a:path>
              </a:pathLst>
            </a:custGeom>
            <a:solidFill>
              <a:srgbClr val="414955"/>
            </a:solidFill>
            <a:ln>
              <a:noFill/>
            </a:ln>
          </p:spPr>
          <p:txBody>
            <a:bodyPr lIns="121898" tIns="60941" rIns="121898" bIns="60941" anchor="t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cxnSp>
          <p:nvCxnSpPr>
            <p:cNvPr id="12" name="Shape 1447"/>
            <p:cNvCxnSpPr/>
            <p:nvPr>
              <p:custDataLst>
                <p:tags r:id="rId6"/>
              </p:custDataLst>
            </p:nvPr>
          </p:nvCxnSpPr>
          <p:spPr>
            <a:xfrm>
              <a:off x="11911" y="5324"/>
              <a:ext cx="725" cy="0"/>
            </a:xfrm>
            <a:prstGeom prst="straightConnector1">
              <a:avLst/>
            </a:prstGeom>
            <a:noFill/>
            <a:ln w="9525" cap="flat" cmpd="sng">
              <a:solidFill>
                <a:srgbClr val="5F6A7B"/>
              </a:solidFill>
              <a:prstDash val="solid"/>
              <a:miter/>
              <a:headEnd type="oval" w="med" len="med"/>
              <a:tailEnd type="none" w="med" len="med"/>
            </a:ln>
          </p:spPr>
        </p:cxnSp>
        <p:sp>
          <p:nvSpPr>
            <p:cNvPr id="68" name="Shape 1448"/>
            <p:cNvSpPr/>
            <p:nvPr>
              <p:custDataLst>
                <p:tags r:id="rId7"/>
              </p:custDataLst>
            </p:nvPr>
          </p:nvSpPr>
          <p:spPr>
            <a:xfrm>
              <a:off x="12488" y="5018"/>
              <a:ext cx="613" cy="613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5F6A7B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0941" tIns="30462" rIns="60941" bIns="30462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endParaRPr sz="12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" name="Shape 1449"/>
            <p:cNvSpPr/>
            <p:nvPr>
              <p:custDataLst>
                <p:tags r:id="rId8"/>
              </p:custDataLst>
            </p:nvPr>
          </p:nvSpPr>
          <p:spPr>
            <a:xfrm>
              <a:off x="12635" y="5171"/>
              <a:ext cx="318" cy="30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46490"/>
                  </a:moveTo>
                  <a:lnTo>
                    <a:pt x="120000" y="45894"/>
                  </a:lnTo>
                  <a:lnTo>
                    <a:pt x="119810" y="45298"/>
                  </a:lnTo>
                  <a:lnTo>
                    <a:pt x="119241" y="44701"/>
                  </a:lnTo>
                  <a:lnTo>
                    <a:pt x="118862" y="44105"/>
                  </a:lnTo>
                  <a:lnTo>
                    <a:pt x="118293" y="43708"/>
                  </a:lnTo>
                  <a:lnTo>
                    <a:pt x="117725" y="43509"/>
                  </a:lnTo>
                  <a:lnTo>
                    <a:pt x="116966" y="43311"/>
                  </a:lnTo>
                  <a:lnTo>
                    <a:pt x="115829" y="43112"/>
                  </a:lnTo>
                  <a:lnTo>
                    <a:pt x="79620" y="37549"/>
                  </a:lnTo>
                  <a:lnTo>
                    <a:pt x="63507" y="3178"/>
                  </a:lnTo>
                  <a:lnTo>
                    <a:pt x="62559" y="1788"/>
                  </a:lnTo>
                  <a:lnTo>
                    <a:pt x="61800" y="794"/>
                  </a:lnTo>
                  <a:lnTo>
                    <a:pt x="61042" y="198"/>
                  </a:lnTo>
                  <a:lnTo>
                    <a:pt x="59905" y="0"/>
                  </a:lnTo>
                  <a:lnTo>
                    <a:pt x="58957" y="198"/>
                  </a:lnTo>
                  <a:lnTo>
                    <a:pt x="57819" y="794"/>
                  </a:lnTo>
                  <a:lnTo>
                    <a:pt x="57061" y="1788"/>
                  </a:lnTo>
                  <a:lnTo>
                    <a:pt x="56303" y="3178"/>
                  </a:lnTo>
                  <a:lnTo>
                    <a:pt x="40189" y="37549"/>
                  </a:lnTo>
                  <a:lnTo>
                    <a:pt x="3791" y="43112"/>
                  </a:lnTo>
                  <a:lnTo>
                    <a:pt x="3033" y="43311"/>
                  </a:lnTo>
                  <a:lnTo>
                    <a:pt x="2274" y="43509"/>
                  </a:lnTo>
                  <a:lnTo>
                    <a:pt x="1327" y="43708"/>
                  </a:lnTo>
                  <a:lnTo>
                    <a:pt x="947" y="44105"/>
                  </a:lnTo>
                  <a:lnTo>
                    <a:pt x="379" y="44701"/>
                  </a:lnTo>
                  <a:lnTo>
                    <a:pt x="189" y="45298"/>
                  </a:lnTo>
                  <a:lnTo>
                    <a:pt x="0" y="45894"/>
                  </a:lnTo>
                  <a:lnTo>
                    <a:pt x="0" y="46490"/>
                  </a:lnTo>
                  <a:lnTo>
                    <a:pt x="0" y="47483"/>
                  </a:lnTo>
                  <a:lnTo>
                    <a:pt x="379" y="48278"/>
                  </a:lnTo>
                  <a:lnTo>
                    <a:pt x="947" y="49072"/>
                  </a:lnTo>
                  <a:lnTo>
                    <a:pt x="1516" y="50264"/>
                  </a:lnTo>
                  <a:lnTo>
                    <a:pt x="28056" y="77086"/>
                  </a:lnTo>
                  <a:lnTo>
                    <a:pt x="21611" y="114834"/>
                  </a:lnTo>
                  <a:lnTo>
                    <a:pt x="21611" y="115629"/>
                  </a:lnTo>
                  <a:lnTo>
                    <a:pt x="21611" y="116225"/>
                  </a:lnTo>
                  <a:lnTo>
                    <a:pt x="21611" y="116821"/>
                  </a:lnTo>
                  <a:lnTo>
                    <a:pt x="21800" y="117814"/>
                  </a:lnTo>
                  <a:lnTo>
                    <a:pt x="21990" y="118410"/>
                  </a:lnTo>
                  <a:lnTo>
                    <a:pt x="22369" y="118807"/>
                  </a:lnTo>
                  <a:lnTo>
                    <a:pt x="22748" y="119205"/>
                  </a:lnTo>
                  <a:lnTo>
                    <a:pt x="23317" y="119801"/>
                  </a:lnTo>
                  <a:lnTo>
                    <a:pt x="23886" y="120000"/>
                  </a:lnTo>
                  <a:lnTo>
                    <a:pt x="24454" y="120000"/>
                  </a:lnTo>
                  <a:lnTo>
                    <a:pt x="25971" y="119801"/>
                  </a:lnTo>
                  <a:lnTo>
                    <a:pt x="27677" y="119006"/>
                  </a:lnTo>
                  <a:lnTo>
                    <a:pt x="59905" y="101324"/>
                  </a:lnTo>
                  <a:lnTo>
                    <a:pt x="92322" y="119006"/>
                  </a:lnTo>
                  <a:lnTo>
                    <a:pt x="93649" y="119801"/>
                  </a:lnTo>
                  <a:lnTo>
                    <a:pt x="95165" y="120000"/>
                  </a:lnTo>
                  <a:lnTo>
                    <a:pt x="95734" y="120000"/>
                  </a:lnTo>
                  <a:lnTo>
                    <a:pt x="96492" y="119801"/>
                  </a:lnTo>
                  <a:lnTo>
                    <a:pt x="97061" y="119205"/>
                  </a:lnTo>
                  <a:lnTo>
                    <a:pt x="97440" y="118807"/>
                  </a:lnTo>
                  <a:lnTo>
                    <a:pt x="97630" y="118410"/>
                  </a:lnTo>
                  <a:lnTo>
                    <a:pt x="98009" y="117814"/>
                  </a:lnTo>
                  <a:lnTo>
                    <a:pt x="98009" y="116821"/>
                  </a:lnTo>
                  <a:lnTo>
                    <a:pt x="98009" y="116225"/>
                  </a:lnTo>
                  <a:lnTo>
                    <a:pt x="98009" y="115430"/>
                  </a:lnTo>
                  <a:lnTo>
                    <a:pt x="98009" y="114834"/>
                  </a:lnTo>
                  <a:lnTo>
                    <a:pt x="91943" y="77086"/>
                  </a:lnTo>
                  <a:lnTo>
                    <a:pt x="118104" y="50264"/>
                  </a:lnTo>
                  <a:lnTo>
                    <a:pt x="118862" y="49072"/>
                  </a:lnTo>
                  <a:lnTo>
                    <a:pt x="119620" y="48278"/>
                  </a:lnTo>
                  <a:lnTo>
                    <a:pt x="119810" y="47483"/>
                  </a:lnTo>
                  <a:lnTo>
                    <a:pt x="120000" y="46490"/>
                  </a:lnTo>
                  <a:close/>
                </a:path>
              </a:pathLst>
            </a:custGeom>
            <a:solidFill>
              <a:srgbClr val="5F6A7B"/>
            </a:solidFill>
            <a:ln>
              <a:noFill/>
            </a:ln>
          </p:spPr>
          <p:txBody>
            <a:bodyPr lIns="121898" tIns="60941" rIns="121898" bIns="60941" anchor="t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" name="TextBox 11"/>
            <p:cNvSpPr txBox="1"/>
            <p:nvPr>
              <p:custDataLst>
                <p:tags r:id="rId9"/>
              </p:custDataLst>
            </p:nvPr>
          </p:nvSpPr>
          <p:spPr>
            <a:xfrm>
              <a:off x="1336" y="4431"/>
              <a:ext cx="4650" cy="1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r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i="0">
                  <a:solidFill>
                    <a:srgbClr val="5B625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 / 真实学生</a:t>
              </a:r>
              <a:endParaRPr sz="1600" b="1" i="0">
                <a:solidFill>
                  <a:srgbClr val="5B62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TextBox 12"/>
            <p:cNvSpPr txBox="1"/>
            <p:nvPr>
              <p:custDataLst>
                <p:tags r:id="rId10"/>
              </p:custDataLst>
            </p:nvPr>
          </p:nvSpPr>
          <p:spPr>
            <a:xfrm>
              <a:off x="1200" y="4965"/>
              <a:ext cx="4787" cy="4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r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i="0">
                  <a:solidFill>
                    <a:srgbClr val="111111"/>
                  </a:solidFill>
                  <a:latin typeface="微软雅黑" panose="020B0503020204020204" charset="-122"/>
                  <a:ea typeface="微软雅黑" panose="020B0503020204020204" charset="-122"/>
                </a:rPr>
                <a:t>流程清楚</a:t>
              </a:r>
              <a:endParaRPr sz="16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TextBox 13"/>
            <p:cNvSpPr txBox="1"/>
            <p:nvPr>
              <p:custDataLst>
                <p:tags r:id="rId11"/>
              </p:custDataLst>
            </p:nvPr>
          </p:nvSpPr>
          <p:spPr>
            <a:xfrm>
              <a:off x="895" y="5477"/>
              <a:ext cx="5364" cy="294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0" i="0">
                  <a:solidFill>
                    <a:srgbClr val="5B625F"/>
                  </a:solidFill>
                  <a:latin typeface="微软雅黑" panose="020B0503020204020204" charset="-122"/>
                  <a:ea typeface="微软雅黑" panose="020B0503020204020204" charset="-122"/>
                </a:rPr>
                <a:t>使用下来，作业、反馈、知识点和学习助手之间的衔接很顺畅，而且能明显感受到系统对每个学生的个性化支持，无论是学习节奏还是内容推荐，都比较贴合个人需求；界面交互的细节还需要打磨，整体体验</a:t>
              </a:r>
              <a:r>
                <a:rPr lang="zh-CN" altLang="en-US" sz="1400" b="0" i="0">
                  <a:solidFill>
                    <a:srgbClr val="5B625F"/>
                  </a:solidFill>
                  <a:latin typeface="微软雅黑" panose="020B0503020204020204" charset="-122"/>
                  <a:ea typeface="微软雅黑" panose="020B0503020204020204" charset="-122"/>
                </a:rPr>
                <a:t>不错</a:t>
              </a:r>
              <a:endParaRPr lang="zh-CN" altLang="en-US" sz="1400" b="0" i="0">
                <a:solidFill>
                  <a:srgbClr val="5B625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extBox 17"/>
            <p:cNvSpPr txBox="1"/>
            <p:nvPr>
              <p:custDataLst>
                <p:tags r:id="rId12"/>
              </p:custDataLst>
            </p:nvPr>
          </p:nvSpPr>
          <p:spPr>
            <a:xfrm>
              <a:off x="13446" y="4431"/>
              <a:ext cx="4475" cy="28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i="0">
                  <a:solidFill>
                    <a:srgbClr val="5B625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B / 教学协助者</a:t>
              </a:r>
              <a:endParaRPr sz="1600" b="1" i="0">
                <a:solidFill>
                  <a:srgbClr val="5B62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TextBox 18"/>
            <p:cNvSpPr txBox="1"/>
            <p:nvPr>
              <p:custDataLst>
                <p:tags r:id="rId13"/>
              </p:custDataLst>
            </p:nvPr>
          </p:nvSpPr>
          <p:spPr>
            <a:xfrm>
              <a:off x="13446" y="4965"/>
              <a:ext cx="4475" cy="5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i="0">
                  <a:solidFill>
                    <a:srgbClr val="111111"/>
                  </a:solidFill>
                  <a:latin typeface="微软雅黑" panose="020B0503020204020204" charset="-122"/>
                  <a:ea typeface="微软雅黑" panose="020B0503020204020204" charset="-122"/>
                </a:rPr>
                <a:t>可复核</a:t>
              </a:r>
              <a:endParaRPr sz="16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TextBox 19"/>
            <p:cNvSpPr txBox="1"/>
            <p:nvPr>
              <p:custDataLst>
                <p:tags r:id="rId14"/>
              </p:custDataLst>
            </p:nvPr>
          </p:nvSpPr>
          <p:spPr>
            <a:xfrm>
              <a:off x="13446" y="5490"/>
              <a:ext cx="4475" cy="22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0" i="0">
                  <a:solidFill>
                    <a:srgbClr val="5B625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建班、布置、</a:t>
              </a:r>
              <a:r>
                <a:rPr lang="en-US" altLang="zh-CN" sz="1600" b="0" i="0">
                  <a:solidFill>
                    <a:srgbClr val="5B625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AI</a:t>
              </a:r>
              <a:r>
                <a:rPr lang="zh-CN" altLang="en-US" sz="1600" b="0" i="0">
                  <a:solidFill>
                    <a:srgbClr val="5B625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分析、复核、发布这一套流程都已经跑通了，用起来很顺；就是大班级和复杂题型目前还没怎么真正用过，等后续再试试应该会更完善</a:t>
              </a:r>
              <a:endParaRPr lang="zh-CN" altLang="en-US" sz="1600" b="0" i="0">
                <a:solidFill>
                  <a:srgbClr val="5B62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3" name="Rectangle 22"/>
          <p:cNvSpPr/>
          <p:nvPr/>
        </p:nvSpPr>
        <p:spPr>
          <a:xfrm>
            <a:off x="609599" y="5547995"/>
            <a:ext cx="10972799" cy="323849"/>
          </a:xfrm>
          <a:prstGeom prst="rect">
            <a:avLst/>
          </a:prstGeom>
          <a:solidFill>
            <a:srgbClr val="AFB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8034" y="5614670"/>
            <a:ext cx="8953499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非正式教学时间 · 小规模 Demo 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1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 bldLvl="0" animBg="1"/>
      <p:bldP spid="1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"/>
          <p:cNvSpPr/>
          <p:nvPr/>
        </p:nvSpPr>
        <p:spPr>
          <a:xfrm>
            <a:off x="5771515" y="0"/>
            <a:ext cx="6420485" cy="6858000"/>
          </a:xfrm>
          <a:prstGeom prst="rect">
            <a:avLst/>
          </a:prstGeom>
          <a:solidFill>
            <a:srgbClr val="474479">
              <a:alpha val="20000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>
              <a:cs typeface="+mn-ea"/>
              <a:sym typeface="+mn-lt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 l="-3431" r="53676" b="-3191"/>
          <a:stretch>
            <a:fillRect/>
          </a:stretch>
        </p:blipFill>
        <p:spPr>
          <a:xfrm>
            <a:off x="4296410" y="-163830"/>
            <a:ext cx="141605" cy="7578725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6" name="椭圆 5"/>
          <p:cNvSpPr/>
          <p:nvPr/>
        </p:nvSpPr>
        <p:spPr>
          <a:xfrm rot="10080000">
            <a:off x="-1102360" y="-1642745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92810" y="240030"/>
            <a:ext cx="477393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34 / TYPICAL CASE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l">
              <a:lnSpc>
                <a:spcPct val="150000"/>
              </a:lnSpc>
            </a:pP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典型问题 02：死锁的必要条件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part.01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057900" y="1061720"/>
            <a:ext cx="4978400" cy="386080"/>
          </a:xfrm>
          <a:prstGeom prst="rect">
            <a:avLst/>
          </a:prstGeom>
        </p:spPr>
        <p:txBody>
          <a:bodyPr wrap="square" anchor="t">
            <a:noAutofit/>
            <a:scene3d>
              <a:camera prst="orthographicFront"/>
              <a:lightRig rig="threePt" dir="t"/>
            </a:scene3d>
          </a:bodyPr>
          <a:p>
            <a:pPr indent="0" algn="l" fontAlgn="auto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概念题质量在于术语完整、条件对应和引用可核查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6745" y="1703070"/>
            <a:ext cx="4519295" cy="3549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800" b="1" i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LEFT / FOUR </a:t>
            </a:r>
            <a:r>
              <a:rPr b="1" i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VERIFICATION </a:t>
            </a:r>
            <a:r>
              <a:rPr sz="1800" b="1" i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BLOCKS</a:t>
            </a:r>
            <a:endParaRPr sz="1800" b="1" i="0">
              <a:solidFill>
                <a:schemeClr val="tx1">
                  <a:lumMod val="75000"/>
                  <a:lumOff val="2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4" name="TextBox 13"/>
          <p:cNvSpPr txBox="1"/>
          <p:nvPr>
            <p:custDataLst>
              <p:tags r:id="rId2"/>
            </p:custDataLst>
          </p:nvPr>
        </p:nvSpPr>
        <p:spPr>
          <a:xfrm>
            <a:off x="635000" y="2209165"/>
            <a:ext cx="1759585" cy="1314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74479"/>
                </a:solidFill>
                <a:latin typeface="Bahnschrift SemiBold" panose="020B0502040204020203" charset="0"/>
                <a:ea typeface="黑体" panose="02010609060101010101" charset="-122"/>
                <a:cs typeface="Bahnschrift SemiBold" panose="020B0502040204020203" charset="0"/>
              </a:rPr>
              <a:t>01 / 问题</a:t>
            </a:r>
            <a:endParaRPr sz="1600" b="1" i="0">
              <a:solidFill>
                <a:srgbClr val="474479"/>
              </a:solidFill>
              <a:latin typeface="Bahnschrift SemiBold" panose="020B0502040204020203" charset="0"/>
              <a:ea typeface="黑体" panose="02010609060101010101" charset="-122"/>
              <a:cs typeface="Bahnschrift SemiBold" panose="020B0502040204020203" charset="0"/>
            </a:endParaRPr>
          </a:p>
        </p:txBody>
      </p:sp>
      <p:sp>
        <p:nvSpPr>
          <p:cNvPr id="3" name="TextBox 15"/>
          <p:cNvSpPr txBox="1"/>
          <p:nvPr>
            <p:custDataLst>
              <p:tags r:id="rId3"/>
            </p:custDataLst>
          </p:nvPr>
        </p:nvSpPr>
        <p:spPr>
          <a:xfrm>
            <a:off x="4302760" y="2259330"/>
            <a:ext cx="780415" cy="88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893"/>
                </a:solidFill>
                <a:latin typeface="Arial" panose="020B0604020202020204" pitchFamily="34" charset="0"/>
              </a:rPr>
              <a:t>核验目标</a:t>
            </a:r>
            <a:endParaRPr sz="1200" b="1" i="0">
              <a:solidFill>
                <a:srgbClr val="6A6893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16"/>
          <p:cNvSpPr txBox="1"/>
          <p:nvPr>
            <p:custDataLst>
              <p:tags r:id="rId4"/>
            </p:custDataLst>
          </p:nvPr>
        </p:nvSpPr>
        <p:spPr>
          <a:xfrm>
            <a:off x="626110" y="2514600"/>
            <a:ext cx="4707890" cy="1720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ea typeface="黑体" panose="02010609060101010101" charset="-122"/>
              </a:rPr>
              <a:t>死锁的四个必要条件是什么？</a:t>
            </a:r>
            <a:endParaRPr sz="16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ea typeface="黑体" panose="02010609060101010101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5"/>
            </p:custDataLst>
          </p:nvPr>
        </p:nvSpPr>
        <p:spPr>
          <a:xfrm>
            <a:off x="644525" y="2814955"/>
            <a:ext cx="4902835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  <a:ea typeface="黑体" panose="02010609060101010101" charset="-122"/>
              </a:rPr>
              <a:t>补充至少一种预防方式，并说明它打破了哪个必要条件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  <a:ea typeface="黑体" panose="02010609060101010101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6"/>
            </p:custDataLst>
          </p:nvPr>
        </p:nvSpPr>
        <p:spPr>
          <a:xfrm>
            <a:off x="626110" y="3162935"/>
            <a:ext cx="1759585" cy="1314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74479"/>
                </a:solidFill>
                <a:latin typeface="Bahnschrift SemiBold" panose="020B0502040204020203" charset="0"/>
                <a:ea typeface="黑体" panose="02010609060101010101" charset="-122"/>
                <a:cs typeface="Bahnschrift SemiBold" panose="020B0502040204020203" charset="0"/>
              </a:rPr>
              <a:t>02 / 标准答案</a:t>
            </a:r>
            <a:endParaRPr sz="1600" b="1" i="0">
              <a:solidFill>
                <a:srgbClr val="474479"/>
              </a:solidFill>
              <a:latin typeface="Bahnschrift SemiBold" panose="020B0502040204020203" charset="0"/>
              <a:ea typeface="黑体" panose="02010609060101010101" charset="-122"/>
              <a:cs typeface="Bahnschrift SemiBold" panose="020B0502040204020203" charset="0"/>
            </a:endParaRPr>
          </a:p>
        </p:txBody>
      </p:sp>
      <p:sp>
        <p:nvSpPr>
          <p:cNvPr id="22" name="TextBox 21"/>
          <p:cNvSpPr txBox="1"/>
          <p:nvPr>
            <p:custDataLst>
              <p:tags r:id="rId7"/>
            </p:custDataLst>
          </p:nvPr>
        </p:nvSpPr>
        <p:spPr>
          <a:xfrm>
            <a:off x="4302125" y="3231515"/>
            <a:ext cx="763905" cy="774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893"/>
                </a:solidFill>
                <a:latin typeface="Arial" panose="020B0604020202020204" pitchFamily="34" charset="0"/>
              </a:rPr>
              <a:t>对照基准</a:t>
            </a:r>
            <a:endParaRPr sz="1200" b="1" i="0">
              <a:solidFill>
                <a:srgbClr val="6A6893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22"/>
          <p:cNvSpPr txBox="1"/>
          <p:nvPr>
            <p:custDataLst>
              <p:tags r:id="rId8"/>
            </p:custDataLst>
          </p:nvPr>
        </p:nvSpPr>
        <p:spPr>
          <a:xfrm>
            <a:off x="644525" y="3451860"/>
            <a:ext cx="4707890" cy="1720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ea typeface="黑体" panose="02010609060101010101" charset="-122"/>
                <a:cs typeface="Bahnschrift SemiBold" panose="020B0502040204020203" charset="0"/>
              </a:rPr>
              <a:t>互斥 · 占有且等待 · 不可剥夺 · 循环等待</a:t>
            </a:r>
            <a:endParaRPr sz="16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ea typeface="黑体" panose="02010609060101010101" charset="-122"/>
              <a:cs typeface="Bahnschrift SemiBold" panose="020B0502040204020203" charset="0"/>
            </a:endParaRPr>
          </a:p>
        </p:txBody>
      </p:sp>
      <p:sp>
        <p:nvSpPr>
          <p:cNvPr id="24" name="TextBox 23"/>
          <p:cNvSpPr txBox="1"/>
          <p:nvPr>
            <p:custDataLst>
              <p:tags r:id="rId9"/>
            </p:custDataLst>
          </p:nvPr>
        </p:nvSpPr>
        <p:spPr>
          <a:xfrm>
            <a:off x="626110" y="3743960"/>
            <a:ext cx="4921885" cy="3498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  <a:ea typeface="黑体" panose="02010609060101010101" charset="-122"/>
                <a:cs typeface="Bahnschrift SemiBold" panose="020B0502040204020203" charset="0"/>
              </a:rPr>
              <a:t>资源一次性分配可打破“占有且等待”；资源全序可打破“循环等待”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  <a:ea typeface="黑体" panose="02010609060101010101" charset="-122"/>
              <a:cs typeface="Bahnschrift SemiBold" panose="020B0502040204020203" charset="0"/>
            </a:endParaRPr>
          </a:p>
        </p:txBody>
      </p:sp>
      <p:sp>
        <p:nvSpPr>
          <p:cNvPr id="10" name="TextBox 25"/>
          <p:cNvSpPr txBox="1"/>
          <p:nvPr>
            <p:custDataLst>
              <p:tags r:id="rId10"/>
            </p:custDataLst>
          </p:nvPr>
        </p:nvSpPr>
        <p:spPr>
          <a:xfrm>
            <a:off x="626745" y="4296410"/>
            <a:ext cx="1759585" cy="1314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74479"/>
                </a:solidFill>
                <a:latin typeface="Bahnschrift SemiBold" panose="020B0502040204020203" charset="0"/>
                <a:ea typeface="黑体" panose="02010609060101010101" charset="-122"/>
                <a:cs typeface="Bahnschrift SemiBold" panose="020B0502040204020203" charset="0"/>
              </a:rPr>
              <a:t>03 / 权威来源</a:t>
            </a:r>
            <a:endParaRPr sz="1600" b="1" i="0">
              <a:solidFill>
                <a:srgbClr val="474479"/>
              </a:solidFill>
              <a:latin typeface="Bahnschrift SemiBold" panose="020B0502040204020203" charset="0"/>
              <a:ea typeface="黑体" panose="02010609060101010101" charset="-122"/>
              <a:cs typeface="Bahnschrift SemiBold" panose="020B0502040204020203" charset="0"/>
            </a:endParaRPr>
          </a:p>
        </p:txBody>
      </p:sp>
      <p:sp>
        <p:nvSpPr>
          <p:cNvPr id="34" name="TextBox 27"/>
          <p:cNvSpPr txBox="1"/>
          <p:nvPr>
            <p:custDataLst>
              <p:tags r:id="rId11"/>
            </p:custDataLst>
          </p:nvPr>
        </p:nvSpPr>
        <p:spPr>
          <a:xfrm>
            <a:off x="4302760" y="4294505"/>
            <a:ext cx="780415" cy="2114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893"/>
                </a:solidFill>
                <a:latin typeface="Arial" panose="020B0604020202020204" pitchFamily="34" charset="0"/>
              </a:rPr>
              <a:t>来源定位</a:t>
            </a:r>
            <a:endParaRPr sz="1200" b="1" i="0">
              <a:solidFill>
                <a:srgbClr val="6A6893"/>
              </a:solidFill>
              <a:latin typeface="Arial" panose="020B0604020202020204" pitchFamily="34" charset="0"/>
            </a:endParaRPr>
          </a:p>
        </p:txBody>
      </p:sp>
      <p:sp>
        <p:nvSpPr>
          <p:cNvPr id="36" name="TextBox 28"/>
          <p:cNvSpPr txBox="1"/>
          <p:nvPr>
            <p:custDataLst>
              <p:tags r:id="rId12"/>
            </p:custDataLst>
          </p:nvPr>
        </p:nvSpPr>
        <p:spPr>
          <a:xfrm>
            <a:off x="635000" y="4580890"/>
            <a:ext cx="4707890" cy="1720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ea typeface="黑体" panose="02010609060101010101" charset="-122"/>
                <a:cs typeface="Bahnschrift SemiBold" panose="020B0502040204020203" charset="0"/>
              </a:rPr>
              <a:t>Operating System Concepts · 10th · Chapter 8</a:t>
            </a:r>
            <a:endParaRPr sz="16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ea typeface="黑体" panose="02010609060101010101" charset="-122"/>
              <a:cs typeface="Bahnschrift SemiBold" panose="020B0502040204020203" charset="0"/>
            </a:endParaRPr>
          </a:p>
        </p:txBody>
      </p:sp>
      <p:sp>
        <p:nvSpPr>
          <p:cNvPr id="37" name="TextBox 29"/>
          <p:cNvSpPr txBox="1"/>
          <p:nvPr>
            <p:custDataLst>
              <p:tags r:id="rId13"/>
            </p:custDataLst>
          </p:nvPr>
        </p:nvSpPr>
        <p:spPr>
          <a:xfrm>
            <a:off x="626110" y="4869180"/>
            <a:ext cx="4869180" cy="288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  <a:ea typeface="黑体" panose="02010609060101010101" charset="-122"/>
                <a:cs typeface="Bahnschrift SemiBold" panose="020B0502040204020203" charset="0"/>
              </a:rPr>
              <a:t>用于人工对照术语完整性、预防与检测/避免概念边界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  <a:ea typeface="黑体" panose="02010609060101010101" charset="-122"/>
              <a:cs typeface="Bahnschrift SemiBold" panose="020B0502040204020203" charset="0"/>
            </a:endParaRPr>
          </a:p>
        </p:txBody>
      </p:sp>
      <p:sp>
        <p:nvSpPr>
          <p:cNvPr id="39" name="TextBox 31"/>
          <p:cNvSpPr txBox="1"/>
          <p:nvPr>
            <p:custDataLst>
              <p:tags r:id="rId14"/>
            </p:custDataLst>
          </p:nvPr>
        </p:nvSpPr>
        <p:spPr>
          <a:xfrm>
            <a:off x="626745" y="5166360"/>
            <a:ext cx="1759585" cy="1314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74479"/>
                </a:solidFill>
                <a:latin typeface="Bahnschrift SemiBold" panose="020B0502040204020203" charset="0"/>
                <a:ea typeface="黑体" panose="02010609060101010101" charset="-122"/>
                <a:cs typeface="Bahnschrift SemiBold" panose="020B0502040204020203" charset="0"/>
              </a:rPr>
              <a:t>04 / Demo 实测</a:t>
            </a:r>
            <a:endParaRPr sz="1600" b="1" i="0">
              <a:solidFill>
                <a:srgbClr val="474479"/>
              </a:solidFill>
              <a:latin typeface="Bahnschrift SemiBold" panose="020B0502040204020203" charset="0"/>
              <a:ea typeface="黑体" panose="02010609060101010101" charset="-122"/>
              <a:cs typeface="Bahnschrift SemiBold" panose="020B0502040204020203" charset="0"/>
            </a:endParaRPr>
          </a:p>
        </p:txBody>
      </p:sp>
      <p:sp>
        <p:nvSpPr>
          <p:cNvPr id="42" name="TextBox 33"/>
          <p:cNvSpPr txBox="1"/>
          <p:nvPr>
            <p:custDataLst>
              <p:tags r:id="rId15"/>
            </p:custDataLst>
          </p:nvPr>
        </p:nvSpPr>
        <p:spPr>
          <a:xfrm>
            <a:off x="4302760" y="5215890"/>
            <a:ext cx="1051560" cy="277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i="0">
                <a:solidFill>
                  <a:srgbClr val="6A68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通</a:t>
            </a:r>
            <a:r>
              <a:rPr sz="1200" b="1" i="0">
                <a:solidFill>
                  <a:srgbClr val="6A68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过 · 22.80s</a:t>
            </a:r>
            <a:endParaRPr sz="1200" b="1" i="0">
              <a:solidFill>
                <a:srgbClr val="6A689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34"/>
          <p:cNvSpPr txBox="1"/>
          <p:nvPr>
            <p:custDataLst>
              <p:tags r:id="rId16"/>
            </p:custDataLst>
          </p:nvPr>
        </p:nvSpPr>
        <p:spPr>
          <a:xfrm>
            <a:off x="626110" y="5491480"/>
            <a:ext cx="4707890" cy="1720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ea typeface="黑体" panose="02010609060101010101" charset="-122"/>
              </a:rPr>
              <a:t>线上回答通过核验</a:t>
            </a:r>
            <a:endParaRPr sz="16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ea typeface="黑体" panose="02010609060101010101" charset="-122"/>
            </a:endParaRPr>
          </a:p>
        </p:txBody>
      </p:sp>
      <p:sp>
        <p:nvSpPr>
          <p:cNvPr id="44" name="TextBox 35"/>
          <p:cNvSpPr txBox="1"/>
          <p:nvPr>
            <p:custDataLst>
              <p:tags r:id="rId17"/>
            </p:custDataLst>
          </p:nvPr>
        </p:nvSpPr>
        <p:spPr>
          <a:xfrm>
            <a:off x="644525" y="5824855"/>
            <a:ext cx="4716780" cy="5543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  <a:ea typeface="黑体" panose="02010609060101010101" charset="-122"/>
                <a:cs typeface="Bahnschrift SemiBold" panose="020B0502040204020203" charset="0"/>
              </a:rPr>
              <a:t>真实输出：四个条件完整列出；以资源一次性分配打破占有且等待；响应 22.80 s。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  <a:ea typeface="黑体" panose="02010609060101010101" charset="-122"/>
              <a:cs typeface="Bahnschrift SemiBold" panose="020B0502040204020203" charset="0"/>
            </a:endParaRPr>
          </a:p>
        </p:txBody>
      </p:sp>
      <p:sp>
        <p:nvSpPr>
          <p:cNvPr id="45" name="TextBox 8"/>
          <p:cNvSpPr txBox="1"/>
          <p:nvPr/>
        </p:nvSpPr>
        <p:spPr>
          <a:xfrm>
            <a:off x="6142354" y="6320790"/>
            <a:ext cx="9334499" cy="289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b="0" i="0">
                <a:solidFill>
                  <a:srgbClr val="5B625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标准答案 / 权威来源 / </a:t>
            </a:r>
            <a:r>
              <a:rPr lang="en-US" altLang="zh-CN" sz="900" b="0" i="0">
                <a:solidFill>
                  <a:srgbClr val="5B625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Demo </a:t>
            </a:r>
            <a:r>
              <a:rPr lang="zh-CN" altLang="en-US" sz="900" b="0" i="0">
                <a:solidFill>
                  <a:srgbClr val="5B625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输出核验：不得用标准答案替代系统输出</a:t>
            </a:r>
            <a:endParaRPr lang="zh-CN" altLang="en-US" sz="900" b="0" i="0">
              <a:solidFill>
                <a:srgbClr val="5B625F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900" b="0" i="0">
              <a:solidFill>
                <a:srgbClr val="5B625F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2" name="图片 11" descr="C:/Users/Lenovo/Downloads/953b3e06-7c3b-46a2-8bda-3810334fdec6.png953b3e06-7c3b-46a2-8bda-3810334fdec6"/>
          <p:cNvPicPr>
            <a:picLocks noChangeAspect="1"/>
          </p:cNvPicPr>
          <p:nvPr/>
        </p:nvPicPr>
        <p:blipFill>
          <a:blip r:embed="rId18"/>
          <a:srcRect l="564" r="564"/>
          <a:stretch>
            <a:fillRect/>
          </a:stretch>
        </p:blipFill>
        <p:spPr>
          <a:xfrm>
            <a:off x="6233160" y="1762125"/>
            <a:ext cx="5501005" cy="3830955"/>
          </a:xfrm>
          <a:prstGeom prst="rect">
            <a:avLst/>
          </a:prstGeom>
        </p:spPr>
      </p:pic>
    </p:spTree>
    <p:custDataLst>
      <p:tags r:id="rId19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hteck"/>
          <p:cNvSpPr/>
          <p:nvPr/>
        </p:nvSpPr>
        <p:spPr>
          <a:xfrm>
            <a:off x="0" y="0"/>
            <a:ext cx="6096635" cy="6857365"/>
          </a:xfrm>
          <a:prstGeom prst="rect">
            <a:avLst/>
          </a:prstGeom>
          <a:solidFill>
            <a:srgbClr val="474479">
              <a:alpha val="20000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part.04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2810" y="240030"/>
            <a:ext cx="50399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35 / TYPICAL CASE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典型问题 03：</a:t>
            </a:r>
            <a:r>
              <a:rPr lang="en-US" altLang="zh-CN" sz="20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Transformer </a:t>
            </a:r>
            <a:r>
              <a:rPr lang="zh-CN" altLang="en-US" sz="20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自注意力</a:t>
            </a:r>
            <a:endParaRPr lang="zh-CN" altLang="en-US" sz="20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2" name="TextBox 10"/>
          <p:cNvSpPr txBox="1"/>
          <p:nvPr/>
        </p:nvSpPr>
        <p:spPr>
          <a:xfrm>
            <a:off x="6273800" y="1169670"/>
            <a:ext cx="4296410" cy="5803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i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LEFT / FOUR VERIFICATION BLOCKS</a:t>
            </a:r>
            <a:endParaRPr lang="en-US" altLang="zh-CN" b="1" i="0">
              <a:solidFill>
                <a:schemeClr val="tx1">
                  <a:lumMod val="75000"/>
                  <a:lumOff val="2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b="1" i="0">
              <a:solidFill>
                <a:schemeClr val="tx1">
                  <a:lumMod val="75000"/>
                  <a:lumOff val="2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73799" y="1675130"/>
            <a:ext cx="20002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74479"/>
                </a:solidFill>
                <a:latin typeface="Bahnschrift SemiBold" panose="020B0502040204020203" charset="0"/>
                <a:cs typeface="Bahnschrift SemiBold" panose="020B0502040204020203" charset="0"/>
              </a:rPr>
              <a:t>01 / 问题</a:t>
            </a:r>
            <a:endParaRPr sz="1600" b="1" i="0">
              <a:solidFill>
                <a:srgbClr val="474479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646410" y="1720215"/>
            <a:ext cx="782320" cy="76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74479"/>
                </a:solidFill>
                <a:latin typeface="Bahnschrift SemiBold" panose="020B0502040204020203" charset="0"/>
              </a:rPr>
              <a:t>核验目标</a:t>
            </a:r>
            <a:endParaRPr sz="1200" b="1" i="0">
              <a:solidFill>
                <a:srgbClr val="474479"/>
              </a:solidFill>
              <a:latin typeface="Bahnschrift SemiBold" panose="020B0502040204020203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73799" y="1973580"/>
            <a:ext cx="53530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</a:rPr>
              <a:t>写出缩放点积自注意力</a:t>
            </a:r>
            <a:endParaRPr lang="zh-CN" altLang="en-US" sz="16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</a:endParaRPr>
          </a:p>
        </p:txBody>
      </p:sp>
      <p:sp>
        <p:nvSpPr>
          <p:cNvPr id="12" name="TextBox 17"/>
          <p:cNvSpPr txBox="1"/>
          <p:nvPr/>
        </p:nvSpPr>
        <p:spPr>
          <a:xfrm>
            <a:off x="6273800" y="2322195"/>
            <a:ext cx="558927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60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解释 QKV 与 sqrt(d_k)，并说明序列长度 n 增长后的主要开销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2" name="TextBox 19"/>
          <p:cNvSpPr txBox="1"/>
          <p:nvPr/>
        </p:nvSpPr>
        <p:spPr>
          <a:xfrm>
            <a:off x="6273799" y="2662555"/>
            <a:ext cx="20002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74479"/>
                </a:solidFill>
                <a:latin typeface="Bahnschrift SemiBold" panose="020B0502040204020203" charset="0"/>
                <a:cs typeface="Bahnschrift SemiBold" panose="020B0502040204020203" charset="0"/>
              </a:rPr>
              <a:t>02 / 标准答案</a:t>
            </a:r>
            <a:endParaRPr sz="1600" b="1" i="0">
              <a:solidFill>
                <a:srgbClr val="474479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4" name="TextBox 21"/>
          <p:cNvSpPr txBox="1"/>
          <p:nvPr/>
        </p:nvSpPr>
        <p:spPr>
          <a:xfrm>
            <a:off x="10645775" y="2670810"/>
            <a:ext cx="683895" cy="387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05E8C"/>
                </a:solidFill>
                <a:latin typeface="Bahnschrift SemiBold" panose="020B0502040204020203" charset="0"/>
              </a:rPr>
              <a:t>对照基准</a:t>
            </a:r>
            <a:endParaRPr sz="1200" b="1" i="0">
              <a:solidFill>
                <a:srgbClr val="605E8C"/>
              </a:solidFill>
              <a:latin typeface="Bahnschrift SemiBold" panose="020B0502040204020203" charset="0"/>
            </a:endParaRPr>
          </a:p>
        </p:txBody>
      </p:sp>
      <p:sp>
        <p:nvSpPr>
          <p:cNvPr id="25" name="TextBox 22"/>
          <p:cNvSpPr txBox="1"/>
          <p:nvPr/>
        </p:nvSpPr>
        <p:spPr>
          <a:xfrm>
            <a:off x="6273799" y="2969259"/>
            <a:ext cx="5353049" cy="51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</a:rPr>
              <a:t>Attention(Q,K,V) = softmax(QK^T / sqrt(d_k))V</a:t>
            </a:r>
            <a:endParaRPr lang="en-US" altLang="zh-CN" sz="16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</a:endParaRPr>
          </a:p>
        </p:txBody>
      </p:sp>
      <p:sp>
        <p:nvSpPr>
          <p:cNvPr id="26" name="TextBox 23"/>
          <p:cNvSpPr txBox="1"/>
          <p:nvPr/>
        </p:nvSpPr>
        <p:spPr>
          <a:xfrm>
            <a:off x="6273799" y="3230244"/>
            <a:ext cx="5353049" cy="774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主要计算 </a:t>
            </a:r>
            <a:r>
              <a:rPr lang="en-US" altLang="zh-CN"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O(n^2 d)；</a:t>
            </a:r>
            <a:r>
              <a:rPr lang="zh-CN" altLang="en-US"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注意力矩阵空间 </a:t>
            </a:r>
            <a:r>
              <a:rPr lang="en-US" altLang="zh-CN"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O(n^2)。</a:t>
            </a:r>
            <a:r>
              <a:rPr lang="zh-CN" altLang="en-US"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缩放因子抑制 </a:t>
            </a:r>
            <a:r>
              <a:rPr lang="en-US" altLang="zh-CN"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softmax </a:t>
            </a:r>
            <a:r>
              <a:rPr lang="zh-CN" altLang="en-US"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饱和</a:t>
            </a:r>
            <a:endParaRPr lang="zh-CN" altLang="en-US" sz="1600" b="0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600" b="0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8" name="TextBox 25"/>
          <p:cNvSpPr txBox="1"/>
          <p:nvPr/>
        </p:nvSpPr>
        <p:spPr>
          <a:xfrm>
            <a:off x="6273799" y="3831590"/>
            <a:ext cx="20002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05E8C"/>
                </a:solidFill>
                <a:latin typeface="Bahnschrift SemiBold" panose="020B0502040204020203" charset="0"/>
                <a:cs typeface="Bahnschrift SemiBold" panose="020B0502040204020203" charset="0"/>
              </a:rPr>
              <a:t>03 / 权威来源</a:t>
            </a:r>
            <a:endParaRPr sz="1600" b="1" i="0">
              <a:solidFill>
                <a:srgbClr val="605E8C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0" name="TextBox 27"/>
          <p:cNvSpPr txBox="1"/>
          <p:nvPr/>
        </p:nvSpPr>
        <p:spPr>
          <a:xfrm>
            <a:off x="10655300" y="3874770"/>
            <a:ext cx="93345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05E8C"/>
                </a:solidFill>
                <a:latin typeface="Arial" panose="020B0604020202020204" pitchFamily="34" charset="0"/>
              </a:rPr>
              <a:t>来源定位</a:t>
            </a:r>
            <a:endParaRPr sz="1200" b="1" i="0">
              <a:solidFill>
                <a:srgbClr val="605E8C"/>
              </a:solidFill>
              <a:latin typeface="Arial" panose="020B0604020202020204" pitchFamily="34" charset="0"/>
            </a:endParaRPr>
          </a:p>
        </p:txBody>
      </p:sp>
      <p:sp>
        <p:nvSpPr>
          <p:cNvPr id="31" name="TextBox 28"/>
          <p:cNvSpPr txBox="1"/>
          <p:nvPr/>
        </p:nvSpPr>
        <p:spPr>
          <a:xfrm>
            <a:off x="6273799" y="4124960"/>
            <a:ext cx="53530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Vaswani et al. · NeurIPS 2017 · Section 3.2.1</a:t>
            </a:r>
            <a:endParaRPr lang="en-US" altLang="zh-CN" sz="16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3" name="TextBox 29"/>
          <p:cNvSpPr txBox="1"/>
          <p:nvPr/>
        </p:nvSpPr>
        <p:spPr>
          <a:xfrm>
            <a:off x="6273799" y="4444365"/>
            <a:ext cx="53530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rgbClr val="5B625F"/>
                </a:solidFill>
                <a:latin typeface="Bahnschrift SemiBold" panose="020B0502040204020203" charset="0"/>
              </a:rPr>
              <a:t>用于人工对照公式、变量含义与复杂度符号约定</a:t>
            </a:r>
            <a:endParaRPr lang="zh-CN" altLang="en-US" sz="16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35" name="TextBox 31"/>
          <p:cNvSpPr txBox="1"/>
          <p:nvPr/>
        </p:nvSpPr>
        <p:spPr>
          <a:xfrm>
            <a:off x="6273799" y="4840605"/>
            <a:ext cx="20002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05E8C"/>
                </a:solidFill>
                <a:latin typeface="Bahnschrift SemiBold" panose="020B0502040204020203" charset="0"/>
                <a:cs typeface="Bahnschrift SemiBold" panose="020B0502040204020203" charset="0"/>
              </a:rPr>
              <a:t>04 / Demo 实测</a:t>
            </a:r>
            <a:endParaRPr sz="1600" b="1" i="0">
              <a:solidFill>
                <a:srgbClr val="605E8C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7" name="TextBox 33"/>
          <p:cNvSpPr txBox="1"/>
          <p:nvPr/>
        </p:nvSpPr>
        <p:spPr>
          <a:xfrm>
            <a:off x="10646410" y="4850130"/>
            <a:ext cx="942340" cy="19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05E8C"/>
                </a:solidFill>
                <a:latin typeface="微软雅黑" panose="020B0503020204020204" charset="-122"/>
                <a:ea typeface="微软雅黑" panose="020B0503020204020204" charset="-122"/>
                <a:cs typeface="Bahnschrift SemiBold" panose="020B0502040204020203" charset="0"/>
              </a:rPr>
              <a:t>通过 · 24.71 s</a:t>
            </a:r>
            <a:r>
              <a:rPr lang="zh-CN" sz="1200" b="1" i="0">
                <a:solidFill>
                  <a:srgbClr val="605E8C"/>
                </a:solidFill>
                <a:latin typeface="微软雅黑" panose="020B0503020204020204" charset="-122"/>
                <a:ea typeface="微软雅黑" panose="020B0503020204020204" charset="-122"/>
                <a:cs typeface="Bahnschrift SemiBold" panose="020B0502040204020203" charset="0"/>
              </a:rPr>
              <a:t/>
            </a:r>
            <a:r>
              <a:rPr lang="en-US" altLang="zh-CN" sz="1200" b="1" i="0">
                <a:solidFill>
                  <a:srgbClr val="605E8C"/>
                </a:solidFill>
                <a:latin typeface="Bahnschrift SemiBold" panose="020B0502040204020203" charset="0"/>
                <a:cs typeface="Bahnschrift SemiBold" panose="020B0502040204020203" charset="0"/>
              </a:rPr>
              <a:t/>
            </a:r>
            <a:r>
              <a:rPr sz="1200" b="1" i="0">
                <a:solidFill>
                  <a:srgbClr val="605E8C"/>
                </a:solidFill>
                <a:latin typeface="Bahnschrift SemiBold" panose="020B0502040204020203" charset="0"/>
                <a:cs typeface="Bahnschrift SemiBold" panose="020B0502040204020203" charset="0"/>
              </a:rPr>
              <a:t/>
            </a:r>
            <a:endParaRPr sz="1200" b="1" i="0">
              <a:solidFill>
                <a:srgbClr val="605E8C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8" name="TextBox 34"/>
          <p:cNvSpPr txBox="1"/>
          <p:nvPr/>
        </p:nvSpPr>
        <p:spPr>
          <a:xfrm>
            <a:off x="6273799" y="5160644"/>
            <a:ext cx="53530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</a:rPr>
              <a:t>线上回答通过核验</a:t>
            </a:r>
            <a:endParaRPr lang="zh-CN" altLang="en-US" sz="16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</a:endParaRPr>
          </a:p>
        </p:txBody>
      </p:sp>
      <p:sp>
        <p:nvSpPr>
          <p:cNvPr id="39" name="TextBox 35"/>
          <p:cNvSpPr txBox="1"/>
          <p:nvPr/>
        </p:nvSpPr>
        <p:spPr>
          <a:xfrm>
            <a:off x="6235699" y="5510530"/>
            <a:ext cx="5353049" cy="774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真实输出：公式、</a:t>
            </a:r>
            <a:r>
              <a:rPr lang="en-US" altLang="zh-CN"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Q/K/V、sqrt(d_k)、O(n^2 d) </a:t>
            </a:r>
            <a:r>
              <a:rPr lang="zh-CN" altLang="en-US"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与 </a:t>
            </a:r>
            <a:r>
              <a:rPr lang="en-US" altLang="zh-CN"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O(n^2) </a:t>
            </a:r>
            <a:r>
              <a:rPr lang="zh-CN" altLang="en-US"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均有说明；响应 24.71 </a:t>
            </a:r>
            <a:r>
              <a:rPr lang="en-US" altLang="zh-CN"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s</a:t>
            </a:r>
            <a:endParaRPr lang="en-US" altLang="zh-CN" sz="1600" b="0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0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88035" y="1075690"/>
            <a:ext cx="5309235" cy="384810"/>
          </a:xfrm>
          <a:prstGeom prst="rect">
            <a:avLst/>
          </a:prstGeom>
        </p:spPr>
        <p:txBody>
          <a:bodyPr wrap="square" anchor="t">
            <a:noAutofit/>
            <a:scene3d>
              <a:camera prst="orthographicFront"/>
              <a:lightRig rig="threePt" dir="t"/>
            </a:scene3d>
          </a:bodyPr>
          <a:p>
            <a:pPr indent="0" algn="l" fontAlgn="auto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公式题同时检验数学表达、专业术语和模型是否能把答案说清楚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sp>
        <p:nvSpPr>
          <p:cNvPr id="41" name="TextBox 8"/>
          <p:cNvSpPr txBox="1"/>
          <p:nvPr/>
        </p:nvSpPr>
        <p:spPr>
          <a:xfrm>
            <a:off x="918844" y="6348730"/>
            <a:ext cx="9334499" cy="289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25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标准答案 / 权威来源 / Demo 输出核验：</a:t>
            </a:r>
            <a:r>
              <a:rPr lang="zh-CN" altLang="en-US" sz="900" b="0" i="0">
                <a:solidFill>
                  <a:srgbClr val="5B625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不将公式模板冒充模型结果</a:t>
            </a:r>
            <a:endParaRPr lang="zh-CN" altLang="en-US" sz="900" b="0" i="0">
              <a:solidFill>
                <a:srgbClr val="5B625F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900" b="0" i="0">
              <a:solidFill>
                <a:srgbClr val="5B625F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550" y="1956435"/>
            <a:ext cx="5128260" cy="35058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ldLvl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730115" y="1621155"/>
            <a:ext cx="226695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  <a:cs typeface="+mn-ea"/>
                <a:sym typeface="+mn-lt"/>
              </a:rPr>
              <a:t>05</a:t>
            </a:r>
            <a:endParaRPr lang="en-US" altLang="zh-CN" sz="5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688465" y="2040255"/>
            <a:ext cx="8682990" cy="34283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7200" dirty="0">
                <a:solidFill>
                  <a:schemeClr val="bg1"/>
                </a:solidFill>
                <a:effectLst/>
                <a:cs typeface="+mn-ea"/>
                <a:sym typeface="+mn-lt"/>
              </a:rPr>
              <a:t> </a:t>
            </a:r>
            <a:r>
              <a:rPr lang="zh-CN" altLang="en-US" sz="7200" dirty="0">
                <a:solidFill>
                  <a:schemeClr val="bg1"/>
                </a:solidFill>
                <a:effectLst/>
                <a:cs typeface="+mn-ea"/>
                <a:sym typeface="+mn-lt"/>
              </a:rPr>
              <a:t>团队介绍</a:t>
            </a:r>
            <a:r>
              <a:rPr lang="zh-CN" altLang="en-US" sz="7200" dirty="0">
                <a:solidFill>
                  <a:schemeClr val="bg1"/>
                </a:solidFill>
                <a:effectLst/>
                <a:cs typeface="+mn-ea"/>
                <a:sym typeface="+mn-lt"/>
              </a:rPr>
              <a:t> </a:t>
            </a:r>
            <a:r>
              <a:rPr lang="zh-CN" altLang="en-US" sz="7200" dirty="0">
                <a:solidFill>
                  <a:schemeClr val="bg1"/>
                </a:solidFill>
                <a:effectLst/>
                <a:cs typeface="+mn-ea"/>
                <a:sym typeface="+mn-lt"/>
              </a:rPr>
              <a:t> </a:t>
            </a:r>
            <a:endParaRPr lang="zh-CN" altLang="en-US" sz="7200" dirty="0">
              <a:solidFill>
                <a:schemeClr val="bg1"/>
              </a:solidFill>
              <a:effectLst/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endParaRPr lang="zh-CN" altLang="en-US" sz="7200" dirty="0" smtClean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066604" y="3806571"/>
            <a:ext cx="6222077" cy="1586171"/>
            <a:chOff x="2858885" y="3215810"/>
            <a:chExt cx="6222077" cy="1586171"/>
          </a:xfrm>
        </p:grpSpPr>
        <p:sp>
          <p:nvSpPr>
            <p:cNvPr id="19" name="椭圆 18"/>
            <p:cNvSpPr/>
            <p:nvPr/>
          </p:nvSpPr>
          <p:spPr>
            <a:xfrm rot="10800000">
              <a:off x="3611336" y="3215810"/>
              <a:ext cx="4717177" cy="1194265"/>
            </a:xfrm>
            <a:prstGeom prst="ellipse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72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 rot="10800000">
              <a:off x="2858885" y="3226715"/>
              <a:ext cx="6222077" cy="1575266"/>
            </a:xfrm>
            <a:prstGeom prst="ellipse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72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cxnSp>
        <p:nvCxnSpPr>
          <p:cNvPr id="21" name="直接连接符 20"/>
          <p:cNvCxnSpPr/>
          <p:nvPr/>
        </p:nvCxnSpPr>
        <p:spPr>
          <a:xfrm flipV="1">
            <a:off x="2547151" y="2701779"/>
            <a:ext cx="1" cy="1124532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3888998" y="1678308"/>
            <a:ext cx="0" cy="689121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V="1">
            <a:off x="9581039" y="2367774"/>
            <a:ext cx="0" cy="1438905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8018304" y="2040404"/>
            <a:ext cx="0" cy="810254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V="1">
            <a:off x="8933339" y="1083312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part.05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2810" y="240030"/>
            <a:ext cx="613029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36 / TEAM</a:t>
            </a:r>
            <a:r>
              <a:rPr lang="zh-CN" altLang="en-US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/>
            </a:r>
            <a:endParaRPr lang="zh-CN" altLang="en-US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跨校协作，围绕同一条可验证链路交付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124" name="Rectangle 38"/>
          <p:cNvSpPr/>
          <p:nvPr/>
        </p:nvSpPr>
        <p:spPr>
          <a:xfrm>
            <a:off x="9120505" y="6106160"/>
            <a:ext cx="60325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5" name="TextBox 39"/>
          <p:cNvSpPr txBox="1"/>
          <p:nvPr/>
        </p:nvSpPr>
        <p:spPr>
          <a:xfrm>
            <a:off x="9187180" y="6134735"/>
            <a:ext cx="471805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b="1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981709" y="1320799"/>
            <a:ext cx="103822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</a:rPr>
              <a:t>成员与指导教师信息须与审核通过的报名表逐项一致</a:t>
            </a:r>
            <a:endParaRPr lang="zh-CN" altLang="en-US" sz="1600" b="0" i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09600" y="5547995"/>
            <a:ext cx="10972800" cy="515620"/>
          </a:xfrm>
          <a:prstGeom prst="rect">
            <a:avLst/>
          </a:prstGeom>
          <a:solidFill>
            <a:srgbClr val="AFB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23"/>
          <p:cNvSpPr txBox="1"/>
          <p:nvPr/>
        </p:nvSpPr>
        <p:spPr>
          <a:xfrm>
            <a:off x="788035" y="5614670"/>
            <a:ext cx="4965065" cy="290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指导教师：谢倩倩</a:t>
            </a:r>
            <a:r>
              <a:rPr lang="en-US" altLang="zh-CN" b="1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( </a:t>
            </a:r>
            <a:r>
              <a:rPr lang="zh-CN" altLang="en-US" sz="1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武汉大学人工智能学院</a:t>
            </a:r>
            <a:r>
              <a:rPr lang="zh-CN" altLang="en-US" sz="1800" b="1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800" b="1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1800" b="1" i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Rectangle 10"/>
          <p:cNvSpPr/>
          <p:nvPr>
            <p:custDataLst>
              <p:tags r:id="rId1"/>
            </p:custDataLst>
          </p:nvPr>
        </p:nvSpPr>
        <p:spPr>
          <a:xfrm>
            <a:off x="533399" y="2131695"/>
            <a:ext cx="2571749" cy="11715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TextBox 11"/>
          <p:cNvSpPr txBox="1"/>
          <p:nvPr>
            <p:custDataLst>
              <p:tags r:id="rId2"/>
            </p:custDataLst>
          </p:nvPr>
        </p:nvSpPr>
        <p:spPr>
          <a:xfrm>
            <a:off x="685799" y="2293620"/>
            <a:ext cx="21907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CAPTAIN</a:t>
            </a:r>
            <a:endParaRPr lang="en-US" sz="1600" b="1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TextBox 12"/>
          <p:cNvSpPr txBox="1"/>
          <p:nvPr>
            <p:custDataLst>
              <p:tags r:id="rId3"/>
            </p:custDataLst>
          </p:nvPr>
        </p:nvSpPr>
        <p:spPr>
          <a:xfrm>
            <a:off x="685799" y="2560320"/>
            <a:ext cx="22669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赵晨旭</a:t>
            </a:r>
            <a:endParaRPr sz="16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TextBox 13"/>
          <p:cNvSpPr txBox="1"/>
          <p:nvPr>
            <p:custDataLst>
              <p:tags r:id="rId4"/>
            </p:custDataLst>
          </p:nvPr>
        </p:nvSpPr>
        <p:spPr>
          <a:xfrm>
            <a:off x="685799" y="2893695"/>
            <a:ext cx="22669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武汉大学人工智能学院</a:t>
            </a:r>
            <a:endParaRPr sz="1600" b="0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Rectangle 14"/>
          <p:cNvSpPr/>
          <p:nvPr>
            <p:custDataLst>
              <p:tags r:id="rId5"/>
            </p:custDataLst>
          </p:nvPr>
        </p:nvSpPr>
        <p:spPr>
          <a:xfrm>
            <a:off x="3333749" y="2131695"/>
            <a:ext cx="2571749" cy="11715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TextBox 15"/>
          <p:cNvSpPr txBox="1"/>
          <p:nvPr>
            <p:custDataLst>
              <p:tags r:id="rId6"/>
            </p:custDataLst>
          </p:nvPr>
        </p:nvSpPr>
        <p:spPr>
          <a:xfrm>
            <a:off x="3486149" y="2293620"/>
            <a:ext cx="21907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MEMBER</a:t>
            </a:r>
            <a:endParaRPr sz="1600" b="1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TextBox 16"/>
          <p:cNvSpPr txBox="1"/>
          <p:nvPr>
            <p:custDataLst>
              <p:tags r:id="rId7"/>
            </p:custDataLst>
          </p:nvPr>
        </p:nvSpPr>
        <p:spPr>
          <a:xfrm>
            <a:off x="3486149" y="2560320"/>
            <a:ext cx="22669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姚奕枫</a:t>
            </a:r>
            <a:endParaRPr sz="16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TextBox 17"/>
          <p:cNvSpPr txBox="1"/>
          <p:nvPr>
            <p:custDataLst>
              <p:tags r:id="rId8"/>
            </p:custDataLst>
          </p:nvPr>
        </p:nvSpPr>
        <p:spPr>
          <a:xfrm>
            <a:off x="3486149" y="2893695"/>
            <a:ext cx="22669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中南民族大学计算机学院</a:t>
            </a:r>
            <a:endParaRPr sz="1600" b="0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Rectangle 18"/>
          <p:cNvSpPr/>
          <p:nvPr>
            <p:custDataLst>
              <p:tags r:id="rId9"/>
            </p:custDataLst>
          </p:nvPr>
        </p:nvSpPr>
        <p:spPr>
          <a:xfrm>
            <a:off x="6134099" y="2131695"/>
            <a:ext cx="2571749" cy="11715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TextBox 19"/>
          <p:cNvSpPr txBox="1"/>
          <p:nvPr>
            <p:custDataLst>
              <p:tags r:id="rId10"/>
            </p:custDataLst>
          </p:nvPr>
        </p:nvSpPr>
        <p:spPr>
          <a:xfrm>
            <a:off x="6286499" y="2293620"/>
            <a:ext cx="21907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MEMBER</a:t>
            </a:r>
            <a:endParaRPr sz="1600" b="1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TextBox 20"/>
          <p:cNvSpPr txBox="1"/>
          <p:nvPr>
            <p:custDataLst>
              <p:tags r:id="rId11"/>
            </p:custDataLst>
          </p:nvPr>
        </p:nvSpPr>
        <p:spPr>
          <a:xfrm>
            <a:off x="6286499" y="2560320"/>
            <a:ext cx="22669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刘宇杰</a:t>
            </a:r>
            <a:endParaRPr sz="16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TextBox 21"/>
          <p:cNvSpPr txBox="1"/>
          <p:nvPr>
            <p:custDataLst>
              <p:tags r:id="rId12"/>
            </p:custDataLst>
          </p:nvPr>
        </p:nvSpPr>
        <p:spPr>
          <a:xfrm>
            <a:off x="6286500" y="2893695"/>
            <a:ext cx="2520315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青岛理工大学信息管理学院</a:t>
            </a:r>
            <a:endParaRPr sz="1600" b="0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Rectangle 22"/>
          <p:cNvSpPr/>
          <p:nvPr>
            <p:custDataLst>
              <p:tags r:id="rId13"/>
            </p:custDataLst>
          </p:nvPr>
        </p:nvSpPr>
        <p:spPr>
          <a:xfrm>
            <a:off x="8934449" y="2131695"/>
            <a:ext cx="2571749" cy="11715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TextBox 23"/>
          <p:cNvSpPr txBox="1"/>
          <p:nvPr>
            <p:custDataLst>
              <p:tags r:id="rId14"/>
            </p:custDataLst>
          </p:nvPr>
        </p:nvSpPr>
        <p:spPr>
          <a:xfrm>
            <a:off x="9086849" y="2293620"/>
            <a:ext cx="21907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MEMBER</a:t>
            </a:r>
            <a:endParaRPr sz="1600" b="1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TextBox 24"/>
          <p:cNvSpPr txBox="1"/>
          <p:nvPr>
            <p:custDataLst>
              <p:tags r:id="rId15"/>
            </p:custDataLst>
          </p:nvPr>
        </p:nvSpPr>
        <p:spPr>
          <a:xfrm>
            <a:off x="9086849" y="2560320"/>
            <a:ext cx="22669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荣梓铭</a:t>
            </a:r>
            <a:endParaRPr sz="16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TextBox 25"/>
          <p:cNvSpPr txBox="1"/>
          <p:nvPr>
            <p:custDataLst>
              <p:tags r:id="rId16"/>
            </p:custDataLst>
          </p:nvPr>
        </p:nvSpPr>
        <p:spPr>
          <a:xfrm>
            <a:off x="9086850" y="2893695"/>
            <a:ext cx="2496185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上海大学中欧技术工程学院</a:t>
            </a:r>
            <a:endParaRPr sz="1600" b="0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Rectangle 26"/>
          <p:cNvSpPr/>
          <p:nvPr>
            <p:custDataLst>
              <p:tags r:id="rId17"/>
            </p:custDataLst>
          </p:nvPr>
        </p:nvSpPr>
        <p:spPr>
          <a:xfrm>
            <a:off x="533399" y="3531869"/>
            <a:ext cx="2571749" cy="11715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TextBox 27"/>
          <p:cNvSpPr txBox="1"/>
          <p:nvPr>
            <p:custDataLst>
              <p:tags r:id="rId18"/>
            </p:custDataLst>
          </p:nvPr>
        </p:nvSpPr>
        <p:spPr>
          <a:xfrm>
            <a:off x="685799" y="3693795"/>
            <a:ext cx="21907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MEMBER</a:t>
            </a:r>
            <a:endParaRPr sz="1600" b="1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TextBox 28"/>
          <p:cNvSpPr txBox="1"/>
          <p:nvPr>
            <p:custDataLst>
              <p:tags r:id="rId19"/>
            </p:custDataLst>
          </p:nvPr>
        </p:nvSpPr>
        <p:spPr>
          <a:xfrm>
            <a:off x="685799" y="3960494"/>
            <a:ext cx="22669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刘伟亮</a:t>
            </a:r>
            <a:endParaRPr sz="16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TextBox 29"/>
          <p:cNvSpPr txBox="1"/>
          <p:nvPr>
            <p:custDataLst>
              <p:tags r:id="rId20"/>
            </p:custDataLst>
          </p:nvPr>
        </p:nvSpPr>
        <p:spPr>
          <a:xfrm>
            <a:off x="685799" y="4293870"/>
            <a:ext cx="22669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北京邮电大学国际学院</a:t>
            </a:r>
            <a:endParaRPr sz="1600" b="0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Rectangle 30"/>
          <p:cNvSpPr/>
          <p:nvPr>
            <p:custDataLst>
              <p:tags r:id="rId21"/>
            </p:custDataLst>
          </p:nvPr>
        </p:nvSpPr>
        <p:spPr>
          <a:xfrm>
            <a:off x="3333749" y="3531869"/>
            <a:ext cx="2571749" cy="11715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TextBox 31"/>
          <p:cNvSpPr txBox="1"/>
          <p:nvPr>
            <p:custDataLst>
              <p:tags r:id="rId22"/>
            </p:custDataLst>
          </p:nvPr>
        </p:nvSpPr>
        <p:spPr>
          <a:xfrm>
            <a:off x="3486149" y="3693795"/>
            <a:ext cx="21907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MEMBER</a:t>
            </a:r>
            <a:endParaRPr sz="1600" b="1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TextBox 32"/>
          <p:cNvSpPr txBox="1"/>
          <p:nvPr>
            <p:custDataLst>
              <p:tags r:id="rId23"/>
            </p:custDataLst>
          </p:nvPr>
        </p:nvSpPr>
        <p:spPr>
          <a:xfrm>
            <a:off x="3486149" y="3960494"/>
            <a:ext cx="22669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陈伟航</a:t>
            </a:r>
            <a:endParaRPr sz="16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TextBox 33"/>
          <p:cNvSpPr txBox="1"/>
          <p:nvPr>
            <p:custDataLst>
              <p:tags r:id="rId24"/>
            </p:custDataLst>
          </p:nvPr>
        </p:nvSpPr>
        <p:spPr>
          <a:xfrm>
            <a:off x="3486150" y="4293870"/>
            <a:ext cx="2419350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南方医科大学第二临床医学院</a:t>
            </a:r>
            <a:endParaRPr sz="1400" b="0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Rectangle 34"/>
          <p:cNvSpPr/>
          <p:nvPr>
            <p:custDataLst>
              <p:tags r:id="rId25"/>
            </p:custDataLst>
          </p:nvPr>
        </p:nvSpPr>
        <p:spPr>
          <a:xfrm>
            <a:off x="6134099" y="3531869"/>
            <a:ext cx="2571749" cy="11715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TextBox 35"/>
          <p:cNvSpPr txBox="1"/>
          <p:nvPr>
            <p:custDataLst>
              <p:tags r:id="rId26"/>
            </p:custDataLst>
          </p:nvPr>
        </p:nvSpPr>
        <p:spPr>
          <a:xfrm>
            <a:off x="6286499" y="3693795"/>
            <a:ext cx="21907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MEMBER</a:t>
            </a:r>
            <a:endParaRPr sz="1600" b="1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TextBox 36"/>
          <p:cNvSpPr txBox="1"/>
          <p:nvPr>
            <p:custDataLst>
              <p:tags r:id="rId27"/>
            </p:custDataLst>
          </p:nvPr>
        </p:nvSpPr>
        <p:spPr>
          <a:xfrm>
            <a:off x="6286499" y="3960494"/>
            <a:ext cx="22669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赵家胜</a:t>
            </a:r>
            <a:endParaRPr sz="16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TextBox 37"/>
          <p:cNvSpPr txBox="1"/>
          <p:nvPr>
            <p:custDataLst>
              <p:tags r:id="rId28"/>
            </p:custDataLst>
          </p:nvPr>
        </p:nvSpPr>
        <p:spPr>
          <a:xfrm>
            <a:off x="6286499" y="4293870"/>
            <a:ext cx="22669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南开大学数学科学学院</a:t>
            </a:r>
            <a:endParaRPr sz="1600" b="0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Rectangle 38"/>
          <p:cNvSpPr/>
          <p:nvPr>
            <p:custDataLst>
              <p:tags r:id="rId29"/>
            </p:custDataLst>
          </p:nvPr>
        </p:nvSpPr>
        <p:spPr>
          <a:xfrm>
            <a:off x="8934449" y="3531869"/>
            <a:ext cx="2571749" cy="11715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TextBox 39"/>
          <p:cNvSpPr txBox="1"/>
          <p:nvPr>
            <p:custDataLst>
              <p:tags r:id="rId30"/>
            </p:custDataLst>
          </p:nvPr>
        </p:nvSpPr>
        <p:spPr>
          <a:xfrm>
            <a:off x="9086849" y="3693795"/>
            <a:ext cx="21907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MEMBER</a:t>
            </a:r>
            <a:endParaRPr sz="1600" b="1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TextBox 40"/>
          <p:cNvSpPr txBox="1"/>
          <p:nvPr>
            <p:custDataLst>
              <p:tags r:id="rId31"/>
            </p:custDataLst>
          </p:nvPr>
        </p:nvSpPr>
        <p:spPr>
          <a:xfrm>
            <a:off x="9086849" y="3960494"/>
            <a:ext cx="22669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王根</a:t>
            </a:r>
            <a:endParaRPr sz="16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TextBox 41"/>
          <p:cNvSpPr txBox="1"/>
          <p:nvPr>
            <p:custDataLst>
              <p:tags r:id="rId32"/>
            </p:custDataLst>
          </p:nvPr>
        </p:nvSpPr>
        <p:spPr>
          <a:xfrm>
            <a:off x="9086850" y="4293870"/>
            <a:ext cx="2496185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西安电子科技大学电子工程学院</a:t>
            </a:r>
            <a:endParaRPr sz="1400" b="0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3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 bldLvl="0" animBg="1"/>
      <p:bldP spid="1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35" y="1437005"/>
            <a:ext cx="12191365" cy="7651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800" i="1" dirty="0">
                <a:solidFill>
                  <a:schemeClr val="bg1"/>
                </a:solidFill>
                <a:latin typeface="印品粗朗体" panose="02010600030101010101" pitchFamily="2" charset="-122"/>
                <a:ea typeface="印品粗朗体" panose="02010600030101010101" pitchFamily="2" charset="-122"/>
                <a:cs typeface="+mn-ea"/>
                <a:sym typeface="+mn-lt"/>
              </a:rPr>
              <a:t>让每一次可信交互推动能力成长</a:t>
            </a:r>
            <a:endParaRPr lang="zh-CN" altLang="en-US" sz="4800" i="1" dirty="0">
              <a:solidFill>
                <a:schemeClr val="bg1"/>
              </a:solidFill>
              <a:latin typeface="印品粗朗体" panose="02010600030101010101" pitchFamily="2" charset="-122"/>
              <a:ea typeface="印品粗朗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612265" y="2569210"/>
            <a:ext cx="9097010" cy="445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zh-CN" altLang="en-US" sz="2400" b="1">
                <a:solidFill>
                  <a:schemeClr val="bg1">
                    <a:alpha val="64000"/>
                  </a:schemeClr>
                </a:solidFill>
                <a:latin typeface="方正楷体_GB2312" panose="02000000000000000000" charset="-122"/>
                <a:ea typeface="方正楷体_GB2312" panose="02000000000000000000" charset="-122"/>
                <a:cs typeface="+mn-ea"/>
                <a:sym typeface="+mn-lt"/>
              </a:rPr>
              <a:t>面向计算机学科，把知识、任务和学习证据接回真实教学与科研</a:t>
            </a:r>
            <a:endParaRPr lang="zh-CN" altLang="en-US" sz="2400" b="1">
              <a:solidFill>
                <a:schemeClr val="bg1">
                  <a:alpha val="64000"/>
                </a:schemeClr>
              </a:solidFill>
              <a:latin typeface="方正楷体_GB2312" panose="02000000000000000000" charset="-122"/>
              <a:ea typeface="方正楷体_GB2312" panose="02000000000000000000" charset="-122"/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406775" y="3603625"/>
            <a:ext cx="53708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知</a:t>
            </a:r>
            <a:r>
              <a:rPr lang="en-US" altLang="zh-CN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识</a:t>
            </a:r>
            <a:r>
              <a:rPr lang="en-US" altLang="zh-CN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有</a:t>
            </a:r>
            <a:r>
              <a:rPr lang="en-US" altLang="zh-CN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来</a:t>
            </a:r>
            <a:r>
              <a:rPr lang="en-US" altLang="zh-CN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源</a:t>
            </a:r>
            <a:r>
              <a:rPr lang="zh-CN" altLang="en-US" sz="16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1600" b="1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·</a:t>
            </a:r>
            <a:r>
              <a:rPr lang="zh-CN" altLang="en-US" sz="16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16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可定位、可引用；缺证据就标记边界</a:t>
            </a:r>
            <a:endParaRPr lang="zh-CN" altLang="en-US" sz="1600">
              <a:solidFill>
                <a:schemeClr val="bg1">
                  <a:alpha val="8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1" name="直接连接符 20"/>
          <p:cNvCxnSpPr/>
          <p:nvPr/>
        </p:nvCxnSpPr>
        <p:spPr>
          <a:xfrm flipV="1">
            <a:off x="3592996" y="4620749"/>
            <a:ext cx="1" cy="1124532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3888998" y="1250318"/>
            <a:ext cx="0" cy="689121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V="1">
            <a:off x="8506619" y="4764264"/>
            <a:ext cx="0" cy="1438905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8114189" y="1697504"/>
            <a:ext cx="0" cy="810254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V="1">
            <a:off x="6707664" y="890907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2136934" y="3072132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V="1">
            <a:off x="10201434" y="2280287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80390" y="783590"/>
            <a:ext cx="1810385" cy="467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 sz="1600">
                <a:solidFill>
                  <a:schemeClr val="bg1">
                    <a:alpha val="85000"/>
                  </a:schemeClr>
                </a:solidFill>
                <a:latin typeface="Bahnschrift" panose="020B0502040204020203" charset="0"/>
                <a:ea typeface="字魂经典雅黑" panose="00000500000000000000" charset="-122"/>
                <a:cs typeface="Bahnschrift" panose="020B0502040204020203" charset="0"/>
                <a:sym typeface="+mn-lt"/>
              </a:rPr>
              <a:t>ESA / XH-202620</a:t>
            </a:r>
            <a:endParaRPr lang="en-US" altLang="zh-CN" sz="1600">
              <a:solidFill>
                <a:schemeClr val="bg1">
                  <a:alpha val="85000"/>
                </a:schemeClr>
              </a:solidFill>
              <a:latin typeface="Bahnschrift" panose="020B0502040204020203" charset="0"/>
              <a:ea typeface="字魂经典雅黑" panose="00000500000000000000" charset="-122"/>
              <a:cs typeface="Bahnschrift" panose="020B0502040204020203" charset="0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406775" y="4230370"/>
            <a:ext cx="58197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判断有人负责</a:t>
            </a:r>
            <a:r>
              <a:rPr lang="zh-CN" altLang="en-US" sz="16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1600" b="1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·</a:t>
            </a:r>
            <a:r>
              <a:rPr lang="zh-CN" altLang="en-US" sz="16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 AI </a:t>
            </a:r>
            <a:r>
              <a:rPr lang="zh-CN" altLang="en-US" sz="16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提速；教师复核；研究者承担学术判断</a:t>
            </a:r>
            <a:endParaRPr lang="zh-CN" altLang="en-US" sz="1600">
              <a:solidFill>
                <a:schemeClr val="bg1">
                  <a:alpha val="8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06775" y="4857115"/>
            <a:ext cx="63620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证</a:t>
            </a:r>
            <a:r>
              <a:rPr lang="en-US" altLang="zh-CN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据</a:t>
            </a:r>
            <a:r>
              <a:rPr lang="en-US" altLang="zh-CN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要</a:t>
            </a:r>
            <a:r>
              <a:rPr lang="en-US" altLang="zh-CN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回</a:t>
            </a:r>
            <a:r>
              <a:rPr lang="en-US" altLang="zh-CN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流</a:t>
            </a:r>
            <a:r>
              <a:rPr lang="zh-CN" altLang="en-US" sz="16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1600" b="1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·</a:t>
            </a:r>
            <a:r>
              <a:rPr lang="zh-CN" altLang="en-US" sz="16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16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可定位、可引用；缺证据就标记边界</a:t>
            </a:r>
            <a:endParaRPr lang="zh-CN" altLang="en-US" sz="1600">
              <a:solidFill>
                <a:schemeClr val="bg1">
                  <a:alpha val="8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  <p:bldP spid="2" grpId="0"/>
      <p:bldP spid="6" grpId="0"/>
      <p:bldP spid="7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73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74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75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76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77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78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79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80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81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82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83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84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85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86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87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88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89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90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91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92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93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94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95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96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97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0.xml><?xml version="1.0" encoding="utf-8"?>
<p:tagLst xmlns:p="http://schemas.openxmlformats.org/presentationml/2006/main">
  <p:tag name="wpp_generatetext" val="1"/>
</p:tagLst>
</file>

<file path=ppt/tags/tag101.xml><?xml version="1.0" encoding="utf-8"?>
<p:tagLst xmlns:p="http://schemas.openxmlformats.org/presentationml/2006/main">
  <p:tag name="wpp_generatetext" val="1"/>
</p:tagLst>
</file>

<file path=ppt/tags/tag102.xml><?xml version="1.0" encoding="utf-8"?>
<p:tagLst xmlns:p="http://schemas.openxmlformats.org/presentationml/2006/main">
  <p:tag name="KSO_WM_DIAGRAM_VIRTUALLY_FRAME" val="{&quot;height&quot;:338.55,&quot;left&quot;:461.75,&quot;top&quot;:66.95,&quot;width&quot;:353.2}"/>
</p:tagLst>
</file>

<file path=ppt/tags/tag103.xml><?xml version="1.0" encoding="utf-8"?>
<p:tagLst xmlns:p="http://schemas.openxmlformats.org/presentationml/2006/main">
  <p:tag name="KSO_WM_DIAGRAM_VIRTUALLY_FRAME" val="{&quot;height&quot;:338.6,&quot;left&quot;:461.75,&quot;top&quot;:66.95,&quot;width&quot;:353.2}"/>
</p:tagLst>
</file>

<file path=ppt/tags/tag104.xml><?xml version="1.0" encoding="utf-8"?>
<p:tagLst xmlns:p="http://schemas.openxmlformats.org/presentationml/2006/main">
  <p:tag name="KSO_WM_DIAGRAM_VIRTUALLY_FRAME" val="{&quot;height&quot;:338.6,&quot;left&quot;:461.75,&quot;top&quot;:66.95,&quot;width&quot;:353.2}"/>
</p:tagLst>
</file>

<file path=ppt/tags/tag105.xml><?xml version="1.0" encoding="utf-8"?>
<p:tagLst xmlns:p="http://schemas.openxmlformats.org/presentationml/2006/main">
  <p:tag name="KSO_WM_DIAGRAM_VIRTUALLY_FRAME" val="{&quot;height&quot;:338.55,&quot;left&quot;:461.75,&quot;top&quot;:66.95,&quot;width&quot;:353.2}"/>
</p:tagLst>
</file>

<file path=ppt/tags/tag106.xml><?xml version="1.0" encoding="utf-8"?>
<p:tagLst xmlns:p="http://schemas.openxmlformats.org/presentationml/2006/main">
  <p:tag name="KSO_WM_DIAGRAM_VIRTUALLY_FRAME" val="{&quot;height&quot;:338.6,&quot;left&quot;:461.75,&quot;top&quot;:66.95,&quot;width&quot;:353.2}"/>
</p:tagLst>
</file>

<file path=ppt/tags/tag107.xml><?xml version="1.0" encoding="utf-8"?>
<p:tagLst xmlns:p="http://schemas.openxmlformats.org/presentationml/2006/main">
  <p:tag name="KSO_WM_DIAGRAM_VIRTUALLY_FRAME" val="{&quot;height&quot;:338.6,&quot;left&quot;:461.75,&quot;top&quot;:66.95,&quot;width&quot;:353.2}"/>
</p:tagLst>
</file>

<file path=ppt/tags/tag108.xml><?xml version="1.0" encoding="utf-8"?>
<p:tagLst xmlns:p="http://schemas.openxmlformats.org/presentationml/2006/main">
  <p:tag name="KSO_WM_DIAGRAM_VIRTUALLY_FRAME" val="{&quot;height&quot;:338.55,&quot;left&quot;:461.75,&quot;top&quot;:66.95,&quot;width&quot;:353.2}"/>
</p:tagLst>
</file>

<file path=ppt/tags/tag109.xml><?xml version="1.0" encoding="utf-8"?>
<p:tagLst xmlns:p="http://schemas.openxmlformats.org/presentationml/2006/main">
  <p:tag name="KSO_WM_DIAGRAM_VIRTUALLY_FRAME" val="{&quot;height&quot;:338.6,&quot;left&quot;:461.75,&quot;top&quot;:66.95,&quot;width&quot;:353.2}"/>
</p:tagLst>
</file>

<file path=ppt/tags/tag110.xml><?xml version="1.0" encoding="utf-8"?>
<p:tagLst xmlns:p="http://schemas.openxmlformats.org/presentationml/2006/main">
  <p:tag name="KSO_WM_DIAGRAM_VIRTUALLY_FRAME" val="{&quot;height&quot;:338.6,&quot;left&quot;:461.75,&quot;top&quot;:66.95,&quot;width&quot;:353.2}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2.xml><?xml version="1.0" encoding="utf-8"?>
<p:tagLst xmlns:p="http://schemas.openxmlformats.org/presentationml/2006/main">
  <p:tag name="KSO_WM_DIAGRAM_VIRTUALLY_FRAME" val="{&quot;height&quot;:289.0581102362205,&quot;left&quot;:319.91062992125984,&quot;top&quot;:138.0823622047244,&quot;width&quot;:483.4393700787401}"/>
</p:tagLst>
</file>

<file path=ppt/tags/tag113.xml><?xml version="1.0" encoding="utf-8"?>
<p:tagLst xmlns:p="http://schemas.openxmlformats.org/presentationml/2006/main">
  <p:tag name="KSO_WM_DIAGRAM_VIRTUALLY_FRAME" val="{&quot;height&quot;:289.0581102362205,&quot;left&quot;:319.91062992125984,&quot;top&quot;:138.0823622047244,&quot;width&quot;:483.4393700787401}"/>
</p:tagLst>
</file>

<file path=ppt/tags/tag114.xml><?xml version="1.0" encoding="utf-8"?>
<p:tagLst xmlns:p="http://schemas.openxmlformats.org/presentationml/2006/main">
  <p:tag name="KSO_WM_DIAGRAM_VIRTUALLY_FRAME" val="{&quot;height&quot;:289.0581102362205,&quot;left&quot;:319.91062992125984,&quot;top&quot;:138.0823622047244,&quot;width&quot;:483.4393700787401}"/>
</p:tagLst>
</file>

<file path=ppt/tags/tag115.xml><?xml version="1.0" encoding="utf-8"?>
<p:tagLst xmlns:p="http://schemas.openxmlformats.org/presentationml/2006/main">
  <p:tag name="KSO_WM_DIAGRAM_VIRTUALLY_FRAME" val="{&quot;height&quot;:286.76582677165356,&quot;left&quot;:319.91062992125984,&quot;top&quot;:138.0823622047244,&quot;width&quot;:319.95795275590547}"/>
</p:tagLst>
</file>

<file path=ppt/tags/tag116.xml><?xml version="1.0" encoding="utf-8"?>
<p:tagLst xmlns:p="http://schemas.openxmlformats.org/presentationml/2006/main">
  <p:tag name="KSO_WM_DIAGRAM_VIRTUALLY_FRAME" val="{&quot;height&quot;:286.76582677165356,&quot;left&quot;:319.91062992125984,&quot;top&quot;:138.0823622047244,&quot;width&quot;:319.95795275590547}"/>
</p:tagLst>
</file>

<file path=ppt/tags/tag117.xml><?xml version="1.0" encoding="utf-8"?>
<p:tagLst xmlns:p="http://schemas.openxmlformats.org/presentationml/2006/main">
  <p:tag name="KSO_WM_DIAGRAM_VIRTUALLY_FRAME" val="{&quot;height&quot;:286.76582677165356,&quot;left&quot;:319.91062992125984,&quot;top&quot;:138.0823622047244,&quot;width&quot;:319.95795275590547}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9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20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21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22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23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24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25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26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27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28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29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30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31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32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33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34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35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3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7.xml><?xml version="1.0" encoding="utf-8"?>
<p:tagLst xmlns:p="http://schemas.openxmlformats.org/presentationml/2006/main">
  <p:tag name="KSO_WM_DIAGRAM_VIRTUALLY_FRAME" val="{&quot;height&quot;:285.95440944881886,&quot;left&quot;:484.73629921259845,&quot;top&quot;:163.45818897637795,&quot;width&quot;:432.31370078740156}"/>
</p:tagLst>
</file>

<file path=ppt/tags/tag138.xml><?xml version="1.0" encoding="utf-8"?>
<p:tagLst xmlns:p="http://schemas.openxmlformats.org/presentationml/2006/main">
  <p:tag name="KSO_WM_DIAGRAM_VIRTUALLY_FRAME" val="{&quot;height&quot;:285.95440944881886,&quot;left&quot;:484.73629921259845,&quot;top&quot;:163.45818897637795,&quot;width&quot;:432.31370078740156}"/>
</p:tagLst>
</file>

<file path=ppt/tags/tag139.xml><?xml version="1.0" encoding="utf-8"?>
<p:tagLst xmlns:p="http://schemas.openxmlformats.org/presentationml/2006/main">
  <p:tag name="KSO_WM_DIAGRAM_VIRTUALLY_FRAME" val="{&quot;height&quot;:285.95440944881886,&quot;left&quot;:484.73629921259845,&quot;top&quot;:163.45818897637795,&quot;width&quot;:432.31370078740156}"/>
</p:tagLst>
</file>

<file path=ppt/tags/tag140.xml><?xml version="1.0" encoding="utf-8"?>
<p:tagLst xmlns:p="http://schemas.openxmlformats.org/presentationml/2006/main">
  <p:tag name="KSO_WM_DIAGRAM_VIRTUALLY_FRAME" val="{&quot;height&quot;:285.95440944881886,&quot;left&quot;:484.73629921259845,&quot;top&quot;:163.45818897637795,&quot;width&quot;:432.31370078740156}"/>
</p:tagLst>
</file>

<file path=ppt/tags/tag141.xml><?xml version="1.0" encoding="utf-8"?>
<p:tagLst xmlns:p="http://schemas.openxmlformats.org/presentationml/2006/main">
  <p:tag name="KSO_WM_DIAGRAM_VIRTUALLY_FRAME" val="{&quot;height&quot;:285.95440944881886,&quot;left&quot;:484.73629921259845,&quot;top&quot;:163.45818897637795,&quot;width&quot;:432.31370078740156}"/>
</p:tagLst>
</file>

<file path=ppt/tags/tag142.xml><?xml version="1.0" encoding="utf-8"?>
<p:tagLst xmlns:p="http://schemas.openxmlformats.org/presentationml/2006/main">
  <p:tag name="KSO_WM_DIAGRAM_VIRTUALLY_FRAME" val="{&quot;height&quot;:285.95440944881886,&quot;left&quot;:484.73629921259845,&quot;top&quot;:163.45818897637795,&quot;width&quot;:432.31370078740156}"/>
</p:tagLst>
</file>

<file path=ppt/tags/tag143.xml><?xml version="1.0" encoding="utf-8"?>
<p:tagLst xmlns:p="http://schemas.openxmlformats.org/presentationml/2006/main">
  <p:tag name="KSO_WM_DIAGRAM_VIRTUALLY_FRAME" val="{&quot;height&quot;:285.95440944881886,&quot;left&quot;:484.73629921259845,&quot;top&quot;:163.45818897637795,&quot;width&quot;:432.31370078740156}"/>
</p:tagLst>
</file>

<file path=ppt/tags/tag144.xml><?xml version="1.0" encoding="utf-8"?>
<p:tagLst xmlns:p="http://schemas.openxmlformats.org/presentationml/2006/main">
  <p:tag name="KSO_WM_DIAGRAM_VIRTUALLY_FRAME" val="{&quot;height&quot;:285.95440944881886,&quot;left&quot;:484.73629921259845,&quot;top&quot;:163.45818897637795,&quot;width&quot;:432.31370078740156}"/>
</p:tagLst>
</file>

<file path=ppt/tags/tag145.xml><?xml version="1.0" encoding="utf-8"?>
<p:tagLst xmlns:p="http://schemas.openxmlformats.org/presentationml/2006/main">
  <p:tag name="KSO_WM_DIAGRAM_VIRTUALLY_FRAME" val="{&quot;height&quot;:285.95440944881886,&quot;left&quot;:484.73629921259845,&quot;top&quot;:163.45818897637795,&quot;width&quot;:432.31370078740156}"/>
</p:tagLst>
</file>

<file path=ppt/tags/tag146.xml><?xml version="1.0" encoding="utf-8"?>
<p:tagLst xmlns:p="http://schemas.openxmlformats.org/presentationml/2006/main">
  <p:tag name="KSO_WM_DIAGRAM_VIRTUALLY_FRAME" val="{&quot;height&quot;:285.95440944881886,&quot;left&quot;:484.73629921259845,&quot;top&quot;:163.45818897637795,&quot;width&quot;:432.31370078740156}"/>
</p:tagLst>
</file>

<file path=ppt/tags/tag147.xml><?xml version="1.0" encoding="utf-8"?>
<p:tagLst xmlns:p="http://schemas.openxmlformats.org/presentationml/2006/main">
  <p:tag name="KSO_WM_DIAGRAM_VIRTUALLY_FRAME" val="{&quot;height&quot;:285.95440944881886,&quot;left&quot;:484.73629921259845,&quot;top&quot;:163.45818897637795,&quot;width&quot;:432.31370078740156}"/>
</p:tagLst>
</file>

<file path=ppt/tags/tag148.xml><?xml version="1.0" encoding="utf-8"?>
<p:tagLst xmlns:p="http://schemas.openxmlformats.org/presentationml/2006/main">
  <p:tag name="KSO_WM_DIAGRAM_VIRTUALLY_FRAME" val="{&quot;height&quot;:285.95440944881886,&quot;left&quot;:484.73629921259845,&quot;top&quot;:163.45818897637795,&quot;width&quot;:432.31370078740156}"/>
</p:tagLst>
</file>

<file path=ppt/tags/tag149.xml><?xml version="1.0" encoding="utf-8"?>
<p:tagLst xmlns:p="http://schemas.openxmlformats.org/presentationml/2006/main">
  <p:tag name="KSO_WM_DIAGRAM_VIRTUALLY_FRAME" val="{&quot;height&quot;:285.95440944881886,&quot;left&quot;:484.73629921259845,&quot;top&quot;:163.45818897637795,&quot;width&quot;:432.31370078740156}"/>
</p:tagLst>
</file>

<file path=ppt/tags/tag150.xml><?xml version="1.0" encoding="utf-8"?>
<p:tagLst xmlns:p="http://schemas.openxmlformats.org/presentationml/2006/main">
  <p:tag name="KSO_WM_DIAGRAM_VIRTUALLY_FRAME" val="{&quot;height&quot;:285.95440944881886,&quot;left&quot;:484.73629921259845,&quot;top&quot;:163.45818897637795,&quot;width&quot;:432.31370078740156}"/>
</p:tagLst>
</file>

<file path=ppt/tags/tag151.xml><?xml version="1.0" encoding="utf-8"?>
<p:tagLst xmlns:p="http://schemas.openxmlformats.org/presentationml/2006/main">
  <p:tag name="KSO_WM_DIAGRAM_VIRTUALLY_FRAME" val="{&quot;height&quot;:285.95440944881886,&quot;left&quot;:484.73629921259845,&quot;top&quot;:163.45818897637795,&quot;width&quot;:432.31370078740156}"/>
</p:tagLst>
</file>

<file path=ppt/tags/tag15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4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55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56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57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58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59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60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61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62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63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64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65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66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67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68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69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70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71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72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73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74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75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76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77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78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79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80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81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82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83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84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85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7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188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189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190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191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192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193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194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195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196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197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198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199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200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201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202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203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204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205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2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7.xml><?xml version="1.0" encoding="utf-8"?>
<p:tagLst xmlns:p="http://schemas.openxmlformats.org/presentationml/2006/main">
  <p:tag name="KSO_WM_DIAGRAM_VIRTUALLY_FRAME" val="{&quot;height&quot;:377.7,&quot;left&quot;:52.73007874015748,&quot;top&quot;:138.75,&quot;width&quot;:925.9426289464787}"/>
</p:tagLst>
</file>

<file path=ppt/tags/tag208.xml><?xml version="1.0" encoding="utf-8"?>
<p:tagLst xmlns:p="http://schemas.openxmlformats.org/presentationml/2006/main">
  <p:tag name="KSO_WM_DIAGRAM_VIRTUALLY_FRAME" val="{&quot;height&quot;:377.7,&quot;left&quot;:52.73007874015748,&quot;top&quot;:138.75,&quot;width&quot;:925.9426289464787}"/>
</p:tagLst>
</file>

<file path=ppt/tags/tag209.xml><?xml version="1.0" encoding="utf-8"?>
<p:tagLst xmlns:p="http://schemas.openxmlformats.org/presentationml/2006/main">
  <p:tag name="KSO_WM_DIAGRAM_VIRTUALLY_FRAME" val="{&quot;height&quot;:377.7,&quot;left&quot;:52.73007874015748,&quot;top&quot;:138.75,&quot;width&quot;:925.9426289464787}"/>
</p:tagLst>
</file>

<file path=ppt/tags/tag210.xml><?xml version="1.0" encoding="utf-8"?>
<p:tagLst xmlns:p="http://schemas.openxmlformats.org/presentationml/2006/main">
  <p:tag name="KSO_WM_DIAGRAM_VIRTUALLY_FRAME" val="{&quot;height&quot;:377.7,&quot;left&quot;:52.73007874015748,&quot;top&quot;:138.75,&quot;width&quot;:925.9426289464787}"/>
</p:tagLst>
</file>

<file path=ppt/tags/tag211.xml><?xml version="1.0" encoding="utf-8"?>
<p:tagLst xmlns:p="http://schemas.openxmlformats.org/presentationml/2006/main">
  <p:tag name="KSO_WM_DIAGRAM_VIRTUALLY_FRAME" val="{&quot;height&quot;:377.7,&quot;left&quot;:52.73007874015748,&quot;top&quot;:138.75,&quot;width&quot;:925.9426289464787}"/>
</p:tagLst>
</file>

<file path=ppt/tags/tag212.xml><?xml version="1.0" encoding="utf-8"?>
<p:tagLst xmlns:p="http://schemas.openxmlformats.org/presentationml/2006/main">
  <p:tag name="KSO_WM_DIAGRAM_VIRTUALLY_FRAME" val="{&quot;height&quot;:377.7,&quot;left&quot;:52.73007874015748,&quot;top&quot;:138.75,&quot;width&quot;:925.9426289464787}"/>
</p:tagLst>
</file>

<file path=ppt/tags/tag213.xml><?xml version="1.0" encoding="utf-8"?>
<p:tagLst xmlns:p="http://schemas.openxmlformats.org/presentationml/2006/main">
  <p:tag name="KSO_WM_DIAGRAM_VIRTUALLY_FRAME" val="{&quot;height&quot;:377.7,&quot;left&quot;:52.73007874015748,&quot;top&quot;:138.75,&quot;width&quot;:925.9426289464787}"/>
</p:tagLst>
</file>

<file path=ppt/tags/tag214.xml><?xml version="1.0" encoding="utf-8"?>
<p:tagLst xmlns:p="http://schemas.openxmlformats.org/presentationml/2006/main">
  <p:tag name="KSO_WM_DIAGRAM_VIRTUALLY_FRAME" val="{&quot;height&quot;:377.7,&quot;left&quot;:52.73007874015748,&quot;top&quot;:138.75,&quot;width&quot;:925.9426289464787}"/>
</p:tagLst>
</file>

<file path=ppt/tags/tag215.xml><?xml version="1.0" encoding="utf-8"?>
<p:tagLst xmlns:p="http://schemas.openxmlformats.org/presentationml/2006/main">
  <p:tag name="KSO_WM_DIAGRAM_VIRTUALLY_FRAME" val="{&quot;height&quot;:377.7,&quot;left&quot;:52.73007874015748,&quot;top&quot;:138.75,&quot;width&quot;:925.9426289464787}"/>
</p:tagLst>
</file>

<file path=ppt/tags/tag2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17.xml><?xml version="1.0" encoding="utf-8"?>
<p:tagLst xmlns:p="http://schemas.openxmlformats.org/presentationml/2006/main">
  <p:tag name="KSO_WM_DIAGRAM_VIRTUALLY_FRAME" val="{&quot;height&quot;:306.28866141732277,&quot;left&quot;:82.8159842519685,&quot;top&quot;:118.60661417322835,&quot;width&quot;:402.7840157480315}"/>
</p:tagLst>
</file>

<file path=ppt/tags/tag218.xml><?xml version="1.0" encoding="utf-8"?>
<p:tagLst xmlns:p="http://schemas.openxmlformats.org/presentationml/2006/main">
  <p:tag name="KSO_WM_DIAGRAM_VIRTUALLY_FRAME" val="{&quot;height&quot;:339.78866141732277,&quot;left&quot;:80.76598425196849,&quot;top&quot;:118.60661417322835,&quot;width&quot;:409.4340157480315}"/>
</p:tagLst>
</file>

<file path=ppt/tags/tag219.xml><?xml version="1.0" encoding="utf-8"?>
<p:tagLst xmlns:p="http://schemas.openxmlformats.org/presentationml/2006/main">
  <p:tag name="KSO_WM_DIAGRAM_VIRTUALLY_FRAME" val="{&quot;height&quot;:339.78866141732277,&quot;left&quot;:80.76598425196849,&quot;top&quot;:118.60661417322835,&quot;width&quot;:409.4340157480315}"/>
</p:tagLst>
</file>

<file path=ppt/tags/tag220.xml><?xml version="1.0" encoding="utf-8"?>
<p:tagLst xmlns:p="http://schemas.openxmlformats.org/presentationml/2006/main">
  <p:tag name="KSO_WM_DIAGRAM_VIRTUALLY_FRAME" val="{&quot;height&quot;:306.28866141732277,&quot;left&quot;:82.8159842519685,&quot;top&quot;:118.60661417322835,&quot;width&quot;:402.7840157480315}"/>
</p:tagLst>
</file>

<file path=ppt/tags/tag221.xml><?xml version="1.0" encoding="utf-8"?>
<p:tagLst xmlns:p="http://schemas.openxmlformats.org/presentationml/2006/main">
  <p:tag name="KSO_WM_DIAGRAM_VIRTUALLY_FRAME" val="{&quot;height&quot;:339.78866141732277,&quot;left&quot;:80.76598425196849,&quot;top&quot;:118.60661417322835,&quot;width&quot;:409.4340157480315}"/>
</p:tagLst>
</file>

<file path=ppt/tags/tag222.xml><?xml version="1.0" encoding="utf-8"?>
<p:tagLst xmlns:p="http://schemas.openxmlformats.org/presentationml/2006/main">
  <p:tag name="KSO_WM_DIAGRAM_VIRTUALLY_FRAME" val="{&quot;height&quot;:339.78866141732277,&quot;left&quot;:80.76598425196849,&quot;top&quot;:118.60661417322835,&quot;width&quot;:409.4340157480315}"/>
</p:tagLst>
</file>

<file path=ppt/tags/tag223.xml><?xml version="1.0" encoding="utf-8"?>
<p:tagLst xmlns:p="http://schemas.openxmlformats.org/presentationml/2006/main">
  <p:tag name="KSO_WM_DIAGRAM_VIRTUALLY_FRAME" val="{&quot;height&quot;:339.78866141732277,&quot;left&quot;:80.76598425196849,&quot;top&quot;:118.60661417322835,&quot;width&quot;:409.4340157480315}"/>
</p:tagLst>
</file>

<file path=ppt/tags/tag224.xml><?xml version="1.0" encoding="utf-8"?>
<p:tagLst xmlns:p="http://schemas.openxmlformats.org/presentationml/2006/main">
  <p:tag name="KSO_WM_DIAGRAM_VIRTUALLY_FRAME" val="{&quot;height&quot;:339.78866141732277,&quot;left&quot;:80.76598425196849,&quot;top&quot;:118.60661417322835,&quot;width&quot;:409.4340157480315}"/>
</p:tagLst>
</file>

<file path=ppt/tags/tag225.xml><?xml version="1.0" encoding="utf-8"?>
<p:tagLst xmlns:p="http://schemas.openxmlformats.org/presentationml/2006/main">
  <p:tag name="KSO_WM_DIAGRAM_VIRTUALLY_FRAME" val="{&quot;height&quot;:339.78866141732277,&quot;left&quot;:80.76598425196849,&quot;top&quot;:118.60661417322835,&quot;width&quot;:409.4340157480315}"/>
</p:tagLst>
</file>

<file path=ppt/tags/tag226.xml><?xml version="1.0" encoding="utf-8"?>
<p:tagLst xmlns:p="http://schemas.openxmlformats.org/presentationml/2006/main">
  <p:tag name="KSO_WM_DIAGRAM_VIRTUALLY_FRAME" val="{&quot;height&quot;:339.78866141732277,&quot;left&quot;:80.76598425196849,&quot;top&quot;:118.60661417322835,&quot;width&quot;:409.4340157480315}"/>
</p:tagLst>
</file>

<file path=ppt/tags/tag227.xml><?xml version="1.0" encoding="utf-8"?>
<p:tagLst xmlns:p="http://schemas.openxmlformats.org/presentationml/2006/main">
  <p:tag name="KSO_WM_DIAGRAM_VIRTUALLY_FRAME" val="{&quot;height&quot;:306.28866141732277,&quot;left&quot;:82.8159842519685,&quot;top&quot;:118.60661417322835,&quot;width&quot;:402.7840157480315}"/>
</p:tagLst>
</file>

<file path=ppt/tags/tag228.xml><?xml version="1.0" encoding="utf-8"?>
<p:tagLst xmlns:p="http://schemas.openxmlformats.org/presentationml/2006/main">
  <p:tag name="KSO_WM_DIAGRAM_VIRTUALLY_FRAME" val="{&quot;height&quot;:306.28866141732277,&quot;left&quot;:82.8159842519685,&quot;top&quot;:118.60661417322835,&quot;width&quot;:402.7840157480315}"/>
</p:tagLst>
</file>

<file path=ppt/tags/tag229.xml><?xml version="1.0" encoding="utf-8"?>
<p:tagLst xmlns:p="http://schemas.openxmlformats.org/presentationml/2006/main">
  <p:tag name="KSO_WM_DIAGRAM_VIRTUALLY_FRAME" val="{&quot;height&quot;:339.78866141732277,&quot;left&quot;:80.76598425196849,&quot;top&quot;:118.60661417322835,&quot;width&quot;:409.4340157480315}"/>
</p:tagLst>
</file>

<file path=ppt/tags/tag230.xml><?xml version="1.0" encoding="utf-8"?>
<p:tagLst xmlns:p="http://schemas.openxmlformats.org/presentationml/2006/main">
  <p:tag name="KSO_WM_DIAGRAM_VIRTUALLY_FRAME" val="{&quot;height&quot;:339.78866141732277,&quot;left&quot;:80.76598425196849,&quot;top&quot;:118.60661417322835,&quot;width&quot;:409.4340157480315}"/>
</p:tagLst>
</file>

<file path=ppt/tags/tag231.xml><?xml version="1.0" encoding="utf-8"?>
<p:tagLst xmlns:p="http://schemas.openxmlformats.org/presentationml/2006/main">
  <p:tag name="KSO_WM_DIAGRAM_VIRTUALLY_FRAME" val="{&quot;height&quot;:339.78866141732277,&quot;left&quot;:80.76598425196849,&quot;top&quot;:118.60661417322835,&quot;width&quot;:409.4340157480315}"/>
</p:tagLst>
</file>

<file path=ppt/tags/tag232.xml><?xml version="1.0" encoding="utf-8"?>
<p:tagLst xmlns:p="http://schemas.openxmlformats.org/presentationml/2006/main">
  <p:tag name="KSO_WM_DIAGRAM_VIRTUALLY_FRAME" val="{&quot;height&quot;:339.78866141732277,&quot;left&quot;:80.76598425196849,&quot;top&quot;:118.60661417322835,&quot;width&quot;:409.4340157480315}"/>
</p:tagLst>
</file>

<file path=ppt/tags/tag2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34.xml><?xml version="1.0" encoding="utf-8"?>
<p:tagLst xmlns:p="http://schemas.openxmlformats.org/presentationml/2006/main">
  <p:tag name="PA" val="v5.2.4"/>
  <p:tag name="KSO_WM_DIAGRAM_VIRTUALLY_FRAME" val="{&quot;height&quot;:266.42307086614176,&quot;left&quot;:45.37496062992126,&quot;top&quot;:132,&quot;width&quot;:857.9069291338583}"/>
</p:tagLst>
</file>

<file path=ppt/tags/tag235.xml><?xml version="1.0" encoding="utf-8"?>
<p:tagLst xmlns:p="http://schemas.openxmlformats.org/presentationml/2006/main">
  <p:tag name="PA" val="v5.2.4"/>
  <p:tag name="KSO_WM_DIAGRAM_VIRTUALLY_FRAME" val="{&quot;height&quot;:266.42307086614176,&quot;left&quot;:45.37496062992126,&quot;top&quot;:132,&quot;width&quot;:857.9069291338583}"/>
</p:tagLst>
</file>

<file path=ppt/tags/tag236.xml><?xml version="1.0" encoding="utf-8"?>
<p:tagLst xmlns:p="http://schemas.openxmlformats.org/presentationml/2006/main">
  <p:tag name="KSO_WM_DIAGRAM_VIRTUALLY_FRAME" val="{&quot;height&quot;:266.42307086614176,&quot;left&quot;:45.37496062992126,&quot;top&quot;:132,&quot;width&quot;:857.9069291338583}"/>
</p:tagLst>
</file>

<file path=ppt/tags/tag237.xml><?xml version="1.0" encoding="utf-8"?>
<p:tagLst xmlns:p="http://schemas.openxmlformats.org/presentationml/2006/main">
  <p:tag name="KSO_WM_DIAGRAM_VIRTUALLY_FRAME" val="{&quot;height&quot;:266.42307086614176,&quot;left&quot;:45.37496062992126,&quot;top&quot;:132,&quot;width&quot;:857.9069291338583}"/>
</p:tagLst>
</file>

<file path=ppt/tags/tag238.xml><?xml version="1.0" encoding="utf-8"?>
<p:tagLst xmlns:p="http://schemas.openxmlformats.org/presentationml/2006/main">
  <p:tag name="PA" val="v5.2.4"/>
  <p:tag name="KSO_WM_DIAGRAM_VIRTUALLY_FRAME" val="{&quot;height&quot;:266.42307086614176,&quot;left&quot;:45.37496062992126,&quot;top&quot;:132,&quot;width&quot;:857.9069291338583}"/>
</p:tagLst>
</file>

<file path=ppt/tags/tag239.xml><?xml version="1.0" encoding="utf-8"?>
<p:tagLst xmlns:p="http://schemas.openxmlformats.org/presentationml/2006/main">
  <p:tag name="PA" val="v5.2.4"/>
  <p:tag name="KSO_WM_DIAGRAM_VIRTUALLY_FRAME" val="{&quot;height&quot;:266.42307086614176,&quot;left&quot;:45.37496062992126,&quot;top&quot;:132,&quot;width&quot;:857.9069291338583}"/>
</p:tagLst>
</file>

<file path=ppt/tags/tag240.xml><?xml version="1.0" encoding="utf-8"?>
<p:tagLst xmlns:p="http://schemas.openxmlformats.org/presentationml/2006/main">
  <p:tag name="KSO_WM_DIAGRAM_VIRTUALLY_FRAME" val="{&quot;height&quot;:266.42307086614176,&quot;left&quot;:45.37496062992126,&quot;top&quot;:132,&quot;width&quot;:857.9069291338583}"/>
</p:tagLst>
</file>

<file path=ppt/tags/tag241.xml><?xml version="1.0" encoding="utf-8"?>
<p:tagLst xmlns:p="http://schemas.openxmlformats.org/presentationml/2006/main">
  <p:tag name="KSO_WM_DIAGRAM_VIRTUALLY_FRAME" val="{&quot;height&quot;:266.42307086614176,&quot;left&quot;:45.37496062992126,&quot;top&quot;:132,&quot;width&quot;:857.9069291338583}"/>
</p:tagLst>
</file>

<file path=ppt/tags/tag242.xml><?xml version="1.0" encoding="utf-8"?>
<p:tagLst xmlns:p="http://schemas.openxmlformats.org/presentationml/2006/main">
  <p:tag name="PA" val="v5.2.4"/>
  <p:tag name="KSO_WM_DIAGRAM_VIRTUALLY_FRAME" val="{&quot;height&quot;:266.42307086614176,&quot;left&quot;:45.37496062992126,&quot;top&quot;:132,&quot;width&quot;:857.9069291338583}"/>
</p:tagLst>
</file>

<file path=ppt/tags/tag243.xml><?xml version="1.0" encoding="utf-8"?>
<p:tagLst xmlns:p="http://schemas.openxmlformats.org/presentationml/2006/main">
  <p:tag name="PA" val="v5.2.4"/>
  <p:tag name="KSO_WM_DIAGRAM_VIRTUALLY_FRAME" val="{&quot;height&quot;:266.42307086614176,&quot;left&quot;:45.37496062992126,&quot;top&quot;:132,&quot;width&quot;:857.9069291338583}"/>
</p:tagLst>
</file>

<file path=ppt/tags/tag244.xml><?xml version="1.0" encoding="utf-8"?>
<p:tagLst xmlns:p="http://schemas.openxmlformats.org/presentationml/2006/main">
  <p:tag name="KSO_WM_DIAGRAM_VIRTUALLY_FRAME" val="{&quot;height&quot;:266.42307086614176,&quot;left&quot;:45.37496062992126,&quot;top&quot;:132,&quot;width&quot;:857.9069291338583}"/>
</p:tagLst>
</file>

<file path=ppt/tags/tag245.xml><?xml version="1.0" encoding="utf-8"?>
<p:tagLst xmlns:p="http://schemas.openxmlformats.org/presentationml/2006/main">
  <p:tag name="KSO_WM_DIAGRAM_VIRTUALLY_FRAME" val="{&quot;height&quot;:266.42307086614176,&quot;left&quot;:45.37496062992126,&quot;top&quot;:132,&quot;width&quot;:857.9069291338583}"/>
</p:tagLst>
</file>

<file path=ppt/tags/tag24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4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4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49.xml><?xml version="1.0" encoding="utf-8"?>
<p:tagLst xmlns:p="http://schemas.openxmlformats.org/presentationml/2006/main">
  <p:tag name="TABLE_ENDDRAG_ORIGIN_RECT" val="845*175"/>
  <p:tag name="TABLE_ENDDRAG_RECT" val="50*197*845*175"/>
</p:tagLst>
</file>

<file path=ppt/tags/tag25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51.xml><?xml version="1.0" encoding="utf-8"?>
<p:tagLst xmlns:p="http://schemas.openxmlformats.org/presentationml/2006/main">
  <p:tag name="KSO_WM_DIAGRAM_VIRTUALLY_FRAME" val="{&quot;height&quot;:303.97322834645666,&quot;left&quot;:77.6,&quot;top&quot;:139.09826771653542,&quot;width&quot;:804.7343307086614}"/>
</p:tagLst>
</file>

<file path=ppt/tags/tag252.xml><?xml version="1.0" encoding="utf-8"?>
<p:tagLst xmlns:p="http://schemas.openxmlformats.org/presentationml/2006/main">
  <p:tag name="KSO_WM_DIAGRAM_VIRTUALLY_FRAME" val="{&quot;height&quot;:303.97322834645666,&quot;left&quot;:77.6,&quot;top&quot;:139.09826771653542,&quot;width&quot;:804.7343307086614}"/>
</p:tagLst>
</file>

<file path=ppt/tags/tag253.xml><?xml version="1.0" encoding="utf-8"?>
<p:tagLst xmlns:p="http://schemas.openxmlformats.org/presentationml/2006/main">
  <p:tag name="KSO_WM_DIAGRAM_VIRTUALLY_FRAME" val="{&quot;height&quot;:303.97322834645666,&quot;left&quot;:77.6,&quot;top&quot;:139.09826771653542,&quot;width&quot;:804.7343307086614}"/>
</p:tagLst>
</file>

<file path=ppt/tags/tag254.xml><?xml version="1.0" encoding="utf-8"?>
<p:tagLst xmlns:p="http://schemas.openxmlformats.org/presentationml/2006/main">
  <p:tag name="KSO_WM_DIAGRAM_VIRTUALLY_FRAME" val="{&quot;height&quot;:303.97322834645666,&quot;left&quot;:77.6,&quot;top&quot;:139.09826771653542,&quot;width&quot;:804.7343307086614}"/>
</p:tagLst>
</file>

<file path=ppt/tags/tag255.xml><?xml version="1.0" encoding="utf-8"?>
<p:tagLst xmlns:p="http://schemas.openxmlformats.org/presentationml/2006/main">
  <p:tag name="KSO_WM_DIAGRAM_VIRTUALLY_FRAME" val="{&quot;height&quot;:303.97322834645666,&quot;left&quot;:77.6,&quot;top&quot;:139.09826771653542,&quot;width&quot;:804.7343307086614}"/>
</p:tagLst>
</file>

<file path=ppt/tags/tag256.xml><?xml version="1.0" encoding="utf-8"?>
<p:tagLst xmlns:p="http://schemas.openxmlformats.org/presentationml/2006/main">
  <p:tag name="KSO_WM_DIAGRAM_VIRTUALLY_FRAME" val="{&quot;height&quot;:303.97322834645666,&quot;left&quot;:77.6,&quot;top&quot;:139.09826771653542,&quot;width&quot;:804.7343307086614}"/>
</p:tagLst>
</file>

<file path=ppt/tags/tag257.xml><?xml version="1.0" encoding="utf-8"?>
<p:tagLst xmlns:p="http://schemas.openxmlformats.org/presentationml/2006/main">
  <p:tag name="KSO_WM_DIAGRAM_VIRTUALLY_FRAME" val="{&quot;height&quot;:303.97322834645666,&quot;left&quot;:77.6,&quot;top&quot;:139.09826771653542,&quot;width&quot;:804.7343307086614}"/>
</p:tagLst>
</file>

<file path=ppt/tags/tag258.xml><?xml version="1.0" encoding="utf-8"?>
<p:tagLst xmlns:p="http://schemas.openxmlformats.org/presentationml/2006/main">
  <p:tag name="KSO_WM_DIAGRAM_VIRTUALLY_FRAME" val="{&quot;height&quot;:303.97322834645666,&quot;left&quot;:77.6,&quot;top&quot;:139.09826771653542,&quot;width&quot;:804.7343307086614}"/>
</p:tagLst>
</file>

<file path=ppt/tags/tag259.xml><?xml version="1.0" encoding="utf-8"?>
<p:tagLst xmlns:p="http://schemas.openxmlformats.org/presentationml/2006/main">
  <p:tag name="KSO_WM_DIAGRAM_VIRTUALLY_FRAME" val="{&quot;height&quot;:303.97322834645666,&quot;left&quot;:77.6,&quot;top&quot;:139.09826771653542,&quot;width&quot;:804.7343307086614}"/>
</p:tagLst>
</file>

<file path=ppt/tags/tag260.xml><?xml version="1.0" encoding="utf-8"?>
<p:tagLst xmlns:p="http://schemas.openxmlformats.org/presentationml/2006/main">
  <p:tag name="KSO_WM_DIAGRAM_VIRTUALLY_FRAME" val="{&quot;height&quot;:303.97322834645666,&quot;left&quot;:77.6,&quot;top&quot;:139.09826771653542,&quot;width&quot;:804.7343307086614}"/>
</p:tagLst>
</file>

<file path=ppt/tags/tag261.xml><?xml version="1.0" encoding="utf-8"?>
<p:tagLst xmlns:p="http://schemas.openxmlformats.org/presentationml/2006/main">
  <p:tag name="KSO_WM_DIAGRAM_VIRTUALLY_FRAME" val="{&quot;height&quot;:303.97322834645666,&quot;left&quot;:77.6,&quot;top&quot;:139.09826771653542,&quot;width&quot;:804.7343307086614}"/>
</p:tagLst>
</file>

<file path=ppt/tags/tag262.xml><?xml version="1.0" encoding="utf-8"?>
<p:tagLst xmlns:p="http://schemas.openxmlformats.org/presentationml/2006/main">
  <p:tag name="KSO_WM_DIAGRAM_VIRTUALLY_FRAME" val="{&quot;height&quot;:303.97322834645666,&quot;left&quot;:77.6,&quot;top&quot;:139.09826771653542,&quot;width&quot;:804.7343307086614}"/>
</p:tagLst>
</file>

<file path=ppt/tags/tag263.xml><?xml version="1.0" encoding="utf-8"?>
<p:tagLst xmlns:p="http://schemas.openxmlformats.org/presentationml/2006/main">
  <p:tag name="KSO_WM_DIAGRAM_VIRTUALLY_FRAME" val="{&quot;height&quot;:303.97322834645666,&quot;left&quot;:77.6,&quot;top&quot;:139.09826771653542,&quot;width&quot;:804.7343307086614}"/>
</p:tagLst>
</file>

<file path=ppt/tags/tag264.xml><?xml version="1.0" encoding="utf-8"?>
<p:tagLst xmlns:p="http://schemas.openxmlformats.org/presentationml/2006/main">
  <p:tag name="KSO_WM_DIAGRAM_VIRTUALLY_FRAME" val="{&quot;height&quot;:303.97322834645666,&quot;left&quot;:77.6,&quot;top&quot;:139.09826771653542,&quot;width&quot;:804.7343307086614}"/>
</p:tagLst>
</file>

<file path=ppt/tags/tag2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66.xml><?xml version="1.0" encoding="utf-8"?>
<p:tagLst xmlns:p="http://schemas.openxmlformats.org/presentationml/2006/main">
  <p:tag name="KSO_WM_DIAGRAM_VIRTUALLY_FRAME" val="{&quot;height&quot;:215.65,&quot;left&quot;:346.35,&quot;top&quot;:182.4,&quot;width&quot;:540}"/>
</p:tagLst>
</file>

<file path=ppt/tags/tag267.xml><?xml version="1.0" encoding="utf-8"?>
<p:tagLst xmlns:p="http://schemas.openxmlformats.org/presentationml/2006/main">
  <p:tag name="KSO_WM_DIAGRAM_VIRTUALLY_FRAME" val="{&quot;height&quot;:215.65,&quot;left&quot;:346.35,&quot;top&quot;:182.4,&quot;width&quot;:540}"/>
</p:tagLst>
</file>

<file path=ppt/tags/tag268.xml><?xml version="1.0" encoding="utf-8"?>
<p:tagLst xmlns:p="http://schemas.openxmlformats.org/presentationml/2006/main">
  <p:tag name="KSO_WM_DIAGRAM_VIRTUALLY_FRAME" val="{&quot;height&quot;:215.65,&quot;left&quot;:346.35,&quot;top&quot;:182.4,&quot;width&quot;:540}"/>
</p:tagLst>
</file>

<file path=ppt/tags/tag269.xml><?xml version="1.0" encoding="utf-8"?>
<p:tagLst xmlns:p="http://schemas.openxmlformats.org/presentationml/2006/main">
  <p:tag name="KSO_WM_DIAGRAM_VIRTUALLY_FRAME" val="{&quot;height&quot;:215.65,&quot;left&quot;:346.35,&quot;top&quot;:182.4,&quot;width&quot;:540}"/>
</p:tagLst>
</file>

<file path=ppt/tags/tag270.xml><?xml version="1.0" encoding="utf-8"?>
<p:tagLst xmlns:p="http://schemas.openxmlformats.org/presentationml/2006/main">
  <p:tag name="KSO_WM_DIAGRAM_VIRTUALLY_FRAME" val="{&quot;height&quot;:215.65,&quot;left&quot;:346.35,&quot;top&quot;:182.4,&quot;width&quot;:540}"/>
</p:tagLst>
</file>

<file path=ppt/tags/tag271.xml><?xml version="1.0" encoding="utf-8"?>
<p:tagLst xmlns:p="http://schemas.openxmlformats.org/presentationml/2006/main">
  <p:tag name="KSO_WM_DIAGRAM_VIRTUALLY_FRAME" val="{&quot;height&quot;:215.65,&quot;left&quot;:346.35,&quot;top&quot;:182.4,&quot;width&quot;:540}"/>
</p:tagLst>
</file>

<file path=ppt/tags/tag272.xml><?xml version="1.0" encoding="utf-8"?>
<p:tagLst xmlns:p="http://schemas.openxmlformats.org/presentationml/2006/main">
  <p:tag name="KSO_WM_DIAGRAM_VIRTUALLY_FRAME" val="{&quot;height&quot;:215.65,&quot;left&quot;:346.35,&quot;top&quot;:182.4,&quot;width&quot;:540}"/>
</p:tagLst>
</file>

<file path=ppt/tags/tag273.xml><?xml version="1.0" encoding="utf-8"?>
<p:tagLst xmlns:p="http://schemas.openxmlformats.org/presentationml/2006/main">
  <p:tag name="KSO_WM_DIAGRAM_VIRTUALLY_FRAME" val="{&quot;height&quot;:215.65,&quot;left&quot;:346.35,&quot;top&quot;:182.4,&quot;width&quot;:540}"/>
</p:tagLst>
</file>

<file path=ppt/tags/tag274.xml><?xml version="1.0" encoding="utf-8"?>
<p:tagLst xmlns:p="http://schemas.openxmlformats.org/presentationml/2006/main">
  <p:tag name="KSO_WM_DIAGRAM_VIRTUALLY_FRAME" val="{&quot;height&quot;:215.65,&quot;left&quot;:346.35,&quot;top&quot;:182.4,&quot;width&quot;:540}"/>
</p:tagLst>
</file>

<file path=ppt/tags/tag275.xml><?xml version="1.0" encoding="utf-8"?>
<p:tagLst xmlns:p="http://schemas.openxmlformats.org/presentationml/2006/main">
  <p:tag name="KSO_WM_DIAGRAM_VIRTUALLY_FRAME" val="{&quot;height&quot;:215.65,&quot;left&quot;:346.35,&quot;top&quot;:182.4,&quot;width&quot;:540}"/>
</p:tagLst>
</file>

<file path=ppt/tags/tag2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77.xml><?xml version="1.0" encoding="utf-8"?>
<p:tagLst xmlns:p="http://schemas.openxmlformats.org/presentationml/2006/main">
  <p:tag name="KSO_WM_DIAGRAM_VIRTUALLY_FRAME" val="{&quot;height&quot;:290.7975590551181,&quot;left&quot;:32.87496062992126,&quot;top&quot;:179.45,&quot;width&quot;:886.75}"/>
</p:tagLst>
</file>

<file path=ppt/tags/tag278.xml><?xml version="1.0" encoding="utf-8"?>
<p:tagLst xmlns:p="http://schemas.openxmlformats.org/presentationml/2006/main">
  <p:tag name="KSO_WM_DIAGRAM_VIRTUALLY_FRAME" val="{&quot;height&quot;:290.7975590551181,&quot;left&quot;:32.87496062992126,&quot;top&quot;:179.45,&quot;width&quot;:886.75}"/>
</p:tagLst>
</file>

<file path=ppt/tags/tag279.xml><?xml version="1.0" encoding="utf-8"?>
<p:tagLst xmlns:p="http://schemas.openxmlformats.org/presentationml/2006/main">
  <p:tag name="KSO_WM_DIAGRAM_VIRTUALLY_FRAME" val="{&quot;height&quot;:290.7975590551181,&quot;left&quot;:32.87496062992126,&quot;top&quot;:179.45,&quot;width&quot;:886.75}"/>
</p:tagLst>
</file>

<file path=ppt/tags/tag280.xml><?xml version="1.0" encoding="utf-8"?>
<p:tagLst xmlns:p="http://schemas.openxmlformats.org/presentationml/2006/main">
  <p:tag name="KSO_WM_DIAGRAM_VIRTUALLY_FRAME" val="{&quot;height&quot;:290.7975590551181,&quot;left&quot;:32.87496062992126,&quot;top&quot;:179.45,&quot;width&quot;:886.75}"/>
</p:tagLst>
</file>

<file path=ppt/tags/tag281.xml><?xml version="1.0" encoding="utf-8"?>
<p:tagLst xmlns:p="http://schemas.openxmlformats.org/presentationml/2006/main">
  <p:tag name="KSO_WM_DIAGRAM_VIRTUALLY_FRAME" val="{&quot;height&quot;:290.7975590551181,&quot;left&quot;:32.87496062992126,&quot;top&quot;:179.45,&quot;width&quot;:886.75}"/>
</p:tagLst>
</file>

<file path=ppt/tags/tag282.xml><?xml version="1.0" encoding="utf-8"?>
<p:tagLst xmlns:p="http://schemas.openxmlformats.org/presentationml/2006/main">
  <p:tag name="KSO_WM_DIAGRAM_VIRTUALLY_FRAME" val="{&quot;height&quot;:290.7975590551181,&quot;left&quot;:32.87496062992126,&quot;top&quot;:179.45,&quot;width&quot;:886.75}"/>
</p:tagLst>
</file>

<file path=ppt/tags/tag283.xml><?xml version="1.0" encoding="utf-8"?>
<p:tagLst xmlns:p="http://schemas.openxmlformats.org/presentationml/2006/main">
  <p:tag name="KSO_WM_DIAGRAM_VIRTUALLY_FRAME" val="{&quot;height&quot;:290.7975590551181,&quot;left&quot;:32.87496062992126,&quot;top&quot;:179.45,&quot;width&quot;:886.75}"/>
</p:tagLst>
</file>

<file path=ppt/tags/tag284.xml><?xml version="1.0" encoding="utf-8"?>
<p:tagLst xmlns:p="http://schemas.openxmlformats.org/presentationml/2006/main">
  <p:tag name="KSO_WM_DIAGRAM_VIRTUALLY_FRAME" val="{&quot;height&quot;:290.7975590551181,&quot;left&quot;:32.87496062992126,&quot;top&quot;:179.45,&quot;width&quot;:886.75}"/>
</p:tagLst>
</file>

<file path=ppt/tags/tag285.xml><?xml version="1.0" encoding="utf-8"?>
<p:tagLst xmlns:p="http://schemas.openxmlformats.org/presentationml/2006/main">
  <p:tag name="KSO_WM_DIAGRAM_VIRTUALLY_FRAME" val="{&quot;height&quot;:290.7975590551181,&quot;left&quot;:32.87496062992126,&quot;top&quot;:179.45,&quot;width&quot;:886.75}"/>
</p:tagLst>
</file>

<file path=ppt/tags/tag286.xml><?xml version="1.0" encoding="utf-8"?>
<p:tagLst xmlns:p="http://schemas.openxmlformats.org/presentationml/2006/main">
  <p:tag name="KSO_WM_DIAGRAM_VIRTUALLY_FRAME" val="{&quot;height&quot;:264.5302362204725,&quot;left&quot;:32.87496062992126,&quot;top&quot;:179.4724409448819,&quot;width&quot;:886.75}"/>
</p:tagLst>
</file>

<file path=ppt/tags/tag287.xml><?xml version="1.0" encoding="utf-8"?>
<p:tagLst xmlns:p="http://schemas.openxmlformats.org/presentationml/2006/main">
  <p:tag name="KSO_WM_DIAGRAM_VIRTUALLY_FRAME" val="{&quot;height&quot;:264.5302362204725,&quot;left&quot;:32.87496062992126,&quot;top&quot;:179.4724409448819,&quot;width&quot;:886.75}"/>
</p:tagLst>
</file>

<file path=ppt/tags/tag288.xml><?xml version="1.0" encoding="utf-8"?>
<p:tagLst xmlns:p="http://schemas.openxmlformats.org/presentationml/2006/main">
  <p:tag name="KSO_WM_DIAGRAM_VIRTUALLY_FRAME" val="{&quot;height&quot;:264.5302362204725,&quot;left&quot;:32.87496062992126,&quot;top&quot;:179.4724409448819,&quot;width&quot;:886.75}"/>
</p:tagLst>
</file>

<file path=ppt/tags/tag289.xml><?xml version="1.0" encoding="utf-8"?>
<p:tagLst xmlns:p="http://schemas.openxmlformats.org/presentationml/2006/main">
  <p:tag name="KSO_WM_DIAGRAM_VIRTUALLY_FRAME" val="{&quot;height&quot;:264.5302362204725,&quot;left&quot;:32.87496062992126,&quot;top&quot;:179.4724409448819,&quot;width&quot;:886.75}"/>
</p:tagLst>
</file>

<file path=ppt/tags/tag290.xml><?xml version="1.0" encoding="utf-8"?>
<p:tagLst xmlns:p="http://schemas.openxmlformats.org/presentationml/2006/main">
  <p:tag name="KSO_WM_DIAGRAM_VIRTUALLY_FRAME" val="{&quot;height&quot;:264.5302362204725,&quot;left&quot;:32.87496062992126,&quot;top&quot;:179.4724409448819,&quot;width&quot;:886.75}"/>
</p:tagLst>
</file>

<file path=ppt/tags/tag291.xml><?xml version="1.0" encoding="utf-8"?>
<p:tagLst xmlns:p="http://schemas.openxmlformats.org/presentationml/2006/main">
  <p:tag name="KSO_WM_DIAGRAM_VIRTUALLY_FRAME" val="{&quot;height&quot;:264.5302362204725,&quot;left&quot;:32.87496062992126,&quot;top&quot;:179.4724409448819,&quot;width&quot;:886.75}"/>
</p:tagLst>
</file>

<file path=ppt/tags/tag292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293.xml><?xml version="1.0" encoding="utf-8"?>
<p:tagLst xmlns:p="http://schemas.openxmlformats.org/presentationml/2006/main">
  <p:tag name="KSO_WM_DIAGRAM_VIRTUALLY_FRAME" val="{&quot;height&quot;:290.7975590551181,&quot;left&quot;:32.87496062992126,&quot;top&quot;:179.45,&quot;width&quot;:886.75}"/>
</p:tagLst>
</file>

<file path=ppt/tags/tag294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295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296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297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298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299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00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01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02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03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04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05.xml><?xml version="1.0" encoding="utf-8"?>
<p:tagLst xmlns:p="http://schemas.openxmlformats.org/presentationml/2006/main">
  <p:tag name="KSO_WM_DIAGRAM_VIRTUALLY_FRAME" val="{&quot;height&quot;:290.7975590551181,&quot;left&quot;:32.87496062992126,&quot;top&quot;:179.45,&quot;width&quot;:886.75}"/>
</p:tagLst>
</file>

<file path=ppt/tags/tag306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07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08.xml><?xml version="1.0" encoding="utf-8"?>
<p:tagLst xmlns:p="http://schemas.openxmlformats.org/presentationml/2006/main">
  <p:tag name="KSO_WM_DIAGRAM_VIRTUALLY_FRAME" val="{&quot;height&quot;:290.7975590551181,&quot;left&quot;:32.87496062992126,&quot;top&quot;:179.45,&quot;width&quot;:886.75}"/>
</p:tagLst>
</file>

<file path=ppt/tags/tag309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10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11.xml><?xml version="1.0" encoding="utf-8"?>
<p:tagLst xmlns:p="http://schemas.openxmlformats.org/presentationml/2006/main">
  <p:tag name="KSO_WM_DIAGRAM_VIRTUALLY_FRAME" val="{&quot;height&quot;:290.7975590551181,&quot;left&quot;:32.87496062992126,&quot;top&quot;:179.45,&quot;width&quot;:886.75}"/>
</p:tagLst>
</file>

<file path=ppt/tags/tag312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13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14.xml><?xml version="1.0" encoding="utf-8"?>
<p:tagLst xmlns:p="http://schemas.openxmlformats.org/presentationml/2006/main">
  <p:tag name="KSO_WM_DIAGRAM_VIRTUALLY_FRAME" val="{&quot;height&quot;:290.7975590551181,&quot;left&quot;:32.87496062992126,&quot;top&quot;:179.45,&quot;width&quot;:886.75}"/>
</p:tagLst>
</file>

<file path=ppt/tags/tag315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16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17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18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19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20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21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23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24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25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26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27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28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29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30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31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32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33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34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35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36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37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38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39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40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41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42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43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44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45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46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47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48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49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50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51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52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53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54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5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5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57.xml><?xml version="1.0" encoding="utf-8"?>
<p:tagLst xmlns:p="http://schemas.openxmlformats.org/presentationml/2006/main">
  <p:tag name="KSO_WM_DIAGRAM_VIRTUALLY_FRAME" val="{&quot;height&quot;:160.15,&quot;left&quot;:57.9,&quot;top&quot;:234.5,&quot;width&quot;:845.8}"/>
</p:tagLst>
</file>

<file path=ppt/tags/tag358.xml><?xml version="1.0" encoding="utf-8"?>
<p:tagLst xmlns:p="http://schemas.openxmlformats.org/presentationml/2006/main">
  <p:tag name="KSO_WM_DIAGRAM_VIRTUALLY_FRAME" val="{&quot;height&quot;:160.15,&quot;left&quot;:57.9,&quot;top&quot;:234.5,&quot;width&quot;:845.8}"/>
</p:tagLst>
</file>

<file path=ppt/tags/tag359.xml><?xml version="1.0" encoding="utf-8"?>
<p:tagLst xmlns:p="http://schemas.openxmlformats.org/presentationml/2006/main">
  <p:tag name="KSO_WM_DIAGRAM_VIRTUALLY_FRAME" val="{&quot;height&quot;:160.15,&quot;left&quot;:57.9,&quot;top&quot;:234.5,&quot;width&quot;:845.8}"/>
</p:tagLst>
</file>

<file path=ppt/tags/tag360.xml><?xml version="1.0" encoding="utf-8"?>
<p:tagLst xmlns:p="http://schemas.openxmlformats.org/presentationml/2006/main">
  <p:tag name="KSO_WM_DIAGRAM_VIRTUALLY_FRAME" val="{&quot;height&quot;:160.15,&quot;left&quot;:57.9,&quot;top&quot;:234.5,&quot;width&quot;:845.8}"/>
</p:tagLst>
</file>

<file path=ppt/tags/tag361.xml><?xml version="1.0" encoding="utf-8"?>
<p:tagLst xmlns:p="http://schemas.openxmlformats.org/presentationml/2006/main">
  <p:tag name="KSO_WM_DIAGRAM_VIRTUALLY_FRAME" val="{&quot;height&quot;:160.15,&quot;left&quot;:57.9,&quot;top&quot;:234.5,&quot;width&quot;:845.8}"/>
</p:tagLst>
</file>

<file path=ppt/tags/tag362.xml><?xml version="1.0" encoding="utf-8"?>
<p:tagLst xmlns:p="http://schemas.openxmlformats.org/presentationml/2006/main">
  <p:tag name="KSO_WM_DIAGRAM_VIRTUALLY_FRAME" val="{&quot;height&quot;:160.15,&quot;left&quot;:57.9,&quot;top&quot;:234.5,&quot;width&quot;:845.8}"/>
</p:tagLst>
</file>

<file path=ppt/tags/tag363.xml><?xml version="1.0" encoding="utf-8"?>
<p:tagLst xmlns:p="http://schemas.openxmlformats.org/presentationml/2006/main">
  <p:tag name="KSO_WM_DIAGRAM_VIRTUALLY_FRAME" val="{&quot;height&quot;:160.15,&quot;left&quot;:57.9,&quot;top&quot;:234.5,&quot;width&quot;:845.8}"/>
</p:tagLst>
</file>

<file path=ppt/tags/tag364.xml><?xml version="1.0" encoding="utf-8"?>
<p:tagLst xmlns:p="http://schemas.openxmlformats.org/presentationml/2006/main">
  <p:tag name="KSO_WM_DIAGRAM_VIRTUALLY_FRAME" val="{&quot;height&quot;:160.15,&quot;left&quot;:57.9,&quot;top&quot;:234.5,&quot;width&quot;:845.8}"/>
</p:tagLst>
</file>

<file path=ppt/tags/tag365.xml><?xml version="1.0" encoding="utf-8"?>
<p:tagLst xmlns:p="http://schemas.openxmlformats.org/presentationml/2006/main">
  <p:tag name="KSO_WM_DIAGRAM_VIRTUALLY_FRAME" val="{&quot;height&quot;:160.15,&quot;left&quot;:57.9,&quot;top&quot;:234.5,&quot;width&quot;:845.8}"/>
</p:tagLst>
</file>

<file path=ppt/tags/tag3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67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68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69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70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71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72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73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74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75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76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77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78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79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80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81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82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83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84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85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86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87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88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89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90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91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92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93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94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95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96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97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98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99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400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401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402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4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04.xml><?xml version="1.0" encoding="utf-8"?>
<p:tagLst xmlns:p="http://schemas.openxmlformats.org/presentationml/2006/main">
  <p:tag name="KSO_WM_DIAGRAM_VIRTUALLY_FRAME" val="{&quot;height&quot;:208.4,&quot;left&quot;:70.3,&quot;top&quot;:183.9,&quot;width&quot;:799.05}"/>
</p:tagLst>
</file>

<file path=ppt/tags/tag4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07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08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09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10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11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12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13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14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15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16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17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18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19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20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21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22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24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25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26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27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28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29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30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31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32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33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34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35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36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37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38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39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40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41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42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43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44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45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46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47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48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49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50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51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52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53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54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55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56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57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58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5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6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61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62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63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64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65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66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67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68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69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70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71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72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73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74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75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76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77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78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79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80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81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82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83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84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85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86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87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88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90.xml><?xml version="1.0" encoding="utf-8"?>
<p:tagLst xmlns:p="http://schemas.openxmlformats.org/presentationml/2006/main">
  <p:tag name="KSO_WM_DIAGRAM_VIRTUALLY_FRAME" val="{&quot;height&quot;:205,&quot;left&quot;:70.3,&quot;top&quot;:187.3,&quot;width&quot;:799.05}"/>
</p:tagLst>
</file>

<file path=ppt/tags/tag491.xml><?xml version="1.0" encoding="utf-8"?>
<p:tagLst xmlns:p="http://schemas.openxmlformats.org/presentationml/2006/main">
  <p:tag name="KSO_WM_DIAGRAM_VIRTUALLY_FRAME" val="{&quot;height&quot;:205,&quot;left&quot;:70.3,&quot;top&quot;:187.3,&quot;width&quot;:799.05}"/>
</p:tagLst>
</file>

<file path=ppt/tags/tag492.xml><?xml version="1.0" encoding="utf-8"?>
<p:tagLst xmlns:p="http://schemas.openxmlformats.org/presentationml/2006/main">
  <p:tag name="KSO_WM_DIAGRAM_VIRTUALLY_FRAME" val="{&quot;height&quot;:205,&quot;left&quot;:70.3,&quot;top&quot;:187.3,&quot;width&quot;:799.05}"/>
</p:tagLst>
</file>

<file path=ppt/tags/tag493.xml><?xml version="1.0" encoding="utf-8"?>
<p:tagLst xmlns:p="http://schemas.openxmlformats.org/presentationml/2006/main">
  <p:tag name="KSO_WM_DIAGRAM_VIRTUALLY_FRAME" val="{&quot;height&quot;:205,&quot;left&quot;:70.3,&quot;top&quot;:187.3,&quot;width&quot;:799.05}"/>
</p:tagLst>
</file>

<file path=ppt/tags/tag494.xml><?xml version="1.0" encoding="utf-8"?>
<p:tagLst xmlns:p="http://schemas.openxmlformats.org/presentationml/2006/main">
  <p:tag name="KSO_WM_DIAGRAM_VIRTUALLY_FRAME" val="{&quot;height&quot;:205,&quot;left&quot;:70.3,&quot;top&quot;:187.3,&quot;width&quot;:799.05}"/>
</p:tagLst>
</file>

<file path=ppt/tags/tag495.xml><?xml version="1.0" encoding="utf-8"?>
<p:tagLst xmlns:p="http://schemas.openxmlformats.org/presentationml/2006/main">
  <p:tag name="KSO_WM_DIAGRAM_VIRTUALLY_FRAME" val="{&quot;height&quot;:205,&quot;left&quot;:70.3,&quot;top&quot;:187.3,&quot;width&quot;:799.05}"/>
</p:tagLst>
</file>

<file path=ppt/tags/tag496.xml><?xml version="1.0" encoding="utf-8"?>
<p:tagLst xmlns:p="http://schemas.openxmlformats.org/presentationml/2006/main">
  <p:tag name="KSO_WM_DIAGRAM_VIRTUALLY_FRAME" val="{&quot;height&quot;:205,&quot;left&quot;:70.3,&quot;top&quot;:187.3,&quot;width&quot;:799.05}"/>
</p:tagLst>
</file>

<file path=ppt/tags/tag497.xml><?xml version="1.0" encoding="utf-8"?>
<p:tagLst xmlns:p="http://schemas.openxmlformats.org/presentationml/2006/main">
  <p:tag name="KSO_WM_DIAGRAM_VIRTUALLY_FRAME" val="{&quot;height&quot;:205,&quot;left&quot;:70.3,&quot;top&quot;:187.3,&quot;width&quot;:799.05}"/>
</p:tagLst>
</file>

<file path=ppt/tags/tag498.xml><?xml version="1.0" encoding="utf-8"?>
<p:tagLst xmlns:p="http://schemas.openxmlformats.org/presentationml/2006/main">
  <p:tag name="KSO_WM_DIAGRAM_VIRTUALLY_FRAME" val="{&quot;height&quot;:205,&quot;left&quot;:70.3,&quot;top&quot;:187.3,&quot;width&quot;:799.05}"/>
</p:tagLst>
</file>

<file path=ppt/tags/tag499.xml><?xml version="1.0" encoding="utf-8"?>
<p:tagLst xmlns:p="http://schemas.openxmlformats.org/presentationml/2006/main">
  <p:tag name="KSO_WM_DIAGRAM_VIRTUALLY_FRAME" val="{&quot;height&quot;:205,&quot;left&quot;:70.3,&quot;top&quot;:187.3,&quot;width&quot;:799.05}"/>
</p:tagLst>
</file>

<file path=ppt/tags/tag500.xml><?xml version="1.0" encoding="utf-8"?>
<p:tagLst xmlns:p="http://schemas.openxmlformats.org/presentationml/2006/main">
  <p:tag name="KSO_WM_DIAGRAM_VIRTUALLY_FRAME" val="{&quot;height&quot;:205,&quot;left&quot;:70.3,&quot;top&quot;:187.3,&quot;width&quot;:799.05}"/>
</p:tagLst>
</file>

<file path=ppt/tags/tag501.xml><?xml version="1.0" encoding="utf-8"?>
<p:tagLst xmlns:p="http://schemas.openxmlformats.org/presentationml/2006/main">
  <p:tag name="KSO_WM_DIAGRAM_VIRTUALLY_FRAME" val="{&quot;height&quot;:205,&quot;left&quot;:70.3,&quot;top&quot;:187.3,&quot;width&quot;:799.05}"/>
</p:tagLst>
</file>

<file path=ppt/tags/tag502.xml><?xml version="1.0" encoding="utf-8"?>
<p:tagLst xmlns:p="http://schemas.openxmlformats.org/presentationml/2006/main">
  <p:tag name="KSO_WM_DIAGRAM_VIRTUALLY_FRAME" val="{&quot;height&quot;:205,&quot;left&quot;:70.3,&quot;top&quot;:187.3,&quot;width&quot;:799.05}"/>
</p:tagLst>
</file>

<file path=ppt/tags/tag503.xml><?xml version="1.0" encoding="utf-8"?>
<p:tagLst xmlns:p="http://schemas.openxmlformats.org/presentationml/2006/main">
  <p:tag name="KSO_WM_DIAGRAM_VIRTUALLY_FRAME" val="{&quot;height&quot;:205,&quot;left&quot;:70.3,&quot;top&quot;:187.3,&quot;width&quot;:799.05}"/>
</p:tagLst>
</file>

<file path=ppt/tags/tag504.xml><?xml version="1.0" encoding="utf-8"?>
<p:tagLst xmlns:p="http://schemas.openxmlformats.org/presentationml/2006/main">
  <p:tag name="KSO_WM_DIAGRAM_VIRTUALLY_FRAME" val="{&quot;height&quot;:205,&quot;left&quot;:70.3,&quot;top&quot;:187.3,&quot;width&quot;:799.05}"/>
</p:tagLst>
</file>

<file path=ppt/tags/tag5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07.xml><?xml version="1.0" encoding="utf-8"?>
<p:tagLst xmlns:p="http://schemas.openxmlformats.org/presentationml/2006/main">
  <p:tag name="PA" val="v4.0.0"/>
  <p:tag name="KSO_WM_DIAGRAM_VIRTUALLY_FRAME" val="{&quot;height&quot;:354.2,&quot;left&quot;:77.74992125984252,&quot;top&quot;:128.4,&quot;width&quot;:738.1500787401575}"/>
</p:tagLst>
</file>

<file path=ppt/tags/tag508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09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10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11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12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13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14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15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16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17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18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19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20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21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22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23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24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25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26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27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28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29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30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32.xml><?xml version="1.0" encoding="utf-8"?>
<p:tagLst xmlns:p="http://schemas.openxmlformats.org/presentationml/2006/main">
  <p:tag name="KSO_WM_DIAGRAM_VIRTUALLY_FRAME" val="{&quot;height&quot;:392.55,&quot;left&quot;:54.75,&quot;top&quot;:-16.45,&quot;width&quot;:840.7}"/>
</p:tagLst>
</file>

<file path=ppt/tags/tag533.xml><?xml version="1.0" encoding="utf-8"?>
<p:tagLst xmlns:p="http://schemas.openxmlformats.org/presentationml/2006/main">
  <p:tag name="KSO_WM_DIAGRAM_VIRTUALLY_FRAME" val="{&quot;height&quot;:392.55,&quot;left&quot;:54.75,&quot;top&quot;:-16.45,&quot;width&quot;:840.7}"/>
</p:tagLst>
</file>

<file path=ppt/tags/tag534.xml><?xml version="1.0" encoding="utf-8"?>
<p:tagLst xmlns:p="http://schemas.openxmlformats.org/presentationml/2006/main">
  <p:tag name="KSO_WM_DIAGRAM_VIRTUALLY_FRAME" val="{&quot;height&quot;:392.55,&quot;left&quot;:54.75,&quot;top&quot;:-16.45,&quot;width&quot;:840.7}"/>
</p:tagLst>
</file>

<file path=ppt/tags/tag535.xml><?xml version="1.0" encoding="utf-8"?>
<p:tagLst xmlns:p="http://schemas.openxmlformats.org/presentationml/2006/main">
  <p:tag name="KSO_WM_DIAGRAM_VIRTUALLY_FRAME" val="{&quot;height&quot;:392.55,&quot;left&quot;:54.75,&quot;top&quot;:-16.45,&quot;width&quot;:840.7}"/>
</p:tagLst>
</file>

<file path=ppt/tags/tag536.xml><?xml version="1.0" encoding="utf-8"?>
<p:tagLst xmlns:p="http://schemas.openxmlformats.org/presentationml/2006/main">
  <p:tag name="KSO_WM_DIAGRAM_VIRTUALLY_FRAME" val="{&quot;height&quot;:392.55,&quot;left&quot;:54.75,&quot;top&quot;:-16.45,&quot;width&quot;:840.7}"/>
</p:tagLst>
</file>

<file path=ppt/tags/tag537.xml><?xml version="1.0" encoding="utf-8"?>
<p:tagLst xmlns:p="http://schemas.openxmlformats.org/presentationml/2006/main">
  <p:tag name="KSO_WM_DIAGRAM_VIRTUALLY_FRAME" val="{&quot;height&quot;:392.55,&quot;left&quot;:54.75,&quot;top&quot;:-16.45,&quot;width&quot;:840.7}"/>
</p:tagLst>
</file>

<file path=ppt/tags/tag538.xml><?xml version="1.0" encoding="utf-8"?>
<p:tagLst xmlns:p="http://schemas.openxmlformats.org/presentationml/2006/main">
  <p:tag name="KSO_WM_DIAGRAM_VIRTUALLY_FRAME" val="{&quot;height&quot;:392.55,&quot;left&quot;:54.75,&quot;top&quot;:-16.45,&quot;width&quot;:840.7}"/>
</p:tagLst>
</file>

<file path=ppt/tags/tag539.xml><?xml version="1.0" encoding="utf-8"?>
<p:tagLst xmlns:p="http://schemas.openxmlformats.org/presentationml/2006/main">
  <p:tag name="KSO_WM_DIAGRAM_VIRTUALLY_FRAME" val="{&quot;height&quot;:392.55,&quot;left&quot;:54.75,&quot;top&quot;:-16.45,&quot;width&quot;:840.7}"/>
</p:tagLst>
</file>

<file path=ppt/tags/tag540.xml><?xml version="1.0" encoding="utf-8"?>
<p:tagLst xmlns:p="http://schemas.openxmlformats.org/presentationml/2006/main">
  <p:tag name="KSO_WM_DIAGRAM_VIRTUALLY_FRAME" val="{&quot;height&quot;:392.55,&quot;left&quot;:54.75,&quot;top&quot;:-16.45,&quot;width&quot;:840.7}"/>
</p:tagLst>
</file>

<file path=ppt/tags/tag541.xml><?xml version="1.0" encoding="utf-8"?>
<p:tagLst xmlns:p="http://schemas.openxmlformats.org/presentationml/2006/main">
  <p:tag name="KSO_WM_DIAGRAM_VIRTUALLY_FRAME" val="{&quot;height&quot;:392.55,&quot;left&quot;:54.75,&quot;top&quot;:-16.45,&quot;width&quot;:840.7}"/>
</p:tagLst>
</file>

<file path=ppt/tags/tag542.xml><?xml version="1.0" encoding="utf-8"?>
<p:tagLst xmlns:p="http://schemas.openxmlformats.org/presentationml/2006/main">
  <p:tag name="KSO_WM_DIAGRAM_VIRTUALLY_FRAME" val="{&quot;height&quot;:392.55,&quot;left&quot;:54.75,&quot;top&quot;:-16.45,&quot;width&quot;:840.7}"/>
</p:tagLst>
</file>

<file path=ppt/tags/tag543.xml><?xml version="1.0" encoding="utf-8"?>
<p:tagLst xmlns:p="http://schemas.openxmlformats.org/presentationml/2006/main">
  <p:tag name="KSO_WM_DIAGRAM_VIRTUALLY_FRAME" val="{&quot;height&quot;:392.55,&quot;left&quot;:54.75,&quot;top&quot;:-16.45,&quot;width&quot;:840.7}"/>
</p:tagLst>
</file>

<file path=ppt/tags/tag544.xml><?xml version="1.0" encoding="utf-8"?>
<p:tagLst xmlns:p="http://schemas.openxmlformats.org/presentationml/2006/main">
  <p:tag name="KSO_WM_DIAGRAM_VIRTUALLY_FRAME" val="{&quot;height&quot;:392.55,&quot;left&quot;:54.75,&quot;top&quot;:-16.45,&quot;width&quot;:840.7}"/>
</p:tagLst>
</file>

<file path=ppt/tags/tag545.xml><?xml version="1.0" encoding="utf-8"?>
<p:tagLst xmlns:p="http://schemas.openxmlformats.org/presentationml/2006/main">
  <p:tag name="KSO_WM_DIAGRAM_VIRTUALLY_FRAME" val="{&quot;height&quot;:392.55,&quot;left&quot;:54.75,&quot;top&quot;:-16.45,&quot;width&quot;:840.7}"/>
</p:tagLst>
</file>

<file path=ppt/tags/tag546.xml><?xml version="1.0" encoding="utf-8"?>
<p:tagLst xmlns:p="http://schemas.openxmlformats.org/presentationml/2006/main">
  <p:tag name="KSO_WM_DIAGRAM_VIRTUALLY_FRAME" val="{&quot;height&quot;:392.55,&quot;left&quot;:54.75,&quot;top&quot;:-16.45,&quot;width&quot;:840.7}"/>
</p:tagLst>
</file>

<file path=ppt/tags/tag54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48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49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50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51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52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53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54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55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56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57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58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59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60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61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62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63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64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65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66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68.xml><?xml version="1.0" encoding="utf-8"?>
<p:tagLst xmlns:p="http://schemas.openxmlformats.org/presentationml/2006/main">
  <p:tag name="KSO_WM_DIAGRAM_VIRTUALLY_FRAME" val="{&quot;height&quot;:250.2500787401575,&quot;left&quot;:352.4999212598425,&quot;top&quot;:174.19992125984248,&quot;width&quot;:540.0499212598427}"/>
</p:tagLst>
</file>

<file path=ppt/tags/tag569.xml><?xml version="1.0" encoding="utf-8"?>
<p:tagLst xmlns:p="http://schemas.openxmlformats.org/presentationml/2006/main">
  <p:tag name="KSO_WM_DIAGRAM_VIRTUALLY_FRAME" val="{&quot;height&quot;:250.2500787401575,&quot;left&quot;:352.4999212598425,&quot;top&quot;:174.19992125984248,&quot;width&quot;:540.0499212598427}"/>
</p:tagLst>
</file>

<file path=ppt/tags/tag570.xml><?xml version="1.0" encoding="utf-8"?>
<p:tagLst xmlns:p="http://schemas.openxmlformats.org/presentationml/2006/main">
  <p:tag name="KSO_WM_DIAGRAM_VIRTUALLY_FRAME" val="{&quot;height&quot;:250.2500787401575,&quot;left&quot;:352.4999212598425,&quot;top&quot;:174.19992125984248,&quot;width&quot;:540.0499212598427}"/>
</p:tagLst>
</file>

<file path=ppt/tags/tag571.xml><?xml version="1.0" encoding="utf-8"?>
<p:tagLst xmlns:p="http://schemas.openxmlformats.org/presentationml/2006/main">
  <p:tag name="KSO_WM_DIAGRAM_VIRTUALLY_FRAME" val="{&quot;height&quot;:250.2500787401575,&quot;left&quot;:352.4999212598425,&quot;top&quot;:174.19992125984248,&quot;width&quot;:540.0499212598427}"/>
</p:tagLst>
</file>

<file path=ppt/tags/tag572.xml><?xml version="1.0" encoding="utf-8"?>
<p:tagLst xmlns:p="http://schemas.openxmlformats.org/presentationml/2006/main">
  <p:tag name="KSO_WM_DIAGRAM_VIRTUALLY_FRAME" val="{&quot;height&quot;:250.2500787401575,&quot;left&quot;:352.4999212598425,&quot;top&quot;:174.19992125984248,&quot;width&quot;:540.0499212598427}"/>
</p:tagLst>
</file>

<file path=ppt/tags/tag573.xml><?xml version="1.0" encoding="utf-8"?>
<p:tagLst xmlns:p="http://schemas.openxmlformats.org/presentationml/2006/main">
  <p:tag name="KSO_WM_DIAGRAM_VIRTUALLY_FRAME" val="{&quot;height&quot;:250.2500787401575,&quot;left&quot;:352.4999212598425,&quot;top&quot;:174.19992125984248,&quot;width&quot;:540.0499212598427}"/>
</p:tagLst>
</file>

<file path=ppt/tags/tag574.xml><?xml version="1.0" encoding="utf-8"?>
<p:tagLst xmlns:p="http://schemas.openxmlformats.org/presentationml/2006/main">
  <p:tag name="KSO_WM_DIAGRAM_VIRTUALLY_FRAME" val="{&quot;height&quot;:250.2500787401575,&quot;left&quot;:352.4999212598425,&quot;top&quot;:174.19992125984248,&quot;width&quot;:540.0499212598427}"/>
</p:tagLst>
</file>

<file path=ppt/tags/tag575.xml><?xml version="1.0" encoding="utf-8"?>
<p:tagLst xmlns:p="http://schemas.openxmlformats.org/presentationml/2006/main">
  <p:tag name="KSO_WM_DIAGRAM_VIRTUALLY_FRAME" val="{&quot;height&quot;:250.2500787401575,&quot;left&quot;:352.4999212598425,&quot;top&quot;:174.19992125984248,&quot;width&quot;:540.0499212598427}"/>
</p:tagLst>
</file>

<file path=ppt/tags/tag576.xml><?xml version="1.0" encoding="utf-8"?>
<p:tagLst xmlns:p="http://schemas.openxmlformats.org/presentationml/2006/main">
  <p:tag name="KSO_WM_DIAGRAM_VIRTUALLY_FRAME" val="{&quot;height&quot;:250.2500787401575,&quot;left&quot;:352.4999212598425,&quot;top&quot;:174.19992125984248,&quot;width&quot;:540.0499212598427}"/>
</p:tagLst>
</file>

<file path=ppt/tags/tag577.xml><?xml version="1.0" encoding="utf-8"?>
<p:tagLst xmlns:p="http://schemas.openxmlformats.org/presentationml/2006/main">
  <p:tag name="KSO_WM_DIAGRAM_VIRTUALLY_FRAME" val="{&quot;height&quot;:250.2500787401575,&quot;left&quot;:352.4999212598425,&quot;top&quot;:174.19992125984248,&quot;width&quot;:540.0499212598427}"/>
</p:tagLst>
</file>

<file path=ppt/tags/tag5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79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80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81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82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83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84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85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86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87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88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89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90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91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92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93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94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98.xml><?xml version="1.0" encoding="utf-8"?>
<p:tagLst xmlns:p="http://schemas.openxmlformats.org/presentationml/2006/main">
  <p:tag name="KSO_WM_DIAGRAM_VIRTUALLY_FRAME" val="{&quot;height&quot;:235.53771653543308,&quot;left&quot;:44.75,&quot;top&quot;:186.2622834645669,&quot;width&quot;:877.8832283464566}"/>
</p:tagLst>
</file>

<file path=ppt/tags/tag599.xml><?xml version="1.0" encoding="utf-8"?>
<p:tagLst xmlns:p="http://schemas.openxmlformats.org/presentationml/2006/main">
  <p:tag name="KSO_WM_DIAGRAM_VIRTUALLY_FRAME" val="{&quot;height&quot;:235.53771653543308,&quot;left&quot;:44.75,&quot;top&quot;:186.2622834645669,&quot;width&quot;:877.8832283464566}"/>
</p:tagLst>
</file>

<file path=ppt/tags/tag600.xml><?xml version="1.0" encoding="utf-8"?>
<p:tagLst xmlns:p="http://schemas.openxmlformats.org/presentationml/2006/main">
  <p:tag name="KSO_WM_DIAGRAM_VIRTUALLY_FRAME" val="{&quot;height&quot;:235.53771653543308,&quot;left&quot;:44.75,&quot;top&quot;:186.2622834645669,&quot;width&quot;:877.8832283464566}"/>
</p:tagLst>
</file>

<file path=ppt/tags/tag601.xml><?xml version="1.0" encoding="utf-8"?>
<p:tagLst xmlns:p="http://schemas.openxmlformats.org/presentationml/2006/main">
  <p:tag name="KSO_WM_DIAGRAM_VIRTUALLY_FRAME" val="{&quot;height&quot;:235.53771653543308,&quot;left&quot;:44.75,&quot;top&quot;:186.2622834645669,&quot;width&quot;:877.8832283464566}"/>
</p:tagLst>
</file>

<file path=ppt/tags/tag602.xml><?xml version="1.0" encoding="utf-8"?>
<p:tagLst xmlns:p="http://schemas.openxmlformats.org/presentationml/2006/main">
  <p:tag name="KSO_WM_DIAGRAM_VIRTUALLY_FRAME" val="{&quot;height&quot;:235.53771653543308,&quot;left&quot;:44.75,&quot;top&quot;:186.2622834645669,&quot;width&quot;:877.8832283464566}"/>
</p:tagLst>
</file>

<file path=ppt/tags/tag603.xml><?xml version="1.0" encoding="utf-8"?>
<p:tagLst xmlns:p="http://schemas.openxmlformats.org/presentationml/2006/main">
  <p:tag name="KSO_WM_DIAGRAM_VIRTUALLY_FRAME" val="{&quot;height&quot;:235.53771653543308,&quot;left&quot;:44.75,&quot;top&quot;:186.2622834645669,&quot;width&quot;:877.8832283464566}"/>
</p:tagLst>
</file>

<file path=ppt/tags/tag604.xml><?xml version="1.0" encoding="utf-8"?>
<p:tagLst xmlns:p="http://schemas.openxmlformats.org/presentationml/2006/main">
  <p:tag name="KSO_WM_DIAGRAM_VIRTUALLY_FRAME" val="{&quot;height&quot;:235.53771653543308,&quot;left&quot;:44.75,&quot;top&quot;:186.2622834645669,&quot;width&quot;:877.8832283464566}"/>
</p:tagLst>
</file>

<file path=ppt/tags/tag605.xml><?xml version="1.0" encoding="utf-8"?>
<p:tagLst xmlns:p="http://schemas.openxmlformats.org/presentationml/2006/main">
  <p:tag name="KSO_WM_DIAGRAM_VIRTUALLY_FRAME" val="{&quot;height&quot;:235.53771653543308,&quot;left&quot;:44.75,&quot;top&quot;:186.2622834645669,&quot;width&quot;:877.8832283464566}"/>
</p:tagLst>
</file>

<file path=ppt/tags/tag606.xml><?xml version="1.0" encoding="utf-8"?>
<p:tagLst xmlns:p="http://schemas.openxmlformats.org/presentationml/2006/main">
  <p:tag name="KSO_WM_DIAGRAM_VIRTUALLY_FRAME" val="{&quot;height&quot;:235.53771653543308,&quot;left&quot;:44.75,&quot;top&quot;:186.2622834645669,&quot;width&quot;:877.8832283464566}"/>
</p:tagLst>
</file>

<file path=ppt/tags/tag607.xml><?xml version="1.0" encoding="utf-8"?>
<p:tagLst xmlns:p="http://schemas.openxmlformats.org/presentationml/2006/main">
  <p:tag name="KSO_WM_DIAGRAM_VIRTUALLY_FRAME" val="{&quot;height&quot;:235.53771653543308,&quot;left&quot;:44.75,&quot;top&quot;:186.2622834645669,&quot;width&quot;:877.8832283464566}"/>
</p:tagLst>
</file>

<file path=ppt/tags/tag608.xml><?xml version="1.0" encoding="utf-8"?>
<p:tagLst xmlns:p="http://schemas.openxmlformats.org/presentationml/2006/main">
  <p:tag name="KSO_WM_DIAGRAM_VIRTUALLY_FRAME" val="{&quot;height&quot;:235.53771653543308,&quot;left&quot;:44.75,&quot;top&quot;:186.2622834645669,&quot;width&quot;:877.8832283464566}"/>
</p:tagLst>
</file>

<file path=ppt/tags/tag609.xml><?xml version="1.0" encoding="utf-8"?>
<p:tagLst xmlns:p="http://schemas.openxmlformats.org/presentationml/2006/main">
  <p:tag name="KSO_WM_DIAGRAM_VIRTUALLY_FRAME" val="{&quot;height&quot;:235.53771653543308,&quot;left&quot;:44.75,&quot;top&quot;:186.2622834645669,&quot;width&quot;:877.8832283464566}"/>
</p:tagLst>
</file>

<file path=ppt/tags/tag610.xml><?xml version="1.0" encoding="utf-8"?>
<p:tagLst xmlns:p="http://schemas.openxmlformats.org/presentationml/2006/main">
  <p:tag name="KSO_WM_DIAGRAM_VIRTUALLY_FRAME" val="{&quot;height&quot;:235.53771653543308,&quot;left&quot;:44.75,&quot;top&quot;:186.2622834645669,&quot;width&quot;:877.8832283464566}"/>
</p:tagLst>
</file>

<file path=ppt/tags/tag611.xml><?xml version="1.0" encoding="utf-8"?>
<p:tagLst xmlns:p="http://schemas.openxmlformats.org/presentationml/2006/main">
  <p:tag name="KSO_WM_DIAGRAM_VIRTUALLY_FRAME" val="{&quot;height&quot;:235.53771653543308,&quot;left&quot;:44.75,&quot;top&quot;:186.2622834645669,&quot;width&quot;:877.8832283464566}"/>
</p:tagLst>
</file>

<file path=ppt/tags/tag6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13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14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15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16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17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18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19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20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21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22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23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24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25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26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27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28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2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32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33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34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35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36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37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38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39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40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41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42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43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44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45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46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47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48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49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50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51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52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53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54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55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56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57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58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59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60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61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62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63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第一PPT，www.1ppt.com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dy2ldpj4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>
        <a:noAutofit/>
        <a:scene3d>
          <a:camera prst="orthographicFront"/>
          <a:lightRig rig="threePt" dir="t"/>
        </a:scene3d>
      </a:bodyPr>
      <a:lstStyle>
        <a:defPPr indent="0" algn="ctr" fontAlgn="auto">
          <a:lnSpc>
            <a:spcPct val="150000"/>
          </a:lnSpc>
          <a:defRPr>
            <a:ln>
              <a:solidFill>
                <a:schemeClr val="tx2">
                  <a:lumMod val="25000"/>
                  <a:lumOff val="75000"/>
                </a:schemeClr>
              </a:solidFill>
            </a:ln>
            <a:gradFill>
              <a:gsLst>
                <a:gs pos="21000">
                  <a:srgbClr val="53575C"/>
                </a:gs>
                <a:gs pos="88000">
                  <a:srgbClr val="C5C7CA"/>
                </a:gs>
              </a:gsLst>
              <a:lin ang="5400000"/>
            </a:gradFill>
            <a:effectLst/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字魂创粗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字魂创粗黑"/>
        <a:ea typeface=""/>
        <a:cs typeface=""/>
        <a:font script="Jpan" typeface="ＭＳ Ｐゴシック"/>
        <a:font script="Hang" typeface="맑은 고딕"/>
        <a:font script="Hans" typeface="字魂创粗黑"/>
        <a:font script="Hant" typeface="新細明體"/>
        <a:font script="Arab" typeface="字魂创粗黑"/>
        <a:font script="Hebr" typeface="字魂创粗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字魂创粗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字魂创粗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字魂创粗黑"/>
        <a:ea typeface=""/>
        <a:cs typeface=""/>
        <a:font script="Jpan" typeface="ＭＳ Ｐゴシック"/>
        <a:font script="Hang" typeface="맑은 고딕"/>
        <a:font script="Hans" typeface="字魂创粗黑"/>
        <a:font script="Hant" typeface="新細明體"/>
        <a:font script="Arab" typeface="字魂创粗黑"/>
        <a:font script="Hebr" typeface="字魂创粗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字魂创粗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12331</Words>
  <Application>WPS 演示</Application>
  <PresentationFormat>宽屏</PresentationFormat>
  <Paragraphs>1739</Paragraphs>
  <Slides>47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47</vt:i4>
      </vt:variant>
    </vt:vector>
  </HeadingPairs>
  <TitlesOfParts>
    <vt:vector size="81" baseType="lpstr">
      <vt:lpstr>Arial</vt:lpstr>
      <vt:lpstr>宋体</vt:lpstr>
      <vt:lpstr>Wingdings</vt:lpstr>
      <vt:lpstr>微软雅黑</vt:lpstr>
      <vt:lpstr>字魂59号-创粗黑</vt:lpstr>
      <vt:lpstr>Wingdings</vt:lpstr>
      <vt:lpstr>印品粗朗体</vt:lpstr>
      <vt:lpstr>Bahnschrift</vt:lpstr>
      <vt:lpstr>字魂经典雅黑</vt:lpstr>
      <vt:lpstr>方正楷体_GBK</vt:lpstr>
      <vt:lpstr>Helvetica Light</vt:lpstr>
      <vt:lpstr>短视频字剪大标宋</vt:lpstr>
      <vt:lpstr>超清舒适清雅楷体</vt:lpstr>
      <vt:lpstr>Gill Sans</vt:lpstr>
      <vt:lpstr>JetBrains Mono</vt:lpstr>
      <vt:lpstr>方正北魏楷书_GBK</vt:lpstr>
      <vt:lpstr>Arial Unicode MS</vt:lpstr>
      <vt:lpstr>Bahnschrift</vt:lpstr>
      <vt:lpstr>华文新魏</vt:lpstr>
      <vt:lpstr>黑体</vt:lpstr>
      <vt:lpstr>Calibri</vt:lpstr>
      <vt:lpstr>华文楷体</vt:lpstr>
      <vt:lpstr>Bahnschrift SemiBold</vt:lpstr>
      <vt:lpstr>Noto Sans SC</vt:lpstr>
      <vt:lpstr>清雅黑体</vt:lpstr>
      <vt:lpstr>Bahnschrift Condensed</vt:lpstr>
      <vt:lpstr>方正楷体_GB2312</vt:lpstr>
      <vt:lpstr>Hiragino Sans GB W3</vt:lpstr>
      <vt:lpstr>Calibri</vt:lpstr>
      <vt:lpstr>华光蒙文粗黑体</vt:lpstr>
      <vt:lpstr>字魂创粗黑</vt:lpstr>
      <vt:lpstr>MS PGothic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creator>优品PPT</dc:creator>
  <dc:subject>https://www.ypppt.com/</dc:subject>
  <cp:lastModifiedBy>2025302192016</cp:lastModifiedBy>
  <cp:revision>304</cp:revision>
  <dcterms:created xsi:type="dcterms:W3CDTF">2019-06-19T02:08:00Z</dcterms:created>
  <dcterms:modified xsi:type="dcterms:W3CDTF">2026-09-06T11:11:20Z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E8EA2E6A266846B88AC20DB035247284_13</vt:lpwstr>
  </property>
</Properties>
</file>